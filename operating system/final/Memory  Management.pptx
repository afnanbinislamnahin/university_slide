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73" r:id="rId4"/>
    <p:sldId id="286" r:id="rId5"/>
    <p:sldId id="287" r:id="rId6"/>
    <p:sldId id="289" r:id="rId7"/>
    <p:sldId id="290" r:id="rId8"/>
    <p:sldId id="342" r:id="rId9"/>
    <p:sldId id="340" r:id="rId10"/>
    <p:sldId id="291" r:id="rId11"/>
    <p:sldId id="292" r:id="rId12"/>
    <p:sldId id="293" r:id="rId13"/>
    <p:sldId id="294" r:id="rId14"/>
    <p:sldId id="435" r:id="rId15"/>
    <p:sldId id="437" r:id="rId16"/>
    <p:sldId id="352" r:id="rId17"/>
    <p:sldId id="353" r:id="rId18"/>
    <p:sldId id="360" r:id="rId19"/>
    <p:sldId id="361" r:id="rId20"/>
    <p:sldId id="362" r:id="rId21"/>
    <p:sldId id="363" r:id="rId22"/>
    <p:sldId id="419" r:id="rId23"/>
    <p:sldId id="335" r:id="rId24"/>
    <p:sldId id="407" r:id="rId25"/>
    <p:sldId id="264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5D420-999F-804A-8035-60049BC36CCA}" v="3" dt="2026-01-14T14:40:40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93"/>
    <p:restoredTop sz="95988"/>
  </p:normalViewPr>
  <p:slideViewPr>
    <p:cSldViewPr snapToGrid="0" snapToObjects="1">
      <p:cViewPr varScale="1">
        <p:scale>
          <a:sx n="75" d="100"/>
          <a:sy n="75" d="100"/>
        </p:scale>
        <p:origin x="160" y="10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BIN ISLAM NAHIN" userId="288682b4-77b6-4f3e-a0c4-4af26aad528b" providerId="ADAL" clId="{79988929-352C-57E9-A43B-A5F2C3021FFB}"/>
    <pc:docChg chg="modSld">
      <pc:chgData name="AFNAN BIN ISLAM NAHIN" userId="288682b4-77b6-4f3e-a0c4-4af26aad528b" providerId="ADAL" clId="{79988929-352C-57E9-A43B-A5F2C3021FFB}" dt="2026-01-14T14:40:43.375" v="8"/>
      <pc:docMkLst>
        <pc:docMk/>
      </pc:docMkLst>
      <pc:sldChg chg="addSp delSp modSp mod">
        <pc:chgData name="AFNAN BIN ISLAM NAHIN" userId="288682b4-77b6-4f3e-a0c4-4af26aad528b" providerId="ADAL" clId="{79988929-352C-57E9-A43B-A5F2C3021FFB}" dt="2026-01-14T13:21:53.458" v="2"/>
        <pc:sldMkLst>
          <pc:docMk/>
          <pc:sldMk cId="2295870176" sldId="291"/>
        </pc:sldMkLst>
        <pc:spChg chg="add del mod">
          <ac:chgData name="AFNAN BIN ISLAM NAHIN" userId="288682b4-77b6-4f3e-a0c4-4af26aad528b" providerId="ADAL" clId="{79988929-352C-57E9-A43B-A5F2C3021FFB}" dt="2026-01-14T13:21:53.458" v="2"/>
          <ac:spMkLst>
            <pc:docMk/>
            <pc:sldMk cId="2295870176" sldId="291"/>
            <ac:spMk id="4" creationId="{C702E81A-32D3-E8EE-704A-4F6DFA1E63D1}"/>
          </ac:spMkLst>
        </pc:spChg>
      </pc:sldChg>
      <pc:sldChg chg="addSp delSp modSp mod">
        <pc:chgData name="AFNAN BIN ISLAM NAHIN" userId="288682b4-77b6-4f3e-a0c4-4af26aad528b" providerId="ADAL" clId="{79988929-352C-57E9-A43B-A5F2C3021FFB}" dt="2026-01-14T14:34:47.392" v="5"/>
        <pc:sldMkLst>
          <pc:docMk/>
          <pc:sldMk cId="1331624214" sldId="294"/>
        </pc:sldMkLst>
        <pc:spChg chg="add del mod">
          <ac:chgData name="AFNAN BIN ISLAM NAHIN" userId="288682b4-77b6-4f3e-a0c4-4af26aad528b" providerId="ADAL" clId="{79988929-352C-57E9-A43B-A5F2C3021FFB}" dt="2026-01-14T14:34:47.392" v="5"/>
          <ac:spMkLst>
            <pc:docMk/>
            <pc:sldMk cId="1331624214" sldId="294"/>
            <ac:spMk id="4" creationId="{602EFC32-78F3-F499-054E-B121B552FCB9}"/>
          </ac:spMkLst>
        </pc:spChg>
      </pc:sldChg>
      <pc:sldChg chg="addSp delSp modSp mod">
        <pc:chgData name="AFNAN BIN ISLAM NAHIN" userId="288682b4-77b6-4f3e-a0c4-4af26aad528b" providerId="ADAL" clId="{79988929-352C-57E9-A43B-A5F2C3021FFB}" dt="2026-01-14T14:40:43.375" v="8"/>
        <pc:sldMkLst>
          <pc:docMk/>
          <pc:sldMk cId="0" sldId="352"/>
        </pc:sldMkLst>
        <pc:spChg chg="add del mod">
          <ac:chgData name="AFNAN BIN ISLAM NAHIN" userId="288682b4-77b6-4f3e-a0c4-4af26aad528b" providerId="ADAL" clId="{79988929-352C-57E9-A43B-A5F2C3021FFB}" dt="2026-01-14T14:40:43.375" v="8"/>
          <ac:spMkLst>
            <pc:docMk/>
            <pc:sldMk cId="0" sldId="352"/>
            <ac:spMk id="2" creationId="{E3D73A93-882E-0BD7-4C84-5D72AFE9E76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6CFE72D9-87DE-4F43-A043-B145548794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19DB2FDD-51AF-F246-A747-854A1D2F8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EDF6219-82C1-4A93-ABED-5E34596BB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956D3A9-AF53-4EE2-8367-5C87C40B8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D8E06E-9ABA-4101-95DC-533C74A9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E8E951B-6D4F-4F3C-BA0F-CE3137BC4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09817C1-9D09-405F-A4BE-35AA840FB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C7757C3-4E01-44F0-9943-4A8D5D2ED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Operating System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62259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Spring 22-23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Background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Logical and Physical Address Space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Static and Dynamic Loading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Swapping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Fragmentation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Paging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Virtual Memory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CB2F8AEF-6638-474E-A15F-3BC2DA0BB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Background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092864E3-6570-724A-8309-ED38FBEC3B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Main memory and registers are only storage CPU can access directly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Memory unit only sees a stream of: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addresses + read requests, or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Protection of memory required to ensure correct operation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b="1" dirty="0"/>
          </a:p>
          <a:p>
            <a:pPr>
              <a:buFont typeface="Wingdings" panose="05000000000000000000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604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168BD32B-EF1F-107B-C7AD-4DCFB27AD3BE}"/>
              </a:ext>
            </a:extLst>
          </p:cNvPr>
          <p:cNvSpPr txBox="1">
            <a:spLocks noChangeArrowheads="1"/>
          </p:cNvSpPr>
          <p:nvPr/>
        </p:nvSpPr>
        <p:spPr>
          <a:xfrm>
            <a:off x="706016" y="1899919"/>
            <a:ext cx="8152234" cy="16627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Need to ensure that a process can access only those addresses in its address space.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6" name="Picture 5" descr="W:\os-book\OS10\slide-dir\os-figures\9_01.jpg">
            <a:extLst>
              <a:ext uri="{FF2B5EF4-FFF2-40B4-BE49-F238E27FC236}">
                <a16:creationId xmlns:a16="http://schemas.microsoft.com/office/drawing/2014/main" id="{BEBAF220-1C13-FCD7-1B09-0C02CA1FB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3429000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E1380A3-393D-5DD6-EAB0-BE657C3E0F7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84163" y="630238"/>
            <a:ext cx="8574087" cy="968375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Protection</a:t>
            </a:r>
          </a:p>
        </p:txBody>
      </p:sp>
    </p:spTree>
    <p:extLst>
      <p:ext uri="{BB962C8B-B14F-4D97-AF65-F5344CB8AC3E}">
        <p14:creationId xmlns:p14="http://schemas.microsoft.com/office/powerpoint/2010/main" val="302263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F262-DC3C-6397-5B17-E60302DF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Hardware Address Protection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B5BC994-B2CB-B5F9-F463-415D0BA0C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948" y="1859280"/>
            <a:ext cx="7846491" cy="4349042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9" name="Picture 4" descr="W:\os-book\OS10\slide-dir\os-figures\9_02.jpg">
            <a:extLst>
              <a:ext uri="{FF2B5EF4-FFF2-40B4-BE49-F238E27FC236}">
                <a16:creationId xmlns:a16="http://schemas.microsoft.com/office/drawing/2014/main" id="{97576FFE-E67B-AA13-CE6E-117FBFF07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921" y="257175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81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329F-1C3E-79FB-8136-44CC2431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Address Binding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1176F23-D38E-76FD-79F3-3AFD0EF14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63" y="1889760"/>
            <a:ext cx="8574087" cy="47599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Without support, must be loaded into address 0000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dirty="0"/>
              <a:t>Inconvenient to have first user process physical address always at 0000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How can it not be?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Source code addresses usually symbolic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Linker or loader will bind relocatable addresses to absolute addresses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kumimoji="0" lang="en-US" altLang="en-US" dirty="0"/>
              <a:t>i.e., 74014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Each binding maps one address space to another</a:t>
            </a:r>
          </a:p>
          <a:p>
            <a:pPr>
              <a:buFont typeface="Wingdings" panose="05000000000000000000" pitchFamily="2" charset="2"/>
              <a:buChar char="q"/>
            </a:pPr>
            <a:endParaRPr kumimoji="0" lang="en-US" altLang="en-US" dirty="0"/>
          </a:p>
          <a:p>
            <a:pPr lvl="1">
              <a:buFont typeface="Wingdings" panose="05000000000000000000" pitchFamily="2" charset="2"/>
              <a:buChar char="q"/>
            </a:pPr>
            <a:endParaRPr kumimoji="0"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0643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9575-9639-F284-836A-BA8170C62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dirty="0"/>
              <a:t>Binding of Instructions and Data to Memory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8DCF80-713D-380C-16A8-038D1FA8256B}"/>
              </a:ext>
            </a:extLst>
          </p:cNvPr>
          <p:cNvSpPr txBox="1">
            <a:spLocks noChangeArrowheads="1"/>
          </p:cNvSpPr>
          <p:nvPr/>
        </p:nvSpPr>
        <p:spPr>
          <a:xfrm>
            <a:off x="507091" y="2025158"/>
            <a:ext cx="8433709" cy="3860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Address binding of instructions and data to memory addresses can happen at three different stages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  <p:extLst>
      <p:ext uri="{BB962C8B-B14F-4D97-AF65-F5344CB8AC3E}">
        <p14:creationId xmlns:p14="http://schemas.microsoft.com/office/powerpoint/2010/main" val="294699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624078"/>
            <a:ext cx="8224837" cy="5715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567" y="201898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660401"/>
            <a:ext cx="75485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3194" y="1836103"/>
            <a:ext cx="7702615" cy="4468812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q"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EC8A-4BC4-49E5-0ACC-B58CC934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Swapping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C7135-CA2A-99AA-FAB7-940508F8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" y="1767840"/>
            <a:ext cx="8981439" cy="435832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Total physical memory space of processes can exceed physical memory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870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CF10C-4995-8CB6-0081-95B65B54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Swapping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32B9-3D43-468C-ECC6-D467E1A69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1" y="1767840"/>
            <a:ext cx="8462010" cy="43583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Does the swapped out process need to swap back in to same physical addresses?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Depends on address binding method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Plus consider pending I/O to / from process memory space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Modified versions of swapping are found on many systems (i.e., UNIX, Linux, and Windows)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Swapping normally disabled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Started if more than threshold amount of memory allocated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Disabled again once memory demand reduced below threshold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1400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928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F088-4F78-03FC-4E4A-3C4191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Schematic View of Swapping</a:t>
            </a:r>
            <a:endParaRPr lang="en-US" dirty="0"/>
          </a:p>
        </p:txBody>
      </p:sp>
      <p:pic>
        <p:nvPicPr>
          <p:cNvPr id="4" name="Picture 4" descr="8">
            <a:extLst>
              <a:ext uri="{FF2B5EF4-FFF2-40B4-BE49-F238E27FC236}">
                <a16:creationId xmlns:a16="http://schemas.microsoft.com/office/drawing/2014/main" id="{421D1D13-A09C-F162-92EA-3D0DE9E31D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0" y="1910080"/>
            <a:ext cx="4805680" cy="3456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3175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93BA-30D3-5B75-B937-C2311223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dirty="0"/>
              <a:t>Context Switch Time including Swapping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EB101-B15F-A9EE-A041-3C32B6FEE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30400"/>
            <a:ext cx="8574087" cy="41957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Context switch time can then be very high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100MB process swapping to hard disk with transfer rate of 50MB/sec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Plus swap in of same sized process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Total context switch swapping component time of 4000ms (4 seconds)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Can reduce if reduce size of memory swapped – by knowing how much memory really being used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24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62" y="61808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062" y="1871433"/>
            <a:ext cx="7635875" cy="47545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Other constraints as well on swapping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Pending I/O – can’t swap out as I/O would occur to wrong process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Or always transfer I/O to kernel space, then to I/O device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Standard swapping not used in modern operating systems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But modified version common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6283" y="799360"/>
            <a:ext cx="7869237" cy="57626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2072851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4383" y="693579"/>
            <a:ext cx="7831137" cy="5762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0223" y="1909762"/>
            <a:ext cx="7663186" cy="49990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7374"/>
            <a:ext cx="8229600" cy="5762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5458"/>
            <a:ext cx="7651102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Shuffle memory contents to place all free memory together in one large block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I/O problem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altLang="en-US" dirty="0"/>
              <a:t>Latch job in memory while it is involved in I/O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altLang="en-US" dirty="0"/>
              <a:t>Do I/O only into OS buffers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Now consider that backing store has same fragmentation problems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52939"/>
            <a:ext cx="8229600" cy="5762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600" y="1754981"/>
            <a:ext cx="8940800" cy="48768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Avoids external fragmentation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Backing store likewise split into pages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858" y="549275"/>
            <a:ext cx="7840662" cy="5762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5455" y="1643698"/>
            <a:ext cx="7299325" cy="44831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buFont typeface="Wingdings" panose="05000000000000000000" pitchFamily="2" charset="2"/>
              <a:buChar char="q"/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buFont typeface="Wingdings" panose="05000000000000000000" pitchFamily="2" charset="2"/>
              <a:buChar char="q"/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buFont typeface="Wingdings" panose="05000000000000000000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anose="05000000000000000000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anose="05000000000000000000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anose="05000000000000000000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603" y="433578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670331"/>
            <a:ext cx="7937500" cy="5762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4485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76242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610393"/>
            <a:ext cx="8229600" cy="5762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64" y="1712912"/>
            <a:ext cx="7604449" cy="48212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220" y="2640013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BD8A388-8E27-4EE5-81A8-60463D77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91992"/>
            <a:ext cx="8229600" cy="57626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Virtual memory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22901F-947A-433D-9A89-77363C3CE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3457" y="1759899"/>
            <a:ext cx="7679094" cy="45291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dirty="0"/>
              <a:t>– separation of user logical memory from physical memory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Only part of the program needs to be in memory for execution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Logical address space can therefore be much larger than physical address space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Allows address spaces to be shared by several processes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Allows for more efficient process creation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More programs running concurrently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Less I/O needed to load or swap processes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98FEA7-C7CA-4225-97D5-87D05E0B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12312"/>
            <a:ext cx="8229600" cy="57626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Virtual memory  (Cont.)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EAA72FA-32BB-4333-A973-F0773984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13626"/>
            <a:ext cx="7688424" cy="45291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dirty="0"/>
              <a:t> – logical view of how process is stored in memory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Usually start at address 0, contiguous addresses until end of space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Meanwhile, physical memory organized in page frames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MMU must map logical to physical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Virtual memory can be implemented via: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Demand paging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Demand segmentation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/>
              <a:t>Written by Galvin and Silberschatz</a:t>
            </a:r>
          </a:p>
          <a:p>
            <a:pPr lvl="1">
              <a:buFont typeface="Wingdings" pitchFamily="2" charset="2"/>
              <a:buChar char="q"/>
            </a:pPr>
            <a:r>
              <a:rPr lang="en-US"/>
              <a:t>Edition: 9</a:t>
            </a:r>
            <a:r>
              <a:rPr lang="en-US" baseline="30000"/>
              <a:t>th</a:t>
            </a: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1960</TotalTime>
  <Words>1499</Words>
  <Application>Microsoft Macintosh PowerPoint</Application>
  <PresentationFormat>On-screen Show (4:3)</PresentationFormat>
  <Paragraphs>188</Paragraphs>
  <Slides>26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Corbel</vt:lpstr>
      <vt:lpstr>Courier New</vt:lpstr>
      <vt:lpstr>Helvetica</vt:lpstr>
      <vt:lpstr>Times New Roman</vt:lpstr>
      <vt:lpstr>Wingdings</vt:lpstr>
      <vt:lpstr>Spectrum</vt:lpstr>
      <vt:lpstr>Operating System Concepts</vt:lpstr>
      <vt:lpstr>Lecture Outline</vt:lpstr>
      <vt:lpstr>Background</vt:lpstr>
      <vt:lpstr>Protection</vt:lpstr>
      <vt:lpstr>Hardware Address Protection</vt:lpstr>
      <vt:lpstr>Address Binding</vt:lpstr>
      <vt:lpstr>Binding of Instructions and Data to Memory</vt:lpstr>
      <vt:lpstr>Dynamic Loading</vt:lpstr>
      <vt:lpstr>Logical vs. Physical Address Space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with Paging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Virtual memory </vt:lpstr>
      <vt:lpstr>Virtual memory  (Cont.)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69</cp:revision>
  <dcterms:created xsi:type="dcterms:W3CDTF">2018-12-10T17:20:29Z</dcterms:created>
  <dcterms:modified xsi:type="dcterms:W3CDTF">2026-01-14T14:40:50Z</dcterms:modified>
</cp:coreProperties>
</file>
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3"/>
    <p:restoredTop sz="94760"/>
  </p:normalViewPr>
  <p:slideViewPr>
    <p:cSldViewPr snapToGrid="0" snapToObjects="1">
      <p:cViewPr varScale="1">
        <p:scale>
          <a:sx n="59" d="100"/>
          <a:sy n="59" d="100"/>
        </p:scale>
        <p:origin x="200" y="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6-01-14T17:40:16.968" v="0" actId="13926"/>
      <pc:docMkLst>
        <pc:docMk/>
      </pc:docMkLst>
      <pc:sldChg chg="modSp mod">
        <pc:chgData name="AFNAN BIN ISLAM NAHIN" userId="288682b4-77b6-4f3e-a0c4-4af26aad528b" providerId="ADAL" clId="{79988929-352C-57E9-A43B-A5F2C3021FFB}" dt="2026-01-14T17:40:16.968" v="0" actId="13926"/>
        <pc:sldMkLst>
          <pc:docMk/>
          <pc:sldMk cId="2807702417" sldId="288"/>
        </pc:sldMkLst>
        <pc:spChg chg="mod">
          <ac:chgData name="AFNAN BIN ISLAM NAHIN" userId="288682b4-77b6-4f3e-a0c4-4af26aad528b" providerId="ADAL" clId="{79988929-352C-57E9-A43B-A5F2C3021FFB}" dt="2026-01-14T17:40:16.968" v="0" actId="13926"/>
          <ac:spMkLst>
            <pc:docMk/>
            <pc:sldMk cId="2807702417" sldId="288"/>
            <ac:spMk id="57345" creationId="{00000000-0000-0000-0000-000000000000}"/>
          </ac:spMkLst>
        </pc:spChg>
      </pc:sldChg>
    </pc:docChg>
  </pc:docChgLst>
  <pc:docChgLst>
    <pc:chgData name="AFNAN BIN ISLAM NAHIN" userId="288682b4-77b6-4f3e-a0c4-4af26aad528b" providerId="ADAL" clId="{94BF7A1F-C1CB-42FA-8B03-AB44722CD6A9}"/>
    <pc:docChg chg="modSld">
      <pc:chgData name="AFNAN BIN ISLAM NAHIN" userId="288682b4-77b6-4f3e-a0c4-4af26aad528b" providerId="ADAL" clId="{94BF7A1F-C1CB-42FA-8B03-AB44722CD6A9}" dt="2025-12-20T06:32:11.383" v="1" actId="13926"/>
      <pc:docMkLst>
        <pc:docMk/>
      </pc:docMkLst>
      <pc:sldChg chg="modSp mod">
        <pc:chgData name="AFNAN BIN ISLAM NAHIN" userId="288682b4-77b6-4f3e-a0c4-4af26aad528b" providerId="ADAL" clId="{94BF7A1F-C1CB-42FA-8B03-AB44722CD6A9}" dt="2025-12-20T06:31:58.021" v="0" actId="13926"/>
        <pc:sldMkLst>
          <pc:docMk/>
          <pc:sldMk cId="2602977690" sldId="285"/>
        </pc:sldMkLst>
        <pc:spChg chg="mod">
          <ac:chgData name="AFNAN BIN ISLAM NAHIN" userId="288682b4-77b6-4f3e-a0c4-4af26aad528b" providerId="ADAL" clId="{94BF7A1F-C1CB-42FA-8B03-AB44722CD6A9}" dt="2025-12-20T06:31:58.021" v="0" actId="13926"/>
          <ac:spMkLst>
            <pc:docMk/>
            <pc:sldMk cId="2602977690" sldId="285"/>
            <ac:spMk id="52225" creationId="{00000000-0000-0000-0000-000000000000}"/>
          </ac:spMkLst>
        </pc:spChg>
      </pc:sldChg>
      <pc:sldChg chg="modSp mod">
        <pc:chgData name="AFNAN BIN ISLAM NAHIN" userId="288682b4-77b6-4f3e-a0c4-4af26aad528b" providerId="ADAL" clId="{94BF7A1F-C1CB-42FA-8B03-AB44722CD6A9}" dt="2025-12-20T06:32:11.383" v="1" actId="13926"/>
        <pc:sldMkLst>
          <pc:docMk/>
          <pc:sldMk cId="2807702417" sldId="288"/>
        </pc:sldMkLst>
        <pc:spChg chg="mod">
          <ac:chgData name="AFNAN BIN ISLAM NAHIN" userId="288682b4-77b6-4f3e-a0c4-4af26aad528b" providerId="ADAL" clId="{94BF7A1F-C1CB-42FA-8B03-AB44722CD6A9}" dt="2025-12-20T06:32:11.383" v="1" actId="13926"/>
          <ac:spMkLst>
            <pc:docMk/>
            <pc:sldMk cId="2807702417" sldId="288"/>
            <ac:spMk id="573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5D842F-34CD-4209-A4C7-B49BA303FAED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AED0C4-0285-44B4-AC94-A560F65D68D0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21DE826-BB2F-4D35-9BF3-013AE2380956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23AF870-D68F-45E2-8FCA-C72F738CC30D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6B8C26A-065A-4845-B4DF-26FFD476009D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05948D-ADD2-40BE-BA03-41B479AA726B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7D88E78-45BA-4EE3-AECC-6E06BE8CC37E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D78B369-91B6-4C30-9C13-9D372EFFED37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4EE3F07-CBBC-4168-842E-079239D460C5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FF298B6-1150-4856-A97E-A391206EA64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906062A-2D30-4B0D-B453-D5DA346FAD59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E8A8F99-BD1E-436B-89D5-83CFB739D48A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Synchronization Tools </a:t>
            </a:r>
            <a:r>
              <a:rPr lang="en-US" altLang="en-US" sz="1800" dirty="0"/>
              <a:t>(cont’d)</a:t>
            </a:r>
            <a:r>
              <a:rPr lang="en-US" sz="18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498166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5924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3021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Hardware Support for Synchronization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Mutex</a:t>
            </a:r>
            <a:r>
              <a:rPr lang="en-US" sz="2400" dirty="0">
                <a:solidFill>
                  <a:schemeClr val="tx1"/>
                </a:solidFill>
              </a:rPr>
              <a:t> Locks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Semaphores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Synchronization Hardware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303432" y="1995813"/>
            <a:ext cx="8554818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Many systems provide hardware support for implementing the critical section code.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Uniprocessors – could disable interrupts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Currently running code would execute without preemption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Generally too inefficient on multiprocessor systems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Operating systems using this not broadly scalable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We will look at three forms of hardware support: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1. Memory barriers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2. Hardware instructions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3. Atomic variables</a:t>
            </a:r>
          </a:p>
        </p:txBody>
      </p:sp>
    </p:spTree>
    <p:extLst>
      <p:ext uri="{BB962C8B-B14F-4D97-AF65-F5344CB8AC3E}">
        <p14:creationId xmlns:p14="http://schemas.microsoft.com/office/powerpoint/2010/main" val="13610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Memory Barriers</a:t>
            </a:r>
          </a:p>
        </p:txBody>
      </p:sp>
      <p:sp>
        <p:nvSpPr>
          <p:cNvPr id="368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Memory model </a:t>
            </a:r>
            <a:r>
              <a:rPr lang="en-US" altLang="en-US" dirty="0"/>
              <a:t>are the memory guarantees a computer architecture makes to application programs.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Memory models may be either: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Strongly ordered </a:t>
            </a:r>
            <a:r>
              <a:rPr lang="en-US" altLang="en-US" dirty="0"/>
              <a:t>– where a memory modification of one processor is immediately visible to all other processors.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Weakly ordered  </a:t>
            </a:r>
            <a:r>
              <a:rPr lang="en-US" altLang="en-US" dirty="0"/>
              <a:t>– where a memory modification of one processor may not be immediately visible to all other processors.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</a:t>
            </a:r>
            <a:r>
              <a:rPr lang="en-US" altLang="en-US" b="1" dirty="0"/>
              <a:t>memory barrier </a:t>
            </a:r>
            <a:r>
              <a:rPr lang="en-US" altLang="en-US" dirty="0"/>
              <a:t>is an instruction that forces any change in memory to be propagated (made visible) to all other processors.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656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Memory Barrier</a:t>
            </a:r>
          </a:p>
        </p:txBody>
      </p:sp>
      <p:sp>
        <p:nvSpPr>
          <p:cNvPr id="3789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We could add a memory barrier to the following instructions to ensure Thread 1 outputs 100: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1 now performs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while (!flag)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memory_barrier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print 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2 now performs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x = 100;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memory_barrier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flag = true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669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Hardware Instructions</a:t>
            </a:r>
          </a:p>
        </p:txBody>
      </p:sp>
      <p:sp>
        <p:nvSpPr>
          <p:cNvPr id="3891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Special hardware instructions that allow us to either </a:t>
            </a:r>
            <a:r>
              <a:rPr lang="en-US" altLang="en-US" i="1" dirty="0"/>
              <a:t>test-and-modify</a:t>
            </a:r>
            <a:r>
              <a:rPr lang="en-US" altLang="en-US" dirty="0"/>
              <a:t> the content of a word, or two </a:t>
            </a:r>
            <a:r>
              <a:rPr lang="en-US" altLang="en-US" i="1" dirty="0"/>
              <a:t>swap</a:t>
            </a:r>
            <a:r>
              <a:rPr lang="en-US" altLang="en-US" dirty="0"/>
              <a:t> the contents of two words atomically (</a:t>
            </a:r>
            <a:r>
              <a:rPr lang="en-US" altLang="en-US" dirty="0" err="1"/>
              <a:t>uninterruptibly</a:t>
            </a:r>
            <a:r>
              <a:rPr lang="en-US" altLang="en-US" dirty="0"/>
              <a:t>.)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Test-and-Set</a:t>
            </a:r>
            <a:r>
              <a:rPr lang="en-US" altLang="en-US" dirty="0"/>
              <a:t> instruction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Compare-and-Swap</a:t>
            </a:r>
            <a:r>
              <a:rPr lang="en-US" altLang="en-US" dirty="0"/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204848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 err="1"/>
              <a:t>test_and_set</a:t>
            </a:r>
            <a:r>
              <a:rPr lang="en-US" altLang="en-US" dirty="0"/>
              <a:t>  Instruction 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378588" y="1920657"/>
            <a:ext cx="8479662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   Definition: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*target)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{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= *target;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*target = true;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return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Executed atomically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Returns the original value of passed parameter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Set the new value of passed parameter to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true</a:t>
            </a: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Solution using test_and_set()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</a:t>
            </a:r>
            <a:r>
              <a:rPr lang="en-US" altLang="en-US" dirty="0" err="1"/>
              <a:t>boolean</a:t>
            </a:r>
            <a:r>
              <a:rPr lang="en-US" altLang="en-US" dirty="0"/>
              <a:t>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lock</a:t>
            </a:r>
            <a:r>
              <a:rPr lang="en-US" altLang="en-US" dirty="0"/>
              <a:t>, initialized to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  <a:endParaRPr lang="en-US" alt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 {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while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(&amp;lock))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; /* do nothing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/* critical section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lock = false;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/* remainder section */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} while (true);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5748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 err="1"/>
              <a:t>compare_and_swap</a:t>
            </a:r>
            <a:r>
              <a:rPr lang="en-US" altLang="en-US" dirty="0"/>
              <a:t> Instruction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Definition: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compare _</a:t>
            </a:r>
            <a:r>
              <a:rPr lang="en-US" altLang="en-US" sz="1400" b="1" dirty="0" err="1">
                <a:latin typeface="Courier New" pitchFamily="49" charset="0"/>
              </a:rPr>
              <a:t>and_swap</a:t>
            </a:r>
            <a:r>
              <a:rPr lang="en-US" altLang="en-US" sz="1400" b="1" dirty="0">
                <a:latin typeface="Courier New" pitchFamily="49" charset="0"/>
              </a:rPr>
              <a:t>(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*value,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expected,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</a:t>
            </a:r>
            <a:r>
              <a:rPr lang="en-US" altLang="en-US" sz="1400" b="1" dirty="0" err="1">
                <a:latin typeface="Courier New" pitchFamily="49" charset="0"/>
              </a:rPr>
              <a:t>new_value</a:t>
            </a:r>
            <a:r>
              <a:rPr lang="en-US" altLang="en-US" sz="1400" b="1" dirty="0">
                <a:latin typeface="Courier New" pitchFamily="49" charset="0"/>
              </a:rPr>
              <a:t>) {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temp = *value;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sz="14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if (*value == expected)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   *value = </a:t>
            </a:r>
            <a:r>
              <a:rPr lang="en-US" altLang="en-US" sz="1400" b="1" dirty="0" err="1">
                <a:latin typeface="Courier New" pitchFamily="49" charset="0"/>
              </a:rPr>
              <a:t>new_value</a:t>
            </a:r>
            <a:r>
              <a:rPr lang="en-US" altLang="en-US" sz="1400" b="1" dirty="0">
                <a:latin typeface="Courier New" pitchFamily="49" charset="0"/>
              </a:rPr>
              <a:t>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return temp;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}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Executed atomically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Returns the original value of passed parameter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value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Set  the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altLang="en-US" dirty="0"/>
              <a:t> the value of the passed parameter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new_value</a:t>
            </a:r>
            <a:r>
              <a:rPr lang="en-US" altLang="en-US" dirty="0"/>
              <a:t> but only if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*value == expected </a:t>
            </a:r>
            <a:r>
              <a:rPr lang="en-US" altLang="en-US" dirty="0"/>
              <a:t>is true. That is, the swap takes place only under this condition.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5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Solution using compare_and_swap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integer  </a:t>
            </a:r>
            <a:r>
              <a:rPr lang="en-US" altLang="ja-JP" b="1" dirty="0">
                <a:latin typeface="Courier New" pitchFamily="49" charset="0"/>
                <a:cs typeface="Courier New" pitchFamily="49" charset="0"/>
              </a:rPr>
              <a:t>lock</a:t>
            </a:r>
            <a:r>
              <a:rPr lang="en-US" altLang="ja-JP" dirty="0"/>
              <a:t>  initialized to 0;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b="1" dirty="0">
                <a:latin typeface="Courier New" pitchFamily="49" charset="0"/>
              </a:rPr>
              <a:t>      </a:t>
            </a:r>
            <a:r>
              <a:rPr lang="en-US" altLang="en-US" sz="1600" b="1" dirty="0">
                <a:latin typeface="Courier New" pitchFamily="49" charset="0"/>
              </a:rPr>
              <a:t>while (true){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		while (</a:t>
            </a:r>
            <a:r>
              <a:rPr lang="en-US" altLang="en-US" sz="1600" b="1" dirty="0" err="1">
                <a:latin typeface="Courier New" pitchFamily="49" charset="0"/>
              </a:rPr>
              <a:t>compare_and_swap</a:t>
            </a:r>
            <a:r>
              <a:rPr lang="en-US" altLang="en-US" sz="1600" b="1" dirty="0">
                <a:latin typeface="Courier New" pitchFamily="49" charset="0"/>
              </a:rPr>
              <a:t>(&amp;lock, 0, 1) != 0)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     	; /* do nothing */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		/* critical section */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		lock = 0;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   /* remainder section */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} 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9330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2400" dirty="0"/>
              <a:t>Bounded-waiting Mutual Exclusion with compare-and-swap</a:t>
            </a:r>
          </a:p>
        </p:txBody>
      </p:sp>
      <p:sp>
        <p:nvSpPr>
          <p:cNvPr id="481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while (true) {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waiting[i] = true;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key = 1;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while (waiting[i] &amp;&amp; key == 1)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key = </a:t>
            </a:r>
            <a:r>
              <a:rPr lang="en-US" altLang="en-US" sz="1400" b="1" dirty="0" err="1">
                <a:latin typeface="Courier New" pitchFamily="49" charset="0"/>
              </a:rPr>
              <a:t>compare_and_swap</a:t>
            </a:r>
            <a:r>
              <a:rPr lang="en-US" altLang="en-US" sz="1400" b="1" dirty="0">
                <a:latin typeface="Courier New" pitchFamily="49" charset="0"/>
              </a:rPr>
              <a:t>(&amp;lock,0,1);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waiting[i] = false;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/* critical section */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j = (i + 1) % n;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while ((j != i) &amp;&amp; !waiting[j])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j = (j + 1) % n;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if (j == i)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lock = 0;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else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waiting[j] = false;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/* remainder section */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757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Atomic Variables</a:t>
            </a:r>
          </a:p>
        </p:txBody>
      </p:sp>
      <p:sp>
        <p:nvSpPr>
          <p:cNvPr id="501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Typically, instructions such as compare-and-swap are used as building blocks for other synchronization tools.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tool is an </a:t>
            </a:r>
            <a:r>
              <a:rPr lang="en-US" altLang="en-US" b="1" dirty="0"/>
              <a:t>atomic variable </a:t>
            </a:r>
            <a:r>
              <a:rPr lang="en-US" altLang="en-US" dirty="0"/>
              <a:t>that provides </a:t>
            </a:r>
            <a:r>
              <a:rPr lang="en-US" altLang="en-US" i="1" dirty="0"/>
              <a:t>atomic</a:t>
            </a:r>
            <a:r>
              <a:rPr lang="en-US" altLang="en-US" dirty="0"/>
              <a:t> (uninterruptible) updates on basic data types such as integers and </a:t>
            </a:r>
            <a:r>
              <a:rPr lang="en-US" altLang="en-US" dirty="0" err="1"/>
              <a:t>booleans</a:t>
            </a:r>
            <a:r>
              <a:rPr lang="en-US" alt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example, 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increment()</a:t>
            </a:r>
            <a:r>
              <a:rPr lang="en-US" altLang="en-US" dirty="0"/>
              <a:t> operation on the atomic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sequence</a:t>
            </a:r>
            <a:r>
              <a:rPr lang="en-US" altLang="en-US" dirty="0"/>
              <a:t> ensures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sequence</a:t>
            </a:r>
            <a:r>
              <a:rPr lang="en-US" altLang="en-US" dirty="0"/>
              <a:t> is incremented without interruption: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increment(&amp;sequence);</a:t>
            </a:r>
            <a:r>
              <a:rPr lang="en-US" altLang="en-US" dirty="0"/>
              <a:t> 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0287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Atomic Variables</a:t>
            </a:r>
          </a:p>
        </p:txBody>
      </p:sp>
      <p:sp>
        <p:nvSpPr>
          <p:cNvPr id="5120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increment()</a:t>
            </a:r>
            <a:r>
              <a:rPr lang="en-US" altLang="en-US" dirty="0"/>
              <a:t> function can be implemented as follows: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void increment(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atomic_int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*v)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temp;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do {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temp = *v;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}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while (temp !=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compare_and_swap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(v,temp,temp+1));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907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>
                <a:highlight>
                  <a:srgbClr val="808000"/>
                </a:highlight>
              </a:rPr>
              <a:t>Mutex Locks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Previous solutions are complicated and generally inaccessible to application programmers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OS designers build software tools to solve critical section problem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Simplest is </a:t>
            </a:r>
            <a:r>
              <a:rPr lang="en-US" altLang="en-US" sz="2000" dirty="0" err="1"/>
              <a:t>mutex</a:t>
            </a:r>
            <a:r>
              <a:rPr lang="en-US" altLang="en-US" dirty="0"/>
              <a:t> lock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Protect a critical section  by first 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 lock then </a:t>
            </a:r>
            <a:r>
              <a:rPr lang="en-US" altLang="en-US" sz="2000" b="1" dirty="0">
                <a:latin typeface="Courier New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the lock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Boolean variable indicating if lock is available or not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Calls to </a:t>
            </a:r>
            <a:r>
              <a:rPr lang="en-US" altLang="en-US" sz="2000" b="1" dirty="0">
                <a:latin typeface="Courier New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must be atomic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Usually implemented via hardware atomic instructions such as compare-and-swap.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But this solution requires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This lock therefore called a </a:t>
            </a:r>
            <a:r>
              <a:rPr lang="en-US" altLang="en-US" b="1" dirty="0">
                <a:solidFill>
                  <a:srgbClr val="3366FF"/>
                </a:solidFill>
              </a:rPr>
              <a:t>spinlock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0297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72D3C8-57B0-DA47-A698-D44B3ABAD6A5}"/>
              </a:ext>
            </a:extLst>
          </p:cNvPr>
          <p:cNvSpPr/>
          <p:nvPr/>
        </p:nvSpPr>
        <p:spPr bwMode="auto">
          <a:xfrm>
            <a:off x="3178175" y="2609850"/>
            <a:ext cx="2024063" cy="3762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36883-E3AE-034C-85E4-7D519953BB92}"/>
              </a:ext>
            </a:extLst>
          </p:cNvPr>
          <p:cNvSpPr/>
          <p:nvPr/>
        </p:nvSpPr>
        <p:spPr bwMode="auto">
          <a:xfrm>
            <a:off x="3178175" y="3686175"/>
            <a:ext cx="2024063" cy="3460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5427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3200"/>
              <a:t>Solution to Critical-section Problem Using Locks</a:t>
            </a:r>
          </a:p>
        </p:txBody>
      </p:sp>
      <p:sp>
        <p:nvSpPr>
          <p:cNvPr id="54276" name="Rectangle 2"/>
          <p:cNvSpPr>
            <a:spLocks noChangeArrowheads="1"/>
          </p:cNvSpPr>
          <p:nvPr/>
        </p:nvSpPr>
        <p:spPr bwMode="auto">
          <a:xfrm>
            <a:off x="2286000" y="2274888"/>
            <a:ext cx="4572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960936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Mutex Lock Definitions</a:t>
            </a:r>
          </a:p>
        </p:txBody>
      </p:sp>
      <p:sp>
        <p:nvSpPr>
          <p:cNvPr id="5632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93091" y="1859789"/>
            <a:ext cx="8229600" cy="320833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4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latin typeface="Courier New" pitchFamily="49" charset="0"/>
              </a:rPr>
              <a:t>acquire()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 while (!available)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   ; /* busy wait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available = false;;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}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latin typeface="Courier New" pitchFamily="49" charset="0"/>
              </a:rPr>
              <a:t>   release()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available = true;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} </a:t>
            </a:r>
            <a:endParaRPr lang="en-US" altLang="en-US" sz="1400" b="1" dirty="0">
              <a:latin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56323" name="TextBox 5"/>
          <p:cNvSpPr txBox="1">
            <a:spLocks noChangeArrowheads="1"/>
          </p:cNvSpPr>
          <p:nvPr/>
        </p:nvSpPr>
        <p:spPr bwMode="auto">
          <a:xfrm>
            <a:off x="710048" y="5209481"/>
            <a:ext cx="5429074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en-US" dirty="0"/>
              <a:t>These two functions must be implemented atomically.</a:t>
            </a:r>
          </a:p>
          <a:p>
            <a:pPr algn="just"/>
            <a:r>
              <a:rPr lang="en-US" altLang="en-US" dirty="0"/>
              <a:t>Both test-and-set and compare-and-swap can be </a:t>
            </a:r>
            <a:br>
              <a:rPr lang="en-US" altLang="en-US" dirty="0"/>
            </a:br>
            <a:r>
              <a:rPr lang="en-US" altLang="en-US" dirty="0"/>
              <a:t>used to implement these functions.</a:t>
            </a:r>
          </a:p>
        </p:txBody>
      </p:sp>
    </p:spTree>
    <p:extLst>
      <p:ext uri="{BB962C8B-B14F-4D97-AF65-F5344CB8AC3E}">
        <p14:creationId xmlns:p14="http://schemas.microsoft.com/office/powerpoint/2010/main" val="106262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Semaphore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459004" cy="424214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Synchronization tool that provides more sophisticated ways (than </a:t>
            </a:r>
            <a:r>
              <a:rPr lang="en-US" altLang="en-US" sz="1600" dirty="0" err="1"/>
              <a:t>Mutex</a:t>
            </a:r>
            <a:r>
              <a:rPr lang="en-US" altLang="en-US" sz="1600" dirty="0"/>
              <a:t> locks)  for process to synchronize their activities.</a:t>
            </a:r>
            <a:endParaRPr lang="en-US" altLang="en-US" sz="16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Semaphore </a:t>
            </a:r>
            <a:r>
              <a:rPr lang="en-US" altLang="en-US" sz="1600" b="1" i="1" dirty="0"/>
              <a:t>S</a:t>
            </a:r>
            <a:r>
              <a:rPr lang="en-US" altLang="en-US" sz="1600" dirty="0"/>
              <a:t> – integer variable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Can only be accessed via two indivisible (atomic) operations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wait()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sz="1600" dirty="0">
                <a:solidFill>
                  <a:srgbClr val="000000"/>
                </a:solidFill>
              </a:rPr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signal()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(Originally called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P()</a:t>
            </a:r>
            <a:r>
              <a:rPr lang="en-US" altLang="en-US" dirty="0"/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V())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wait() operation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wait(S)</a:t>
            </a: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{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while (S &lt;= 0)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   ; // busy wait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S--;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signal() operation</a:t>
            </a:r>
            <a:endParaRPr lang="en-US" altLang="en-US" sz="1600" b="1" dirty="0">
              <a:latin typeface="Courier New" pitchFamily="49" charset="0"/>
              <a:sym typeface="Symbol" pitchFamily="18" charset="2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signal(S)</a:t>
            </a: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{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S++;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7702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 Usage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Counting semaphore </a:t>
            </a:r>
            <a:r>
              <a:rPr lang="en-US" altLang="en-US" sz="1600" dirty="0"/>
              <a:t>– integer value can range over an unrestricted domain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Binary semaphore </a:t>
            </a:r>
            <a:r>
              <a:rPr lang="en-US" altLang="en-US" sz="1600" dirty="0"/>
              <a:t>– integer value can range only between 0 and 1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Same as a </a:t>
            </a:r>
            <a:r>
              <a:rPr lang="en-US" altLang="en-US" sz="1600" b="1" dirty="0" err="1">
                <a:solidFill>
                  <a:srgbClr val="3366FF"/>
                </a:solidFill>
                <a:sym typeface="MT Extra" pitchFamily="18" charset="2"/>
              </a:rPr>
              <a:t>mutex</a:t>
            </a:r>
            <a:r>
              <a:rPr lang="en-US" altLang="en-US" sz="1600" b="1" dirty="0">
                <a:solidFill>
                  <a:srgbClr val="3366FF"/>
                </a:solidFill>
                <a:sym typeface="MT Extra" pitchFamily="18" charset="2"/>
              </a:rPr>
              <a:t> lock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Can solve various synchronization problems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Consider </a:t>
            </a:r>
            <a:r>
              <a:rPr lang="en-US" altLang="en-US" sz="1600" b="1" i="1" dirty="0">
                <a:sym typeface="MT Extra" pitchFamily="18" charset="2"/>
              </a:rPr>
              <a:t>P</a:t>
            </a:r>
            <a:r>
              <a:rPr lang="en-US" altLang="en-US" sz="1600" b="1" i="1" baseline="-25000" dirty="0">
                <a:sym typeface="MT Extra" pitchFamily="18" charset="2"/>
              </a:rPr>
              <a:t>1</a:t>
            </a:r>
            <a:r>
              <a:rPr lang="en-US" altLang="en-US" sz="1600" b="1" i="1" dirty="0">
                <a:sym typeface="MT Extra" pitchFamily="18" charset="2"/>
              </a:rPr>
              <a:t> </a:t>
            </a:r>
            <a:r>
              <a:rPr lang="en-US" altLang="en-US" sz="1600" dirty="0">
                <a:sym typeface="MT Extra" pitchFamily="18" charset="2"/>
              </a:rPr>
              <a:t> and </a:t>
            </a:r>
            <a:r>
              <a:rPr lang="en-US" altLang="en-US" sz="1600" b="1" i="1" dirty="0">
                <a:sym typeface="MT Extra" pitchFamily="18" charset="2"/>
              </a:rPr>
              <a:t>P</a:t>
            </a:r>
            <a:r>
              <a:rPr lang="en-US" altLang="en-US" sz="1600" b="1" i="1" baseline="-25000" dirty="0">
                <a:sym typeface="MT Extra" pitchFamily="18" charset="2"/>
              </a:rPr>
              <a:t>2</a:t>
            </a:r>
            <a:r>
              <a:rPr lang="en-US" altLang="en-US" sz="1600" dirty="0">
                <a:sym typeface="MT Extra" pitchFamily="18" charset="2"/>
              </a:rPr>
              <a:t> that require</a:t>
            </a:r>
            <a:r>
              <a:rPr lang="en-US" altLang="en-US" sz="1600" b="1" i="1" dirty="0">
                <a:sym typeface="MT Extra" pitchFamily="18" charset="2"/>
              </a:rPr>
              <a:t> S</a:t>
            </a:r>
            <a:r>
              <a:rPr lang="en-US" altLang="en-US" sz="1600" b="1" i="1" baseline="-25000" dirty="0">
                <a:sym typeface="MT Extra" pitchFamily="18" charset="2"/>
              </a:rPr>
              <a:t>1</a:t>
            </a:r>
            <a:r>
              <a:rPr lang="en-US" altLang="en-US" sz="1600" b="1" i="1" dirty="0">
                <a:sym typeface="MT Extra" pitchFamily="18" charset="2"/>
              </a:rPr>
              <a:t> </a:t>
            </a:r>
            <a:r>
              <a:rPr lang="en-US" altLang="en-US" sz="1600" dirty="0">
                <a:sym typeface="MT Extra" pitchFamily="18" charset="2"/>
              </a:rPr>
              <a:t>to happen before </a:t>
            </a:r>
            <a:r>
              <a:rPr lang="en-US" altLang="en-US" sz="1600" b="1" i="1" dirty="0">
                <a:sym typeface="MT Extra" pitchFamily="18" charset="2"/>
              </a:rPr>
              <a:t>S</a:t>
            </a:r>
            <a:r>
              <a:rPr lang="en-US" altLang="en-US" sz="1600" b="1" i="1" baseline="-25000" dirty="0">
                <a:sym typeface="MT Extra" pitchFamily="18" charset="2"/>
              </a:rPr>
              <a:t>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       Create a semaphore “</a:t>
            </a:r>
            <a:r>
              <a:rPr lang="en-US" altLang="ja-JP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synch</a:t>
            </a:r>
            <a:r>
              <a:rPr lang="en-US" altLang="en-US" sz="1600" dirty="0">
                <a:sym typeface="MT Extra" pitchFamily="18" charset="2"/>
              </a:rPr>
              <a:t>”</a:t>
            </a:r>
            <a:r>
              <a:rPr lang="en-US" altLang="ja-JP" sz="1600" dirty="0">
                <a:sym typeface="MT Extra" pitchFamily="18" charset="2"/>
              </a:rPr>
              <a:t> initialized to 0 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P1: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1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;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signal(synch);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P2: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wait(synch)</a:t>
            </a:r>
            <a:r>
              <a:rPr lang="en-US" altLang="en-US" sz="1400" dirty="0">
                <a:solidFill>
                  <a:srgbClr val="0000FF"/>
                </a:solidFill>
                <a:sym typeface="MT Extra" pitchFamily="18" charset="2"/>
              </a:rPr>
              <a:t>;</a:t>
            </a:r>
            <a:endParaRPr lang="en-US" altLang="en-US" sz="1600" b="1" dirty="0">
              <a:solidFill>
                <a:srgbClr val="000000"/>
              </a:solidFill>
              <a:latin typeface="Courier New" pitchFamily="49" charset="0"/>
              <a:sym typeface="MT Extra" pitchFamily="18" charset="2"/>
            </a:endParaRP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2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;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/>
              <a:t>Can implement a counting semaphore </a:t>
            </a:r>
            <a:r>
              <a:rPr lang="en-US" altLang="en-US" sz="1600" b="1" i="1" dirty="0">
                <a:solidFill>
                  <a:srgbClr val="000000"/>
                </a:solidFill>
              </a:rPr>
              <a:t>S</a:t>
            </a:r>
            <a:r>
              <a:rPr lang="en-US" altLang="en-US" sz="1600" dirty="0"/>
              <a:t> as a binary semaphore</a:t>
            </a:r>
          </a:p>
          <a:p>
            <a:pPr>
              <a:spcBef>
                <a:spcPts val="500"/>
              </a:spcBef>
              <a:tabLst>
                <a:tab pos="2001838" algn="ctr"/>
                <a:tab pos="4513263" algn="ctr"/>
              </a:tabLst>
            </a:pPr>
            <a:endParaRPr lang="en-US" altLang="en-US" sz="1600" b="1" i="1" baseline="-25000" dirty="0">
              <a:sym typeface="MT Extra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93539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 Implementation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Must guarantee that no two processes can execute  the </a:t>
            </a:r>
            <a:r>
              <a:rPr lang="en-US" altLang="en-US" sz="2000" b="1" dirty="0">
                <a:latin typeface="Courier New" pitchFamily="49" charset="0"/>
              </a:rPr>
              <a:t>wait()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itchFamily="49" charset="0"/>
              </a:rPr>
              <a:t>signal() </a:t>
            </a:r>
            <a:r>
              <a:rPr lang="en-US" altLang="en-US" dirty="0"/>
              <a:t>on the same semaphore at the same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Thus, the implementation becomes the critical section problem where the </a:t>
            </a:r>
            <a:r>
              <a:rPr lang="en-US" altLang="en-US" sz="2000" b="1" dirty="0">
                <a:latin typeface="Courier New" pitchFamily="49" charset="0"/>
              </a:rPr>
              <a:t>wait</a:t>
            </a:r>
            <a:r>
              <a:rPr lang="en-US" altLang="en-US" dirty="0"/>
              <a:t> and </a:t>
            </a:r>
            <a:r>
              <a:rPr lang="en-US" altLang="en-US" sz="2000" b="1" dirty="0">
                <a:latin typeface="Courier New" pitchFamily="49" charset="0"/>
              </a:rPr>
              <a:t>signal</a:t>
            </a:r>
            <a:r>
              <a:rPr lang="en-US" altLang="en-US" dirty="0"/>
              <a:t> code are placed in the critical section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Could now have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critical section implementation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But implementation code is short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Little busy waiting if critical section rarely occupied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Note that applications may spend lots of time in critical sections and therefore this is not a good solution</a:t>
            </a:r>
          </a:p>
          <a:p>
            <a:pPr marL="0" indent="0">
              <a:buNone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8122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200"/>
              <a:t>Semaphore Implementation with no Busy waiting 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With each semaphore there is an associated waiting queue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Each entry in a waiting queue has two data items: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 value (of type integer)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 pointer to next record in the list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Two operations: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place the process invoking the operation on the appropriate waiting queue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wakeup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remove one of processes in the waiting queue and place it in the ready queue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b="1" dirty="0" err="1">
                <a:latin typeface="Courier New" pitchFamily="49" charset="0"/>
              </a:rPr>
              <a:t>typedef</a:t>
            </a:r>
            <a:r>
              <a:rPr lang="en-US" altLang="en-US" sz="1600" b="1" dirty="0">
                <a:latin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</a:rPr>
              <a:t>struct</a:t>
            </a:r>
            <a:r>
              <a:rPr lang="en-US" altLang="en-US" sz="1600" b="1" dirty="0">
                <a:latin typeface="Courier New" pitchFamily="49" charset="0"/>
              </a:rPr>
              <a:t> {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	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value;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	</a:t>
            </a:r>
            <a:r>
              <a:rPr lang="en-US" altLang="en-US" sz="1600" b="1" dirty="0" err="1">
                <a:latin typeface="Courier New" pitchFamily="49" charset="0"/>
              </a:rPr>
              <a:t>struct</a:t>
            </a:r>
            <a:r>
              <a:rPr lang="en-US" altLang="en-US" sz="1600" b="1" dirty="0">
                <a:latin typeface="Courier New" pitchFamily="49" charset="0"/>
              </a:rPr>
              <a:t> process *list;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semaphore; </a:t>
            </a:r>
          </a:p>
          <a:p>
            <a:pPr>
              <a:spcBef>
                <a:spcPts val="500"/>
              </a:spcBef>
            </a:pPr>
            <a:endParaRPr lang="en-US" altLang="en-US" dirty="0"/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72523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200" dirty="0"/>
              <a:t>Implementation with no Busy waiting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200" dirty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4"/>
            <a:ext cx="8574087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endParaRPr lang="en-US" altLang="en-US" sz="1400" b="1" dirty="0">
              <a:latin typeface="Courier New" pitchFamily="49" charset="0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wait(semaphore *S) {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S-&gt;value--;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if (S-&gt;value &lt; 0)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add this process to S-&gt;list;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block();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endParaRPr lang="en-US" altLang="en-US" sz="1600" b="1" dirty="0">
              <a:latin typeface="Courier New" pitchFamily="49" charset="0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signal(semaphore *S) {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S-&gt;value++;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if (S-&gt;value &lt;= 0)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remove a process P from S-&gt;list;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wakeup(P);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392114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Problems with Semaphores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 Incorrect use of semaphore operations:</a:t>
            </a: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signal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 ….  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 …  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Omitting 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en-US" dirty="0"/>
              <a:t>and/or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signal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These – and others – are examples of what can occur when </a:t>
            </a:r>
            <a:r>
              <a:rPr lang="en-US" altLang="en-US" dirty="0" err="1"/>
              <a:t>sempahores</a:t>
            </a:r>
            <a:r>
              <a:rPr lang="en-US" altLang="en-US" dirty="0"/>
              <a:t> and other synchronization tools are used incorrectly.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2195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Written by Galvin and Silberschatz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Edition: 9</a:t>
            </a:r>
            <a:r>
              <a:rPr lang="en-US" baseline="30000"/>
              <a:t>th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198</TotalTime>
  <Words>1583</Words>
  <Application>Microsoft Macintosh PowerPoint</Application>
  <PresentationFormat>On-screen Show (4:3)</PresentationFormat>
  <Paragraphs>230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Monotype Sorts</vt:lpstr>
      <vt:lpstr>MT Extra</vt:lpstr>
      <vt:lpstr>Times New Roman</vt:lpstr>
      <vt:lpstr>Verdana</vt:lpstr>
      <vt:lpstr>Wingdings</vt:lpstr>
      <vt:lpstr>Spectrum</vt:lpstr>
      <vt:lpstr>Synchronization Tools (cont’d) </vt:lpstr>
      <vt:lpstr>Lecture Outline</vt:lpstr>
      <vt:lpstr>Synchronization Hardware</vt:lpstr>
      <vt:lpstr>Memory Barriers</vt:lpstr>
      <vt:lpstr>Memory Barrier</vt:lpstr>
      <vt:lpstr>Hardware Instructions</vt:lpstr>
      <vt:lpstr>test_and_set  Instruction </vt:lpstr>
      <vt:lpstr>Solution using test_and_set()</vt:lpstr>
      <vt:lpstr>compare_and_swap Instruction</vt:lpstr>
      <vt:lpstr>Solution using compare_and_swap</vt:lpstr>
      <vt:lpstr>Bounded-waiting Mutual Exclusion with compare-and-swap</vt:lpstr>
      <vt:lpstr>Atomic Variables</vt:lpstr>
      <vt:lpstr>Atomic Variables</vt:lpstr>
      <vt:lpstr>Mutex Locks</vt:lpstr>
      <vt:lpstr>Solution to Critical-section Problem Using Locks</vt:lpstr>
      <vt:lpstr>Mutex Lock Definitions</vt:lpstr>
      <vt:lpstr>Semaphore</vt:lpstr>
      <vt:lpstr>Semaphore Usage</vt:lpstr>
      <vt:lpstr>Semaphore Implementation</vt:lpstr>
      <vt:lpstr>Semaphore Implementation with no Busy waiting </vt:lpstr>
      <vt:lpstr>Implementation with no Busy waiting (cont’d)</vt:lpstr>
      <vt:lpstr>Problems with Semaphores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20</cp:revision>
  <dcterms:created xsi:type="dcterms:W3CDTF">2018-12-10T17:20:29Z</dcterms:created>
  <dcterms:modified xsi:type="dcterms:W3CDTF">2026-01-14T17:40:27Z</dcterms:modified>
</cp:coreProperties>
</file>
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9"/>
  </p:notesMasterIdLst>
  <p:sldIdLst>
    <p:sldId id="256" r:id="rId5"/>
    <p:sldId id="293" r:id="rId6"/>
    <p:sldId id="296" r:id="rId7"/>
    <p:sldId id="298" r:id="rId8"/>
    <p:sldId id="299" r:id="rId9"/>
    <p:sldId id="300" r:id="rId10"/>
    <p:sldId id="303" r:id="rId11"/>
    <p:sldId id="304" r:id="rId12"/>
    <p:sldId id="295" r:id="rId13"/>
    <p:sldId id="307" r:id="rId14"/>
    <p:sldId id="311" r:id="rId15"/>
    <p:sldId id="312" r:id="rId16"/>
    <p:sldId id="313" r:id="rId17"/>
    <p:sldId id="31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560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09/12/2024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Tonny Kar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AIUB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147610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</a:t>
            </a:r>
            <a:r>
              <a:rPr lang="en-GB" sz="2200" dirty="0">
                <a:highlight>
                  <a:srgbClr val="FFFF00"/>
                </a:highlight>
                <a:latin typeface="+mj-lt"/>
              </a:rPr>
              <a:t>activities</a:t>
            </a:r>
            <a:r>
              <a:rPr lang="en-GB" sz="2200" dirty="0">
                <a:latin typeface="+mj-lt"/>
              </a:rPr>
              <a:t>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</a:t>
            </a:r>
            <a:r>
              <a:rPr lang="en-GB" sz="2200" dirty="0">
                <a:highlight>
                  <a:srgbClr val="FFFF00"/>
                </a:highlight>
                <a:latin typeface="+mj-lt"/>
              </a:rPr>
              <a:t>an abstract representation </a:t>
            </a:r>
            <a:r>
              <a:rPr lang="en-GB" sz="2200" dirty="0">
                <a:latin typeface="+mj-lt"/>
              </a:rPr>
              <a:t>of a process. </a:t>
            </a:r>
            <a:br>
              <a:rPr lang="en-GB" sz="2200" dirty="0">
                <a:latin typeface="+mj-lt"/>
              </a:rPr>
            </a:br>
            <a:r>
              <a:rPr lang="en-GB" sz="2200" dirty="0">
                <a:latin typeface="+mj-lt"/>
              </a:rPr>
              <a:t>It presents a description of a process from some </a:t>
            </a:r>
            <a:r>
              <a:rPr lang="en-GB" sz="2200" dirty="0">
                <a:highlight>
                  <a:srgbClr val="FFFF00"/>
                </a:highlight>
                <a:latin typeface="+mj-lt"/>
              </a:rPr>
              <a:t>particular</a:t>
            </a:r>
            <a:r>
              <a:rPr lang="en-GB" sz="2200" dirty="0">
                <a:latin typeface="+mj-lt"/>
              </a:rPr>
              <a:t>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</a:t>
            </a:r>
            <a:r>
              <a:rPr lang="en-GB" sz="2200" dirty="0">
                <a:highlight>
                  <a:srgbClr val="FFFF00"/>
                </a:highlight>
                <a:latin typeface="+mj-lt"/>
                <a:cs typeface="Times New Roman" panose="02020603050405020304" pitchFamily="18" charset="0"/>
              </a:rPr>
              <a:t> distinct 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stages where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4" y="1941341"/>
            <a:ext cx="10652865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 SDLC model where execution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of processes happens in a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sequential</a:t>
            </a:r>
            <a:r>
              <a:rPr lang="en-US" sz="2000" dirty="0">
                <a:latin typeface="+mj-lt"/>
              </a:rPr>
              <a:t> manner in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V-shape. It is also known as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 </a:t>
            </a:r>
            <a:r>
              <a:rPr 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</a:rPr>
              <a:t>Verification and </a:t>
            </a:r>
            <a:br>
              <a:rPr 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</a:rPr>
            </a:br>
            <a:r>
              <a:rPr 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</a:rPr>
              <a:t> Validation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 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V-Model is an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extension</a:t>
            </a:r>
            <a:r>
              <a:rPr lang="en-US" sz="2000" dirty="0">
                <a:latin typeface="+mj-lt"/>
              </a:rPr>
              <a:t> of the waterfall model and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is based on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corresponding development stage. This means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that for every single phase in the development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cycle there is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This is a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highly disciplined model </a:t>
            </a:r>
            <a:r>
              <a:rPr lang="en-US" sz="2000" dirty="0">
                <a:latin typeface="+mj-lt"/>
              </a:rPr>
              <a:t>and next phase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starts only after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2831" y="1814732"/>
            <a:ext cx="5078438" cy="4853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10652865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000" dirty="0">
                <a:latin typeface="+mj-lt"/>
              </a:rPr>
              <a:t> </a:t>
            </a:r>
            <a:r>
              <a:rPr lang="en-GB" sz="2200" dirty="0">
                <a:latin typeface="+mj-lt"/>
              </a:rPr>
              <a:t>Requirements </a:t>
            </a:r>
            <a:r>
              <a:rPr lang="en-GB" sz="2200" dirty="0">
                <a:highlight>
                  <a:srgbClr val="FFFF00"/>
                </a:highlight>
                <a:latin typeface="+mj-lt"/>
              </a:rPr>
              <a:t>are not clear </a:t>
            </a:r>
            <a:r>
              <a:rPr lang="en-GB" sz="2200" dirty="0">
                <a:latin typeface="+mj-lt"/>
              </a:rPr>
              <a:t>and p</a:t>
            </a:r>
            <a:r>
              <a:rPr lang="en-GB" sz="2200" dirty="0"/>
              <a:t>rototype serves</a:t>
            </a:r>
            <a:br>
              <a:rPr lang="en-GB" sz="2200" dirty="0"/>
            </a:br>
            <a:r>
              <a:rPr lang="en-GB" sz="2200" dirty="0"/>
              <a:t>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 Iteration occurs as the prototype is tuned</a:t>
            </a:r>
            <a:br>
              <a:rPr lang="en-GB" sz="2200" dirty="0">
                <a:latin typeface="+mj-lt"/>
              </a:rPr>
            </a:br>
            <a:r>
              <a:rPr lang="en-GB" sz="2200" dirty="0">
                <a:latin typeface="+mj-lt"/>
              </a:rPr>
              <a:t> to satisfy the needs of the customer</a:t>
            </a:r>
          </a:p>
          <a:p>
            <a:pPr>
              <a:buFont typeface="Wingdings" pitchFamily="2" charset="2"/>
              <a:buChar char="q"/>
            </a:pP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in the course of a project, so process iteration is  useful where earlier stages are reworked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Evolutionary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389" y="2032782"/>
            <a:ext cx="11168741" cy="179463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b="1" dirty="0">
                <a:latin typeface="+mj-lt"/>
              </a:rPr>
              <a:t>Exploratory development:</a:t>
            </a:r>
            <a:r>
              <a:rPr lang="en-GB" sz="2200" dirty="0">
                <a:latin typeface="+mj-lt"/>
              </a:rPr>
              <a:t> Objective is to work with customers and to evolve a final system from an </a:t>
            </a:r>
            <a:r>
              <a:rPr lang="en-GB" sz="2200" dirty="0">
                <a:highlight>
                  <a:srgbClr val="FFFF00"/>
                </a:highlight>
                <a:latin typeface="+mj-lt"/>
              </a:rPr>
              <a:t>initial outline specification</a:t>
            </a:r>
            <a:r>
              <a:rPr lang="en-GB" sz="2200" dirty="0">
                <a:latin typeface="+mj-lt"/>
              </a:rPr>
              <a:t>. Should start with well-understood requirements </a:t>
            </a:r>
          </a:p>
          <a:p>
            <a:pPr>
              <a:buFont typeface="Wingdings" pitchFamily="2" charset="2"/>
              <a:buChar char="q"/>
            </a:pPr>
            <a:r>
              <a:rPr lang="en-GB" sz="2200" b="1" dirty="0">
                <a:latin typeface="+mj-lt"/>
              </a:rPr>
              <a:t>Throw-away prototyping: </a:t>
            </a:r>
            <a:r>
              <a:rPr lang="en-GB" sz="2200" dirty="0">
                <a:latin typeface="+mj-lt"/>
              </a:rPr>
              <a:t>Objective is to understand the system requirements. Should  </a:t>
            </a:r>
            <a:br>
              <a:rPr lang="en-GB" sz="2200" dirty="0">
                <a:latin typeface="+mj-lt"/>
              </a:rPr>
            </a:br>
            <a:r>
              <a:rPr lang="en-GB" sz="2200" dirty="0">
                <a:latin typeface="+mj-lt"/>
              </a:rPr>
              <a:t> start with poorly understood requirements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http://www.pro-technix.com/services/software/images/evolvem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943" y="3174274"/>
            <a:ext cx="6612981" cy="368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63269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deliver the system as a </a:t>
            </a:r>
            <a:r>
              <a:rPr lang="en-GB" sz="2000" dirty="0">
                <a:highlight>
                  <a:srgbClr val="FFFF00"/>
                </a:highlight>
                <a:latin typeface="+mj-lt"/>
              </a:rPr>
              <a:t>single delivery, </a:t>
            </a:r>
            <a:r>
              <a:rPr lang="en-GB" sz="2000" dirty="0">
                <a:latin typeface="+mj-lt"/>
              </a:rPr>
              <a:t>the development and </a:t>
            </a:r>
            <a:r>
              <a:rPr lang="en-GB" sz="2000" dirty="0">
                <a:solidFill>
                  <a:srgbClr val="FF0000"/>
                </a:solidFill>
                <a:latin typeface="+mj-lt"/>
              </a:rPr>
              <a:t>delivery is broken down into increments</a:t>
            </a:r>
            <a:r>
              <a:rPr lang="en-GB" sz="2000" dirty="0">
                <a:latin typeface="+mj-lt"/>
              </a:rPr>
              <a:t> with each increment delivering part of the required functionality (SPIRAL).</a:t>
            </a:r>
            <a:br>
              <a:rPr lang="en-GB" sz="2000" dirty="0">
                <a:latin typeface="+mj-lt"/>
              </a:rPr>
            </a:b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prioritised and the </a:t>
            </a:r>
            <a:r>
              <a:rPr lang="en-GB" sz="20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</a:rPr>
              <a:t>highest priority requirements</a:t>
            </a:r>
            <a:r>
              <a:rPr lang="en-GB" sz="2000" dirty="0">
                <a:highlight>
                  <a:srgbClr val="FFFF00"/>
                </a:highlight>
                <a:latin typeface="+mj-lt"/>
              </a:rPr>
              <a:t> </a:t>
            </a:r>
            <a:r>
              <a:rPr lang="en-GB" sz="2000" dirty="0">
                <a:latin typeface="+mj-lt"/>
              </a:rPr>
              <a:t>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highlight>
                  <a:srgbClr val="FFFF00"/>
                </a:highlight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highlight>
                  <a:srgbClr val="FFFF00"/>
                </a:highlight>
                <a:latin typeface="+mj-lt"/>
              </a:rPr>
              <a:t>requirements are frozen</a:t>
            </a:r>
            <a:r>
              <a:rPr lang="en-GB" sz="2000" dirty="0">
                <a:highlight>
                  <a:srgbClr val="FFFF00"/>
                </a:highlight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28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98618"/>
            <a:ext cx="11034702" cy="30902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000" b="1" dirty="0">
                <a:latin typeface="+mj-lt"/>
              </a:rPr>
              <a:t>Advantages of Incremental Development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Customer value can be delivered with each increment so system functionality is available earlier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/>
              <a:t>Deliver the core product first</a:t>
            </a:r>
            <a:endParaRPr lang="en-GB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Early increments act as a prototype to help elicit requirements for later increments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Lower risk of overall project failure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The highest priority system services tend to receive the most testing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476521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</a:t>
            </a:r>
            <a:r>
              <a:rPr lang="en-US" sz="2000" dirty="0">
                <a:highlight>
                  <a:srgbClr val="FFFF00"/>
                </a:highlight>
              </a:rPr>
              <a:t>incremental model</a:t>
            </a:r>
            <a:r>
              <a:rPr lang="en-US" sz="2000" dirty="0"/>
              <a:t>. The developments are </a:t>
            </a:r>
            <a:r>
              <a:rPr lang="en-US" sz="2000" dirty="0">
                <a:highlight>
                  <a:srgbClr val="FFFF00"/>
                </a:highlight>
              </a:rPr>
              <a:t>time boxed</a:t>
            </a:r>
            <a:r>
              <a:rPr lang="en-US" sz="2000" dirty="0"/>
              <a:t>, delivered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RAD model the components or functions are </a:t>
            </a:r>
            <a:r>
              <a:rPr lang="en-US" sz="2000" dirty="0">
                <a:solidFill>
                  <a:srgbClr val="C00000"/>
                </a:solidFill>
                <a:highlight>
                  <a:srgbClr val="FFFF00"/>
                </a:highlight>
              </a:rPr>
              <a:t>developed in parallel </a:t>
            </a:r>
            <a:r>
              <a:rPr lang="en-US" sz="2000" dirty="0"/>
              <a:t>as if they were mini projects (frozen requirements in each increments)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</a:t>
            </a:r>
            <a:r>
              <a:rPr lang="en-GB" altLang="en-US" sz="2000" dirty="0"/>
              <a:t>, give or take 30 days</a:t>
            </a:r>
            <a:r>
              <a:rPr lang="en-US" sz="2000" dirty="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based development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303" y="2312126"/>
            <a:ext cx="5718119" cy="130628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Suitable for r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e-usable</a:t>
            </a:r>
            <a:r>
              <a:rPr lang="en-US" sz="2200" dirty="0">
                <a:latin typeface="+mj-lt"/>
              </a:rPr>
              <a:t> object oriented classes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Apply characteristics of </a:t>
            </a:r>
            <a:r>
              <a:rPr lang="en-US" sz="2200" dirty="0">
                <a:highlight>
                  <a:srgbClr val="FFFF00"/>
                </a:highlight>
                <a:latin typeface="+mj-lt"/>
              </a:rPr>
              <a:t>spiral</a:t>
            </a:r>
            <a:r>
              <a:rPr lang="en-US" sz="2200" dirty="0">
                <a:latin typeface="+mj-lt"/>
              </a:rPr>
              <a:t> development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8998132" y="1915886"/>
            <a:ext cx="1447800" cy="67398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Identify</a:t>
            </a:r>
          </a:p>
          <a:p>
            <a:pPr algn="ctr"/>
            <a:r>
              <a:rPr lang="en-US">
                <a:latin typeface="Calibri" pitchFamily="34" charset="0"/>
              </a:rPr>
              <a:t>component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7855132" y="3135086"/>
            <a:ext cx="1524000" cy="8577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Construct</a:t>
            </a:r>
          </a:p>
          <a:p>
            <a:pPr algn="ctr"/>
            <a:r>
              <a:rPr lang="en-US" i="1">
                <a:latin typeface="Calibri" pitchFamily="34" charset="0"/>
              </a:rPr>
              <a:t>n</a:t>
            </a:r>
            <a:r>
              <a:rPr lang="en-US">
                <a:latin typeface="Calibri" pitchFamily="34" charset="0"/>
              </a:rPr>
              <a:t>th inter</a:t>
            </a:r>
          </a:p>
          <a:p>
            <a:pPr algn="ctr"/>
            <a:r>
              <a:rPr lang="en-US">
                <a:latin typeface="Calibri" pitchFamily="34" charset="0"/>
              </a:rPr>
              <a:t>system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9760132" y="3135086"/>
            <a:ext cx="1524000" cy="8577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Lookup</a:t>
            </a:r>
          </a:p>
          <a:p>
            <a:pPr algn="ctr"/>
            <a:r>
              <a:rPr lang="en-US" i="1" dirty="0">
                <a:latin typeface="Calibri" pitchFamily="34" charset="0"/>
              </a:rPr>
              <a:t>components</a:t>
            </a:r>
            <a:endParaRPr lang="en-US" dirty="0">
              <a:latin typeface="Calibri" pitchFamily="34" charset="0"/>
            </a:endParaRPr>
          </a:p>
          <a:p>
            <a:pPr algn="ctr"/>
            <a:r>
              <a:rPr lang="en-US" dirty="0">
                <a:latin typeface="Calibri" pitchFamily="34" charset="0"/>
              </a:rPr>
              <a:t>in library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9760132" y="4430486"/>
            <a:ext cx="1524000" cy="8577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Exract</a:t>
            </a:r>
          </a:p>
          <a:p>
            <a:pPr algn="ctr"/>
            <a:r>
              <a:rPr lang="en-US" i="1">
                <a:latin typeface="Calibri" pitchFamily="34" charset="0"/>
              </a:rPr>
              <a:t>components</a:t>
            </a:r>
            <a:endParaRPr lang="en-US">
              <a:latin typeface="Calibri" pitchFamily="34" charset="0"/>
            </a:endParaRPr>
          </a:p>
          <a:p>
            <a:pPr algn="ctr"/>
            <a:r>
              <a:rPr lang="en-US">
                <a:latin typeface="Calibri" pitchFamily="34" charset="0"/>
              </a:rPr>
              <a:t>if available</a:t>
            </a: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8845732" y="5725886"/>
            <a:ext cx="1828800" cy="8577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Build</a:t>
            </a:r>
          </a:p>
          <a:p>
            <a:pPr algn="ctr"/>
            <a:r>
              <a:rPr lang="en-US" i="1">
                <a:latin typeface="Calibri" pitchFamily="34" charset="0"/>
              </a:rPr>
              <a:t>components</a:t>
            </a:r>
            <a:endParaRPr lang="en-US">
              <a:latin typeface="Calibri" pitchFamily="34" charset="0"/>
            </a:endParaRPr>
          </a:p>
          <a:p>
            <a:pPr algn="ctr"/>
            <a:r>
              <a:rPr lang="en-US">
                <a:latin typeface="Calibri" pitchFamily="34" charset="0"/>
              </a:rPr>
              <a:t>if unavailable</a:t>
            </a:r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>
            <a:off x="10445932" y="4201886"/>
            <a:ext cx="0" cy="18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" name="Line 13"/>
          <p:cNvSpPr>
            <a:spLocks noChangeShapeType="1"/>
          </p:cNvSpPr>
          <p:nvPr/>
        </p:nvSpPr>
        <p:spPr bwMode="auto">
          <a:xfrm>
            <a:off x="10141132" y="2754086"/>
            <a:ext cx="0" cy="306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ine 14"/>
          <p:cNvSpPr>
            <a:spLocks noChangeShapeType="1"/>
          </p:cNvSpPr>
          <p:nvPr/>
        </p:nvSpPr>
        <p:spPr bwMode="auto">
          <a:xfrm>
            <a:off x="10293532" y="5497286"/>
            <a:ext cx="0" cy="18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 flipV="1">
            <a:off x="9150532" y="5497286"/>
            <a:ext cx="0" cy="18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 flipV="1">
            <a:off x="8540932" y="4201886"/>
            <a:ext cx="0" cy="18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778932" y="4430486"/>
            <a:ext cx="1524000" cy="8577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Put new</a:t>
            </a:r>
          </a:p>
          <a:p>
            <a:pPr algn="ctr"/>
            <a:r>
              <a:rPr lang="en-US" i="1">
                <a:latin typeface="Calibri" pitchFamily="34" charset="0"/>
              </a:rPr>
              <a:t>components</a:t>
            </a:r>
            <a:endParaRPr lang="en-US">
              <a:latin typeface="Calibri" pitchFamily="34" charset="0"/>
            </a:endParaRPr>
          </a:p>
          <a:p>
            <a:pPr algn="ctr"/>
            <a:r>
              <a:rPr lang="en-US">
                <a:latin typeface="Calibri" pitchFamily="34" charset="0"/>
              </a:rPr>
              <a:t>in library</a:t>
            </a:r>
          </a:p>
        </p:txBody>
      </p:sp>
      <p:sp>
        <p:nvSpPr>
          <p:cNvPr id="2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00910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59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 Scrap/Rework: Use an Iterative Process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116184"/>
            <a:ext cx="6631577" cy="420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733212" y="2246812"/>
            <a:ext cx="3918858" cy="2139658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u="sng" dirty="0">
                <a:latin typeface="+mj-lt"/>
              </a:rPr>
              <a:t>Iterative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Products are visible at an </a:t>
            </a:r>
            <a:r>
              <a:rPr lang="en-US" sz="2000" dirty="0">
                <a:highlight>
                  <a:srgbClr val="FFFF00"/>
                </a:highlight>
                <a:latin typeface="+mj-lt"/>
              </a:rPr>
              <a:t>early stages </a:t>
            </a:r>
            <a:r>
              <a:rPr lang="en-US" sz="2000" dirty="0">
                <a:latin typeface="+mj-lt"/>
              </a:rPr>
              <a:t>of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Low probability of rework in case of defects in the deliverable product</a:t>
            </a:r>
            <a:endParaRPr lang="en-GB" sz="2200" dirty="0">
              <a:latin typeface="+mj-lt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611477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- 14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8EFC52BA4E94B8E156C869E568B45" ma:contentTypeVersion="3" ma:contentTypeDescription="Create a new document." ma:contentTypeScope="" ma:versionID="6721fd189f732b8dd98eafb80c69a8a5">
  <xsd:schema xmlns:xsd="http://www.w3.org/2001/XMLSchema" xmlns:xs="http://www.w3.org/2001/XMLSchema" xmlns:p="http://schemas.microsoft.com/office/2006/metadata/properties" xmlns:ns2="87df62d9-d383-4de7-8344-c58f65377c98" targetNamespace="http://schemas.microsoft.com/office/2006/metadata/properties" ma:root="true" ma:fieldsID="d8ecbf8e7c350b17f8e65ca7f00e4f66" ns2:_="">
    <xsd:import namespace="87df62d9-d383-4de7-8344-c58f65377c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f62d9-d383-4de7-8344-c58f65377c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6D4D35-264C-4B42-9EA7-E802DE2C3E4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6D4A6A3-84A7-431E-BA4D-F2DED331A0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B22092-FBC2-492A-95F8-1020B80313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f62d9-d383-4de7-8344-c58f65377c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863</Words>
  <Application>Microsoft Office PowerPoint</Application>
  <PresentationFormat>Widescreen</PresentationFormat>
  <Paragraphs>126</Paragraphs>
  <Slides>14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ＭＳ Ｐゴシック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Evolutionary development</vt:lpstr>
      <vt:lpstr>Incremental development</vt:lpstr>
      <vt:lpstr>Incremental development</vt:lpstr>
      <vt:lpstr>Rapid Application Development (RAD)</vt:lpstr>
      <vt:lpstr>Component based development model</vt:lpstr>
      <vt:lpstr>Rational Unified Process (RUP)</vt:lpstr>
      <vt:lpstr>Risk profile</vt:lpstr>
      <vt:lpstr>Reduce Scrap/Rework: Use an Iterative Process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AFNAN BIN ISLAM NAHIN</cp:lastModifiedBy>
  <cp:revision>10</cp:revision>
  <dcterms:created xsi:type="dcterms:W3CDTF">2019-05-13T08:37:20Z</dcterms:created>
  <dcterms:modified xsi:type="dcterms:W3CDTF">2024-12-09T04:55:08Z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0x010100D648EFC52BA4E94B8E156C869E568B45</vt:lpwstr>
  </property>
</Properties>
</file>
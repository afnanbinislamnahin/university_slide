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0"/>
  </p:notesMasterIdLst>
  <p:sldIdLst>
    <p:sldId id="256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1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24/11/2024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7 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feature driven development (</a:t>
            </a:r>
            <a:r>
              <a:rPr lang="en-US" sz="3000" dirty="0" err="1">
                <a:solidFill>
                  <a:srgbClr val="002060"/>
                </a:solidFill>
              </a:rPr>
              <a:t>fdd</a:t>
            </a:r>
            <a:r>
              <a:rPr lang="en-US" sz="3000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Tonny </a:t>
            </a:r>
            <a:r>
              <a:rPr lang="en-US" sz="2400" dirty="0" err="1">
                <a:solidFill>
                  <a:srgbClr val="7030A0"/>
                </a:solidFill>
              </a:rPr>
              <a:t>shekha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 err="1">
                <a:solidFill>
                  <a:srgbClr val="7030A0"/>
                </a:solidFill>
              </a:rPr>
              <a:t>kar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Lecturer, CS, AIUB</a:t>
            </a:r>
          </a:p>
          <a:p>
            <a:r>
              <a:rPr lang="en-US" sz="2300" cap="none" dirty="0"/>
              <a:t>http://www.dit.hua.gr/~m.hasan  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 of </a:t>
            </a:r>
            <a:r>
              <a:rPr lang="en-GB" dirty="0" err="1"/>
              <a:t>fdd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412786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Original Creator: Jeff De Luca</a:t>
            </a:r>
          </a:p>
          <a:p>
            <a:pPr lvl="1"/>
            <a:r>
              <a:rPr lang="en-US" sz="2000" dirty="0">
                <a:latin typeface="+mj-lt"/>
              </a:rPr>
              <a:t>Singapore in late 1997</a:t>
            </a:r>
          </a:p>
          <a:p>
            <a:pPr lvl="1"/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FDD evolved from an actual project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 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Bank Loan Automation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highlight>
                  <a:srgbClr val="FFFF00"/>
                </a:highlight>
                <a:latin typeface="+mj-lt"/>
              </a:rPr>
              <a:t>  Luca was Project manager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highlight>
                  <a:srgbClr val="FFFF00"/>
                </a:highlight>
                <a:latin typeface="+mj-lt"/>
              </a:rPr>
              <a:t>  50 member developer team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 dirty="0" err="1"/>
              <a:t>fdd</a:t>
            </a:r>
            <a:r>
              <a:rPr lang="en-GB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33963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Feature Driven Development (FDD)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is an agile software development process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uses a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short-iteration model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combines key advantages of other popular agile approaches along with other industry-recognized best practices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was created to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easily scale </a:t>
            </a:r>
            <a:r>
              <a:rPr lang="en-US" sz="2000" dirty="0">
                <a:latin typeface="+mj-lt"/>
              </a:rPr>
              <a:t>to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much larger projects </a:t>
            </a:r>
            <a:r>
              <a:rPr lang="en-US" sz="2000" dirty="0">
                <a:latin typeface="+mj-lt"/>
              </a:rPr>
              <a:t>and teams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875331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feature?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404485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delivers the system feature by feature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is a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small function expressed </a:t>
            </a:r>
            <a:r>
              <a:rPr lang="en-US" sz="2000" dirty="0">
                <a:latin typeface="+mj-lt"/>
              </a:rPr>
              <a:t>in client-valued terms which presents the customer requirements to be developed in software using small iteration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Features are to be “small” in the sense they will 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take no more than two weeks to complete Features </a:t>
            </a:r>
            <a:r>
              <a:rPr lang="en-US" sz="2000" dirty="0"/>
              <a:t>that appear to take longer are to be broken up into a set of smaller features. Two weeks is the maximum, most features take less </a:t>
            </a:r>
            <a:r>
              <a:rPr lang="en-US" sz="2000" dirty="0">
                <a:highlight>
                  <a:srgbClr val="FFFF00"/>
                </a:highlight>
              </a:rPr>
              <a:t>time (1 - 5 days) </a:t>
            </a:r>
            <a:endParaRPr lang="en-US" sz="2000" dirty="0">
              <a:highlight>
                <a:srgbClr val="FFFF00"/>
              </a:highlight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naming template: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	&lt;action&gt; the &lt;result&gt; &lt;</a:t>
            </a:r>
            <a:r>
              <a:rPr lang="en-US" sz="2000" b="1" dirty="0" err="1">
                <a:solidFill>
                  <a:srgbClr val="C00000"/>
                </a:solidFill>
                <a:latin typeface="+mj-lt"/>
              </a:rPr>
              <a:t>by|for|of|to</a:t>
            </a:r>
            <a:r>
              <a:rPr lang="en-US" sz="2000" b="1" dirty="0">
                <a:solidFill>
                  <a:srgbClr val="C00000"/>
                </a:solidFill>
                <a:latin typeface="+mj-lt"/>
              </a:rPr>
              <a:t>&gt; a(n) &lt;object&gt;</a:t>
            </a: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Examples:    Calculate the total of a sale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              Validate the password of a user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             Authorize the sales transaction of a customer  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79644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183" y="1894116"/>
            <a:ext cx="11220994" cy="446692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Times New Roman" pitchFamily="18" charset="0"/>
              </a:rPr>
              <a:t>Class (feature) assigned to </a:t>
            </a:r>
            <a:r>
              <a:rPr lang="en-US" sz="2000" dirty="0">
                <a:highlight>
                  <a:srgbClr val="FFFF00"/>
                </a:highlight>
                <a:latin typeface="+mj-lt"/>
                <a:cs typeface="Times New Roman" pitchFamily="18" charset="0"/>
              </a:rPr>
              <a:t>specific developer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Times New Roman" pitchFamily="18" charset="0"/>
              </a:rPr>
              <a:t>Class owner responsible </a:t>
            </a:r>
            <a:r>
              <a:rPr lang="en-US" sz="2000" dirty="0">
                <a:highlight>
                  <a:srgbClr val="FFFF00"/>
                </a:highlight>
                <a:latin typeface="+mj-lt"/>
                <a:cs typeface="Times New Roman" pitchFamily="18" charset="0"/>
              </a:rPr>
              <a:t>for all changes </a:t>
            </a:r>
            <a:r>
              <a:rPr lang="en-US" sz="2000" dirty="0">
                <a:latin typeface="+mj-lt"/>
                <a:cs typeface="Times New Roman" pitchFamily="18" charset="0"/>
              </a:rPr>
              <a:t>in implementing new features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Times New Roman" pitchFamily="18" charset="0"/>
              </a:rPr>
              <a:t>Collective Ownership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Times New Roman" pitchFamily="18" charset="0"/>
              </a:rPr>
              <a:t>  </a:t>
            </a:r>
            <a:r>
              <a:rPr lang="en-US" sz="2000" dirty="0">
                <a:highlight>
                  <a:srgbClr val="FFFF00"/>
                </a:highlight>
                <a:latin typeface="+mj-lt"/>
                <a:cs typeface="Times New Roman" pitchFamily="18" charset="0"/>
              </a:rPr>
              <a:t>Any developer </a:t>
            </a:r>
            <a:r>
              <a:rPr lang="en-US" sz="2000" dirty="0">
                <a:latin typeface="+mj-lt"/>
                <a:cs typeface="Times New Roman" pitchFamily="18" charset="0"/>
              </a:rPr>
              <a:t>can modify any artifact at any time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Times New Roman" pitchFamily="18" charset="0"/>
              </a:rPr>
              <a:t>Advantages of Class Ownership are: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Times New Roman" pitchFamily="18" charset="0"/>
              </a:rPr>
              <a:t>  </a:t>
            </a:r>
            <a:r>
              <a:rPr lang="en-US" sz="2000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Someone responsible for </a:t>
            </a:r>
            <a:r>
              <a:rPr lang="en-US" sz="2000" dirty="0">
                <a:solidFill>
                  <a:srgbClr val="002060"/>
                </a:solidFill>
                <a:highlight>
                  <a:srgbClr val="FFFF00"/>
                </a:highlight>
                <a:latin typeface="+mj-lt"/>
                <a:cs typeface="Times New Roman" pitchFamily="18" charset="0"/>
              </a:rPr>
              <a:t>integrity of each class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  Each class will </a:t>
            </a:r>
            <a:r>
              <a:rPr lang="en-US" sz="2000" dirty="0">
                <a:solidFill>
                  <a:srgbClr val="002060"/>
                </a:solidFill>
                <a:highlight>
                  <a:srgbClr val="FFFF00"/>
                </a:highlight>
                <a:latin typeface="+mj-lt"/>
                <a:cs typeface="Times New Roman" pitchFamily="18" charset="0"/>
              </a:rPr>
              <a:t>have an expert </a:t>
            </a:r>
            <a:r>
              <a:rPr lang="en-US" sz="2000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available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  Class owners </a:t>
            </a:r>
            <a:r>
              <a:rPr lang="en-US" sz="2000" dirty="0">
                <a:solidFill>
                  <a:srgbClr val="002060"/>
                </a:solidFill>
                <a:highlight>
                  <a:srgbClr val="FFFF00"/>
                </a:highlight>
                <a:latin typeface="+mj-lt"/>
                <a:cs typeface="Times New Roman" pitchFamily="18" charset="0"/>
              </a:rPr>
              <a:t>can make changes </a:t>
            </a:r>
            <a:r>
              <a:rPr lang="en-US" sz="2000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much quicker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  Easily lends to notion of code ownership (XP)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92031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roles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080" y="2083938"/>
            <a:ext cx="792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  <a:latin typeface="Bell MT" pitchFamily="18" charset="0"/>
              </a:rPr>
              <a:t> 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FDD Primary Roles</a:t>
            </a: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endParaRPr lang="en-US" altLang="en-US" sz="2000" dirty="0">
              <a:solidFill>
                <a:srgbClr val="C00000"/>
              </a:solidFill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  FDD Supporting Roles</a:t>
            </a:r>
            <a:endParaRPr lang="en-GB" altLang="en-US" sz="2000" dirty="0">
              <a:solidFill>
                <a:srgbClr val="C00000"/>
              </a:solidFill>
              <a:latin typeface="+mj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24563"/>
              </p:ext>
            </p:extLst>
          </p:nvPr>
        </p:nvGraphicFramePr>
        <p:xfrm>
          <a:off x="2312124" y="2797629"/>
          <a:ext cx="6934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Project Manager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2060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Chief Architect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Class Owners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highlight>
                            <a:srgbClr val="FFFF00"/>
                          </a:highlight>
                          <a:latin typeface="+mj-lt"/>
                        </a:rPr>
                        <a:t>Domain Experts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latin typeface="+mj-lt"/>
                        </a:rPr>
                        <a:t>Chief Programmers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12124" y="4281616"/>
          <a:ext cx="7395756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861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Language Guru (shared vocabulary)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20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r>
                        <a:rPr lang="en-US" sz="2000" b="0" dirty="0" err="1">
                          <a:solidFill>
                            <a:srgbClr val="002060"/>
                          </a:solidFill>
                          <a:latin typeface="+mj-lt"/>
                        </a:rPr>
                        <a:t>Toolsmith</a:t>
                      </a: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 (making tools for application)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Tester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Technical Writer (documentation)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60279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81053"/>
            <a:ext cx="9953897" cy="340940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#1: Develop an Overall Model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#2: Build a Features List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#3: Plan By Feature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#4: Design By Feature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#5: Build By Feature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072264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881053"/>
            <a:ext cx="11273245" cy="459812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Project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wide upfront design activities</a:t>
            </a:r>
            <a:r>
              <a:rPr lang="en-US" sz="2000" dirty="0">
                <a:latin typeface="+mj-lt"/>
              </a:rPr>
              <a:t>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#1: Develop an Overall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#2: Build a Features List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#3: Plan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Goal: not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to design the system </a:t>
            </a:r>
            <a:r>
              <a:rPr lang="en-US" sz="2000" dirty="0">
                <a:latin typeface="+mj-lt"/>
              </a:rPr>
              <a:t>in its entirety but instead is to do just enough initial design that you are able to build on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highlight>
                  <a:srgbClr val="FFFF00"/>
                </a:highlight>
                <a:latin typeface="+mj-lt"/>
              </a:rPr>
              <a:t>Deliver the system feature by </a:t>
            </a:r>
            <a:r>
              <a:rPr lang="en-US" sz="2000" dirty="0">
                <a:latin typeface="+mj-lt"/>
              </a:rPr>
              <a:t>feature: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#4: Design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#5: Build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Goal: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Deliver real, completed, client-valued </a:t>
            </a:r>
            <a:r>
              <a:rPr lang="en-US" sz="2000" dirty="0">
                <a:latin typeface="+mj-lt"/>
              </a:rPr>
              <a:t>function as often as possible 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606383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4" descr="FDDimag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5577" y="1959430"/>
            <a:ext cx="11129553" cy="4663440"/>
          </a:xfrm>
          <a:prstGeom prst="rect">
            <a:avLst/>
          </a:prstGeom>
          <a:noFill/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330040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881053"/>
            <a:ext cx="11273245" cy="474181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#1: Develop an Overall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 a modeling team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Domain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walk-through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Build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High-level object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highlight>
                  <a:srgbClr val="FFFF00"/>
                </a:highlight>
                <a:latin typeface="+mj-lt"/>
              </a:rPr>
              <a:t>Record Notes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+mj-lt"/>
              </a:rPr>
              <a:t>Goal</a:t>
            </a:r>
            <a:r>
              <a:rPr lang="en-US" sz="2000" dirty="0">
                <a:solidFill>
                  <a:srgbClr val="002060"/>
                </a:solidFill>
                <a:latin typeface="+mj-lt"/>
              </a:rPr>
              <a:t> - for team members to gain a good, shared understanding of the problem domain and build </a:t>
            </a:r>
            <a:br>
              <a:rPr lang="en-US" sz="2000" dirty="0">
                <a:solidFill>
                  <a:srgbClr val="002060"/>
                </a:solidFill>
                <a:latin typeface="+mj-lt"/>
              </a:rPr>
            </a:br>
            <a:r>
              <a:rPr lang="en-US" sz="2000" dirty="0">
                <a:solidFill>
                  <a:srgbClr val="002060"/>
                </a:solidFill>
                <a:latin typeface="+mj-lt"/>
              </a:rPr>
              <a:t>a foundation</a:t>
            </a:r>
            <a:br>
              <a:rPr lang="en-US" sz="2000" dirty="0">
                <a:solidFill>
                  <a:srgbClr val="002060"/>
                </a:solidFill>
                <a:latin typeface="+mj-lt"/>
              </a:rPr>
            </a:br>
            <a:endParaRPr lang="en-US" sz="2000" dirty="0">
              <a:solidFill>
                <a:srgbClr val="002060"/>
              </a:solidFill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#2: Build a Features List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  All Features are organized in a three level hierarchy :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844858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67154" y="5259420"/>
            <a:ext cx="41322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2000" dirty="0"/>
              <a:t>   </a:t>
            </a:r>
            <a:r>
              <a:rPr lang="en-US" sz="2000" dirty="0">
                <a:highlight>
                  <a:srgbClr val="FFFF00"/>
                </a:highlight>
              </a:rPr>
              <a:t>Domain Subject Area</a:t>
            </a:r>
          </a:p>
          <a:p>
            <a:pPr lvl="3"/>
            <a:r>
              <a:rPr lang="en-US" sz="2000" dirty="0">
                <a:highlight>
                  <a:srgbClr val="FFFF00"/>
                </a:highlight>
              </a:rPr>
              <a:t>   Business Activity</a:t>
            </a:r>
          </a:p>
          <a:p>
            <a:pPr lvl="4"/>
            <a:r>
              <a:rPr lang="en-US" sz="2000" dirty="0">
                <a:highlight>
                  <a:srgbClr val="FFFF00"/>
                </a:highlight>
              </a:rPr>
              <a:t>       Features</a:t>
            </a: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54580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2024745"/>
            <a:ext cx="10998925" cy="401029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#3: Plan by Feature</a:t>
            </a:r>
            <a:br>
              <a:rPr lang="en-US" sz="2000" b="1" dirty="0">
                <a:solidFill>
                  <a:srgbClr val="C00000"/>
                </a:solidFill>
                <a:latin typeface="+mj-lt"/>
              </a:rPr>
            </a:br>
            <a:endParaRPr lang="en-US" sz="2000" b="1" dirty="0">
              <a:solidFill>
                <a:srgbClr val="C00000"/>
              </a:solidFill>
              <a:latin typeface="+mj-lt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+mj-lt"/>
              </a:rPr>
              <a:t>Construct initial schedule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Formed on level of individual features</a:t>
            </a:r>
          </a:p>
          <a:p>
            <a:pPr lvl="3">
              <a:buFontTx/>
              <a:buChar char="-"/>
            </a:pPr>
            <a:r>
              <a:rPr lang="en-US" sz="2000" dirty="0">
                <a:latin typeface="+mj-lt"/>
              </a:rPr>
              <a:t>Prioritize by business value</a:t>
            </a:r>
          </a:p>
          <a:p>
            <a:pPr lvl="3">
              <a:buFontTx/>
              <a:buChar char="-"/>
            </a:pPr>
            <a:r>
              <a:rPr lang="en-US" sz="2000" dirty="0">
                <a:latin typeface="+mj-lt"/>
              </a:rPr>
              <a:t>Also consider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dependencies, difficulty, and risks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+mj-lt"/>
              </a:rPr>
              <a:t>Assign responsibilities to team members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Determine Class Owners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Assign feature sets to chief programmers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975526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273" y="1998620"/>
            <a:ext cx="10816047" cy="451974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#4: Design by Feature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highlight>
                  <a:srgbClr val="FFFF00"/>
                </a:highlight>
                <a:latin typeface="+mj-lt"/>
              </a:rPr>
              <a:t>Form Feature Teams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Team members collaborate on the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full low </a:t>
            </a:r>
            <a:r>
              <a:rPr 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  <a:t>level analysis and design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Certain features may require teams to </a:t>
            </a:r>
            <a:r>
              <a:rPr 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  <a:t>bring in domain experts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Teams need to update the model artifact to support their changes</a:t>
            </a:r>
            <a:endParaRPr lang="en-US" sz="2000" b="1" dirty="0">
              <a:solidFill>
                <a:srgbClr val="C00000"/>
              </a:solidFill>
              <a:latin typeface="Bell MT" pitchFamily="18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Feature Team</a:t>
            </a:r>
            <a:endParaRPr lang="en-US" sz="2000" b="1" dirty="0">
              <a:solidFill>
                <a:srgbClr val="002060"/>
              </a:solidFill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Chief Programmers pick teams based on the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current feature </a:t>
            </a:r>
            <a:r>
              <a:rPr lang="en-US" sz="2000" dirty="0">
                <a:latin typeface="+mj-lt"/>
              </a:rPr>
              <a:t>in development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Chief Programmers lead picked team (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usually 3 to 5 people)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Upon completion of the current feature the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team disbands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Each team will concurrently work on their own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independent iteration 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Possible to be on multiple teams at once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067382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149" y="1998620"/>
            <a:ext cx="10842172" cy="37621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#5: Build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Implement designed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Test feature</a:t>
            </a:r>
          </a:p>
          <a:p>
            <a:pPr lvl="2">
              <a:buFontTx/>
              <a:buChar char="-"/>
            </a:pPr>
            <a:r>
              <a:rPr lang="en-US" sz="2000" dirty="0">
                <a:highlight>
                  <a:srgbClr val="FFFF00"/>
                </a:highlight>
                <a:latin typeface="+mj-lt"/>
              </a:rPr>
              <a:t>Unit-level</a:t>
            </a:r>
          </a:p>
          <a:p>
            <a:pPr lvl="2">
              <a:buFontTx/>
              <a:buChar char="-"/>
            </a:pPr>
            <a:r>
              <a:rPr lang="en-US" sz="2000" dirty="0">
                <a:highlight>
                  <a:srgbClr val="FFFF00"/>
                </a:highlight>
                <a:latin typeface="+mj-lt"/>
              </a:rPr>
              <a:t>Feature-level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Mandated Code Inspections (formal review with checklist)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Integrate with regular build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26710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3" y="1998620"/>
            <a:ext cx="11234058" cy="412786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latin typeface="+mj-lt"/>
              </a:rPr>
              <a:t>Mandated Code Inspections </a:t>
            </a:r>
            <a:r>
              <a:rPr lang="en-US" sz="2000" dirty="0">
                <a:latin typeface="+mj-lt"/>
              </a:rPr>
              <a:t>for Two Main Reasons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Research has shown that when it is done properly,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inspections find more bugs </a:t>
            </a:r>
            <a:r>
              <a:rPr lang="en-US" sz="2000" dirty="0">
                <a:latin typeface="+mj-lt"/>
              </a:rPr>
              <a:t>as well as different types of bugs than any other form of testing.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It is also a great learning experience </a:t>
            </a:r>
          </a:p>
          <a:p>
            <a:pPr lvl="1"/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>
                <a:latin typeface="+mj-lt"/>
              </a:rPr>
              <a:t>Reporting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emphasizes the ability to provide accurate, meaningful, and timely progress information to all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stakeholders within and outside the project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Milestones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856782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8EFC52BA4E94B8E156C869E568B45" ma:contentTypeVersion="3" ma:contentTypeDescription="Create a new document." ma:contentTypeScope="" ma:versionID="6721fd189f732b8dd98eafb80c69a8a5">
  <xsd:schema xmlns:xsd="http://www.w3.org/2001/XMLSchema" xmlns:xs="http://www.w3.org/2001/XMLSchema" xmlns:p="http://schemas.microsoft.com/office/2006/metadata/properties" xmlns:ns2="87df62d9-d383-4de7-8344-c58f65377c98" targetNamespace="http://schemas.microsoft.com/office/2006/metadata/properties" ma:root="true" ma:fieldsID="d8ecbf8e7c350b17f8e65ca7f00e4f66" ns2:_="">
    <xsd:import namespace="87df62d9-d383-4de7-8344-c58f65377c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f62d9-d383-4de7-8344-c58f65377c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54CE46-06E2-48A4-91A1-3A1D5FD1AE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53E23-1512-44E2-89BE-68F722896BD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0045038-036B-4BFD-8169-B3B79EED21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f62d9-d383-4de7-8344-c58f65377c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985</Words>
  <Application>Microsoft Office PowerPoint</Application>
  <PresentationFormat>Widescreen</PresentationFormat>
  <Paragraphs>154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ＭＳ Ｐゴシック</vt:lpstr>
      <vt:lpstr>Arial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History of fdd</vt:lpstr>
      <vt:lpstr>What is fdd?</vt:lpstr>
      <vt:lpstr>What is a feature?</vt:lpstr>
      <vt:lpstr>Class ownership</vt:lpstr>
      <vt:lpstr>Fdd roles</vt:lpstr>
      <vt:lpstr>Fdd process</vt:lpstr>
      <vt:lpstr>Fdd process</vt:lpstr>
      <vt:lpstr>Fdd process</vt:lpstr>
      <vt:lpstr>Fdd process</vt:lpstr>
      <vt:lpstr>Fdd process</vt:lpstr>
      <vt:lpstr>Fdd process</vt:lpstr>
      <vt:lpstr>Fdd process</vt:lpstr>
      <vt:lpstr>Fdd process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Ch.07 - FDD</dc:title>
  <dc:subject>Software Engineering</dc:subject>
  <dc:creator>M. Mahmudul Hasan</dc:creator>
  <cp:lastModifiedBy>AFNAN BIN ISLAM NAHIN</cp:lastModifiedBy>
  <cp:revision>16</cp:revision>
  <dcterms:created xsi:type="dcterms:W3CDTF">2019-05-13T08:37:20Z</dcterms:created>
  <dcterms:modified xsi:type="dcterms:W3CDTF">2024-11-24T15:02:56Z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0x010100D648EFC52BA4E94B8E156C869E568B45</vt:lpwstr>
  </property>
</Properties>
</file>
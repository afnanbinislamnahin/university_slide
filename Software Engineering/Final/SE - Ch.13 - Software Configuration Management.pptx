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3"/>
  </p:notesMasterIdLst>
  <p:sldIdLst>
    <p:sldId id="256" r:id="rId5"/>
    <p:sldId id="307" r:id="rId6"/>
    <p:sldId id="308" r:id="rId7"/>
    <p:sldId id="309" r:id="rId8"/>
    <p:sldId id="310" r:id="rId9"/>
    <p:sldId id="312" r:id="rId10"/>
    <p:sldId id="313" r:id="rId11"/>
    <p:sldId id="31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5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18/01/2025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13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configuration Management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 err="1">
                <a:solidFill>
                  <a:srgbClr val="7030A0"/>
                </a:solidFill>
              </a:rPr>
              <a:t>tOnny</a:t>
            </a:r>
            <a:r>
              <a:rPr lang="en-US" sz="2400" dirty="0">
                <a:solidFill>
                  <a:srgbClr val="7030A0"/>
                </a:solidFill>
              </a:rPr>
              <a:t> Kar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5" y="1911468"/>
            <a:ext cx="11110971" cy="3948419"/>
          </a:xfrm>
        </p:spPr>
        <p:txBody>
          <a:bodyPr>
            <a:noAutofit/>
          </a:bodyPr>
          <a:lstStyle/>
          <a:p>
            <a:r>
              <a:rPr lang="en-US" altLang="en-US" sz="2200" dirty="0"/>
              <a:t>A </a:t>
            </a:r>
            <a:r>
              <a:rPr lang="en-US" altLang="en-US" sz="2200" i="1" dirty="0"/>
              <a:t>baseline </a:t>
            </a:r>
            <a:r>
              <a:rPr lang="en-US" altLang="en-US" sz="2200" dirty="0"/>
              <a:t>is a software configuration management concept that helps you to </a:t>
            </a:r>
            <a:r>
              <a:rPr lang="en-US" altLang="en-US" sz="2200" dirty="0">
                <a:solidFill>
                  <a:srgbClr val="7030A0"/>
                </a:solidFill>
              </a:rPr>
              <a:t>control change without seriously impeding justifiable change</a:t>
            </a:r>
            <a:r>
              <a:rPr lang="en-US" altLang="en-US" sz="2200" dirty="0"/>
              <a:t>. </a:t>
            </a:r>
          </a:p>
          <a:p>
            <a:r>
              <a:rPr lang="en-US" altLang="en-US" sz="2200" dirty="0"/>
              <a:t>The IEEE (IEEE Std. No. 610.12-1990) defines a baseline as:</a:t>
            </a:r>
          </a:p>
          <a:p>
            <a:pPr marL="0" indent="0">
              <a:buNone/>
            </a:pPr>
            <a:r>
              <a:rPr lang="en-US" altLang="en-US" sz="2200" i="1" dirty="0"/>
              <a:t>	A specification or product that has been formally reviewed and agreed upon, that thereafter 	serves as the basis for further development, and that can be changed only through formal</a:t>
            </a:r>
            <a:br>
              <a:rPr lang="en-US" altLang="en-US" sz="2200" i="1" dirty="0"/>
            </a:br>
            <a:r>
              <a:rPr lang="en-US" altLang="en-US" sz="2200" i="1" dirty="0"/>
              <a:t>      change control procedures.</a:t>
            </a:r>
          </a:p>
          <a:p>
            <a:r>
              <a:rPr lang="en-US" altLang="en-US" sz="2200" dirty="0"/>
              <a:t>For example, the elements of a design model have been documented and reviewed.  Errors are found and corrected. Once all parts of the model have been reviewed, corrected, and</a:t>
            </a:r>
            <a:br>
              <a:rPr lang="en-US" altLang="en-US" sz="2200" dirty="0"/>
            </a:br>
            <a:r>
              <a:rPr lang="en-US" altLang="en-US" sz="2200" dirty="0"/>
              <a:t>then approved, the design model becomes a baseline.</a:t>
            </a:r>
            <a:endParaRPr lang="en-US" altLang="en-US" sz="2200" i="1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006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SCM 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155" y="2073498"/>
            <a:ext cx="11110971" cy="3532171"/>
          </a:xfrm>
        </p:spPr>
        <p:txBody>
          <a:bodyPr>
            <a:noAutofit/>
          </a:bodyPr>
          <a:lstStyle/>
          <a:p>
            <a:r>
              <a:rPr lang="en-US" altLang="en-US" sz="2200" dirty="0"/>
              <a:t>The items that comprise all information produced as part of the software development process are collectively called a </a:t>
            </a:r>
            <a:r>
              <a:rPr lang="en-US" altLang="en-US" sz="2200" i="1" dirty="0"/>
              <a:t>software configuration</a:t>
            </a:r>
            <a:r>
              <a:rPr lang="en-US" altLang="en-US" sz="2200" dirty="0"/>
              <a:t>.</a:t>
            </a:r>
            <a:endParaRPr lang="en-US" altLang="en-US" sz="2200" i="1" dirty="0"/>
          </a:p>
          <a:p>
            <a:r>
              <a:rPr lang="en-US" altLang="en-US" sz="2200" dirty="0"/>
              <a:t>A database that acts as the c</a:t>
            </a:r>
            <a:r>
              <a:rPr lang="en-US" altLang="en-US" sz="2200" dirty="0">
                <a:highlight>
                  <a:srgbClr val="FFFF00"/>
                </a:highlight>
              </a:rPr>
              <a:t>ente</a:t>
            </a:r>
            <a:r>
              <a:rPr lang="en-US" altLang="en-US" sz="2200" dirty="0"/>
              <a:t>r for both </a:t>
            </a:r>
            <a:r>
              <a:rPr lang="en-US" altLang="en-US" sz="2200" dirty="0">
                <a:highlight>
                  <a:srgbClr val="FFFF00"/>
                </a:highlight>
              </a:rPr>
              <a:t>accumulation and storage</a:t>
            </a:r>
            <a:r>
              <a:rPr lang="en-US" altLang="en-US" sz="2200" dirty="0"/>
              <a:t> of software engineering information</a:t>
            </a:r>
          </a:p>
          <a:p>
            <a:r>
              <a:rPr lang="en-US" altLang="en-US" sz="2200" dirty="0"/>
              <a:t>The SCM repository is the </a:t>
            </a:r>
            <a:r>
              <a:rPr lang="en-US" altLang="en-US" sz="2200" dirty="0">
                <a:highlight>
                  <a:srgbClr val="FFFF00"/>
                </a:highlight>
              </a:rPr>
              <a:t>set of mechanisms </a:t>
            </a:r>
            <a:r>
              <a:rPr lang="en-US" altLang="en-US" sz="2200" dirty="0"/>
              <a:t>and data structures that allow a software team to manage change in an effective manner</a:t>
            </a:r>
          </a:p>
          <a:p>
            <a:pPr marL="0" indent="0">
              <a:buNone/>
            </a:pPr>
            <a:endParaRPr lang="en-US" altLang="en-US" sz="2200" i="1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25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 of SCM  repository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300" y="1893194"/>
            <a:ext cx="8462493" cy="4964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860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SCM  layers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87" y="2201214"/>
            <a:ext cx="4648200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96248" y="1972493"/>
            <a:ext cx="6242758" cy="476315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S/w configuration items (SCIs) flow outward through these layers throughout their lifetime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When a new SCI is created, it must be identified, however, if no changes are requested for the SCI, the changer control layer does not apply.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Each SCI created is assigned to a specific version of s/w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en-US" sz="2000" dirty="0"/>
              <a:t>A version control captures all changes to all files in the configuration along with the reason for changes and details of who made the changes and when</a:t>
            </a:r>
            <a:endParaRPr lang="en-US" sz="200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ea typeface="ＭＳ Ｐゴシック" pitchFamily="34" charset="-128"/>
              </a:rPr>
              <a:t>The record of all these SCI’s (i.e. name, creation date,  version, etc.) is maintained for configuration auditing purpose.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endParaRPr lang="en-US" sz="20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35815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 control  process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11025052" cy="4518458"/>
          </a:xfrm>
        </p:spPr>
        <p:txBody>
          <a:bodyPr>
            <a:noAutofit/>
          </a:bodyPr>
          <a:lstStyle/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/>
            </a:pPr>
            <a:r>
              <a:rPr lang="en-US" sz="2000" dirty="0">
                <a:ea typeface="ＭＳ Ｐゴシック" pitchFamily="34" charset="-128"/>
              </a:rPr>
              <a:t>Need for change is recognized 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/>
            </a:pPr>
            <a:r>
              <a:rPr lang="en-US" sz="2000" dirty="0">
                <a:ea typeface="ＭＳ Ｐゴシック" pitchFamily="34" charset="-128"/>
              </a:rPr>
              <a:t>Change request from user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/>
            </a:pPr>
            <a:r>
              <a:rPr lang="en-US" sz="2000" dirty="0">
                <a:ea typeface="ＭＳ Ｐゴシック" pitchFamily="34" charset="-128"/>
              </a:rPr>
              <a:t>Developers Evaluates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/>
            </a:pPr>
            <a:r>
              <a:rPr lang="en-US" sz="2000" dirty="0">
                <a:ea typeface="ＭＳ Ｐゴシック" pitchFamily="34" charset="-128"/>
              </a:rPr>
              <a:t>Change report is generated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/>
            </a:pPr>
            <a:r>
              <a:rPr lang="en-US" sz="2000" dirty="0">
                <a:ea typeface="ＭＳ Ｐゴシック" pitchFamily="34" charset="-128"/>
              </a:rPr>
              <a:t>Change control authority decides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/>
            </a:pPr>
            <a:r>
              <a:rPr lang="en-US" sz="2000" dirty="0">
                <a:ea typeface="ＭＳ Ｐゴシック" pitchFamily="34" charset="-128"/>
              </a:rPr>
              <a:t>If (Request is queued for action)….else (change request is denied)</a:t>
            </a:r>
            <a:r>
              <a:rPr lang="en-US" sz="2000" dirty="0">
                <a:ea typeface="ＭＳ Ｐゴシック" pitchFamily="34" charset="-128"/>
                <a:sym typeface="Wingdings" pitchFamily="2" charset="2"/>
              </a:rPr>
              <a:t> user is informed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/>
            </a:pPr>
            <a:r>
              <a:rPr lang="en-US" sz="2000" dirty="0">
                <a:ea typeface="ＭＳ Ｐゴシック" pitchFamily="34" charset="-128"/>
                <a:sym typeface="Wingdings" pitchFamily="2" charset="2"/>
              </a:rPr>
              <a:t>Assign individuals to configuration objects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/>
            </a:pPr>
            <a:r>
              <a:rPr lang="en-US" sz="2000" dirty="0">
                <a:ea typeface="ＭＳ Ｐゴシック" pitchFamily="34" charset="-128"/>
                <a:sym typeface="Wingdings" pitchFamily="2" charset="2"/>
              </a:rPr>
              <a:t>“Check out” configuration objects (items)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/>
            </a:pPr>
            <a:r>
              <a:rPr lang="en-US" sz="2000" dirty="0">
                <a:ea typeface="ＭＳ Ｐゴシック" pitchFamily="34" charset="-128"/>
                <a:sym typeface="Wingdings" pitchFamily="2" charset="2"/>
              </a:rPr>
              <a:t>Make the change ( in design)</a:t>
            </a:r>
          </a:p>
        </p:txBody>
      </p:sp>
    </p:spTree>
    <p:extLst>
      <p:ext uri="{BB962C8B-B14F-4D97-AF65-F5344CB8AC3E}">
        <p14:creationId xmlns:p14="http://schemas.microsoft.com/office/powerpoint/2010/main" val="125987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Change  control  process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11025052" cy="3616937"/>
          </a:xfrm>
        </p:spPr>
        <p:txBody>
          <a:bodyPr>
            <a:noAutofit/>
          </a:bodyPr>
          <a:lstStyle/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 startAt="12"/>
            </a:pPr>
            <a:r>
              <a:rPr lang="en-US" sz="2000" dirty="0">
                <a:ea typeface="ＭＳ Ｐゴシック" pitchFamily="34" charset="-128"/>
              </a:rPr>
              <a:t>Establish a baseline for testing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 startAt="12"/>
            </a:pPr>
            <a:r>
              <a:rPr lang="en-US" sz="2000" dirty="0">
                <a:ea typeface="ＭＳ Ｐゴシック" pitchFamily="34" charset="-128"/>
              </a:rPr>
              <a:t>Perform quality assurance and testing activities (regression testing)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 startAt="12"/>
            </a:pPr>
            <a:r>
              <a:rPr lang="en-US" sz="2000" dirty="0">
                <a:ea typeface="ＭＳ Ｐゴシック" pitchFamily="34" charset="-128"/>
              </a:rPr>
              <a:t>Promote changes for inclusion in next release (revision)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 startAt="12"/>
            </a:pPr>
            <a:r>
              <a:rPr lang="en-US" sz="2000" dirty="0">
                <a:ea typeface="ＭＳ Ｐゴシック" pitchFamily="34" charset="-128"/>
              </a:rPr>
              <a:t>Rebuild appropriate version of software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 startAt="12"/>
            </a:pPr>
            <a:r>
              <a:rPr lang="en-US" sz="2000" dirty="0">
                <a:ea typeface="ＭＳ Ｐゴシック" pitchFamily="34" charset="-128"/>
              </a:rPr>
              <a:t>Review the change to all configuration 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 startAt="12"/>
            </a:pPr>
            <a:r>
              <a:rPr lang="en-US" sz="2000" dirty="0">
                <a:ea typeface="ＭＳ Ｐゴシック" pitchFamily="34" charset="-128"/>
              </a:rPr>
              <a:t>Include changes in new version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 startAt="12"/>
            </a:pPr>
            <a:r>
              <a:rPr lang="en-US" sz="2000" dirty="0">
                <a:ea typeface="ＭＳ Ｐゴシック" pitchFamily="34" charset="-128"/>
              </a:rPr>
              <a:t>Distribute the new version</a:t>
            </a:r>
          </a:p>
          <a:p>
            <a:pPr marL="457200" indent="-457200">
              <a:lnSpc>
                <a:spcPct val="90000"/>
              </a:lnSpc>
              <a:spcBef>
                <a:spcPts val="300"/>
              </a:spcBef>
              <a:buAutoNum type="arabicPeriod" startAt="12"/>
            </a:pPr>
            <a:endParaRPr lang="en-US" sz="20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7038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8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E903E58F85A43956FA4D1AE84DA39" ma:contentTypeVersion="4" ma:contentTypeDescription="Create a new document." ma:contentTypeScope="" ma:versionID="04aaeb9fdf2bfe6c31125218b3f1d058">
  <xsd:schema xmlns:xsd="http://www.w3.org/2001/XMLSchema" xmlns:xs="http://www.w3.org/2001/XMLSchema" xmlns:p="http://schemas.microsoft.com/office/2006/metadata/properties" xmlns:ns2="b53a0138-98ff-4e2b-84cc-0f1f99a594e1" targetNamespace="http://schemas.microsoft.com/office/2006/metadata/properties" ma:root="true" ma:fieldsID="239c9857110ec9bf10b26988296148b8" ns2:_="">
    <xsd:import namespace="b53a0138-98ff-4e2b-84cc-0f1f99a594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3a0138-98ff-4e2b-84cc-0f1f99a594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271D7D-C420-41C3-B80E-A9F1FA0F1F3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49F2709-5A76-42BE-BD26-889E93064B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426566-EBCB-41FF-AF8F-C589473A51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3a0138-98ff-4e2b-84cc-0f1f99a594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561</Words>
  <Application>Microsoft Office PowerPoint</Application>
  <PresentationFormat>Widescreen</PresentationFormat>
  <Paragraphs>52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ＭＳ Ｐゴシック</vt:lpstr>
      <vt:lpstr>Calibri</vt:lpstr>
      <vt:lpstr>Gill Sans MT</vt:lpstr>
      <vt:lpstr>Wingdings 2</vt:lpstr>
      <vt:lpstr>Dividend</vt:lpstr>
      <vt:lpstr>PowerPoint Presentation</vt:lpstr>
      <vt:lpstr>Baseline</vt:lpstr>
      <vt:lpstr>SCM  repository</vt:lpstr>
      <vt:lpstr>Content of SCM  repository</vt:lpstr>
      <vt:lpstr>SCM  layers</vt:lpstr>
      <vt:lpstr>Change  control  process</vt:lpstr>
      <vt:lpstr>Change  control  process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Ch.13 - Software Configuration Management</dc:title>
  <dc:subject>Software Engineering</dc:subject>
  <dc:creator>M. Mahmudul Hasan</dc:creator>
  <cp:lastModifiedBy>AFNAN BIN ISLAM NAHIN</cp:lastModifiedBy>
  <cp:revision>28</cp:revision>
  <dcterms:created xsi:type="dcterms:W3CDTF">2019-05-13T08:37:20Z</dcterms:created>
  <dcterms:modified xsi:type="dcterms:W3CDTF">2025-01-18T11:58:53Z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0x010100832E903E58F85A43956FA4D1AE84DA39</vt:lpwstr>
  </property>
</Properties>
</file>
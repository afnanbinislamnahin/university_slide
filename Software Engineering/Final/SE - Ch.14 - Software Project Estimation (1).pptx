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7"/>
  </p:notesMasterIdLst>
  <p:sldIdLst>
    <p:sldId id="256" r:id="rId5"/>
    <p:sldId id="306" r:id="rId6"/>
    <p:sldId id="307" r:id="rId7"/>
    <p:sldId id="308" r:id="rId8"/>
    <p:sldId id="312" r:id="rId9"/>
    <p:sldId id="313" r:id="rId10"/>
    <p:sldId id="317" r:id="rId11"/>
    <p:sldId id="320" r:id="rId12"/>
    <p:sldId id="316" r:id="rId13"/>
    <p:sldId id="318" r:id="rId14"/>
    <p:sldId id="319" r:id="rId15"/>
    <p:sldId id="31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685FF-C0F1-5988-2B90-BD808FEFFA77}" v="2" dt="2024-09-21T17:52:45.4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6382e57edacfc39e28ffb59a497f3a14ed1977cbbb8e6420d5c8ddee2b7aa085::" providerId="AD" clId="Web-{001685FF-C0F1-5988-2B90-BD808FEFFA77}"/>
    <pc:docChg chg="modSld">
      <pc:chgData name="Guest User" userId="S::urn:spo:anon#6382e57edacfc39e28ffb59a497f3a14ed1977cbbb8e6420d5c8ddee2b7aa085::" providerId="AD" clId="Web-{001685FF-C0F1-5988-2B90-BD808FEFFA77}" dt="2024-09-21T17:52:45.449" v="1" actId="1076"/>
      <pc:docMkLst>
        <pc:docMk/>
      </pc:docMkLst>
      <pc:sldChg chg="modSp">
        <pc:chgData name="Guest User" userId="S::urn:spo:anon#6382e57edacfc39e28ffb59a497f3a14ed1977cbbb8e6420d5c8ddee2b7aa085::" providerId="AD" clId="Web-{001685FF-C0F1-5988-2B90-BD808FEFFA77}" dt="2024-09-21T17:52:45.449" v="1" actId="1076"/>
        <pc:sldMkLst>
          <pc:docMk/>
          <pc:sldMk cId="435864507" sldId="320"/>
        </pc:sldMkLst>
        <pc:graphicFrameChg chg="mod">
          <ac:chgData name="Guest User" userId="S::urn:spo:anon#6382e57edacfc39e28ffb59a497f3a14ed1977cbbb8e6420d5c8ddee2b7aa085::" providerId="AD" clId="Web-{001685FF-C0F1-5988-2B90-BD808FEFFA77}" dt="2024-09-21T17:52:45.449" v="1" actId="1076"/>
          <ac:graphicFrameMkLst>
            <pc:docMk/>
            <pc:sldMk cId="435864507" sldId="320"/>
            <ac:graphicFrameMk id="6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25/01/2025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>
                <a:solidFill>
                  <a:srgbClr val="FFFFFF"/>
                </a:solidFill>
              </a:rPr>
              <a:t>Course Name</a:t>
            </a:r>
            <a:br>
              <a:rPr lang="en-US" sz="2400" cap="all">
                <a:solidFill>
                  <a:srgbClr val="FFFFFF"/>
                </a:solidFill>
              </a:rPr>
            </a:br>
            <a:br>
              <a:rPr lang="en-US" sz="2400" cap="all">
                <a:solidFill>
                  <a:srgbClr val="FFFFFF"/>
                </a:solidFill>
              </a:rPr>
            </a:br>
            <a:r>
              <a:rPr lang="en-US" sz="2400" cap="all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14</a:t>
            </a:r>
            <a:br>
              <a:rPr lang="en-US" sz="3000">
                <a:solidFill>
                  <a:srgbClr val="C00000"/>
                </a:solidFill>
              </a:rPr>
            </a:br>
            <a:br>
              <a:rPr lang="en-US" sz="3000">
                <a:solidFill>
                  <a:schemeClr val="tx2"/>
                </a:solidFill>
              </a:rPr>
            </a:br>
            <a:r>
              <a:rPr lang="en-US" sz="3000">
                <a:solidFill>
                  <a:schemeClr val="tx2"/>
                </a:solidFill>
              </a:rPr>
              <a:t>software project estimation</a:t>
            </a:r>
            <a:endParaRPr lang="en-US" sz="3000">
              <a:solidFill>
                <a:srgbClr val="002060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4596388" y="3752174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>
                <a:solidFill>
                  <a:srgbClr val="7030A0"/>
                </a:solidFill>
              </a:rPr>
              <a:t>Tonny kar</a:t>
            </a:r>
            <a:endParaRPr lang="en-US" sz="2300" cap="none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825" y="702156"/>
            <a:ext cx="11029616" cy="1013800"/>
          </a:xfrm>
        </p:spPr>
        <p:txBody>
          <a:bodyPr/>
          <a:lstStyle/>
          <a:p>
            <a:r>
              <a:rPr lang="en-GB"/>
              <a:t>Software  project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911469"/>
            <a:ext cx="10803166" cy="284341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200" dirty="0"/>
              <a:t>The overall goal of project planning is to establish a </a:t>
            </a:r>
            <a:r>
              <a:rPr lang="en-US" altLang="en-US" sz="2200" dirty="0">
                <a:highlight>
                  <a:srgbClr val="FFFF00"/>
                </a:highlight>
              </a:rPr>
              <a:t>pragmatic strategy </a:t>
            </a:r>
            <a:r>
              <a:rPr lang="en-US" altLang="en-US" sz="2200" dirty="0"/>
              <a:t>for controlling,  </a:t>
            </a:r>
            <a:br>
              <a:rPr lang="en-US" altLang="en-US" sz="2200" dirty="0"/>
            </a:br>
            <a:r>
              <a:rPr lang="en-US" altLang="en-US" sz="2200" dirty="0"/>
              <a:t> tracking, and monitoring a complex technical project.</a:t>
            </a:r>
          </a:p>
          <a:p>
            <a:pPr marL="0" indent="0">
              <a:buNone/>
            </a:pPr>
            <a:endParaRPr lang="en-US" altLang="en-US" sz="2200" i="1" dirty="0"/>
          </a:p>
          <a:p>
            <a:pPr marL="0" indent="0">
              <a:buNone/>
            </a:pPr>
            <a:r>
              <a:rPr lang="en-US" altLang="en-US" sz="2400" dirty="0">
                <a:solidFill>
                  <a:srgbClr val="C00000"/>
                </a:solidFill>
              </a:rPr>
              <a:t>WHY?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/>
              <a:t>So the end result gets done on time, on budget, and with quality</a:t>
            </a:r>
            <a:endParaRPr lang="en-US" altLang="en-US" sz="2400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9303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project planning task set-1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331" y="1985553"/>
            <a:ext cx="10803166" cy="3670663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>
                <a:ea typeface="ＭＳ Ｐゴシック" panose="020B0600070205080204" pitchFamily="34" charset="-128"/>
              </a:rPr>
              <a:t>Establish project scope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>
                <a:ea typeface="ＭＳ Ｐゴシック" panose="020B0600070205080204" pitchFamily="34" charset="-128"/>
              </a:rPr>
              <a:t>Determine feasibility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>
                <a:ea typeface="ＭＳ Ｐゴシック" panose="020B0600070205080204" pitchFamily="34" charset="-128"/>
              </a:rPr>
              <a:t>Analyze risks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>
                <a:ea typeface="ＭＳ Ｐゴシック" panose="020B0600070205080204" pitchFamily="34" charset="-128"/>
              </a:rPr>
              <a:t>Define required resources</a:t>
            </a:r>
          </a:p>
          <a:p>
            <a:pPr lvl="1">
              <a:spcBef>
                <a:spcPts val="300"/>
              </a:spcBef>
            </a:pPr>
            <a:r>
              <a:rPr lang="en-US" altLang="en-US" sz="2200">
                <a:ea typeface="ＭＳ Ｐゴシック" panose="020B0600070205080204" pitchFamily="34" charset="-128"/>
              </a:rPr>
              <a:t>Determine require human resources</a:t>
            </a:r>
          </a:p>
          <a:p>
            <a:pPr lvl="1"/>
            <a:r>
              <a:rPr lang="en-US" altLang="en-US" sz="2200">
                <a:ea typeface="ＭＳ Ｐゴシック" panose="020B0600070205080204" pitchFamily="34" charset="-128"/>
              </a:rPr>
              <a:t>Define reusable software resources</a:t>
            </a:r>
          </a:p>
          <a:p>
            <a:pPr lvl="1"/>
            <a:r>
              <a:rPr lang="en-US" altLang="en-US" sz="2200">
                <a:ea typeface="ＭＳ Ｐゴシック" panose="020B0600070205080204" pitchFamily="34" charset="-128"/>
              </a:rPr>
              <a:t>Identify environmental resources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AAF17236-9CD0-40E6-B4A0-97FD026EE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707" y="1843278"/>
            <a:ext cx="5351470" cy="4459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7D904D43-DF9F-474C-B434-8D8EC0F94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6400" y="5687277"/>
            <a:ext cx="271925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/>
              <a:t>Off-the-shelf</a:t>
            </a:r>
            <a:r>
              <a:rPr lang="en-US" altLang="en-US" sz="1600"/>
              <a:t>: Available in the stock, reuse as it is</a:t>
            </a:r>
          </a:p>
        </p:txBody>
      </p:sp>
    </p:spTree>
    <p:extLst>
      <p:ext uri="{BB962C8B-B14F-4D97-AF65-F5344CB8AC3E}">
        <p14:creationId xmlns:p14="http://schemas.microsoft.com/office/powerpoint/2010/main" val="738119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project planning task set-ii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911468"/>
            <a:ext cx="10803166" cy="4567709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altLang="en-US" sz="2000">
                <a:ea typeface="ＭＳ Ｐゴシック" panose="020B0600070205080204" pitchFamily="34" charset="-128"/>
              </a:rPr>
              <a:t>Estimate cost and effort</a:t>
            </a:r>
          </a:p>
          <a:p>
            <a:pPr lvl="1">
              <a:spcBef>
                <a:spcPts val="300"/>
              </a:spcBef>
            </a:pPr>
            <a:r>
              <a:rPr lang="en-US" altLang="en-US" sz="2000">
                <a:ea typeface="ＭＳ Ｐゴシック" panose="020B0600070205080204" pitchFamily="34" charset="-128"/>
              </a:rPr>
              <a:t>Decompose the problem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Develop </a:t>
            </a:r>
            <a:r>
              <a:rPr lang="en-US" altLang="en-US" sz="2000">
                <a:solidFill>
                  <a:srgbClr val="FF0000"/>
                </a:solidFill>
                <a:ea typeface="ＭＳ Ｐゴシック" panose="020B0600070205080204" pitchFamily="34" charset="-128"/>
              </a:rPr>
              <a:t>two or more estimates </a:t>
            </a:r>
            <a:r>
              <a:rPr lang="en-US" altLang="en-US" sz="2000">
                <a:ea typeface="ＭＳ Ｐゴシック" panose="020B0600070205080204" pitchFamily="34" charset="-128"/>
              </a:rPr>
              <a:t>using size, function points, process tasks (complexity), 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Reconcile the estimates</a:t>
            </a:r>
          </a:p>
          <a:p>
            <a:pPr lvl="1"/>
            <a:endParaRPr lang="en-US" altLang="en-US" sz="2000">
              <a:ea typeface="ＭＳ Ｐゴシック" panose="020B0600070205080204" pitchFamily="34" charset="-128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altLang="en-US" sz="2000">
                <a:ea typeface="ＭＳ Ｐゴシック" panose="020B0600070205080204" pitchFamily="34" charset="-128"/>
              </a:rPr>
              <a:t>Develop a project schedule</a:t>
            </a:r>
          </a:p>
          <a:p>
            <a:pPr lvl="1">
              <a:spcBef>
                <a:spcPts val="300"/>
              </a:spcBef>
            </a:pPr>
            <a:r>
              <a:rPr lang="en-US" altLang="en-US" sz="2000">
                <a:ea typeface="ＭＳ Ｐゴシック" panose="020B0600070205080204" pitchFamily="34" charset="-128"/>
              </a:rPr>
              <a:t>Establish a meaningful task set</a:t>
            </a:r>
          </a:p>
          <a:p>
            <a:pPr lvl="1">
              <a:spcBef>
                <a:spcPts val="300"/>
              </a:spcBef>
            </a:pPr>
            <a:r>
              <a:rPr lang="en-US" altLang="en-US" sz="2000">
                <a:ea typeface="ＭＳ Ｐゴシック" panose="020B0600070205080204" pitchFamily="34" charset="-128"/>
              </a:rPr>
              <a:t>Define a task network</a:t>
            </a:r>
          </a:p>
          <a:p>
            <a:pPr lvl="1">
              <a:spcBef>
                <a:spcPts val="300"/>
              </a:spcBef>
            </a:pPr>
            <a:r>
              <a:rPr lang="en-US" altLang="en-US" sz="2000">
                <a:ea typeface="ＭＳ Ｐゴシック" panose="020B0600070205080204" pitchFamily="34" charset="-128"/>
              </a:rPr>
              <a:t>Use scheduling tools to develop a timeline chart</a:t>
            </a:r>
          </a:p>
          <a:p>
            <a:pPr lvl="1">
              <a:spcBef>
                <a:spcPts val="300"/>
              </a:spcBef>
            </a:pPr>
            <a:r>
              <a:rPr lang="en-US" altLang="en-US" sz="2000">
                <a:ea typeface="ＭＳ Ｐゴシック" panose="020B0600070205080204" pitchFamily="34" charset="-128"/>
              </a:rPr>
              <a:t>Define schedule tracking mechanisms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287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Project estimation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11469"/>
            <a:ext cx="11044934" cy="2725846"/>
          </a:xfrm>
        </p:spPr>
        <p:txBody>
          <a:bodyPr>
            <a:noAutofit/>
          </a:bodyPr>
          <a:lstStyle/>
          <a:p>
            <a:r>
              <a:rPr lang="en-US" altLang="en-US" sz="2200">
                <a:ea typeface="ＭＳ Ｐゴシック" panose="020B0600070205080204" pitchFamily="34" charset="-128"/>
              </a:rPr>
              <a:t>Project scope must be understood</a:t>
            </a:r>
          </a:p>
          <a:p>
            <a:r>
              <a:rPr lang="en-US" altLang="en-US" sz="2200">
                <a:ea typeface="ＭＳ Ｐゴシック" panose="020B0600070205080204" pitchFamily="34" charset="-128"/>
              </a:rPr>
              <a:t>Elaboration (decomposition) is necessary</a:t>
            </a:r>
          </a:p>
          <a:p>
            <a:r>
              <a:rPr lang="en-US" altLang="en-US" sz="2200">
                <a:ea typeface="ＭＳ Ｐゴシック" panose="020B0600070205080204" pitchFamily="34" charset="-128"/>
              </a:rPr>
              <a:t>Historical metrics (pervious data) are very helpful</a:t>
            </a:r>
          </a:p>
          <a:p>
            <a:r>
              <a:rPr lang="en-US" altLang="en-US" sz="2200">
                <a:ea typeface="ＭＳ Ｐゴシック" panose="020B0600070205080204" pitchFamily="34" charset="-128"/>
              </a:rPr>
              <a:t>At least two different techniques should be used</a:t>
            </a:r>
          </a:p>
          <a:p>
            <a:r>
              <a:rPr lang="en-US" altLang="en-US" sz="2200">
                <a:ea typeface="ＭＳ Ｐゴシック" panose="020B0600070205080204" pitchFamily="34" charset="-128"/>
              </a:rPr>
              <a:t>Uncertainty is inherent in the process</a:t>
            </a:r>
            <a:endParaRPr lang="en-US" altLang="en-US" sz="2000"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27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Conventional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013" y="1963721"/>
            <a:ext cx="10933795" cy="336365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200">
                <a:ea typeface="ＭＳ Ｐゴシック" panose="020B0600070205080204" pitchFamily="34" charset="-128"/>
              </a:rPr>
              <a:t>Conventional estimation techniques</a:t>
            </a:r>
          </a:p>
          <a:p>
            <a:pPr lvl="1"/>
            <a:r>
              <a:rPr lang="en-US" altLang="en-US" sz="2200">
                <a:ea typeface="ＭＳ Ｐゴシック" panose="020B0600070205080204" pitchFamily="34" charset="-128"/>
              </a:rPr>
              <a:t> task breakdown and effort estimates</a:t>
            </a:r>
          </a:p>
          <a:p>
            <a:pPr lvl="1"/>
            <a:r>
              <a:rPr lang="en-US" altLang="en-US" sz="2200">
                <a:ea typeface="ＭＳ Ｐゴシック" panose="020B0600070205080204" pitchFamily="34" charset="-128"/>
              </a:rPr>
              <a:t> size (e.g., LOC/FP) estimates</a:t>
            </a:r>
          </a:p>
          <a:p>
            <a:pPr lvl="1"/>
            <a:r>
              <a:rPr lang="en-US" altLang="en-US" sz="2200">
                <a:ea typeface="ＭＳ Ｐゴシック" panose="020B0600070205080204" pitchFamily="34" charset="-128"/>
              </a:rPr>
              <a:t> compute LOC/FP using estimates of information domain values</a:t>
            </a:r>
          </a:p>
          <a:p>
            <a:pPr lvl="1"/>
            <a:r>
              <a:rPr lang="en-US" altLang="en-US" sz="2200">
                <a:ea typeface="ＭＳ Ｐゴシック" panose="020B0600070205080204" pitchFamily="34" charset="-128"/>
              </a:rPr>
              <a:t> use historical data (previous experience) to build estimates for the project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200">
                <a:ea typeface="ＭＳ Ｐゴシック" panose="020B0600070205080204" pitchFamily="34" charset="-128"/>
              </a:rPr>
              <a:t>Automated tools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8542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Effort estimation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008" y="1996831"/>
            <a:ext cx="11286392" cy="4442069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defRPr/>
            </a:pPr>
            <a:r>
              <a:rPr 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A dynamic multivariable model for effort estimation</a:t>
            </a:r>
            <a:br>
              <a:rPr 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</a:br>
            <a:endParaRPr lang="en-US" sz="2000">
              <a:effectLst>
                <a:outerShdw blurRad="38100" dist="38100" dir="2700000" algn="tl">
                  <a:srgbClr val="FFFFFF"/>
                </a:outerShdw>
              </a:effectLst>
              <a:latin typeface="Helvetica" charset="0"/>
              <a:ea typeface="ＭＳ Ｐゴシック" charset="-128"/>
            </a:endParaRP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-128"/>
              </a:rPr>
              <a:t>			</a:t>
            </a:r>
            <a:r>
              <a:rPr lang="en-US" sz="2000" b="1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E = [LOC x B</a:t>
            </a:r>
            <a:r>
              <a:rPr lang="en-US" sz="2000" b="1" baseline="30000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0.333</a:t>
            </a:r>
            <a:r>
              <a:rPr lang="en-US" sz="2000" b="1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/P]</a:t>
            </a:r>
            <a:r>
              <a:rPr lang="en-US" sz="2000" b="1" baseline="30000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3</a:t>
            </a:r>
            <a:r>
              <a:rPr lang="en-US" sz="2000" b="1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  x (1/t</a:t>
            </a:r>
            <a:r>
              <a:rPr lang="en-US" sz="2000" b="1" baseline="30000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4</a:t>
            </a:r>
            <a:r>
              <a:rPr lang="en-US" sz="2000" b="1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)</a:t>
            </a:r>
            <a:endParaRPr lang="en-US" sz="2000" i="1">
              <a:solidFill>
                <a:srgbClr val="C00000"/>
              </a:solidFill>
              <a:latin typeface="Helvetica" charset="0"/>
              <a:ea typeface="ＭＳ Ｐゴシック" charset="-128"/>
            </a:endParaRPr>
          </a:p>
          <a:p>
            <a:pPr marL="0" indent="0">
              <a:buNone/>
            </a:pPr>
            <a:endParaRPr lang="en-US" altLang="en-US" sz="2000" b="1">
              <a:latin typeface="+mj-lt"/>
            </a:endParaRP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	Where,</a:t>
            </a: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		E = effort in person-months or </a:t>
            </a:r>
            <a:r>
              <a:rPr 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Helvetica" panose="020B0604020202020204" pitchFamily="34" charset="0"/>
                <a:ea typeface="ＭＳ Ｐゴシック" charset="-128"/>
                <a:cs typeface="Helvetica" panose="020B0604020202020204" pitchFamily="34" charset="0"/>
              </a:rPr>
              <a:t>person-years (</a:t>
            </a:r>
            <a:r>
              <a:rPr lang="en-US" sz="2000">
                <a:latin typeface="Helvetica" panose="020B0604020202020204" pitchFamily="34" charset="0"/>
                <a:cs typeface="Helvetica" panose="020B0604020202020204" pitchFamily="34" charset="0"/>
              </a:rPr>
              <a:t>the amount of time, personnel devote to a </a:t>
            </a:r>
            <a:br>
              <a:rPr lang="en-US" sz="200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2000">
                <a:latin typeface="Helvetica" panose="020B0604020202020204" pitchFamily="34" charset="0"/>
                <a:cs typeface="Helvetica" panose="020B0604020202020204" pitchFamily="34" charset="0"/>
              </a:rPr>
              <a:t>                    specific project)</a:t>
            </a:r>
            <a:endParaRPr lang="en-US" sz="2000">
              <a:effectLst>
                <a:outerShdw blurRad="38100" dist="38100" dir="2700000" algn="tl">
                  <a:srgbClr val="FFFFFF"/>
                </a:outerShdw>
              </a:effectLst>
              <a:latin typeface="Helvetica" panose="020B0604020202020204" pitchFamily="34" charset="0"/>
              <a:ea typeface="ＭＳ Ｐゴシック" charset="-128"/>
              <a:cs typeface="Helvetica" panose="020B0604020202020204" pitchFamily="34" charset="0"/>
            </a:endParaRP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		t = project duration in months or years</a:t>
            </a: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		B = “special skills factor”</a:t>
            </a:r>
            <a:endParaRPr lang="en-US" sz="1600">
              <a:effectLst>
                <a:outerShdw blurRad="38100" dist="38100" dir="2700000" algn="tl">
                  <a:srgbClr val="FFFFFF"/>
                </a:outerShdw>
              </a:effectLst>
              <a:latin typeface="Helvetica" charset="0"/>
              <a:ea typeface="ＭＳ Ｐゴシック" charset="-128"/>
            </a:endParaRP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160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		</a:t>
            </a:r>
            <a:r>
              <a:rPr 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P = “productivity parameter”</a:t>
            </a:r>
          </a:p>
          <a:p>
            <a:pPr marL="0" indent="0">
              <a:buNone/>
            </a:pPr>
            <a:endParaRPr lang="en-US" altLang="en-US" sz="2000" b="1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8"/>
            <a:ext cx="273423" cy="956981"/>
          </a:xfrm>
        </p:spPr>
        <p:txBody>
          <a:bodyPr vert="vert270"/>
          <a:lstStyle/>
          <a:p>
            <a:r>
              <a:rPr lang="en-US" sz="1400" b="1"/>
              <a:t>Slide-</a:t>
            </a:r>
            <a:fld id="{D57F1E4F-1CFF-5643-939E-217C01CDF565}" type="slidenum">
              <a:rPr lang="en-US" sz="1400" b="1" smtClean="0"/>
              <a:pPr/>
              <a:t>7</a:t>
            </a:fld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64597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COCOMO (</a:t>
            </a:r>
            <a:r>
              <a:rPr lang="en-US">
                <a:solidFill>
                  <a:srgbClr val="C00000"/>
                </a:solidFill>
              </a:rPr>
              <a:t>Co</a:t>
            </a:r>
            <a:r>
              <a:rPr lang="en-US"/>
              <a:t>nstructive </a:t>
            </a:r>
            <a:r>
              <a:rPr lang="en-US">
                <a:solidFill>
                  <a:srgbClr val="C00000"/>
                </a:solidFill>
              </a:rPr>
              <a:t>Co</a:t>
            </a:r>
            <a:r>
              <a:rPr lang="en-US"/>
              <a:t>st </a:t>
            </a:r>
            <a:r>
              <a:rPr lang="en-US">
                <a:solidFill>
                  <a:srgbClr val="C00000"/>
                </a:solidFill>
              </a:rPr>
              <a:t>Mo</a:t>
            </a:r>
            <a:r>
              <a:rPr lang="en-US"/>
              <a:t>del)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008" y="1996831"/>
            <a:ext cx="11286392" cy="4442069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/>
              <a:t>Based on SLOC characteristic, and operates according to the following equations: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sz="2000" b="1">
                <a:solidFill>
                  <a:srgbClr val="C00000"/>
                </a:solidFill>
                <a:latin typeface="Bell MT" pitchFamily="18" charset="0"/>
              </a:rPr>
              <a:t>Effort = PM = Coefficient</a:t>
            </a:r>
            <a:r>
              <a:rPr lang="en-US" altLang="en-US" sz="2000" b="1" baseline="-25000">
                <a:solidFill>
                  <a:srgbClr val="C00000"/>
                </a:solidFill>
                <a:latin typeface="Bell MT" pitchFamily="18" charset="0"/>
              </a:rPr>
              <a:t>&lt;Effort Factor&gt;</a:t>
            </a:r>
            <a:r>
              <a:rPr lang="en-US" altLang="en-US" sz="2000" b="1">
                <a:solidFill>
                  <a:srgbClr val="C00000"/>
                </a:solidFill>
                <a:latin typeface="Bell MT" pitchFamily="18" charset="0"/>
              </a:rPr>
              <a:t>*(SLOC/1000)^P        </a:t>
            </a:r>
            <a:r>
              <a:rPr lang="en-US" altLang="en-US"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[100,000 SLOC/1000  = 100k SLOC]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Development time = DM = 2.50*(PM)^T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Required number of people = ST = PM/DM</a:t>
            </a:r>
            <a:b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PM</a:t>
            </a:r>
            <a:r>
              <a:rPr lang="en-US" sz="2000" b="1">
                <a:solidFill>
                  <a:srgbClr val="C00000"/>
                </a:solidFill>
              </a:rPr>
              <a:t> :</a:t>
            </a:r>
            <a:r>
              <a:rPr lang="en-US" sz="2000"/>
              <a:t> person-months needed for project (labor working hours)</a:t>
            </a:r>
            <a:br>
              <a:rPr lang="en-US" sz="2000"/>
            </a:b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SLOC</a:t>
            </a:r>
            <a:r>
              <a:rPr lang="en-US" sz="2000" b="1">
                <a:solidFill>
                  <a:srgbClr val="C00000"/>
                </a:solidFill>
              </a:rPr>
              <a:t> :  </a:t>
            </a:r>
            <a:r>
              <a:rPr lang="en-US" sz="2000"/>
              <a:t>source lines of code</a:t>
            </a:r>
            <a:br>
              <a:rPr lang="en-US" sz="2000"/>
            </a:b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000" b="1">
                <a:solidFill>
                  <a:srgbClr val="C00000"/>
                </a:solidFill>
              </a:rPr>
              <a:t> :  </a:t>
            </a:r>
            <a:r>
              <a:rPr lang="en-US" sz="2000"/>
              <a:t>project complexity (1.04-1.24)</a:t>
            </a:r>
            <a:br>
              <a:rPr lang="en-US" sz="2000"/>
            </a:b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</a:t>
            </a:r>
            <a:r>
              <a:rPr lang="en-US" sz="2000" b="1">
                <a:solidFill>
                  <a:srgbClr val="C00000"/>
                </a:solidFill>
              </a:rPr>
              <a:t> :  </a:t>
            </a:r>
            <a:r>
              <a:rPr lang="en-US" sz="2000"/>
              <a:t>duration time in months for project (week days)</a:t>
            </a:r>
            <a:br>
              <a:rPr lang="en-US" sz="2000"/>
            </a:b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2000" b="1">
                <a:solidFill>
                  <a:srgbClr val="C00000"/>
                </a:solidFill>
              </a:rPr>
              <a:t> :  </a:t>
            </a:r>
            <a:r>
              <a:rPr lang="en-US" sz="2000"/>
              <a:t>SLOC-dependent coefficient (0.32-0.38)</a:t>
            </a:r>
            <a:br>
              <a:rPr lang="en-US" sz="2000"/>
            </a:b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sz="2000" b="1">
                <a:solidFill>
                  <a:srgbClr val="C00000"/>
                </a:solidFill>
              </a:rPr>
              <a:t> :  </a:t>
            </a:r>
            <a:r>
              <a:rPr lang="en-US" sz="2000"/>
              <a:t>average staffing necessary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8"/>
            <a:ext cx="273423" cy="956981"/>
          </a:xfrm>
        </p:spPr>
        <p:txBody>
          <a:bodyPr vert="vert270"/>
          <a:lstStyle/>
          <a:p>
            <a:r>
              <a:rPr lang="en-US" sz="1400" b="1"/>
              <a:t>Slide-</a:t>
            </a:r>
            <a:fld id="{D57F1E4F-1CFF-5643-939E-217C01CDF565}" type="slidenum">
              <a:rPr lang="en-US" sz="1400" b="1" smtClean="0"/>
              <a:pPr/>
              <a:t>8</a:t>
            </a:fld>
            <a:endParaRPr lang="en-US" sz="1400" b="1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4686534"/>
          <a:ext cx="5435599" cy="17523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8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059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Software</a:t>
                      </a:r>
                      <a:r>
                        <a:rPr lang="en-US" sz="1800" b="1" baseline="0"/>
                        <a:t> Project Type</a:t>
                      </a:r>
                      <a:endParaRPr lang="en-US" sz="1800" b="1"/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Coefficient</a:t>
                      </a:r>
                      <a:br>
                        <a:rPr lang="en-US" sz="1800" b="1"/>
                      </a:br>
                      <a:r>
                        <a:rPr lang="en-US" sz="1800" b="1" baseline="-25000"/>
                        <a:t>&lt;Effort Factor&gt;</a:t>
                      </a:r>
                      <a:endParaRPr lang="en-US" sz="1800" b="1"/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P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T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8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Organic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2.4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1.05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0.38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8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Semi-detached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3.0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1.12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0.35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8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Embedded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3.6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1.20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0.32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864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COCOMO (</a:t>
            </a:r>
            <a:r>
              <a:rPr lang="en-US">
                <a:solidFill>
                  <a:srgbClr val="C00000"/>
                </a:solidFill>
              </a:rPr>
              <a:t>Co</a:t>
            </a:r>
            <a:r>
              <a:rPr lang="en-US"/>
              <a:t>nstructive  </a:t>
            </a:r>
            <a:r>
              <a:rPr lang="en-US">
                <a:solidFill>
                  <a:srgbClr val="C00000"/>
                </a:solidFill>
              </a:rPr>
              <a:t>Co</a:t>
            </a:r>
            <a:r>
              <a:rPr lang="en-US"/>
              <a:t>st  </a:t>
            </a:r>
            <a:r>
              <a:rPr lang="en-US">
                <a:solidFill>
                  <a:srgbClr val="C00000"/>
                </a:solidFill>
              </a:rPr>
              <a:t>Mo</a:t>
            </a:r>
            <a:r>
              <a:rPr lang="en-US"/>
              <a:t>del)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007" y="1996832"/>
            <a:ext cx="11350255" cy="3894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C00000"/>
                </a:solidFill>
                <a:latin typeface="+mj-lt"/>
              </a:rPr>
              <a:t>Organic: </a:t>
            </a:r>
            <a:r>
              <a:rPr lang="en-US" sz="2200"/>
              <a:t>relatively small, simple software projects in which a small teams with good application experience work to a software development project (e.g. showing VUES information to webpage)</a:t>
            </a:r>
            <a:endParaRPr lang="en-US" sz="2200" b="1">
              <a:solidFill>
                <a:srgbClr val="C00000"/>
              </a:solidFill>
              <a:latin typeface="+mj-lt"/>
            </a:endParaRPr>
          </a:p>
          <a:p>
            <a:pPr marL="0" indent="0">
              <a:buNone/>
            </a:pPr>
            <a:br>
              <a:rPr lang="en-US" sz="2200">
                <a:latin typeface="+mj-lt"/>
              </a:rPr>
            </a:br>
            <a:r>
              <a:rPr lang="en-US" sz="2200" b="1">
                <a:solidFill>
                  <a:srgbClr val="C00000"/>
                </a:solidFill>
                <a:latin typeface="+mj-lt"/>
              </a:rPr>
              <a:t>Semidetached:</a:t>
            </a:r>
            <a:r>
              <a:rPr lang="en-US" sz="2200" b="1">
                <a:latin typeface="+mj-lt"/>
              </a:rPr>
              <a:t> </a:t>
            </a:r>
            <a:r>
              <a:rPr lang="en-US" sz="2200"/>
              <a:t>an intermediate (in size and complexity) software project in which teams with mixed experience levels works in a mix of hardware and software application (e.g. biometric log-in time saved in VUES database) </a:t>
            </a:r>
            <a:endParaRPr lang="en-US" sz="2200" b="1">
              <a:latin typeface="+mj-lt"/>
            </a:endParaRPr>
          </a:p>
          <a:p>
            <a:pPr marL="0" indent="0">
              <a:buNone/>
            </a:pPr>
            <a:br>
              <a:rPr lang="en-US" sz="2200" b="1">
                <a:latin typeface="+mj-lt"/>
              </a:rPr>
            </a:br>
            <a:r>
              <a:rPr lang="en-US" sz="2200" b="1">
                <a:solidFill>
                  <a:srgbClr val="C00000"/>
                </a:solidFill>
                <a:latin typeface="+mj-lt"/>
              </a:rPr>
              <a:t>Embedded:  </a:t>
            </a:r>
            <a:r>
              <a:rPr lang="en-US" sz="2200"/>
              <a:t>A software project that must be developed within a strongly coupled to hardware environment (e.g. biometric device, elevator)</a:t>
            </a:r>
            <a:endParaRPr lang="en-US" sz="2200" b="1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8"/>
            <a:ext cx="273423" cy="956981"/>
          </a:xfrm>
        </p:spPr>
        <p:txBody>
          <a:bodyPr vert="vert270"/>
          <a:lstStyle/>
          <a:p>
            <a:r>
              <a:rPr lang="en-US" sz="1400" b="1"/>
              <a:t>Slide-</a:t>
            </a:r>
            <a:fld id="{D57F1E4F-1CFF-5643-939E-217C01CDF565}" type="slidenum">
              <a:rPr lang="en-US" sz="1400" b="1" smtClean="0"/>
              <a:pPr/>
              <a:t>9</a:t>
            </a:fld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4084127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Make-buy decision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8"/>
            <a:ext cx="273423" cy="956981"/>
          </a:xfrm>
        </p:spPr>
        <p:txBody>
          <a:bodyPr vert="vert270"/>
          <a:lstStyle/>
          <a:p>
            <a:r>
              <a:rPr lang="en-US" sz="1400" b="1"/>
              <a:t>Slide-</a:t>
            </a:r>
            <a:fld id="{D57F1E4F-1CFF-5643-939E-217C01CDF565}" type="slidenum">
              <a:rPr lang="en-US" sz="1400" b="1" smtClean="0"/>
              <a:pPr/>
              <a:t>10</a:t>
            </a:fld>
            <a:endParaRPr lang="en-US" sz="1400" b="1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568" y="1957250"/>
            <a:ext cx="7556863" cy="4796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5568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Computing expected cost from decision tree 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8"/>
            <a:ext cx="273423" cy="956981"/>
          </a:xfrm>
        </p:spPr>
        <p:txBody>
          <a:bodyPr vert="vert270"/>
          <a:lstStyle/>
          <a:p>
            <a:r>
              <a:rPr lang="en-US" sz="1400" b="1"/>
              <a:t>Slide-</a:t>
            </a:r>
            <a:fld id="{D57F1E4F-1CFF-5643-939E-217C01CDF565}" type="slidenum">
              <a:rPr lang="en-US" sz="1400" b="1" smtClean="0"/>
              <a:pPr/>
              <a:t>11</a:t>
            </a:fld>
            <a:endParaRPr lang="en-US" sz="1400" b="1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955137" y="2055567"/>
            <a:ext cx="8625778" cy="987425"/>
          </a:xfrm>
          <a:prstGeom prst="rect">
            <a:avLst/>
          </a:prstGeom>
          <a:solidFill>
            <a:srgbClr val="C00000"/>
          </a:solidFill>
          <a:ln w="12700">
            <a:noFill/>
            <a:miter lim="800000"/>
            <a:headEnd/>
            <a:tailEnd/>
          </a:ln>
          <a:effectLst>
            <a:outerShdw dist="7184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461339" y="2217127"/>
            <a:ext cx="5988948" cy="363538"/>
          </a:xfrm>
          <a:prstGeom prst="rect">
            <a:avLst/>
          </a:prstGeom>
          <a:solidFill>
            <a:srgbClr val="C00000"/>
          </a:solidFill>
          <a:ln w="254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defRPr/>
            </a:pP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    </a:t>
            </a: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-128"/>
              </a:rPr>
              <a:t>((path probability)    </a:t>
            </a:r>
            <a:r>
              <a:rPr lang="en-US" sz="1800">
                <a:solidFill>
                  <a:schemeClr val="bg1"/>
                </a:solidFill>
                <a:latin typeface="Helvetica" charset="0"/>
                <a:ea typeface="ＭＳ Ｐゴシック" charset="-128"/>
              </a:rPr>
              <a:t>x</a:t>
            </a: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-128"/>
              </a:rPr>
              <a:t>  (estimated path cost) </a:t>
            </a: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2824416" y="2258202"/>
            <a:ext cx="2062745" cy="3635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chemeClr val="bg1"/>
                </a:solidFill>
                <a:latin typeface="Helvetica" panose="020B0604020202020204" pitchFamily="34" charset="0"/>
              </a:rPr>
              <a:t>expected cost =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634980" y="2395424"/>
            <a:ext cx="244475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-128"/>
              </a:rPr>
              <a:t>i</a:t>
            </a:r>
            <a:endParaRPr lang="en-US" sz="1800" b="1"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elvetica" charset="0"/>
              <a:ea typeface="ＭＳ Ｐゴシック" charset="-128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9430432" y="2365307"/>
            <a:ext cx="244475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-128"/>
              </a:rPr>
              <a:t>i</a:t>
            </a:r>
            <a:endParaRPr lang="en-US" sz="18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elvetica" charset="0"/>
              <a:ea typeface="ＭＳ Ｐゴシック" charset="-128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260565" y="3363667"/>
            <a:ext cx="4337725" cy="33598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For example, the expected cost to build is: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5470043" y="3373096"/>
            <a:ext cx="4531689" cy="5822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600" b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expected cost  = 0.30 ($380K) + 0.70 ($450K) </a:t>
            </a:r>
          </a:p>
          <a:p>
            <a:pPr>
              <a:defRPr/>
            </a:pPr>
            <a:endParaRPr lang="en-US" sz="1600" b="1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elvetica" charset="0"/>
              <a:ea typeface="ＭＳ Ｐゴシック" charset="-128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57400" y="4419600"/>
            <a:ext cx="1062038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similarly,</a:t>
            </a:r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2057400" y="4876800"/>
            <a:ext cx="5907088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>
                <a:solidFill>
                  <a:srgbClr val="002060"/>
                </a:solidFill>
                <a:latin typeface="Helvetica" panose="020B0604020202020204" pitchFamily="34" charset="0"/>
              </a:rPr>
              <a:t>expected cost          = $382K</a:t>
            </a:r>
          </a:p>
          <a:p>
            <a:endParaRPr lang="en-US" altLang="en-US" sz="1600" b="1">
              <a:solidFill>
                <a:srgbClr val="002060"/>
              </a:solidFill>
              <a:latin typeface="Helvetica" panose="020B0604020202020204" pitchFamily="34" charset="0"/>
            </a:endParaRP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2057400" y="5334000"/>
            <a:ext cx="5907088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>
                <a:solidFill>
                  <a:srgbClr val="002060"/>
                </a:solidFill>
                <a:latin typeface="Helvetica" panose="020B0604020202020204" pitchFamily="34" charset="0"/>
              </a:rPr>
              <a:t>expected cost          = $267K</a:t>
            </a:r>
          </a:p>
          <a:p>
            <a:endParaRPr lang="en-US" altLang="en-US" sz="1600" b="1">
              <a:solidFill>
                <a:srgbClr val="002060"/>
              </a:solidFill>
              <a:latin typeface="Helvetica" panose="020B0604020202020204" pitchFamily="34" charset="0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2057400" y="5775325"/>
            <a:ext cx="5678488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>
                <a:solidFill>
                  <a:srgbClr val="002060"/>
                </a:solidFill>
                <a:latin typeface="Helvetica" panose="020B0604020202020204" pitchFamily="34" charset="0"/>
              </a:rPr>
              <a:t>expected cost          = $410K</a:t>
            </a:r>
          </a:p>
        </p:txBody>
      </p:sp>
      <p:sp>
        <p:nvSpPr>
          <p:cNvPr id="18" name="Rectangle 22"/>
          <p:cNvSpPr>
            <a:spLocks noChangeArrowheads="1"/>
          </p:cNvSpPr>
          <p:nvPr/>
        </p:nvSpPr>
        <p:spPr bwMode="auto">
          <a:xfrm>
            <a:off x="3429000" y="5029200"/>
            <a:ext cx="1028700" cy="333375"/>
          </a:xfrm>
          <a:prstGeom prst="rect">
            <a:avLst/>
          </a:prstGeom>
          <a:noFill/>
          <a:ln>
            <a:noFill/>
          </a:ln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>
                <a:solidFill>
                  <a:srgbClr val="C00000"/>
                </a:solidFill>
                <a:latin typeface="Helvetica" panose="020B0604020202020204" pitchFamily="34" charset="0"/>
              </a:rPr>
              <a:t>reuse</a:t>
            </a: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3429000" y="5486400"/>
            <a:ext cx="868363" cy="333375"/>
          </a:xfrm>
          <a:prstGeom prst="rect">
            <a:avLst/>
          </a:prstGeom>
          <a:noFill/>
          <a:ln>
            <a:noFill/>
          </a:ln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>
                <a:solidFill>
                  <a:srgbClr val="C00000"/>
                </a:solidFill>
                <a:latin typeface="Helvetica" panose="020B0604020202020204" pitchFamily="34" charset="0"/>
              </a:rPr>
              <a:t>buy</a:t>
            </a:r>
          </a:p>
        </p:txBody>
      </p:sp>
      <p:sp>
        <p:nvSpPr>
          <p:cNvPr id="20" name="Rectangle 24"/>
          <p:cNvSpPr>
            <a:spLocks noChangeArrowheads="1"/>
          </p:cNvSpPr>
          <p:nvPr/>
        </p:nvSpPr>
        <p:spPr bwMode="auto">
          <a:xfrm>
            <a:off x="3429000" y="5943600"/>
            <a:ext cx="941388" cy="333375"/>
          </a:xfrm>
          <a:prstGeom prst="rect">
            <a:avLst/>
          </a:prstGeom>
          <a:noFill/>
          <a:ln>
            <a:noFill/>
          </a:ln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 err="1">
                <a:solidFill>
                  <a:srgbClr val="C00000"/>
                </a:solidFill>
                <a:latin typeface="Helvetica" panose="020B0604020202020204" pitchFamily="34" charset="0"/>
              </a:rPr>
              <a:t>contr</a:t>
            </a:r>
            <a:endParaRPr lang="en-US" altLang="en-US" sz="1600" b="1">
              <a:solidFill>
                <a:srgbClr val="C00000"/>
              </a:solidFill>
              <a:latin typeface="Helvetica" panose="020B0604020202020204" pitchFamily="34" charset="0"/>
            </a:endParaRPr>
          </a:p>
        </p:txBody>
      </p:sp>
      <p:sp>
        <p:nvSpPr>
          <p:cNvPr id="21" name="Rectangle 26"/>
          <p:cNvSpPr>
            <a:spLocks noChangeArrowheads="1"/>
          </p:cNvSpPr>
          <p:nvPr/>
        </p:nvSpPr>
        <p:spPr bwMode="auto">
          <a:xfrm>
            <a:off x="9807768" y="3398963"/>
            <a:ext cx="1011238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600" b="1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= $429 K</a:t>
            </a:r>
          </a:p>
        </p:txBody>
      </p:sp>
    </p:spTree>
    <p:extLst>
      <p:ext uri="{BB962C8B-B14F-4D97-AF65-F5344CB8AC3E}">
        <p14:creationId xmlns:p14="http://schemas.microsoft.com/office/powerpoint/2010/main" val="2601233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>
                <a:ea typeface="ＭＳ Ｐゴシック" pitchFamily="34" charset="-128"/>
              </a:rPr>
              <a:t>R.S. Pressman &amp; Associates, Inc. (2010). </a:t>
            </a:r>
            <a:r>
              <a:rPr lang="en-US" sz="2000" i="1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/>
              <a:t>Kelly, J. C., </a:t>
            </a:r>
            <a:r>
              <a:rPr lang="en-US" sz="2000" err="1"/>
              <a:t>Sherif</a:t>
            </a:r>
            <a:r>
              <a:rPr lang="en-US" sz="2000"/>
              <a:t>, J. S., &amp; Hops, J. (1992). An analysis of defect densities found during software inspections. </a:t>
            </a:r>
            <a:r>
              <a:rPr lang="en-US" sz="2000" i="1"/>
              <a:t>Journal of Systems and Software</a:t>
            </a:r>
            <a:r>
              <a:rPr lang="en-US" sz="2000"/>
              <a:t>, </a:t>
            </a:r>
            <a:r>
              <a:rPr lang="en-US" sz="2000" i="1"/>
              <a:t>17</a:t>
            </a:r>
            <a:r>
              <a:rPr lang="en-US" sz="2000"/>
              <a:t>(2), 111-117.</a:t>
            </a:r>
          </a:p>
          <a:p>
            <a:pPr>
              <a:defRPr/>
            </a:pPr>
            <a:r>
              <a:rPr lang="en-US" sz="2000"/>
              <a:t>Bhandari, I., Halliday, M. J., </a:t>
            </a:r>
            <a:r>
              <a:rPr lang="en-US" sz="2000" err="1"/>
              <a:t>Chaar</a:t>
            </a:r>
            <a:r>
              <a:rPr lang="en-US" sz="2000"/>
              <a:t>, J., </a:t>
            </a:r>
            <a:r>
              <a:rPr lang="en-US" sz="2000" err="1"/>
              <a:t>Chillarege</a:t>
            </a:r>
            <a:r>
              <a:rPr lang="en-US" sz="2000"/>
              <a:t>, R., Jones, K., Atkinson, J. S., &amp; </a:t>
            </a:r>
            <a:r>
              <a:rPr lang="en-US" sz="2000" err="1"/>
              <a:t>Yonezawa</a:t>
            </a:r>
            <a:r>
              <a:rPr lang="en-US" sz="2000"/>
              <a:t>, M. (1994).</a:t>
            </a:r>
            <a:br>
              <a:rPr lang="en-US" sz="2000"/>
            </a:br>
            <a:r>
              <a:rPr lang="en-US" sz="2000"/>
              <a:t>In-process improvement through defect data interpretation. </a:t>
            </a:r>
            <a:r>
              <a:rPr lang="en-US" sz="2000" i="1"/>
              <a:t>IBM Systems Journal</a:t>
            </a:r>
            <a:r>
              <a:rPr lang="en-US" sz="2000"/>
              <a:t>, </a:t>
            </a:r>
            <a:r>
              <a:rPr lang="en-US" sz="2000" i="1"/>
              <a:t>33</a:t>
            </a:r>
            <a:r>
              <a:rPr lang="en-US" sz="2000"/>
              <a:t>(1), 182-214.</a:t>
            </a:r>
            <a:endParaRPr lang="en-US" sz="200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2E903E58F85A43956FA4D1AE84DA39" ma:contentTypeVersion="4" ma:contentTypeDescription="Create a new document." ma:contentTypeScope="" ma:versionID="04aaeb9fdf2bfe6c31125218b3f1d058">
  <xsd:schema xmlns:xsd="http://www.w3.org/2001/XMLSchema" xmlns:xs="http://www.w3.org/2001/XMLSchema" xmlns:p="http://schemas.microsoft.com/office/2006/metadata/properties" xmlns:ns2="b53a0138-98ff-4e2b-84cc-0f1f99a594e1" targetNamespace="http://schemas.microsoft.com/office/2006/metadata/properties" ma:root="true" ma:fieldsID="239c9857110ec9bf10b26988296148b8" ns2:_="">
    <xsd:import namespace="b53a0138-98ff-4e2b-84cc-0f1f99a594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3a0138-98ff-4e2b-84cc-0f1f99a594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1BB420-9866-4AD4-886F-E82927B491F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5F29515-7B1C-42B5-BD80-26542BFDF0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3a0138-98ff-4e2b-84cc-0f1f99a594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AFB4121-C7A9-4247-8AEB-92AD37E22A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778</Words>
  <Application>Microsoft Office PowerPoint</Application>
  <PresentationFormat>Widescreen</PresentationFormat>
  <Paragraphs>111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ＭＳ Ｐゴシック</vt:lpstr>
      <vt:lpstr>Arial</vt:lpstr>
      <vt:lpstr>Bell MT</vt:lpstr>
      <vt:lpstr>Calibri</vt:lpstr>
      <vt:lpstr>Courier New</vt:lpstr>
      <vt:lpstr>Gill Sans MT</vt:lpstr>
      <vt:lpstr>Helvetica</vt:lpstr>
      <vt:lpstr>Wingdings</vt:lpstr>
      <vt:lpstr>Wingdings 2</vt:lpstr>
      <vt:lpstr>Dividend</vt:lpstr>
      <vt:lpstr>PowerPoint Presentation</vt:lpstr>
      <vt:lpstr>Software  project planning</vt:lpstr>
      <vt:lpstr>project planning task set-1</vt:lpstr>
      <vt:lpstr>project planning task set-ii</vt:lpstr>
      <vt:lpstr>Project estimation Principles</vt:lpstr>
      <vt:lpstr>Conventional Method</vt:lpstr>
      <vt:lpstr>Effort estimation</vt:lpstr>
      <vt:lpstr>COCOMO (Constructive Cost Model)</vt:lpstr>
      <vt:lpstr>COCOMO (Constructive  Cost  Model)</vt:lpstr>
      <vt:lpstr>Make-buy decision</vt:lpstr>
      <vt:lpstr>Computing expected cost from decision tree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Ch.14 - Software Project Estimation</dc:title>
  <dc:subject>Software Engineering</dc:subject>
  <dc:creator>M. Mahmudul Hasan</dc:creator>
  <cp:lastModifiedBy>AFNAN BIN ISLAM NAHIN</cp:lastModifiedBy>
  <cp:revision>4</cp:revision>
  <dcterms:created xsi:type="dcterms:W3CDTF">2019-05-13T08:37:20Z</dcterms:created>
  <dcterms:modified xsi:type="dcterms:W3CDTF">2025-01-25T04:40:06Z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0x010100832E903E58F85A43956FA4D1AE84DA39</vt:lpwstr>
  </property>
</Properties>
</file>
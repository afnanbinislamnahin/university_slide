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9"/>
  </p:notesMasterIdLst>
  <p:sldIdLst>
    <p:sldId id="256" r:id="rId2"/>
    <p:sldId id="295" r:id="rId3"/>
    <p:sldId id="296" r:id="rId4"/>
    <p:sldId id="297" r:id="rId5"/>
    <p:sldId id="298" r:id="rId6"/>
    <p:sldId id="299" r:id="rId7"/>
    <p:sldId id="300" r:id="rId8"/>
    <p:sldId id="301" r:id="rId9"/>
    <p:sldId id="302" r:id="rId10"/>
    <p:sldId id="304" r:id="rId11"/>
    <p:sldId id="305" r:id="rId12"/>
    <p:sldId id="306" r:id="rId13"/>
    <p:sldId id="307" r:id="rId14"/>
    <p:sldId id="308" r:id="rId15"/>
    <p:sldId id="309" r:id="rId16"/>
    <p:sldId id="310" r:id="rId17"/>
    <p:sldId id="31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953EC0-CA56-41D2-A33D-805EEA3EF717}" v="2" dt="2024-06-26T17:53:15.9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3" autoAdjust="0"/>
    <p:restoredTop sz="94434" autoAdjust="0"/>
  </p:normalViewPr>
  <p:slideViewPr>
    <p:cSldViewPr snapToGrid="0">
      <p:cViewPr varScale="1">
        <p:scale>
          <a:sx n="64" d="100"/>
          <a:sy n="64" d="100"/>
        </p:scale>
        <p:origin x="560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FNAN BIN ISLAM NAHIN" userId="288682b4-77b6-4f3e-a0c4-4af26aad528b" providerId="ADAL" clId="{02953EC0-CA56-41D2-A33D-805EEA3EF717}"/>
    <pc:docChg chg="modSld">
      <pc:chgData name="AFNAN BIN ISLAM NAHIN" userId="288682b4-77b6-4f3e-a0c4-4af26aad528b" providerId="ADAL" clId="{02953EC0-CA56-41D2-A33D-805EEA3EF717}" dt="2024-06-26T18:20:53.344" v="16" actId="13926"/>
      <pc:docMkLst>
        <pc:docMk/>
      </pc:docMkLst>
      <pc:sldChg chg="modSp mod">
        <pc:chgData name="AFNAN BIN ISLAM NAHIN" userId="288682b4-77b6-4f3e-a0c4-4af26aad528b" providerId="ADAL" clId="{02953EC0-CA56-41D2-A33D-805EEA3EF717}" dt="2024-06-26T17:51:27.591" v="3" actId="13926"/>
        <pc:sldMkLst>
          <pc:docMk/>
          <pc:sldMk cId="4097638480" sldId="296"/>
        </pc:sldMkLst>
        <pc:spChg chg="mod">
          <ac:chgData name="AFNAN BIN ISLAM NAHIN" userId="288682b4-77b6-4f3e-a0c4-4af26aad528b" providerId="ADAL" clId="{02953EC0-CA56-41D2-A33D-805EEA3EF717}" dt="2024-06-26T17:51:27.591" v="3" actId="13926"/>
          <ac:spMkLst>
            <pc:docMk/>
            <pc:sldMk cId="4097638480" sldId="296"/>
            <ac:spMk id="4" creationId="{00000000-0000-0000-0000-000000000000}"/>
          </ac:spMkLst>
        </pc:spChg>
      </pc:sldChg>
      <pc:sldChg chg="modSp mod">
        <pc:chgData name="AFNAN BIN ISLAM NAHIN" userId="288682b4-77b6-4f3e-a0c4-4af26aad528b" providerId="ADAL" clId="{02953EC0-CA56-41D2-A33D-805EEA3EF717}" dt="2024-06-26T17:53:30.783" v="10" actId="13926"/>
        <pc:sldMkLst>
          <pc:docMk/>
          <pc:sldMk cId="2255806174" sldId="297"/>
        </pc:sldMkLst>
        <pc:spChg chg="mod">
          <ac:chgData name="AFNAN BIN ISLAM NAHIN" userId="288682b4-77b6-4f3e-a0c4-4af26aad528b" providerId="ADAL" clId="{02953EC0-CA56-41D2-A33D-805EEA3EF717}" dt="2024-06-26T17:53:30.783" v="10" actId="13926"/>
          <ac:spMkLst>
            <pc:docMk/>
            <pc:sldMk cId="2255806174" sldId="297"/>
            <ac:spMk id="4" creationId="{00000000-0000-0000-0000-000000000000}"/>
          </ac:spMkLst>
        </pc:spChg>
      </pc:sldChg>
      <pc:sldChg chg="modSp mod">
        <pc:chgData name="AFNAN BIN ISLAM NAHIN" userId="288682b4-77b6-4f3e-a0c4-4af26aad528b" providerId="ADAL" clId="{02953EC0-CA56-41D2-A33D-805EEA3EF717}" dt="2024-06-26T17:59:21.221" v="11" actId="13926"/>
        <pc:sldMkLst>
          <pc:docMk/>
          <pc:sldMk cId="1447131103" sldId="298"/>
        </pc:sldMkLst>
        <pc:spChg chg="mod">
          <ac:chgData name="AFNAN BIN ISLAM NAHIN" userId="288682b4-77b6-4f3e-a0c4-4af26aad528b" providerId="ADAL" clId="{02953EC0-CA56-41D2-A33D-805EEA3EF717}" dt="2024-06-26T17:59:21.221" v="11" actId="13926"/>
          <ac:spMkLst>
            <pc:docMk/>
            <pc:sldMk cId="1447131103" sldId="298"/>
            <ac:spMk id="4" creationId="{00000000-0000-0000-0000-000000000000}"/>
          </ac:spMkLst>
        </pc:spChg>
      </pc:sldChg>
      <pc:sldChg chg="modSp mod">
        <pc:chgData name="AFNAN BIN ISLAM NAHIN" userId="288682b4-77b6-4f3e-a0c4-4af26aad528b" providerId="ADAL" clId="{02953EC0-CA56-41D2-A33D-805EEA3EF717}" dt="2024-06-26T18:20:53.344" v="16" actId="13926"/>
        <pc:sldMkLst>
          <pc:docMk/>
          <pc:sldMk cId="1045727627" sldId="300"/>
        </pc:sldMkLst>
        <pc:spChg chg="mod">
          <ac:chgData name="AFNAN BIN ISLAM NAHIN" userId="288682b4-77b6-4f3e-a0c4-4af26aad528b" providerId="ADAL" clId="{02953EC0-CA56-41D2-A33D-805EEA3EF717}" dt="2024-06-26T18:20:53.344" v="16" actId="13926"/>
          <ac:spMkLst>
            <pc:docMk/>
            <pc:sldMk cId="1045727627" sldId="300"/>
            <ac:spMk id="4" creationId="{00000000-0000-0000-0000-000000000000}"/>
          </ac:spMkLst>
        </pc:spChg>
      </pc:sldChg>
      <pc:sldChg chg="modSp mod">
        <pc:chgData name="AFNAN BIN ISLAM NAHIN" userId="288682b4-77b6-4f3e-a0c4-4af26aad528b" providerId="ADAL" clId="{02953EC0-CA56-41D2-A33D-805EEA3EF717}" dt="2024-06-26T18:19:38.510" v="15" actId="13926"/>
        <pc:sldMkLst>
          <pc:docMk/>
          <pc:sldMk cId="301933485" sldId="302"/>
        </pc:sldMkLst>
        <pc:spChg chg="mod">
          <ac:chgData name="AFNAN BIN ISLAM NAHIN" userId="288682b4-77b6-4f3e-a0c4-4af26aad528b" providerId="ADAL" clId="{02953EC0-CA56-41D2-A33D-805EEA3EF717}" dt="2024-06-26T18:19:38.510" v="15" actId="13926"/>
          <ac:spMkLst>
            <pc:docMk/>
            <pc:sldMk cId="301933485" sldId="302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10FD6-79C5-4041-8E7A-89350618D070}" type="datetimeFigureOut">
              <a:rPr lang="en-GB" smtClean="0"/>
              <a:pPr/>
              <a:t>12/07/2024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6CA59-B645-4A00-A667-3A942CDB8E2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805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505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7678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FDFDB9-D628-4A18-8BA7-33EF406917E6}" type="datetime1">
              <a:rPr lang="en-US" smtClean="0"/>
              <a:pPr/>
              <a:t>7/12/2024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DDB41-4229-47AF-BA03-C191A66FB94C}" type="datetime1">
              <a:rPr lang="en-US" smtClean="0"/>
              <a:pPr/>
              <a:t>7/12/2024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08422A-3B8F-4FAB-94E1-75E89E1391CC}" type="datetime1">
              <a:rPr lang="en-US" smtClean="0"/>
              <a:pPr/>
              <a:t>7/12/2024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392D4-64E7-470C-9229-F729BA72710A}" type="datetime1">
              <a:rPr lang="en-US" smtClean="0"/>
              <a:pPr/>
              <a:t>7/12/2024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D79C-F41C-4E95-A4BE-2712B8C4A412}" type="datetime1">
              <a:rPr lang="en-US" smtClean="0"/>
              <a:pPr/>
              <a:t>7/12/2024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E8F3-6A5D-412D-87FA-D951F64E80C1}" type="datetime1">
              <a:rPr lang="en-US" smtClean="0"/>
              <a:pPr/>
              <a:t>7/12/2024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F486A-D265-402A-B6CD-5D626FC3EDC7}" type="datetime1">
              <a:rPr lang="en-US" smtClean="0"/>
              <a:pPr/>
              <a:t>7/12/2024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7416B92-2D29-4309-8FD4-8EC023BBFD61}" type="datetime1">
              <a:rPr lang="en-US" smtClean="0"/>
              <a:pPr/>
              <a:t>7/12/2024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4BAD-8657-4978-A2B2-B1BBE7089EFE}" type="datetime1">
              <a:rPr lang="en-US" smtClean="0"/>
              <a:pPr/>
              <a:t>7/12/2024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1AF3-EEF6-43B0-9CB4-662539EFD2B2}" type="datetime1">
              <a:rPr lang="en-US" smtClean="0"/>
              <a:pPr/>
              <a:t>7/12/2024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71272FE-5A2D-492A-8166-5DAA8B18B7EA}" type="datetime1">
              <a:rPr lang="en-US" smtClean="0"/>
              <a:pPr/>
              <a:t>7/12/2024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46415B1-2572-4F4E-AFA0-B4063C44FA40}" type="datetime1">
              <a:rPr lang="en-US" smtClean="0"/>
              <a:pPr/>
              <a:t>7/12/2024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hyperlink" Target="https://www.researchgate.net/profile/M_Mahmudul_Hasan" TargetMode="External"/><Relationship Id="rId7" Type="http://schemas.openxmlformats.org/officeDocument/2006/relationships/hyperlink" Target="https://scholar.google.com/citations?user=VqMvaIIAAAAJ&amp;hl=en" TargetMode="External"/><Relationship Id="rId12" Type="http://schemas.openxmlformats.org/officeDocument/2006/relationships/hyperlink" Target="https://wordpress.com/view/mhasansuman.wordpress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11" Type="http://schemas.openxmlformats.org/officeDocument/2006/relationships/hyperlink" Target="http://cs.aiub.edu/profile/m.hasan" TargetMode="External"/><Relationship Id="rId5" Type="http://schemas.openxmlformats.org/officeDocument/2006/relationships/hyperlink" Target="https://www.linkedin.com/in/m-mahmudul-hasan-93043a87/" TargetMode="External"/><Relationship Id="rId10" Type="http://schemas.openxmlformats.org/officeDocument/2006/relationships/image" Target="../media/image5.png"/><Relationship Id="rId4" Type="http://schemas.openxmlformats.org/officeDocument/2006/relationships/image" Target="../media/image1.png"/><Relationship Id="rId9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768267" y="1009397"/>
            <a:ext cx="3078342" cy="48014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 dirty="0">
                <a:solidFill>
                  <a:srgbClr val="FFFFFF"/>
                </a:solidFill>
              </a:rPr>
              <a:t>Software engineering (Undergraduate)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1131479-3A67-4241-BA19-63C61B2AD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71187A8-1267-46DA-BD99-56CA1E3D4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C2278FC-331B-4EF7-9D0D-AA0D349A2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807A075E-21A0-4954-BEA3-22C78E6FA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F58081DC-3CFD-4290-87AE-164515084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F6FC796D-883B-4149-9128-47B4179B3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6B6F65C-6B4A-4901-8A96-CE7330250469}"/>
              </a:ext>
            </a:extLst>
          </p:cNvPr>
          <p:cNvSpPr txBox="1">
            <a:spLocks/>
          </p:cNvSpPr>
          <p:nvPr/>
        </p:nvSpPr>
        <p:spPr>
          <a:xfrm>
            <a:off x="606035" y="486697"/>
            <a:ext cx="3405526" cy="29349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u="sng" cap="all" dirty="0">
                <a:solidFill>
                  <a:srgbClr val="FFFFFF"/>
                </a:solidFill>
              </a:rPr>
              <a:t>Course Name</a:t>
            </a:r>
            <a:br>
              <a:rPr lang="en-US" sz="2400" u="sng" cap="all" dirty="0">
                <a:solidFill>
                  <a:srgbClr val="FFFFFF"/>
                </a:solidFill>
              </a:rPr>
            </a:br>
            <a:br>
              <a:rPr lang="en-US" sz="2400" cap="all" dirty="0">
                <a:solidFill>
                  <a:srgbClr val="FFFFFF"/>
                </a:solidFill>
              </a:rPr>
            </a:br>
            <a:r>
              <a:rPr lang="en-US" sz="2400" cap="all" dirty="0">
                <a:solidFill>
                  <a:srgbClr val="FFFFFF"/>
                </a:solidFill>
              </a:rPr>
              <a:t>object oriented analysis and design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CSC 2210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 (Undergraduate)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CADBF75-A870-4E01-9DB8-F57472A203D2}"/>
              </a:ext>
            </a:extLst>
          </p:cNvPr>
          <p:cNvSpPr txBox="1">
            <a:spLocks/>
          </p:cNvSpPr>
          <p:nvPr/>
        </p:nvSpPr>
        <p:spPr>
          <a:xfrm>
            <a:off x="4471587" y="1005840"/>
            <a:ext cx="7181903" cy="1383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 dirty="0">
                <a:solidFill>
                  <a:srgbClr val="C00000"/>
                </a:solidFill>
              </a:rPr>
              <a:t>Chapter 2</a:t>
            </a:r>
            <a:br>
              <a:rPr lang="en-US" sz="3000" dirty="0">
                <a:solidFill>
                  <a:srgbClr val="C00000"/>
                </a:solidFill>
              </a:rPr>
            </a:br>
            <a:br>
              <a:rPr lang="en-US" sz="3000" dirty="0">
                <a:solidFill>
                  <a:schemeClr val="tx2"/>
                </a:solidFill>
              </a:rPr>
            </a:br>
            <a:r>
              <a:rPr lang="en-US" sz="3000" dirty="0">
                <a:solidFill>
                  <a:schemeClr val="tx2"/>
                </a:solidFill>
              </a:rPr>
              <a:t>use case diagram</a:t>
            </a:r>
          </a:p>
        </p:txBody>
      </p:sp>
      <p:pic>
        <p:nvPicPr>
          <p:cNvPr id="25" name="Picture 24">
            <a:hlinkClick r:id="rId3"/>
            <a:extLst>
              <a:ext uri="{FF2B5EF4-FFF2-40B4-BE49-F238E27FC236}">
                <a16:creationId xmlns:a16="http://schemas.microsoft.com/office/drawing/2014/main" id="{50ADB631-A102-4E27-9E4F-8BEAA32309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5936" y="5191026"/>
            <a:ext cx="775212" cy="762000"/>
          </a:xfrm>
          <a:prstGeom prst="rect">
            <a:avLst/>
          </a:prstGeom>
        </p:spPr>
      </p:pic>
      <p:pic>
        <p:nvPicPr>
          <p:cNvPr id="26" name="Picture 25">
            <a:hlinkClick r:id="rId5"/>
            <a:extLst>
              <a:ext uri="{FF2B5EF4-FFF2-40B4-BE49-F238E27FC236}">
                <a16:creationId xmlns:a16="http://schemas.microsoft.com/office/drawing/2014/main" id="{5178D95F-BBA9-4DB7-8929-D0378B8248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39933" y="5210199"/>
            <a:ext cx="1966006" cy="641961"/>
          </a:xfrm>
          <a:prstGeom prst="rect">
            <a:avLst/>
          </a:prstGeom>
        </p:spPr>
      </p:pic>
      <p:pic>
        <p:nvPicPr>
          <p:cNvPr id="27" name="Picture 26">
            <a:hlinkClick r:id="rId7"/>
            <a:extLst>
              <a:ext uri="{FF2B5EF4-FFF2-40B4-BE49-F238E27FC236}">
                <a16:creationId xmlns:a16="http://schemas.microsoft.com/office/drawing/2014/main" id="{6C55067C-425B-4011-BE53-FC42477C2FF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58975" y="5279923"/>
            <a:ext cx="2465593" cy="542310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CC0F6-BD7E-4264-9DDC-E65E61EE7B84}"/>
              </a:ext>
            </a:extLst>
          </p:cNvPr>
          <p:cNvCxnSpPr/>
          <p:nvPr/>
        </p:nvCxnSpPr>
        <p:spPr>
          <a:xfrm>
            <a:off x="4350774" y="796413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E5F233-5F84-472A-B835-11475F02A795}"/>
              </a:ext>
            </a:extLst>
          </p:cNvPr>
          <p:cNvCxnSpPr/>
          <p:nvPr/>
        </p:nvCxnSpPr>
        <p:spPr>
          <a:xfrm>
            <a:off x="4340942" y="2969341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30" name="Picture 1" descr="C:\Users\teacher\Desktop\download.jpg">
            <a:extLst>
              <a:ext uri="{FF2B5EF4-FFF2-40B4-BE49-F238E27FC236}">
                <a16:creationId xmlns:a16="http://schemas.microsoft.com/office/drawing/2014/main" id="{1799BA9A-E3B9-47F7-BB6C-545ACE6A83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486697" y="3333135"/>
            <a:ext cx="3598606" cy="1887793"/>
          </a:xfrm>
          <a:prstGeom prst="rect">
            <a:avLst/>
          </a:prstGeom>
          <a:noFill/>
        </p:spPr>
      </p:pic>
      <p:pic>
        <p:nvPicPr>
          <p:cNvPr id="31" name="Picture 3" descr="https://encrypted-tbn2.gstatic.com/images?q=tbn:ANd9GcTZSqWmbgJA9IY9oTGf6ls2w158A103Jg2WEGhWbMSOl3O_igInBAxJpJ9N">
            <a:extLst>
              <a:ext uri="{FF2B5EF4-FFF2-40B4-BE49-F238E27FC236}">
                <a16:creationId xmlns:a16="http://schemas.microsoft.com/office/drawing/2014/main" id="{ACD720F7-42BA-49BE-A110-5F85475442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486697" y="5279921"/>
            <a:ext cx="3598606" cy="1080425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8B4230-4D6D-4764-84CF-BC99A0261177}"/>
              </a:ext>
            </a:extLst>
          </p:cNvPr>
          <p:cNvSpPr txBox="1">
            <a:spLocks/>
          </p:cNvSpPr>
          <p:nvPr/>
        </p:nvSpPr>
        <p:spPr>
          <a:xfrm>
            <a:off x="4321278" y="3471955"/>
            <a:ext cx="7152968" cy="142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dirty="0">
                <a:solidFill>
                  <a:srgbClr val="7030A0"/>
                </a:solidFill>
              </a:rPr>
              <a:t>M. Mahmudul </a:t>
            </a:r>
            <a:r>
              <a:rPr lang="en-US" sz="2400" dirty="0" err="1">
                <a:solidFill>
                  <a:srgbClr val="7030A0"/>
                </a:solidFill>
              </a:rPr>
              <a:t>hasan</a:t>
            </a:r>
            <a:endParaRPr lang="en-US" sz="2400" dirty="0">
              <a:solidFill>
                <a:srgbClr val="7030A0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Assistant Professor, CS, AIUB</a:t>
            </a:r>
          </a:p>
          <a:p>
            <a:r>
              <a:rPr lang="en-US" sz="2100" cap="none" dirty="0">
                <a:solidFill>
                  <a:srgbClr val="0070C0"/>
                </a:solidFill>
              </a:rPr>
              <a:t>Web:</a:t>
            </a:r>
            <a:r>
              <a:rPr lang="en-US" sz="2100" cap="none" dirty="0">
                <a:solidFill>
                  <a:srgbClr val="F49100"/>
                </a:solidFill>
              </a:rPr>
              <a:t> </a:t>
            </a:r>
            <a:r>
              <a:rPr lang="en-US" sz="2300" cap="none" dirty="0">
                <a:solidFill>
                  <a:srgbClr val="F49100"/>
                </a:solidFill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http://cs.aiub.edu/profile/m.hasan</a:t>
            </a:r>
            <a:r>
              <a:rPr lang="en-US" sz="2300" cap="none" dirty="0">
                <a:solidFill>
                  <a:srgbClr val="F49100"/>
                </a:solidFill>
              </a:rPr>
              <a:t> </a:t>
            </a:r>
          </a:p>
          <a:p>
            <a:r>
              <a:rPr lang="en-US" sz="2100" cap="none" dirty="0">
                <a:solidFill>
                  <a:srgbClr val="0070C0"/>
                </a:solidFill>
              </a:rPr>
              <a:t>WordPress:</a:t>
            </a:r>
            <a:r>
              <a:rPr lang="en-US" sz="2300" cap="none" dirty="0">
                <a:solidFill>
                  <a:srgbClr val="0070C0"/>
                </a:solidFill>
              </a:rPr>
              <a:t> </a:t>
            </a:r>
            <a:r>
              <a:rPr lang="en-US" sz="1800" cap="none" dirty="0">
                <a:hlinkClick r:id="rId12"/>
              </a:rPr>
              <a:t>https://wordpress.com/view/mhasansuman.wordpress.com</a:t>
            </a:r>
            <a:endParaRPr lang="en-US" sz="2000" cap="none" dirty="0"/>
          </a:p>
        </p:txBody>
      </p:sp>
    </p:spTree>
    <p:extLst>
      <p:ext uri="{BB962C8B-B14F-4D97-AF65-F5344CB8AC3E}">
        <p14:creationId xmlns:p14="http://schemas.microsoft.com/office/powerpoint/2010/main" val="2664565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62232" y="598437"/>
            <a:ext cx="11029950" cy="551938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070C0"/>
                </a:solidFill>
                <a:latin typeface="Book Antiqua" pitchFamily="18" charset="0"/>
              </a:rPr>
              <a:t>Usage  of  Use  case  diagram?</a:t>
            </a:r>
            <a:endParaRPr lang="en-US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545691" y="1518060"/>
            <a:ext cx="11341510" cy="278288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sz="2200" dirty="0">
                <a:latin typeface="+mj-lt"/>
              </a:rPr>
              <a:t>Use case diagrams are used to visualize, specify, construct, </a:t>
            </a:r>
            <a:r>
              <a:rPr lang="en-US" sz="2200" dirty="0">
                <a:highlight>
                  <a:srgbClr val="FFFF00"/>
                </a:highlight>
                <a:latin typeface="+mj-lt"/>
              </a:rPr>
              <a:t>and document the (intended) behavior of the system,</a:t>
            </a:r>
            <a:r>
              <a:rPr lang="en-US" sz="2200" dirty="0">
                <a:latin typeface="+mj-lt"/>
              </a:rPr>
              <a:t> during requirements capture and analysis.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sz="2200" dirty="0">
                <a:latin typeface="+mj-lt"/>
              </a:rPr>
              <a:t>Provide a way for developers, domain experts, and end-users to </a:t>
            </a:r>
            <a:r>
              <a:rPr lang="en-US" sz="2200" dirty="0">
                <a:solidFill>
                  <a:srgbClr val="7030A0"/>
                </a:solidFill>
                <a:latin typeface="+mj-lt"/>
              </a:rPr>
              <a:t>Communicate</a:t>
            </a:r>
            <a:r>
              <a:rPr lang="en-US" sz="2200" dirty="0">
                <a:latin typeface="+mj-lt"/>
              </a:rPr>
              <a:t>.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sz="2200" dirty="0">
                <a:latin typeface="+mj-lt"/>
              </a:rPr>
              <a:t>Serve as basis for </a:t>
            </a:r>
            <a:r>
              <a:rPr lang="en-US" sz="2200" dirty="0">
                <a:solidFill>
                  <a:srgbClr val="7030A0"/>
                </a:solidFill>
                <a:latin typeface="+mj-lt"/>
              </a:rPr>
              <a:t>testing</a:t>
            </a:r>
            <a:r>
              <a:rPr lang="en-US" sz="2200" dirty="0">
                <a:latin typeface="+mj-lt"/>
              </a:rPr>
              <a:t>.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sz="2200" dirty="0">
                <a:latin typeface="+mj-lt"/>
              </a:rPr>
              <a:t>Use case diagrams contain </a:t>
            </a:r>
            <a:r>
              <a:rPr lang="en-US" sz="2200" dirty="0">
                <a:solidFill>
                  <a:srgbClr val="FF0000"/>
                </a:solidFill>
                <a:latin typeface="+mj-lt"/>
              </a:rPr>
              <a:t>use cases, actors</a:t>
            </a:r>
            <a:r>
              <a:rPr lang="en-US" sz="2200" dirty="0">
                <a:latin typeface="+mj-lt"/>
              </a:rPr>
              <a:t>, and their </a:t>
            </a:r>
            <a:r>
              <a:rPr lang="en-US" sz="2200" dirty="0">
                <a:solidFill>
                  <a:srgbClr val="FF0000"/>
                </a:solidFill>
                <a:latin typeface="+mj-lt"/>
              </a:rPr>
              <a:t>relationships</a:t>
            </a:r>
            <a:r>
              <a:rPr lang="en-US" sz="2200" dirty="0">
                <a:latin typeface="+mj-lt"/>
              </a:rPr>
              <a:t>.</a:t>
            </a:r>
          </a:p>
          <a:p>
            <a:pPr>
              <a:buNone/>
            </a:pPr>
            <a:endParaRPr lang="en-GB" altLang="en-US" sz="2400" dirty="0">
              <a:latin typeface="+mj-lt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5EBC13E5-3E22-45A2-A3EE-DF8965FB78DC}"/>
              </a:ext>
            </a:extLst>
          </p:cNvPr>
          <p:cNvSpPr txBox="1">
            <a:spLocks/>
          </p:cNvSpPr>
          <p:nvPr/>
        </p:nvSpPr>
        <p:spPr>
          <a:xfrm rot="5400000">
            <a:off x="11749548" y="250722"/>
            <a:ext cx="191729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 S.</a:t>
            </a:r>
            <a:fld id="{D57F1E4F-1CFF-5643-939E-217C01CDF565}" type="slidenum">
              <a:rPr lang="en-US" sz="1400" b="1" smtClean="0"/>
              <a:pPr/>
              <a:t>2</a:t>
            </a:fld>
            <a:r>
              <a:rPr lang="en-US" sz="1400" b="1" dirty="0"/>
              <a:t>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2B700D8-FC12-4A20-9277-4E76097243AB}"/>
              </a:ext>
            </a:extLst>
          </p:cNvPr>
          <p:cNvSpPr>
            <a:spLocks noGrp="1"/>
          </p:cNvSpPr>
          <p:nvPr/>
        </p:nvSpPr>
        <p:spPr>
          <a:xfrm>
            <a:off x="-137653" y="346762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3" name="Rectangle 2" descr="M. Mhahudul Hasan">
            <a:extLst>
              <a:ext uri="{FF2B5EF4-FFF2-40B4-BE49-F238E27FC236}">
                <a16:creationId xmlns:a16="http://schemas.microsoft.com/office/drawing/2014/main" id="{5AF30078-3F01-4F0C-8EA6-A3149CFFDC94}"/>
              </a:ext>
            </a:extLst>
          </p:cNvPr>
          <p:cNvSpPr/>
          <p:nvPr/>
        </p:nvSpPr>
        <p:spPr>
          <a:xfrm>
            <a:off x="0" y="6636774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5" name="Rectangle 4" descr="M. Mhahudul Hasan">
            <a:extLst>
              <a:ext uri="{FF2B5EF4-FFF2-40B4-BE49-F238E27FC236}">
                <a16:creationId xmlns:a16="http://schemas.microsoft.com/office/drawing/2014/main" id="{0A634077-6B0F-4AC7-8036-4871C5EA15AD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Chapter 2:  Use Case Diagram</a:t>
            </a:r>
          </a:p>
        </p:txBody>
      </p:sp>
      <p:sp>
        <p:nvSpPr>
          <p:cNvPr id="11" name="Rectangle 10" descr="M. Mhahudul Hasan">
            <a:extLst>
              <a:ext uri="{FF2B5EF4-FFF2-40B4-BE49-F238E27FC236}">
                <a16:creationId xmlns:a16="http://schemas.microsoft.com/office/drawing/2014/main" id="{224224C9-B650-4F80-A14E-6A0CA82EA689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M. Mahmudul Hasan</a:t>
            </a:r>
          </a:p>
        </p:txBody>
      </p:sp>
    </p:spTree>
    <p:extLst>
      <p:ext uri="{BB962C8B-B14F-4D97-AF65-F5344CB8AC3E}">
        <p14:creationId xmlns:p14="http://schemas.microsoft.com/office/powerpoint/2010/main" val="1663529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42453" y="524694"/>
            <a:ext cx="11029950" cy="596183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070C0"/>
                </a:solidFill>
                <a:latin typeface="Book Antiqua" pitchFamily="18" charset="0"/>
              </a:rPr>
              <a:t>   USE  Case</a:t>
            </a:r>
            <a:endParaRPr lang="en-US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486695" y="1226676"/>
            <a:ext cx="11223523" cy="5321607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  <a:defRPr/>
            </a:pPr>
            <a:r>
              <a:rPr lang="en-US" sz="2200" dirty="0">
                <a:latin typeface="+mj-lt"/>
              </a:rPr>
              <a:t> Use cases specify </a:t>
            </a:r>
            <a:r>
              <a:rPr lang="en-US" sz="2200" dirty="0">
                <a:solidFill>
                  <a:srgbClr val="7030A0"/>
                </a:solidFill>
                <a:highlight>
                  <a:srgbClr val="FFFF00"/>
                </a:highlight>
                <a:latin typeface="+mj-lt"/>
              </a:rPr>
              <a:t>desired behavior</a:t>
            </a:r>
            <a:r>
              <a:rPr lang="en-US" sz="2200" dirty="0">
                <a:highlight>
                  <a:srgbClr val="FFFF00"/>
                </a:highlight>
                <a:latin typeface="+mj-lt"/>
              </a:rPr>
              <a:t>. 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200" dirty="0">
                <a:latin typeface="+mj-lt"/>
              </a:rPr>
              <a:t> A use case is a description of a set of </a:t>
            </a:r>
            <a:r>
              <a:rPr lang="en-US" sz="2200" dirty="0">
                <a:highlight>
                  <a:srgbClr val="FFFF00"/>
                </a:highlight>
                <a:latin typeface="+mj-lt"/>
              </a:rPr>
              <a:t>sequences of actions, </a:t>
            </a:r>
            <a:r>
              <a:rPr lang="en-US" sz="2200" dirty="0">
                <a:latin typeface="+mj-lt"/>
              </a:rPr>
              <a:t>including variants (alternatives),</a:t>
            </a:r>
            <a:br>
              <a:rPr lang="en-US" sz="2200" dirty="0">
                <a:latin typeface="+mj-lt"/>
              </a:rPr>
            </a:br>
            <a:r>
              <a:rPr lang="en-US" sz="2200" dirty="0">
                <a:latin typeface="+mj-lt"/>
              </a:rPr>
              <a:t> a system performs to yield an observable result of value to an actor.</a:t>
            </a:r>
          </a:p>
          <a:p>
            <a:pPr marL="306000" lvl="1">
              <a:buFont typeface="Wingdings" pitchFamily="2" charset="2"/>
              <a:buChar char="q"/>
              <a:defRPr/>
            </a:pPr>
            <a:r>
              <a:rPr lang="en-GB" sz="2200" dirty="0">
                <a:solidFill>
                  <a:srgbClr val="002060"/>
                </a:solidFill>
              </a:rPr>
              <a:t> The names of use cases are always written in the </a:t>
            </a:r>
            <a:r>
              <a:rPr lang="en-GB" sz="2200" dirty="0">
                <a:solidFill>
                  <a:srgbClr val="7030A0"/>
                </a:solidFill>
              </a:rPr>
              <a:t>form of a </a:t>
            </a:r>
            <a:r>
              <a:rPr lang="en-GB" sz="2200" dirty="0">
                <a:solidFill>
                  <a:srgbClr val="7030A0"/>
                </a:solidFill>
                <a:highlight>
                  <a:srgbClr val="FFFF00"/>
                </a:highlight>
              </a:rPr>
              <a:t>verb followed by an object</a:t>
            </a:r>
            <a:r>
              <a:rPr lang="en-GB" sz="2200" dirty="0">
                <a:solidFill>
                  <a:srgbClr val="002060"/>
                </a:solidFill>
                <a:highlight>
                  <a:srgbClr val="FFFF00"/>
                </a:highlight>
              </a:rPr>
              <a:t>.</a:t>
            </a:r>
            <a:endParaRPr lang="en-US" sz="2200" dirty="0">
              <a:highlight>
                <a:srgbClr val="FFFF00"/>
              </a:highlight>
              <a:latin typeface="+mj-lt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sz="2200" dirty="0">
                <a:latin typeface="+mj-lt"/>
              </a:rPr>
              <a:t> Each sequence </a:t>
            </a:r>
            <a:r>
              <a:rPr lang="en-US" sz="2200" dirty="0">
                <a:solidFill>
                  <a:srgbClr val="7030A0"/>
                </a:solidFill>
                <a:latin typeface="+mj-lt"/>
              </a:rPr>
              <a:t>represent an interaction of </a:t>
            </a:r>
            <a:r>
              <a:rPr lang="en-US" sz="2200" dirty="0">
                <a:solidFill>
                  <a:srgbClr val="7030A0"/>
                </a:solidFill>
                <a:highlight>
                  <a:srgbClr val="FFFF00"/>
                </a:highlight>
                <a:latin typeface="+mj-lt"/>
              </a:rPr>
              <a:t>actors with the system</a:t>
            </a:r>
            <a:r>
              <a:rPr lang="en-US" sz="2200" dirty="0">
                <a:highlight>
                  <a:srgbClr val="FFFF00"/>
                </a:highlight>
                <a:latin typeface="+mj-lt"/>
              </a:rPr>
              <a:t>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200" dirty="0">
                <a:latin typeface="+mj-lt"/>
              </a:rPr>
              <a:t> Describing the flow of events within the use case.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200" dirty="0">
                <a:latin typeface="+mj-lt"/>
              </a:rPr>
              <a:t> Can be done in natural language, formal language or pseudo-code.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200" dirty="0">
                <a:latin typeface="+mj-lt"/>
              </a:rPr>
              <a:t> Includes:</a:t>
            </a:r>
          </a:p>
          <a:p>
            <a:pPr lvl="1">
              <a:buFont typeface="Wingdings" pitchFamily="2" charset="2"/>
              <a:buChar char="§"/>
              <a:defRPr/>
            </a:pPr>
            <a:r>
              <a:rPr lang="en-US" sz="2200" dirty="0">
                <a:solidFill>
                  <a:srgbClr val="C00000"/>
                </a:solidFill>
                <a:latin typeface="+mj-lt"/>
              </a:rPr>
              <a:t> How and when the use case starts and ends; </a:t>
            </a:r>
          </a:p>
          <a:p>
            <a:pPr lvl="1">
              <a:buFont typeface="Wingdings" pitchFamily="2" charset="2"/>
              <a:buChar char="§"/>
              <a:defRPr/>
            </a:pPr>
            <a:r>
              <a:rPr lang="en-US" sz="2200" dirty="0">
                <a:solidFill>
                  <a:srgbClr val="C00000"/>
                </a:solidFill>
                <a:latin typeface="+mj-lt"/>
              </a:rPr>
              <a:t> When the use case interacts with actors and what objects are exchanged;</a:t>
            </a:r>
          </a:p>
          <a:p>
            <a:pPr lvl="1">
              <a:buFont typeface="Wingdings" pitchFamily="2" charset="2"/>
              <a:buChar char="§"/>
              <a:defRPr/>
            </a:pPr>
            <a:r>
              <a:rPr lang="en-US" sz="2200" dirty="0">
                <a:solidFill>
                  <a:srgbClr val="C00000"/>
                </a:solidFill>
                <a:latin typeface="+mj-lt"/>
              </a:rPr>
              <a:t> The basic flow and alternative flows of the behavior.</a:t>
            </a:r>
            <a:endParaRPr lang="en-GB" altLang="en-US" sz="2200" dirty="0"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9EBE6F-7AFD-4797-88C5-4120FCA49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5231" y="3701231"/>
            <a:ext cx="2948255" cy="1077247"/>
          </a:xfrm>
          <a:prstGeom prst="rect">
            <a:avLst/>
          </a:prstGeom>
        </p:spPr>
      </p:pic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581D97C1-E662-45B4-ADDC-69E724E929D6}"/>
              </a:ext>
            </a:extLst>
          </p:cNvPr>
          <p:cNvSpPr txBox="1">
            <a:spLocks/>
          </p:cNvSpPr>
          <p:nvPr/>
        </p:nvSpPr>
        <p:spPr>
          <a:xfrm rot="5400000">
            <a:off x="11749548" y="250722"/>
            <a:ext cx="191729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 S.</a:t>
            </a:r>
            <a:fld id="{D57F1E4F-1CFF-5643-939E-217C01CDF565}" type="slidenum">
              <a:rPr lang="en-US" sz="1400" b="1" smtClean="0"/>
              <a:pPr/>
              <a:t>3</a:t>
            </a:fld>
            <a:r>
              <a:rPr lang="en-US" sz="1400" b="1" dirty="0"/>
              <a:t>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9B4468C-F423-42BF-AA2B-9ECDA0317A25}"/>
              </a:ext>
            </a:extLst>
          </p:cNvPr>
          <p:cNvSpPr>
            <a:spLocks noGrp="1"/>
          </p:cNvSpPr>
          <p:nvPr/>
        </p:nvSpPr>
        <p:spPr>
          <a:xfrm>
            <a:off x="-137653" y="346762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5" name="Rectangle 4" descr="M. Mhahudul Hasan">
            <a:extLst>
              <a:ext uri="{FF2B5EF4-FFF2-40B4-BE49-F238E27FC236}">
                <a16:creationId xmlns:a16="http://schemas.microsoft.com/office/drawing/2014/main" id="{985670BB-7A8E-4FEF-8876-B087733DFB88}"/>
              </a:ext>
            </a:extLst>
          </p:cNvPr>
          <p:cNvSpPr/>
          <p:nvPr/>
        </p:nvSpPr>
        <p:spPr>
          <a:xfrm>
            <a:off x="0" y="6636774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6" name="Rectangle 5" descr="M. Mhahudul Hasan">
            <a:extLst>
              <a:ext uri="{FF2B5EF4-FFF2-40B4-BE49-F238E27FC236}">
                <a16:creationId xmlns:a16="http://schemas.microsoft.com/office/drawing/2014/main" id="{F05F6541-65F7-4FAE-BEBE-B3BC259AEA10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Chapter 2:  Use Case Diagram</a:t>
            </a:r>
          </a:p>
        </p:txBody>
      </p:sp>
      <p:sp>
        <p:nvSpPr>
          <p:cNvPr id="12" name="Rectangle 11" descr="M. Mhahudul Hasan">
            <a:extLst>
              <a:ext uri="{FF2B5EF4-FFF2-40B4-BE49-F238E27FC236}">
                <a16:creationId xmlns:a16="http://schemas.microsoft.com/office/drawing/2014/main" id="{C78DF00F-CB83-416F-ACB6-845D19B8F836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M. Mahmudul Hasan</a:t>
            </a:r>
          </a:p>
        </p:txBody>
      </p:sp>
    </p:spTree>
    <p:extLst>
      <p:ext uri="{BB962C8B-B14F-4D97-AF65-F5344CB8AC3E}">
        <p14:creationId xmlns:p14="http://schemas.microsoft.com/office/powerpoint/2010/main" val="4097638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12954" y="554191"/>
            <a:ext cx="11029950" cy="522441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070C0"/>
                </a:solidFill>
                <a:latin typeface="Book Antiqua" pitchFamily="18" charset="0"/>
              </a:rPr>
              <a:t>actor</a:t>
            </a:r>
            <a:endParaRPr lang="en-US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619432" y="1348198"/>
            <a:ext cx="10884310" cy="35274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sz="2200" dirty="0">
                <a:latin typeface="+mj-lt"/>
              </a:rPr>
              <a:t>An actor represents </a:t>
            </a:r>
            <a:r>
              <a:rPr lang="en-US" sz="2200" dirty="0">
                <a:highlight>
                  <a:srgbClr val="FFFF00"/>
                </a:highlight>
                <a:latin typeface="+mj-lt"/>
              </a:rPr>
              <a:t>a set of roles</a:t>
            </a:r>
            <a:r>
              <a:rPr lang="en-US" sz="2200" dirty="0">
                <a:latin typeface="+mj-lt"/>
              </a:rPr>
              <a:t> that users of use case play when interacting  </a:t>
            </a:r>
            <a:br>
              <a:rPr lang="en-US" sz="2200" dirty="0">
                <a:latin typeface="+mj-lt"/>
              </a:rPr>
            </a:br>
            <a:r>
              <a:rPr lang="en-US" sz="2200" dirty="0">
                <a:latin typeface="+mj-lt"/>
              </a:rPr>
              <a:t>with these use cases.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sz="2200" dirty="0">
                <a:latin typeface="+mj-lt"/>
              </a:rPr>
              <a:t>Actors can be </a:t>
            </a:r>
            <a:r>
              <a:rPr lang="en-US" sz="2200" dirty="0">
                <a:highlight>
                  <a:srgbClr val="FFFF00"/>
                </a:highlight>
                <a:latin typeface="+mj-lt"/>
              </a:rPr>
              <a:t>human or automated systems</a:t>
            </a:r>
            <a:r>
              <a:rPr lang="en-US" sz="2200" dirty="0">
                <a:latin typeface="+mj-lt"/>
              </a:rPr>
              <a:t>.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sz="2200" dirty="0">
                <a:latin typeface="+mj-lt"/>
              </a:rPr>
              <a:t>Actors are entities 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  <a:defRPr/>
            </a:pPr>
            <a:r>
              <a:rPr lang="en-US" sz="2200" dirty="0">
                <a:solidFill>
                  <a:srgbClr val="C00000"/>
                </a:solidFill>
                <a:latin typeface="+mj-lt"/>
              </a:rPr>
              <a:t>  which require help from the system to </a:t>
            </a:r>
            <a:r>
              <a:rPr lang="en-US" sz="2200" dirty="0">
                <a:solidFill>
                  <a:srgbClr val="C00000"/>
                </a:solidFill>
                <a:highlight>
                  <a:srgbClr val="FFFF00"/>
                </a:highlight>
                <a:latin typeface="+mj-lt"/>
              </a:rPr>
              <a:t>perform their task</a:t>
            </a:r>
            <a:r>
              <a:rPr lang="en-US" sz="2200" dirty="0">
                <a:solidFill>
                  <a:srgbClr val="C00000"/>
                </a:solidFill>
                <a:latin typeface="+mj-lt"/>
              </a:rPr>
              <a:t>, or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  <a:defRPr/>
            </a:pPr>
            <a:r>
              <a:rPr lang="en-US" sz="2200" dirty="0">
                <a:solidFill>
                  <a:srgbClr val="C00000"/>
                </a:solidFill>
                <a:latin typeface="+mj-lt"/>
              </a:rPr>
              <a:t>  are needed to </a:t>
            </a:r>
            <a:r>
              <a:rPr lang="en-US" sz="2200" dirty="0">
                <a:solidFill>
                  <a:srgbClr val="C00000"/>
                </a:solidFill>
                <a:highlight>
                  <a:srgbClr val="FFFF00"/>
                </a:highlight>
                <a:latin typeface="+mj-lt"/>
              </a:rPr>
              <a:t>execute the system’s </a:t>
            </a:r>
            <a:r>
              <a:rPr lang="en-US" sz="2200" dirty="0">
                <a:solidFill>
                  <a:srgbClr val="C00000"/>
                </a:solidFill>
                <a:latin typeface="+mj-lt"/>
              </a:rPr>
              <a:t>functions.</a:t>
            </a:r>
            <a:endParaRPr lang="en-US" sz="2200" dirty="0">
              <a:latin typeface="+mj-lt"/>
            </a:endParaRP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sz="2200" dirty="0">
                <a:latin typeface="+mj-lt"/>
              </a:rPr>
              <a:t>Actors </a:t>
            </a:r>
            <a:r>
              <a:rPr lang="en-US" sz="2200" dirty="0">
                <a:highlight>
                  <a:srgbClr val="FFFF00"/>
                </a:highlight>
                <a:latin typeface="+mj-lt"/>
              </a:rPr>
              <a:t>are not part of the system. 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sz="2200" dirty="0">
                <a:solidFill>
                  <a:srgbClr val="C00000"/>
                </a:solidFill>
                <a:latin typeface="+mj-lt"/>
              </a:rPr>
              <a:t>A system </a:t>
            </a:r>
            <a:r>
              <a:rPr lang="en-US" sz="2200" dirty="0">
                <a:solidFill>
                  <a:srgbClr val="C00000"/>
                </a:solidFill>
                <a:highlight>
                  <a:srgbClr val="FFFF00"/>
                </a:highlight>
                <a:latin typeface="+mj-lt"/>
              </a:rPr>
              <a:t>can be an Actor of other systems</a:t>
            </a:r>
            <a:endParaRPr lang="en-GB" altLang="en-US" sz="2200" dirty="0">
              <a:highlight>
                <a:srgbClr val="FFFF00"/>
              </a:highlight>
              <a:latin typeface="+mj-lt"/>
            </a:endParaRPr>
          </a:p>
        </p:txBody>
      </p:sp>
      <p:grpSp>
        <p:nvGrpSpPr>
          <p:cNvPr id="7" name="Group 13"/>
          <p:cNvGrpSpPr>
            <a:grpSpLocks/>
          </p:cNvGrpSpPr>
          <p:nvPr/>
        </p:nvGrpSpPr>
        <p:grpSpPr bwMode="auto">
          <a:xfrm>
            <a:off x="9360998" y="2714053"/>
            <a:ext cx="2302751" cy="2733989"/>
            <a:chOff x="4128" y="336"/>
            <a:chExt cx="492" cy="804"/>
          </a:xfrm>
        </p:grpSpPr>
        <p:sp>
          <p:nvSpPr>
            <p:cNvPr id="8" name="Oval 4"/>
            <p:cNvSpPr>
              <a:spLocks noChangeArrowheads="1"/>
            </p:cNvSpPr>
            <p:nvPr/>
          </p:nvSpPr>
          <p:spPr bwMode="auto">
            <a:xfrm>
              <a:off x="4176" y="336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9" name="Line 5"/>
            <p:cNvSpPr>
              <a:spLocks noChangeShapeType="1"/>
            </p:cNvSpPr>
            <p:nvPr/>
          </p:nvSpPr>
          <p:spPr bwMode="auto">
            <a:xfrm>
              <a:off x="4272" y="52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Line 6"/>
            <p:cNvSpPr>
              <a:spLocks noChangeShapeType="1"/>
            </p:cNvSpPr>
            <p:nvPr/>
          </p:nvSpPr>
          <p:spPr bwMode="auto">
            <a:xfrm>
              <a:off x="4272" y="624"/>
              <a:ext cx="192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Line 8"/>
            <p:cNvSpPr>
              <a:spLocks noChangeShapeType="1"/>
            </p:cNvSpPr>
            <p:nvPr/>
          </p:nvSpPr>
          <p:spPr bwMode="auto">
            <a:xfrm flipH="1">
              <a:off x="4128" y="624"/>
              <a:ext cx="144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Line 9"/>
            <p:cNvSpPr>
              <a:spLocks noChangeShapeType="1"/>
            </p:cNvSpPr>
            <p:nvPr/>
          </p:nvSpPr>
          <p:spPr bwMode="auto">
            <a:xfrm>
              <a:off x="4272" y="864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Line 10"/>
            <p:cNvSpPr>
              <a:spLocks noChangeShapeType="1"/>
            </p:cNvSpPr>
            <p:nvPr/>
          </p:nvSpPr>
          <p:spPr bwMode="auto">
            <a:xfrm flipH="1">
              <a:off x="4176" y="864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Text Box 12"/>
            <p:cNvSpPr txBox="1">
              <a:spLocks noChangeArrowheads="1"/>
            </p:cNvSpPr>
            <p:nvPr/>
          </p:nvSpPr>
          <p:spPr bwMode="auto">
            <a:xfrm>
              <a:off x="4201" y="1022"/>
              <a:ext cx="419" cy="1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rtl="0"/>
              <a:r>
                <a:rPr lang="en-US" altLang="en-US" sz="2000" dirty="0">
                  <a:latin typeface="Times New Roman" panose="02020603050405020304" pitchFamily="18" charset="0"/>
                </a:rPr>
                <a:t>Actor</a:t>
              </a:r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BFD3E232-FAE8-4283-96F2-7AB18966F043}"/>
              </a:ext>
            </a:extLst>
          </p:cNvPr>
          <p:cNvSpPr txBox="1">
            <a:spLocks/>
          </p:cNvSpPr>
          <p:nvPr/>
        </p:nvSpPr>
        <p:spPr>
          <a:xfrm rot="5400000">
            <a:off x="11749548" y="250722"/>
            <a:ext cx="191729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 S.</a:t>
            </a:r>
            <a:fld id="{D57F1E4F-1CFF-5643-939E-217C01CDF565}" type="slidenum">
              <a:rPr lang="en-US" sz="1400" b="1" smtClean="0"/>
              <a:pPr/>
              <a:t>4</a:t>
            </a:fld>
            <a:r>
              <a:rPr lang="en-US" sz="1400" b="1" dirty="0"/>
              <a:t> 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6972CDC-C7F0-4DEF-97C6-7F8914F7516B}"/>
              </a:ext>
            </a:extLst>
          </p:cNvPr>
          <p:cNvSpPr>
            <a:spLocks noGrp="1"/>
          </p:cNvSpPr>
          <p:nvPr/>
        </p:nvSpPr>
        <p:spPr>
          <a:xfrm>
            <a:off x="-137653" y="346762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3" name="Rectangle 2" descr="M. Mhahudul Hasan">
            <a:extLst>
              <a:ext uri="{FF2B5EF4-FFF2-40B4-BE49-F238E27FC236}">
                <a16:creationId xmlns:a16="http://schemas.microsoft.com/office/drawing/2014/main" id="{F8B0473E-160F-4C18-947D-DF05588067AB}"/>
              </a:ext>
            </a:extLst>
          </p:cNvPr>
          <p:cNvSpPr/>
          <p:nvPr/>
        </p:nvSpPr>
        <p:spPr>
          <a:xfrm>
            <a:off x="0" y="6636774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5" name="Rectangle 4" descr="M. Mhahudul Hasan">
            <a:extLst>
              <a:ext uri="{FF2B5EF4-FFF2-40B4-BE49-F238E27FC236}">
                <a16:creationId xmlns:a16="http://schemas.microsoft.com/office/drawing/2014/main" id="{E34E7589-25BD-4903-AE8F-9790E808DF8B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Chapter 2:  Use Case Diagram</a:t>
            </a:r>
          </a:p>
        </p:txBody>
      </p:sp>
      <p:sp>
        <p:nvSpPr>
          <p:cNvPr id="6" name="Rectangle 5" descr="M. Mhahudul Hasan">
            <a:extLst>
              <a:ext uri="{FF2B5EF4-FFF2-40B4-BE49-F238E27FC236}">
                <a16:creationId xmlns:a16="http://schemas.microsoft.com/office/drawing/2014/main" id="{553DB476-16CA-4663-AC6E-FC0D10677A7D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M. Mahmudul Hasan</a:t>
            </a:r>
          </a:p>
        </p:txBody>
      </p:sp>
    </p:spTree>
    <p:extLst>
      <p:ext uri="{BB962C8B-B14F-4D97-AF65-F5344CB8AC3E}">
        <p14:creationId xmlns:p14="http://schemas.microsoft.com/office/powerpoint/2010/main" val="2255806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94967" y="554192"/>
            <a:ext cx="11029950" cy="551938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070C0"/>
                </a:solidFill>
                <a:latin typeface="Book Antiqua" pitchFamily="18" charset="0"/>
              </a:rPr>
              <a:t>Use cases  and  actor</a:t>
            </a:r>
            <a:endParaRPr lang="en-US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383458" y="1280089"/>
            <a:ext cx="11690555" cy="2638425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  <a:defRPr/>
            </a:pPr>
            <a:r>
              <a:rPr lang="en-US" sz="2200" dirty="0">
                <a:latin typeface="+mj-lt"/>
              </a:rPr>
              <a:t>From the perspective of a given actor, a use case does something that is of value to the actor, such as calculate a result or change the state of an object.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200" dirty="0">
                <a:latin typeface="+mj-lt"/>
              </a:rPr>
              <a:t>The Actors define the environments in which the system lives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200" dirty="0">
                <a:latin typeface="+mj-lt"/>
              </a:rPr>
              <a:t>Actors may be connected to use cases by </a:t>
            </a:r>
            <a:r>
              <a:rPr lang="en-US" sz="2200" dirty="0">
                <a:highlight>
                  <a:srgbClr val="FFFF00"/>
                </a:highlight>
                <a:latin typeface="+mj-lt"/>
              </a:rPr>
              <a:t>associations</a:t>
            </a:r>
            <a:r>
              <a:rPr lang="en-US" sz="2200" dirty="0">
                <a:latin typeface="+mj-lt"/>
              </a:rPr>
              <a:t>, indicating that the actor and the use case communicate with one another using messages.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endParaRPr lang="en-GB" altLang="en-US" sz="2200" dirty="0">
              <a:latin typeface="+mj-lt"/>
            </a:endParaRPr>
          </a:p>
        </p:txBody>
      </p:sp>
      <p:pic>
        <p:nvPicPr>
          <p:cNvPr id="15" name="Picture 2" descr="http://yuml.me/diagram/usecase/%5bCustomer%5d-(Login),%20%5bCustomer%5d-(note:%20Cust%20can%20be%20registered%20or%20not%7Bbg:beige%7D)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31281" y="4108269"/>
            <a:ext cx="3962400" cy="2423160"/>
          </a:xfrm>
          <a:prstGeom prst="rect">
            <a:avLst/>
          </a:prstGeom>
          <a:noFill/>
        </p:spPr>
      </p:pic>
      <p:grpSp>
        <p:nvGrpSpPr>
          <p:cNvPr id="16" name="Group 16"/>
          <p:cNvGrpSpPr>
            <a:grpSpLocks/>
          </p:cNvGrpSpPr>
          <p:nvPr/>
        </p:nvGrpSpPr>
        <p:grpSpPr bwMode="auto">
          <a:xfrm>
            <a:off x="1593669" y="4794068"/>
            <a:ext cx="4439357" cy="1321622"/>
            <a:chOff x="1072" y="2812"/>
            <a:chExt cx="3046" cy="832"/>
          </a:xfrm>
        </p:grpSpPr>
        <p:sp>
          <p:nvSpPr>
            <p:cNvPr id="17" name="Oval 5"/>
            <p:cNvSpPr>
              <a:spLocks noChangeArrowheads="1"/>
            </p:cNvSpPr>
            <p:nvPr/>
          </p:nvSpPr>
          <p:spPr bwMode="auto">
            <a:xfrm>
              <a:off x="1246" y="2812"/>
              <a:ext cx="1103" cy="6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8" name="Text Box 6"/>
            <p:cNvSpPr txBox="1">
              <a:spLocks noChangeArrowheads="1"/>
            </p:cNvSpPr>
            <p:nvPr/>
          </p:nvSpPr>
          <p:spPr bwMode="auto">
            <a:xfrm>
              <a:off x="1072" y="2911"/>
              <a:ext cx="1567" cy="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rtl="0"/>
              <a:r>
                <a:rPr lang="en-US" altLang="en-US" b="0" dirty="0">
                  <a:latin typeface="Times New Roman" panose="02020603050405020304" pitchFamily="18" charset="0"/>
                </a:rPr>
                <a:t>updating</a:t>
              </a:r>
            </a:p>
            <a:p>
              <a:pPr algn="ctr" rtl="0"/>
              <a:r>
                <a:rPr lang="en-US" altLang="en-US" b="0" dirty="0">
                  <a:latin typeface="Times New Roman" panose="02020603050405020304" pitchFamily="18" charset="0"/>
                </a:rPr>
                <a:t>grades</a:t>
              </a:r>
              <a:endParaRPr lang="en-US" altLang="en-US" sz="1600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19" name="Oval 8"/>
            <p:cNvSpPr>
              <a:spLocks noChangeArrowheads="1"/>
            </p:cNvSpPr>
            <p:nvPr/>
          </p:nvSpPr>
          <p:spPr bwMode="auto">
            <a:xfrm>
              <a:off x="3648" y="2812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0" name="Line 9"/>
            <p:cNvSpPr>
              <a:spLocks noChangeShapeType="1"/>
            </p:cNvSpPr>
            <p:nvPr/>
          </p:nvSpPr>
          <p:spPr bwMode="auto">
            <a:xfrm>
              <a:off x="3744" y="300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Line 10"/>
            <p:cNvSpPr>
              <a:spLocks noChangeShapeType="1"/>
            </p:cNvSpPr>
            <p:nvPr/>
          </p:nvSpPr>
          <p:spPr bwMode="auto">
            <a:xfrm>
              <a:off x="3744" y="3100"/>
              <a:ext cx="192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Line 11"/>
            <p:cNvSpPr>
              <a:spLocks noChangeShapeType="1"/>
            </p:cNvSpPr>
            <p:nvPr/>
          </p:nvSpPr>
          <p:spPr bwMode="auto">
            <a:xfrm flipH="1">
              <a:off x="3600" y="3100"/>
              <a:ext cx="144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Line 12"/>
            <p:cNvSpPr>
              <a:spLocks noChangeShapeType="1"/>
            </p:cNvSpPr>
            <p:nvPr/>
          </p:nvSpPr>
          <p:spPr bwMode="auto">
            <a:xfrm>
              <a:off x="3744" y="3340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Line 13"/>
            <p:cNvSpPr>
              <a:spLocks noChangeShapeType="1"/>
            </p:cNvSpPr>
            <p:nvPr/>
          </p:nvSpPr>
          <p:spPr bwMode="auto">
            <a:xfrm flipH="1">
              <a:off x="3648" y="3340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Text Box 14"/>
            <p:cNvSpPr txBox="1">
              <a:spLocks noChangeArrowheads="1"/>
            </p:cNvSpPr>
            <p:nvPr/>
          </p:nvSpPr>
          <p:spPr bwMode="auto">
            <a:xfrm>
              <a:off x="3421" y="3413"/>
              <a:ext cx="69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rtl="0"/>
              <a:r>
                <a:rPr lang="en-US" altLang="en-US" b="0" dirty="0">
                  <a:latin typeface="Times New Roman" panose="02020603050405020304" pitchFamily="18" charset="0"/>
                </a:rPr>
                <a:t>faculty</a:t>
              </a:r>
              <a:endParaRPr lang="en-US" altLang="en-US" sz="1600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26" name="Line 15"/>
            <p:cNvSpPr>
              <a:spLocks noChangeShapeType="1"/>
            </p:cNvSpPr>
            <p:nvPr/>
          </p:nvSpPr>
          <p:spPr bwMode="auto">
            <a:xfrm flipH="1">
              <a:off x="2352" y="3148"/>
              <a:ext cx="1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7" name="Slide Number Placeholder 3">
            <a:extLst>
              <a:ext uri="{FF2B5EF4-FFF2-40B4-BE49-F238E27FC236}">
                <a16:creationId xmlns:a16="http://schemas.microsoft.com/office/drawing/2014/main" id="{6063063A-6856-495F-AD18-0154797EA3F9}"/>
              </a:ext>
            </a:extLst>
          </p:cNvPr>
          <p:cNvSpPr txBox="1">
            <a:spLocks/>
          </p:cNvSpPr>
          <p:nvPr/>
        </p:nvSpPr>
        <p:spPr>
          <a:xfrm rot="5400000">
            <a:off x="11749548" y="250722"/>
            <a:ext cx="191729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 S.</a:t>
            </a:r>
            <a:fld id="{D57F1E4F-1CFF-5643-939E-217C01CDF565}" type="slidenum">
              <a:rPr lang="en-US" sz="1400" b="1" smtClean="0"/>
              <a:pPr/>
              <a:t>5</a:t>
            </a:fld>
            <a:r>
              <a:rPr lang="en-US" sz="1400" b="1" dirty="0"/>
              <a:t> 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54E2CC24-A0DB-48DF-B0D9-743D45959341}"/>
              </a:ext>
            </a:extLst>
          </p:cNvPr>
          <p:cNvSpPr>
            <a:spLocks noGrp="1"/>
          </p:cNvSpPr>
          <p:nvPr/>
        </p:nvSpPr>
        <p:spPr>
          <a:xfrm>
            <a:off x="-137653" y="346762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3" name="Rectangle 2" descr="M. Mhahudul Hasan">
            <a:extLst>
              <a:ext uri="{FF2B5EF4-FFF2-40B4-BE49-F238E27FC236}">
                <a16:creationId xmlns:a16="http://schemas.microsoft.com/office/drawing/2014/main" id="{660FD991-C037-41E1-ACE7-65C30CF042EE}"/>
              </a:ext>
            </a:extLst>
          </p:cNvPr>
          <p:cNvSpPr/>
          <p:nvPr/>
        </p:nvSpPr>
        <p:spPr>
          <a:xfrm>
            <a:off x="0" y="6636774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5" name="Rectangle 4" descr="M. Mhahudul Hasan">
            <a:extLst>
              <a:ext uri="{FF2B5EF4-FFF2-40B4-BE49-F238E27FC236}">
                <a16:creationId xmlns:a16="http://schemas.microsoft.com/office/drawing/2014/main" id="{C8D3FD13-8D2E-451E-BDB0-A42621FA166F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Chapter 2:  Use Case Diagram</a:t>
            </a:r>
          </a:p>
        </p:txBody>
      </p:sp>
      <p:sp>
        <p:nvSpPr>
          <p:cNvPr id="6" name="Rectangle 5" descr="M. Mhahudul Hasan">
            <a:extLst>
              <a:ext uri="{FF2B5EF4-FFF2-40B4-BE49-F238E27FC236}">
                <a16:creationId xmlns:a16="http://schemas.microsoft.com/office/drawing/2014/main" id="{3F66CC70-BAB5-44C1-A739-473B6BC746AD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M. Mahmudul Hasan</a:t>
            </a:r>
          </a:p>
        </p:txBody>
      </p:sp>
    </p:spTree>
    <p:extLst>
      <p:ext uri="{BB962C8B-B14F-4D97-AF65-F5344CB8AC3E}">
        <p14:creationId xmlns:p14="http://schemas.microsoft.com/office/powerpoint/2010/main" val="1447131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65471" y="583689"/>
            <a:ext cx="11029950" cy="537190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070C0"/>
                </a:solidFill>
                <a:latin typeface="Book Antiqua" pitchFamily="18" charset="0"/>
              </a:rPr>
              <a:t>Example  of  Use cases  diagram</a:t>
            </a:r>
            <a:endParaRPr lang="en-US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8" name="Group 33"/>
          <p:cNvGrpSpPr>
            <a:grpSpLocks/>
          </p:cNvGrpSpPr>
          <p:nvPr/>
        </p:nvGrpSpPr>
        <p:grpSpPr bwMode="auto">
          <a:xfrm>
            <a:off x="1730805" y="2075309"/>
            <a:ext cx="8975712" cy="4310743"/>
            <a:chOff x="993" y="1344"/>
            <a:chExt cx="3811" cy="2400"/>
          </a:xfrm>
        </p:grpSpPr>
        <p:sp>
          <p:nvSpPr>
            <p:cNvPr id="29" name="Oval 4"/>
            <p:cNvSpPr>
              <a:spLocks noChangeArrowheads="1"/>
            </p:cNvSpPr>
            <p:nvPr/>
          </p:nvSpPr>
          <p:spPr bwMode="auto">
            <a:xfrm>
              <a:off x="1104" y="1872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" name="Line 5"/>
            <p:cNvSpPr>
              <a:spLocks noChangeShapeType="1"/>
            </p:cNvSpPr>
            <p:nvPr/>
          </p:nvSpPr>
          <p:spPr bwMode="auto">
            <a:xfrm>
              <a:off x="1200" y="206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Line 6"/>
            <p:cNvSpPr>
              <a:spLocks noChangeShapeType="1"/>
            </p:cNvSpPr>
            <p:nvPr/>
          </p:nvSpPr>
          <p:spPr bwMode="auto">
            <a:xfrm>
              <a:off x="1200" y="2160"/>
              <a:ext cx="192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Line 7"/>
            <p:cNvSpPr>
              <a:spLocks noChangeShapeType="1"/>
            </p:cNvSpPr>
            <p:nvPr/>
          </p:nvSpPr>
          <p:spPr bwMode="auto">
            <a:xfrm flipH="1">
              <a:off x="1056" y="2160"/>
              <a:ext cx="144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Line 8"/>
            <p:cNvSpPr>
              <a:spLocks noChangeShapeType="1"/>
            </p:cNvSpPr>
            <p:nvPr/>
          </p:nvSpPr>
          <p:spPr bwMode="auto">
            <a:xfrm>
              <a:off x="1200" y="2400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Line 9"/>
            <p:cNvSpPr>
              <a:spLocks noChangeShapeType="1"/>
            </p:cNvSpPr>
            <p:nvPr/>
          </p:nvSpPr>
          <p:spPr bwMode="auto">
            <a:xfrm flipH="1">
              <a:off x="1104" y="2400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Text Box 10"/>
            <p:cNvSpPr txBox="1">
              <a:spLocks noChangeArrowheads="1"/>
            </p:cNvSpPr>
            <p:nvPr/>
          </p:nvSpPr>
          <p:spPr bwMode="auto">
            <a:xfrm>
              <a:off x="993" y="2496"/>
              <a:ext cx="516" cy="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rtl="0"/>
              <a:r>
                <a:rPr lang="en-US" altLang="en-US" b="0" dirty="0">
                  <a:latin typeface="Times New Roman" panose="02020603050405020304" pitchFamily="18" charset="0"/>
                </a:rPr>
                <a:t>Faculty</a:t>
              </a:r>
            </a:p>
          </p:txBody>
        </p:sp>
        <p:grpSp>
          <p:nvGrpSpPr>
            <p:cNvPr id="36" name="Group 11"/>
            <p:cNvGrpSpPr>
              <a:grpSpLocks/>
            </p:cNvGrpSpPr>
            <p:nvPr/>
          </p:nvGrpSpPr>
          <p:grpSpPr bwMode="auto">
            <a:xfrm>
              <a:off x="2304" y="1488"/>
              <a:ext cx="912" cy="432"/>
              <a:chOff x="4176" y="720"/>
              <a:chExt cx="576" cy="432"/>
            </a:xfrm>
          </p:grpSpPr>
          <p:sp>
            <p:nvSpPr>
              <p:cNvPr id="53" name="Oval 12"/>
              <p:cNvSpPr>
                <a:spLocks noChangeArrowheads="1"/>
              </p:cNvSpPr>
              <p:nvPr/>
            </p:nvSpPr>
            <p:spPr bwMode="auto">
              <a:xfrm>
                <a:off x="4176" y="720"/>
                <a:ext cx="576" cy="43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4" name="Text Box 13"/>
              <p:cNvSpPr txBox="1">
                <a:spLocks noChangeArrowheads="1"/>
              </p:cNvSpPr>
              <p:nvPr/>
            </p:nvSpPr>
            <p:spPr bwMode="auto">
              <a:xfrm>
                <a:off x="4210" y="772"/>
                <a:ext cx="528" cy="2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rtl="0"/>
                <a:endParaRPr lang="en-US" altLang="en-US" sz="2400" b="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7" name="Oval 15"/>
            <p:cNvSpPr>
              <a:spLocks noChangeArrowheads="1"/>
            </p:cNvSpPr>
            <p:nvPr/>
          </p:nvSpPr>
          <p:spPr bwMode="auto">
            <a:xfrm>
              <a:off x="2273" y="2101"/>
              <a:ext cx="816" cy="57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8" name="Text Box 16"/>
            <p:cNvSpPr txBox="1">
              <a:spLocks noChangeArrowheads="1"/>
            </p:cNvSpPr>
            <p:nvPr/>
          </p:nvSpPr>
          <p:spPr bwMode="auto">
            <a:xfrm>
              <a:off x="2287" y="2208"/>
              <a:ext cx="813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rtl="0"/>
              <a:r>
                <a:rPr lang="en-US" altLang="en-US" b="0" dirty="0">
                  <a:latin typeface="Times New Roman" panose="02020603050405020304" pitchFamily="18" charset="0"/>
                </a:rPr>
                <a:t>Registration of Course</a:t>
              </a:r>
            </a:p>
          </p:txBody>
        </p:sp>
        <p:sp>
          <p:nvSpPr>
            <p:cNvPr id="39" name="Oval 18"/>
            <p:cNvSpPr>
              <a:spLocks noChangeArrowheads="1"/>
            </p:cNvSpPr>
            <p:nvPr/>
          </p:nvSpPr>
          <p:spPr bwMode="auto">
            <a:xfrm>
              <a:off x="2352" y="2976"/>
              <a:ext cx="816" cy="43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0" name="Text Box 19"/>
            <p:cNvSpPr txBox="1">
              <a:spLocks noChangeArrowheads="1"/>
            </p:cNvSpPr>
            <p:nvPr/>
          </p:nvSpPr>
          <p:spPr bwMode="auto">
            <a:xfrm>
              <a:off x="2389" y="3005"/>
              <a:ext cx="748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b="0" dirty="0">
                  <a:latin typeface="Times New Roman" panose="02020603050405020304" pitchFamily="18" charset="0"/>
                </a:rPr>
                <a:t>Upload </a:t>
              </a:r>
              <a:br>
                <a:rPr lang="en-US" altLang="en-US" b="0" dirty="0">
                  <a:latin typeface="Times New Roman" panose="02020603050405020304" pitchFamily="18" charset="0"/>
                </a:rPr>
              </a:br>
              <a:r>
                <a:rPr lang="en-US" altLang="en-US" b="0" dirty="0">
                  <a:latin typeface="Times New Roman" panose="02020603050405020304" pitchFamily="18" charset="0"/>
                </a:rPr>
                <a:t>Grade</a:t>
              </a:r>
              <a:endParaRPr lang="en-US" altLang="en-US" sz="2400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41" name="Oval 40"/>
            <p:cNvSpPr>
              <a:spLocks noChangeArrowheads="1"/>
            </p:cNvSpPr>
            <p:nvPr/>
          </p:nvSpPr>
          <p:spPr bwMode="auto">
            <a:xfrm>
              <a:off x="4416" y="1872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2" name="Line 22"/>
            <p:cNvSpPr>
              <a:spLocks noChangeShapeType="1"/>
            </p:cNvSpPr>
            <p:nvPr/>
          </p:nvSpPr>
          <p:spPr bwMode="auto">
            <a:xfrm>
              <a:off x="4512" y="206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" name="Line 23"/>
            <p:cNvSpPr>
              <a:spLocks noChangeShapeType="1"/>
            </p:cNvSpPr>
            <p:nvPr/>
          </p:nvSpPr>
          <p:spPr bwMode="auto">
            <a:xfrm>
              <a:off x="4512" y="2160"/>
              <a:ext cx="192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" name="Line 24"/>
            <p:cNvSpPr>
              <a:spLocks noChangeShapeType="1"/>
            </p:cNvSpPr>
            <p:nvPr/>
          </p:nvSpPr>
          <p:spPr bwMode="auto">
            <a:xfrm flipH="1">
              <a:off x="4368" y="2160"/>
              <a:ext cx="144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Line 25"/>
            <p:cNvSpPr>
              <a:spLocks noChangeShapeType="1"/>
            </p:cNvSpPr>
            <p:nvPr/>
          </p:nvSpPr>
          <p:spPr bwMode="auto">
            <a:xfrm>
              <a:off x="4512" y="2400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Line 26"/>
            <p:cNvSpPr>
              <a:spLocks noChangeShapeType="1"/>
            </p:cNvSpPr>
            <p:nvPr/>
          </p:nvSpPr>
          <p:spPr bwMode="auto">
            <a:xfrm flipH="1">
              <a:off x="4416" y="2400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Text Box 27"/>
            <p:cNvSpPr txBox="1">
              <a:spLocks noChangeArrowheads="1"/>
            </p:cNvSpPr>
            <p:nvPr/>
          </p:nvSpPr>
          <p:spPr bwMode="auto">
            <a:xfrm>
              <a:off x="4322" y="2503"/>
              <a:ext cx="482" cy="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rtl="0"/>
              <a:r>
                <a:rPr lang="en-US" altLang="en-US" b="0" dirty="0">
                  <a:latin typeface="Times New Roman" panose="02020603050405020304" pitchFamily="18" charset="0"/>
                </a:rPr>
                <a:t>Student</a:t>
              </a:r>
              <a:endParaRPr lang="en-US" altLang="en-US" sz="1600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48" name="Line 28"/>
            <p:cNvSpPr>
              <a:spLocks noChangeShapeType="1"/>
            </p:cNvSpPr>
            <p:nvPr/>
          </p:nvSpPr>
          <p:spPr bwMode="auto">
            <a:xfrm flipV="1">
              <a:off x="1440" y="1728"/>
              <a:ext cx="81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Line 29"/>
            <p:cNvSpPr>
              <a:spLocks noChangeShapeType="1"/>
            </p:cNvSpPr>
            <p:nvPr/>
          </p:nvSpPr>
          <p:spPr bwMode="auto">
            <a:xfrm>
              <a:off x="1440" y="2496"/>
              <a:ext cx="864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" name="Line 30"/>
            <p:cNvSpPr>
              <a:spLocks noChangeShapeType="1"/>
            </p:cNvSpPr>
            <p:nvPr/>
          </p:nvSpPr>
          <p:spPr bwMode="auto">
            <a:xfrm flipH="1">
              <a:off x="3120" y="2352"/>
              <a:ext cx="1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" name="Line 31"/>
            <p:cNvSpPr>
              <a:spLocks noChangeShapeType="1"/>
            </p:cNvSpPr>
            <p:nvPr/>
          </p:nvSpPr>
          <p:spPr bwMode="auto">
            <a:xfrm flipH="1" flipV="1">
              <a:off x="3251" y="1729"/>
              <a:ext cx="1021" cy="5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Rectangle 51"/>
            <p:cNvSpPr>
              <a:spLocks noChangeArrowheads="1"/>
            </p:cNvSpPr>
            <p:nvPr/>
          </p:nvSpPr>
          <p:spPr bwMode="auto">
            <a:xfrm>
              <a:off x="1824" y="1344"/>
              <a:ext cx="1824" cy="2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55" name="Text Box 19"/>
          <p:cNvSpPr txBox="1">
            <a:spLocks noChangeArrowheads="1"/>
          </p:cNvSpPr>
          <p:nvPr/>
        </p:nvSpPr>
        <p:spPr bwMode="auto">
          <a:xfrm>
            <a:off x="4875683" y="2600379"/>
            <a:ext cx="176169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rtl="1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rtl="1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rtl="1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rtl="1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0" dirty="0">
                <a:latin typeface="Times New Roman" panose="02020603050405020304" pitchFamily="18" charset="0"/>
              </a:rPr>
              <a:t>Login</a:t>
            </a:r>
            <a:endParaRPr lang="en-US" altLang="en-US" sz="2400" b="0" dirty="0">
              <a:latin typeface="Times New Roman" panose="02020603050405020304" pitchFamily="18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560623" y="1540153"/>
            <a:ext cx="3331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University Management System</a:t>
            </a:r>
          </a:p>
        </p:txBody>
      </p:sp>
      <p:sp>
        <p:nvSpPr>
          <p:cNvPr id="57" name="Slide Number Placeholder 3">
            <a:extLst>
              <a:ext uri="{FF2B5EF4-FFF2-40B4-BE49-F238E27FC236}">
                <a16:creationId xmlns:a16="http://schemas.microsoft.com/office/drawing/2014/main" id="{D4B3DC8F-D38D-457A-843B-55FA889620E0}"/>
              </a:ext>
            </a:extLst>
          </p:cNvPr>
          <p:cNvSpPr txBox="1">
            <a:spLocks/>
          </p:cNvSpPr>
          <p:nvPr/>
        </p:nvSpPr>
        <p:spPr>
          <a:xfrm rot="5400000">
            <a:off x="11749548" y="250722"/>
            <a:ext cx="191729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 S.</a:t>
            </a:r>
            <a:fld id="{D57F1E4F-1CFF-5643-939E-217C01CDF565}" type="slidenum">
              <a:rPr lang="en-US" sz="1400" b="1" smtClean="0"/>
              <a:pPr/>
              <a:t>6</a:t>
            </a:fld>
            <a:r>
              <a:rPr lang="en-US" sz="1400" b="1" dirty="0"/>
              <a:t> </a:t>
            </a:r>
          </a:p>
        </p:txBody>
      </p:sp>
      <p:sp>
        <p:nvSpPr>
          <p:cNvPr id="58" name="Content Placeholder 2">
            <a:extLst>
              <a:ext uri="{FF2B5EF4-FFF2-40B4-BE49-F238E27FC236}">
                <a16:creationId xmlns:a16="http://schemas.microsoft.com/office/drawing/2014/main" id="{F030B17A-D53B-404D-8F81-08C2C7F05559}"/>
              </a:ext>
            </a:extLst>
          </p:cNvPr>
          <p:cNvSpPr>
            <a:spLocks noGrp="1"/>
          </p:cNvSpPr>
          <p:nvPr/>
        </p:nvSpPr>
        <p:spPr>
          <a:xfrm>
            <a:off x="-137653" y="346762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3" name="Rectangle 2" descr="M. Mhahudul Hasan">
            <a:extLst>
              <a:ext uri="{FF2B5EF4-FFF2-40B4-BE49-F238E27FC236}">
                <a16:creationId xmlns:a16="http://schemas.microsoft.com/office/drawing/2014/main" id="{DFA93BDF-6D46-49BA-B1DB-B9F309187B3D}"/>
              </a:ext>
            </a:extLst>
          </p:cNvPr>
          <p:cNvSpPr/>
          <p:nvPr/>
        </p:nvSpPr>
        <p:spPr>
          <a:xfrm>
            <a:off x="0" y="6636774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4" name="Rectangle 3" descr="M. Mhahudul Hasan">
            <a:extLst>
              <a:ext uri="{FF2B5EF4-FFF2-40B4-BE49-F238E27FC236}">
                <a16:creationId xmlns:a16="http://schemas.microsoft.com/office/drawing/2014/main" id="{0773663C-C251-4E44-8892-E2568A216B2D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Chapter 2:  Use Case Diagram</a:t>
            </a:r>
          </a:p>
        </p:txBody>
      </p:sp>
      <p:sp>
        <p:nvSpPr>
          <p:cNvPr id="5" name="Rectangle 4" descr="M. Mhahudul Hasan">
            <a:extLst>
              <a:ext uri="{FF2B5EF4-FFF2-40B4-BE49-F238E27FC236}">
                <a16:creationId xmlns:a16="http://schemas.microsoft.com/office/drawing/2014/main" id="{B7AC7E7B-0C37-40B5-906F-996D66D65A45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M. Mahmudul Hasan</a:t>
            </a:r>
          </a:p>
        </p:txBody>
      </p:sp>
    </p:spTree>
    <p:extLst>
      <p:ext uri="{BB962C8B-B14F-4D97-AF65-F5344CB8AC3E}">
        <p14:creationId xmlns:p14="http://schemas.microsoft.com/office/powerpoint/2010/main" val="2462530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68710" y="495199"/>
            <a:ext cx="11029950" cy="551938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070C0"/>
                </a:solidFill>
                <a:latin typeface="Book Antiqua" pitchFamily="18" charset="0"/>
              </a:rPr>
              <a:t>Relationships  between  Use cases</a:t>
            </a:r>
            <a:endParaRPr lang="en-US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445679" y="1233335"/>
            <a:ext cx="11471018" cy="2158796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sz="2200" b="1" dirty="0">
                <a:solidFill>
                  <a:srgbClr val="C00000"/>
                </a:solidFill>
                <a:latin typeface="+mj-lt"/>
              </a:rPr>
              <a:t> Include</a:t>
            </a:r>
            <a:r>
              <a:rPr lang="en-US" sz="2200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2200" dirty="0">
                <a:latin typeface="+mj-lt"/>
              </a:rPr>
              <a:t>- use cases that are included as parts of other use. </a:t>
            </a:r>
            <a:r>
              <a:rPr lang="en-US" sz="2200" dirty="0">
                <a:highlight>
                  <a:srgbClr val="FFFF00"/>
                </a:highlight>
                <a:latin typeface="+mj-lt"/>
              </a:rPr>
              <a:t>Enable to factor common behavior</a:t>
            </a:r>
          </a:p>
          <a:p>
            <a:pPr>
              <a:buFont typeface="Wingdings" pitchFamily="2" charset="2"/>
              <a:buChar char="§"/>
              <a:defRPr/>
            </a:pPr>
            <a:r>
              <a:rPr lang="en-US" sz="2200" dirty="0">
                <a:latin typeface="+mj-lt"/>
              </a:rPr>
              <a:t>The base use case </a:t>
            </a:r>
            <a:r>
              <a:rPr lang="en-US" sz="2200" dirty="0">
                <a:highlight>
                  <a:srgbClr val="FFFF00"/>
                </a:highlight>
                <a:latin typeface="+mj-lt"/>
              </a:rPr>
              <a:t>explicitly</a:t>
            </a:r>
            <a:r>
              <a:rPr lang="en-US" sz="2200" dirty="0">
                <a:latin typeface="+mj-lt"/>
              </a:rPr>
              <a:t> incorporates the behavior of another use case at a location</a:t>
            </a:r>
            <a:br>
              <a:rPr lang="en-US" sz="2200" dirty="0">
                <a:latin typeface="+mj-lt"/>
              </a:rPr>
            </a:br>
            <a:r>
              <a:rPr lang="en-US" sz="2200" dirty="0">
                <a:latin typeface="+mj-lt"/>
              </a:rPr>
              <a:t> specified in the base.</a:t>
            </a:r>
          </a:p>
          <a:p>
            <a:pPr>
              <a:buFont typeface="Wingdings" pitchFamily="2" charset="2"/>
              <a:buChar char="§"/>
              <a:defRPr/>
            </a:pPr>
            <a:r>
              <a:rPr lang="en-US" sz="2200" dirty="0">
                <a:latin typeface="+mj-lt"/>
              </a:rPr>
              <a:t>The included </a:t>
            </a:r>
            <a:r>
              <a:rPr lang="en-US" sz="2200" dirty="0">
                <a:highlight>
                  <a:srgbClr val="FFFF00"/>
                </a:highlight>
                <a:latin typeface="+mj-lt"/>
              </a:rPr>
              <a:t>use case never stands alone</a:t>
            </a:r>
            <a:r>
              <a:rPr lang="en-US" sz="2200" dirty="0">
                <a:latin typeface="+mj-lt"/>
              </a:rPr>
              <a:t>. It only occurs as a part of some </a:t>
            </a:r>
            <a:r>
              <a:rPr lang="en-US" sz="2200" dirty="0">
                <a:highlight>
                  <a:srgbClr val="FFFF00"/>
                </a:highlight>
                <a:latin typeface="+mj-lt"/>
              </a:rPr>
              <a:t>large</a:t>
            </a:r>
            <a:r>
              <a:rPr lang="en-US" sz="2200" dirty="0">
                <a:latin typeface="+mj-lt"/>
              </a:rPr>
              <a:t>r base</a:t>
            </a:r>
            <a:br>
              <a:rPr lang="en-US" sz="2200" dirty="0">
                <a:latin typeface="+mj-lt"/>
              </a:rPr>
            </a:br>
            <a:r>
              <a:rPr lang="en-US" sz="2200" dirty="0">
                <a:latin typeface="+mj-lt"/>
              </a:rPr>
              <a:t> that includes it. T</a:t>
            </a:r>
            <a:r>
              <a:rPr lang="en-US" sz="2200" dirty="0"/>
              <a:t>he original use case is not complete without </a:t>
            </a:r>
            <a:r>
              <a:rPr lang="en-US" sz="2200" dirty="0">
                <a:highlight>
                  <a:srgbClr val="FFFF00"/>
                </a:highlight>
              </a:rPr>
              <a:t>the included one</a:t>
            </a:r>
            <a:endParaRPr lang="en-GB" altLang="en-US" sz="2200" dirty="0">
              <a:highlight>
                <a:srgbClr val="FFFF00"/>
              </a:highlight>
              <a:latin typeface="+mj-lt"/>
            </a:endParaRPr>
          </a:p>
        </p:txBody>
      </p:sp>
      <p:grpSp>
        <p:nvGrpSpPr>
          <p:cNvPr id="27" name="Group 14"/>
          <p:cNvGrpSpPr>
            <a:grpSpLocks/>
          </p:cNvGrpSpPr>
          <p:nvPr/>
        </p:nvGrpSpPr>
        <p:grpSpPr bwMode="auto">
          <a:xfrm>
            <a:off x="1504446" y="4297345"/>
            <a:ext cx="8463340" cy="1321789"/>
            <a:chOff x="1349" y="1187"/>
            <a:chExt cx="2612" cy="397"/>
          </a:xfrm>
        </p:grpSpPr>
        <p:grpSp>
          <p:nvGrpSpPr>
            <p:cNvPr id="28" name="Group 4"/>
            <p:cNvGrpSpPr>
              <a:grpSpLocks/>
            </p:cNvGrpSpPr>
            <p:nvPr/>
          </p:nvGrpSpPr>
          <p:grpSpPr bwMode="auto">
            <a:xfrm>
              <a:off x="1349" y="1208"/>
              <a:ext cx="665" cy="314"/>
              <a:chOff x="4085" y="776"/>
              <a:chExt cx="665" cy="314"/>
            </a:xfrm>
          </p:grpSpPr>
          <p:sp>
            <p:nvSpPr>
              <p:cNvPr id="34" name="Oval 5"/>
              <p:cNvSpPr>
                <a:spLocks noChangeArrowheads="1"/>
              </p:cNvSpPr>
              <p:nvPr/>
            </p:nvSpPr>
            <p:spPr bwMode="auto">
              <a:xfrm>
                <a:off x="4085" y="776"/>
                <a:ext cx="665" cy="31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5" name="Text Box 6"/>
              <p:cNvSpPr txBox="1">
                <a:spLocks noChangeArrowheads="1"/>
              </p:cNvSpPr>
              <p:nvPr/>
            </p:nvSpPr>
            <p:spPr bwMode="auto">
              <a:xfrm>
                <a:off x="4327" y="843"/>
                <a:ext cx="367" cy="1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rtl="0"/>
                <a:r>
                  <a:rPr lang="en-US" altLang="en-US" sz="2000" b="0" dirty="0">
                    <a:latin typeface="Times New Roman" panose="02020603050405020304" pitchFamily="18" charset="0"/>
                  </a:rPr>
                  <a:t>base</a:t>
                </a:r>
                <a:endParaRPr lang="en-US" altLang="en-US" sz="2400" b="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9" name="Group 7"/>
            <p:cNvGrpSpPr>
              <a:grpSpLocks/>
            </p:cNvGrpSpPr>
            <p:nvPr/>
          </p:nvGrpSpPr>
          <p:grpSpPr bwMode="auto">
            <a:xfrm>
              <a:off x="3264" y="1187"/>
              <a:ext cx="697" cy="397"/>
              <a:chOff x="4176" y="755"/>
              <a:chExt cx="492" cy="397"/>
            </a:xfrm>
          </p:grpSpPr>
          <p:sp>
            <p:nvSpPr>
              <p:cNvPr id="32" name="Oval 8"/>
              <p:cNvSpPr>
                <a:spLocks noChangeArrowheads="1"/>
              </p:cNvSpPr>
              <p:nvPr/>
            </p:nvSpPr>
            <p:spPr bwMode="auto">
              <a:xfrm>
                <a:off x="4176" y="755"/>
                <a:ext cx="480" cy="397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3" name="Text Box 9"/>
              <p:cNvSpPr txBox="1">
                <a:spLocks noChangeArrowheads="1"/>
              </p:cNvSpPr>
              <p:nvPr/>
            </p:nvSpPr>
            <p:spPr bwMode="auto">
              <a:xfrm>
                <a:off x="4273" y="843"/>
                <a:ext cx="395" cy="1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rtl="0"/>
                <a:r>
                  <a:rPr lang="en-US" altLang="en-US" sz="2000" b="0" dirty="0">
                    <a:latin typeface="Times New Roman" panose="02020603050405020304" pitchFamily="18" charset="0"/>
                  </a:rPr>
                  <a:t>included</a:t>
                </a:r>
                <a:endParaRPr lang="en-US" altLang="en-US" sz="2400" b="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0" name="Line 12"/>
            <p:cNvSpPr>
              <a:spLocks noChangeShapeType="1"/>
            </p:cNvSpPr>
            <p:nvPr/>
          </p:nvSpPr>
          <p:spPr bwMode="auto">
            <a:xfrm>
              <a:off x="2016" y="1392"/>
              <a:ext cx="1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Text Box 13"/>
            <p:cNvSpPr txBox="1">
              <a:spLocks noChangeArrowheads="1"/>
            </p:cNvSpPr>
            <p:nvPr/>
          </p:nvSpPr>
          <p:spPr bwMode="auto">
            <a:xfrm>
              <a:off x="2387" y="1244"/>
              <a:ext cx="9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rtl="0"/>
              <a:r>
                <a:rPr lang="en-US" altLang="en-US" b="0" dirty="0">
                  <a:latin typeface="Times New Roman" panose="02020603050405020304" pitchFamily="18" charset="0"/>
                </a:rPr>
                <a:t>&lt;&lt;include&gt;&gt;</a:t>
              </a:r>
            </a:p>
          </p:txBody>
        </p:sp>
      </p:grp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4E305287-438C-499F-AD30-598DAEA7E867}"/>
              </a:ext>
            </a:extLst>
          </p:cNvPr>
          <p:cNvSpPr txBox="1">
            <a:spLocks/>
          </p:cNvSpPr>
          <p:nvPr/>
        </p:nvSpPr>
        <p:spPr>
          <a:xfrm rot="5400000">
            <a:off x="11749548" y="250722"/>
            <a:ext cx="191729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 S.</a:t>
            </a:r>
            <a:fld id="{D57F1E4F-1CFF-5643-939E-217C01CDF565}" type="slidenum">
              <a:rPr lang="en-US" sz="1400" b="1" smtClean="0"/>
              <a:pPr/>
              <a:t>7</a:t>
            </a:fld>
            <a:r>
              <a:rPr lang="en-US" sz="1400" b="1" dirty="0"/>
              <a:t> 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AA5998D-1FCE-4839-9A5E-A1B8FD764F97}"/>
              </a:ext>
            </a:extLst>
          </p:cNvPr>
          <p:cNvSpPr>
            <a:spLocks noGrp="1"/>
          </p:cNvSpPr>
          <p:nvPr/>
        </p:nvSpPr>
        <p:spPr>
          <a:xfrm>
            <a:off x="-122904" y="376258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3" name="Rectangle 2" descr="M. Mhahudul Hasan">
            <a:extLst>
              <a:ext uri="{FF2B5EF4-FFF2-40B4-BE49-F238E27FC236}">
                <a16:creationId xmlns:a16="http://schemas.microsoft.com/office/drawing/2014/main" id="{F36737E8-31C5-4C83-A605-6D8C415903C8}"/>
              </a:ext>
            </a:extLst>
          </p:cNvPr>
          <p:cNvSpPr/>
          <p:nvPr/>
        </p:nvSpPr>
        <p:spPr>
          <a:xfrm>
            <a:off x="0" y="6636774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5" name="Rectangle 4" descr="M. Mhahudul Hasan">
            <a:extLst>
              <a:ext uri="{FF2B5EF4-FFF2-40B4-BE49-F238E27FC236}">
                <a16:creationId xmlns:a16="http://schemas.microsoft.com/office/drawing/2014/main" id="{9570C85F-BD33-4B4A-8D94-590758715393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Chapter 2:  Use Case Diagram</a:t>
            </a:r>
          </a:p>
        </p:txBody>
      </p:sp>
      <p:sp>
        <p:nvSpPr>
          <p:cNvPr id="6" name="Rectangle 5" descr="M. Mhahudul Hasan">
            <a:extLst>
              <a:ext uri="{FF2B5EF4-FFF2-40B4-BE49-F238E27FC236}">
                <a16:creationId xmlns:a16="http://schemas.microsoft.com/office/drawing/2014/main" id="{56584A0D-8189-42A5-BB1F-9169BEF524FB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M. Mahmudul Hasan</a:t>
            </a:r>
          </a:p>
        </p:txBody>
      </p:sp>
    </p:spTree>
    <p:extLst>
      <p:ext uri="{BB962C8B-B14F-4D97-AF65-F5344CB8AC3E}">
        <p14:creationId xmlns:p14="http://schemas.microsoft.com/office/powerpoint/2010/main" val="1045727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98206" y="554191"/>
            <a:ext cx="11029950" cy="669925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070C0"/>
                </a:solidFill>
                <a:latin typeface="Book Antiqua" pitchFamily="18" charset="0"/>
              </a:rPr>
              <a:t>Relationships  between  Use cases</a:t>
            </a:r>
            <a:endParaRPr lang="en-US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460427" y="1335498"/>
            <a:ext cx="10920412" cy="1084262"/>
          </a:xfrm>
        </p:spPr>
        <p:txBody>
          <a:bodyPr>
            <a:normAutofit/>
          </a:bodyPr>
          <a:lstStyle/>
          <a:p>
            <a:pPr marL="457200" indent="-457200">
              <a:lnSpc>
                <a:spcPct val="90000"/>
              </a:lnSpc>
              <a:buFont typeface="Wingdings" pitchFamily="2" charset="2"/>
              <a:buChar char="§"/>
              <a:defRPr/>
            </a:pPr>
            <a:r>
              <a:rPr lang="en-US" sz="2200" dirty="0">
                <a:latin typeface="+mj-lt"/>
              </a:rPr>
              <a:t>Enables to avoid describing the same flow of events several times by putting the common behavior in a use case of its own.</a:t>
            </a:r>
            <a:endParaRPr lang="en-GB" altLang="en-US" sz="2200" dirty="0">
              <a:latin typeface="+mj-lt"/>
            </a:endParaRPr>
          </a:p>
        </p:txBody>
      </p:sp>
      <p:grpSp>
        <p:nvGrpSpPr>
          <p:cNvPr id="14" name="Group 17"/>
          <p:cNvGrpSpPr>
            <a:grpSpLocks/>
          </p:cNvGrpSpPr>
          <p:nvPr/>
        </p:nvGrpSpPr>
        <p:grpSpPr bwMode="auto">
          <a:xfrm>
            <a:off x="2119132" y="2837308"/>
            <a:ext cx="8602945" cy="3106291"/>
            <a:chOff x="1344" y="2400"/>
            <a:chExt cx="2976" cy="1261"/>
          </a:xfrm>
        </p:grpSpPr>
        <p:sp>
          <p:nvSpPr>
            <p:cNvPr id="15" name="Oval 5"/>
            <p:cNvSpPr>
              <a:spLocks noChangeArrowheads="1"/>
            </p:cNvSpPr>
            <p:nvPr/>
          </p:nvSpPr>
          <p:spPr bwMode="auto">
            <a:xfrm>
              <a:off x="1392" y="2400"/>
              <a:ext cx="768" cy="43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6" name="Text Box 6"/>
            <p:cNvSpPr txBox="1">
              <a:spLocks noChangeArrowheads="1"/>
            </p:cNvSpPr>
            <p:nvPr/>
          </p:nvSpPr>
          <p:spPr bwMode="auto">
            <a:xfrm>
              <a:off x="1443" y="2437"/>
              <a:ext cx="70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rtl="0"/>
              <a:r>
                <a:rPr lang="en-US" altLang="en-US" b="0" dirty="0">
                  <a:latin typeface="Times New Roman" panose="02020603050405020304" pitchFamily="18" charset="0"/>
                </a:rPr>
                <a:t>updating</a:t>
              </a:r>
            </a:p>
            <a:p>
              <a:pPr algn="ctr" rtl="0"/>
              <a:r>
                <a:rPr lang="en-US" altLang="en-US" b="0" dirty="0">
                  <a:latin typeface="Times New Roman" panose="02020603050405020304" pitchFamily="18" charset="0"/>
                </a:rPr>
                <a:t>grades</a:t>
              </a:r>
              <a:endParaRPr lang="en-US" altLang="en-US" sz="1600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17" name="Oval 8"/>
            <p:cNvSpPr>
              <a:spLocks noChangeArrowheads="1"/>
            </p:cNvSpPr>
            <p:nvPr/>
          </p:nvSpPr>
          <p:spPr bwMode="auto">
            <a:xfrm>
              <a:off x="1344" y="3168"/>
              <a:ext cx="912" cy="49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8" name="Text Box 9"/>
            <p:cNvSpPr txBox="1">
              <a:spLocks noChangeArrowheads="1"/>
            </p:cNvSpPr>
            <p:nvPr/>
          </p:nvSpPr>
          <p:spPr bwMode="auto">
            <a:xfrm>
              <a:off x="1389" y="3317"/>
              <a:ext cx="836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rtl="0"/>
              <a:r>
                <a:rPr lang="en-US" altLang="en-US" b="0" dirty="0">
                  <a:latin typeface="Times New Roman" panose="02020603050405020304" pitchFamily="18" charset="0"/>
                </a:rPr>
                <a:t>registration</a:t>
              </a:r>
              <a:endParaRPr lang="en-US" altLang="en-US" sz="1600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19" name="Oval 11"/>
            <p:cNvSpPr>
              <a:spLocks noChangeArrowheads="1"/>
            </p:cNvSpPr>
            <p:nvPr/>
          </p:nvSpPr>
          <p:spPr bwMode="auto">
            <a:xfrm>
              <a:off x="3408" y="2688"/>
              <a:ext cx="912" cy="53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0" name="Text Box 12"/>
            <p:cNvSpPr txBox="1">
              <a:spLocks noChangeArrowheads="1"/>
            </p:cNvSpPr>
            <p:nvPr/>
          </p:nvSpPr>
          <p:spPr bwMode="auto">
            <a:xfrm>
              <a:off x="3408" y="2764"/>
              <a:ext cx="83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rtl="0"/>
              <a:r>
                <a:rPr lang="en-US" altLang="en-US" b="0" dirty="0">
                  <a:latin typeface="Times New Roman" panose="02020603050405020304" pitchFamily="18" charset="0"/>
                </a:rPr>
                <a:t>verifying</a:t>
              </a:r>
            </a:p>
            <a:p>
              <a:pPr algn="ctr" rtl="0"/>
              <a:r>
                <a:rPr lang="en-US" altLang="en-US" b="0" dirty="0">
                  <a:latin typeface="Times New Roman" panose="02020603050405020304" pitchFamily="18" charset="0"/>
                </a:rPr>
                <a:t>Id and password</a:t>
              </a:r>
            </a:p>
          </p:txBody>
        </p:sp>
        <p:sp>
          <p:nvSpPr>
            <p:cNvPr id="21" name="Line 13"/>
            <p:cNvSpPr>
              <a:spLocks noChangeShapeType="1"/>
            </p:cNvSpPr>
            <p:nvPr/>
          </p:nvSpPr>
          <p:spPr bwMode="auto">
            <a:xfrm>
              <a:off x="2160" y="2688"/>
              <a:ext cx="124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Line 14"/>
            <p:cNvSpPr>
              <a:spLocks noChangeShapeType="1"/>
            </p:cNvSpPr>
            <p:nvPr/>
          </p:nvSpPr>
          <p:spPr bwMode="auto">
            <a:xfrm flipV="1">
              <a:off x="2256" y="3120"/>
              <a:ext cx="124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Text Box 15"/>
            <p:cNvSpPr txBox="1">
              <a:spLocks noChangeArrowheads="1"/>
            </p:cNvSpPr>
            <p:nvPr/>
          </p:nvSpPr>
          <p:spPr bwMode="auto">
            <a:xfrm>
              <a:off x="2294" y="2601"/>
              <a:ext cx="92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rtl="0"/>
              <a:r>
                <a:rPr lang="en-US" altLang="en-US" b="0">
                  <a:latin typeface="Times New Roman" panose="02020603050405020304" pitchFamily="18" charset="0"/>
                </a:rPr>
                <a:t>&lt;&lt;include&gt;&gt;</a:t>
              </a:r>
              <a:endParaRPr lang="en-US" altLang="en-US" sz="1600" b="0">
                <a:latin typeface="Times New Roman" panose="02020603050405020304" pitchFamily="18" charset="0"/>
              </a:endParaRPr>
            </a:p>
          </p:txBody>
        </p:sp>
        <p:sp>
          <p:nvSpPr>
            <p:cNvPr id="24" name="Text Box 16"/>
            <p:cNvSpPr txBox="1">
              <a:spLocks noChangeArrowheads="1"/>
            </p:cNvSpPr>
            <p:nvPr/>
          </p:nvSpPr>
          <p:spPr bwMode="auto">
            <a:xfrm>
              <a:off x="2390" y="3240"/>
              <a:ext cx="92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rtl="0"/>
              <a:r>
                <a:rPr lang="en-US" altLang="en-US" b="0">
                  <a:latin typeface="Times New Roman" panose="02020603050405020304" pitchFamily="18" charset="0"/>
                </a:rPr>
                <a:t>&lt;&lt;include&gt;&gt;</a:t>
              </a:r>
              <a:endParaRPr lang="en-US" altLang="en-US" sz="1600" b="0">
                <a:latin typeface="Times New Roman" panose="02020603050405020304" pitchFamily="18" charset="0"/>
              </a:endParaRPr>
            </a:p>
          </p:txBody>
        </p:sp>
      </p:grpSp>
      <p:sp>
        <p:nvSpPr>
          <p:cNvPr id="25" name="Slide Number Placeholder 3">
            <a:extLst>
              <a:ext uri="{FF2B5EF4-FFF2-40B4-BE49-F238E27FC236}">
                <a16:creationId xmlns:a16="http://schemas.microsoft.com/office/drawing/2014/main" id="{C098970D-A92B-4AD1-B71B-2AF5694290A7}"/>
              </a:ext>
            </a:extLst>
          </p:cNvPr>
          <p:cNvSpPr txBox="1">
            <a:spLocks/>
          </p:cNvSpPr>
          <p:nvPr/>
        </p:nvSpPr>
        <p:spPr>
          <a:xfrm rot="5400000">
            <a:off x="11749548" y="250722"/>
            <a:ext cx="191729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 S.</a:t>
            </a:r>
            <a:fld id="{D57F1E4F-1CFF-5643-939E-217C01CDF565}" type="slidenum">
              <a:rPr lang="en-US" sz="1400" b="1" smtClean="0"/>
              <a:pPr/>
              <a:t>8</a:t>
            </a:fld>
            <a:r>
              <a:rPr lang="en-US" sz="1400" b="1" dirty="0"/>
              <a:t> 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DB6C492D-2420-44FC-8805-26561D5579CF}"/>
              </a:ext>
            </a:extLst>
          </p:cNvPr>
          <p:cNvSpPr>
            <a:spLocks noGrp="1"/>
          </p:cNvSpPr>
          <p:nvPr/>
        </p:nvSpPr>
        <p:spPr>
          <a:xfrm>
            <a:off x="-137653" y="346762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3" name="Rectangle 2" descr="M. Mhahudul Hasan">
            <a:extLst>
              <a:ext uri="{FF2B5EF4-FFF2-40B4-BE49-F238E27FC236}">
                <a16:creationId xmlns:a16="http://schemas.microsoft.com/office/drawing/2014/main" id="{F923631B-5B5C-4EFD-8FAB-571C50DE5E72}"/>
              </a:ext>
            </a:extLst>
          </p:cNvPr>
          <p:cNvSpPr/>
          <p:nvPr/>
        </p:nvSpPr>
        <p:spPr>
          <a:xfrm>
            <a:off x="0" y="6636774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5" name="Rectangle 4" descr="M. Mhahudul Hasan">
            <a:extLst>
              <a:ext uri="{FF2B5EF4-FFF2-40B4-BE49-F238E27FC236}">
                <a16:creationId xmlns:a16="http://schemas.microsoft.com/office/drawing/2014/main" id="{80A40ABF-395B-49FA-BFD1-0C5F5815EE3C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Chapter 2:  Use Case Diagram</a:t>
            </a:r>
          </a:p>
        </p:txBody>
      </p:sp>
      <p:sp>
        <p:nvSpPr>
          <p:cNvPr id="6" name="Rectangle 5" descr="M. Mhahudul Hasan">
            <a:extLst>
              <a:ext uri="{FF2B5EF4-FFF2-40B4-BE49-F238E27FC236}">
                <a16:creationId xmlns:a16="http://schemas.microsoft.com/office/drawing/2014/main" id="{3F8DDCA1-8D2F-4FF1-8C28-1E3A664221C7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M. Mahmudul Hasan</a:t>
            </a:r>
          </a:p>
        </p:txBody>
      </p:sp>
    </p:spTree>
    <p:extLst>
      <p:ext uri="{BB962C8B-B14F-4D97-AF65-F5344CB8AC3E}">
        <p14:creationId xmlns:p14="http://schemas.microsoft.com/office/powerpoint/2010/main" val="3582580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86697" y="539443"/>
            <a:ext cx="11029950" cy="507693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b="1" dirty="0">
                <a:solidFill>
                  <a:srgbClr val="0070C0"/>
                </a:solidFill>
                <a:latin typeface="Book Antiqua" pitchFamily="18" charset="0"/>
              </a:rPr>
              <a:t>Relationships  between  Use cases</a:t>
            </a:r>
            <a:endParaRPr lang="en-US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239201" y="1236304"/>
            <a:ext cx="11544760" cy="249555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sz="2200" b="1" dirty="0">
                <a:solidFill>
                  <a:srgbClr val="C00000"/>
                </a:solidFill>
                <a:latin typeface="+mj-lt"/>
              </a:rPr>
              <a:t>Extend</a:t>
            </a:r>
            <a:r>
              <a:rPr lang="en-US" sz="2200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2200" dirty="0">
                <a:latin typeface="+mj-lt"/>
              </a:rPr>
              <a:t>– a part of a use case that is </a:t>
            </a:r>
            <a:r>
              <a:rPr lang="en-US" sz="2200" i="1" dirty="0">
                <a:latin typeface="+mj-lt"/>
              </a:rPr>
              <a:t>optional </a:t>
            </a:r>
            <a:r>
              <a:rPr lang="en-US" sz="2200" dirty="0">
                <a:latin typeface="+mj-lt"/>
              </a:rPr>
              <a:t>system behavior</a:t>
            </a:r>
          </a:p>
          <a:p>
            <a:pPr>
              <a:lnSpc>
                <a:spcPct val="90000"/>
              </a:lnSpc>
              <a:buFont typeface="Wingdings" pitchFamily="2" charset="2"/>
              <a:buChar char="§"/>
              <a:defRPr/>
            </a:pPr>
            <a:r>
              <a:rPr lang="en-US" sz="2200" dirty="0">
                <a:latin typeface="+mj-lt"/>
              </a:rPr>
              <a:t>The base use </a:t>
            </a:r>
            <a:r>
              <a:rPr lang="en-US" sz="2200" dirty="0">
                <a:highlight>
                  <a:srgbClr val="FFFF00"/>
                </a:highlight>
                <a:latin typeface="+mj-lt"/>
              </a:rPr>
              <a:t>case implicitly incorporates the behavior of another use case at certain points called extension points.</a:t>
            </a:r>
          </a:p>
          <a:p>
            <a:pPr>
              <a:lnSpc>
                <a:spcPct val="90000"/>
              </a:lnSpc>
              <a:buFont typeface="Wingdings" pitchFamily="2" charset="2"/>
              <a:buChar char="§"/>
              <a:defRPr/>
            </a:pPr>
            <a:r>
              <a:rPr lang="en-US" sz="2200" dirty="0">
                <a:latin typeface="+mj-lt"/>
              </a:rPr>
              <a:t>The base use case may stand alone, but under certain conditions its behavior may be extended by</a:t>
            </a:r>
            <a:br>
              <a:rPr lang="en-US" sz="2200" dirty="0">
                <a:latin typeface="+mj-lt"/>
              </a:rPr>
            </a:br>
            <a:r>
              <a:rPr lang="en-US" sz="2200" dirty="0">
                <a:latin typeface="+mj-lt"/>
              </a:rPr>
              <a:t>the behavior of another use case.</a:t>
            </a:r>
          </a:p>
          <a:p>
            <a:pPr>
              <a:lnSpc>
                <a:spcPct val="90000"/>
              </a:lnSpc>
              <a:buFont typeface="Wingdings" pitchFamily="2" charset="2"/>
              <a:buChar char="§"/>
              <a:defRPr/>
            </a:pPr>
            <a:r>
              <a:rPr lang="en-US" sz="2200" dirty="0">
                <a:latin typeface="+mj-lt"/>
              </a:rPr>
              <a:t>Enables to model optional behavior or branching under conditions.</a:t>
            </a:r>
          </a:p>
        </p:txBody>
      </p:sp>
      <p:grpSp>
        <p:nvGrpSpPr>
          <p:cNvPr id="14" name="Group 12"/>
          <p:cNvGrpSpPr>
            <a:grpSpLocks/>
          </p:cNvGrpSpPr>
          <p:nvPr/>
        </p:nvGrpSpPr>
        <p:grpSpPr bwMode="auto">
          <a:xfrm>
            <a:off x="562968" y="4761263"/>
            <a:ext cx="6191794" cy="1077730"/>
            <a:chOff x="1440" y="1211"/>
            <a:chExt cx="2641" cy="340"/>
          </a:xfrm>
        </p:grpSpPr>
        <p:grpSp>
          <p:nvGrpSpPr>
            <p:cNvPr id="15" name="Group 4"/>
            <p:cNvGrpSpPr>
              <a:grpSpLocks/>
            </p:cNvGrpSpPr>
            <p:nvPr/>
          </p:nvGrpSpPr>
          <p:grpSpPr bwMode="auto">
            <a:xfrm>
              <a:off x="1440" y="1225"/>
              <a:ext cx="576" cy="275"/>
              <a:chOff x="4176" y="793"/>
              <a:chExt cx="576" cy="275"/>
            </a:xfrm>
          </p:grpSpPr>
          <p:sp>
            <p:nvSpPr>
              <p:cNvPr id="21" name="Oval 5"/>
              <p:cNvSpPr>
                <a:spLocks noChangeArrowheads="1"/>
              </p:cNvSpPr>
              <p:nvPr/>
            </p:nvSpPr>
            <p:spPr bwMode="auto">
              <a:xfrm>
                <a:off x="4176" y="793"/>
                <a:ext cx="576" cy="275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2" name="Text Box 6"/>
              <p:cNvSpPr txBox="1">
                <a:spLocks noChangeArrowheads="1"/>
              </p:cNvSpPr>
              <p:nvPr/>
            </p:nvSpPr>
            <p:spPr bwMode="auto">
              <a:xfrm>
                <a:off x="4317" y="853"/>
                <a:ext cx="374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rtl="0"/>
                <a:r>
                  <a:rPr lang="en-US" altLang="en-US" sz="2000" b="0" dirty="0">
                    <a:latin typeface="Times New Roman" panose="02020603050405020304" pitchFamily="18" charset="0"/>
                  </a:rPr>
                  <a:t>base</a:t>
                </a:r>
                <a:endParaRPr lang="en-US" altLang="en-US" sz="2400" b="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6" name="Group 7"/>
            <p:cNvGrpSpPr>
              <a:grpSpLocks/>
            </p:cNvGrpSpPr>
            <p:nvPr/>
          </p:nvGrpSpPr>
          <p:grpSpPr bwMode="auto">
            <a:xfrm>
              <a:off x="3265" y="1211"/>
              <a:ext cx="816" cy="340"/>
              <a:chOff x="4176" y="779"/>
              <a:chExt cx="576" cy="340"/>
            </a:xfrm>
          </p:grpSpPr>
          <p:sp>
            <p:nvSpPr>
              <p:cNvPr id="19" name="Oval 8"/>
              <p:cNvSpPr>
                <a:spLocks noChangeArrowheads="1"/>
              </p:cNvSpPr>
              <p:nvPr/>
            </p:nvSpPr>
            <p:spPr bwMode="auto">
              <a:xfrm>
                <a:off x="4176" y="779"/>
                <a:ext cx="576" cy="34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0" name="Text Box 9"/>
              <p:cNvSpPr txBox="1">
                <a:spLocks noChangeArrowheads="1"/>
              </p:cNvSpPr>
              <p:nvPr/>
            </p:nvSpPr>
            <p:spPr bwMode="auto">
              <a:xfrm>
                <a:off x="4212" y="853"/>
                <a:ext cx="471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rtl="0"/>
                <a:r>
                  <a:rPr lang="en-US" altLang="en-US" sz="2000" b="0" dirty="0">
                    <a:latin typeface="Times New Roman" panose="02020603050405020304" pitchFamily="18" charset="0"/>
                  </a:rPr>
                  <a:t>extending</a:t>
                </a:r>
                <a:endParaRPr lang="en-US" altLang="en-US" sz="2400" b="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7" name="Line 10"/>
            <p:cNvSpPr>
              <a:spLocks noChangeShapeType="1"/>
            </p:cNvSpPr>
            <p:nvPr/>
          </p:nvSpPr>
          <p:spPr bwMode="auto">
            <a:xfrm>
              <a:off x="2016" y="1392"/>
              <a:ext cx="1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Text Box 11"/>
            <p:cNvSpPr txBox="1">
              <a:spLocks noChangeArrowheads="1"/>
            </p:cNvSpPr>
            <p:nvPr/>
          </p:nvSpPr>
          <p:spPr bwMode="auto">
            <a:xfrm>
              <a:off x="2320" y="1218"/>
              <a:ext cx="723" cy="1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rtl="1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rtl="0"/>
              <a:r>
                <a:rPr lang="en-US" altLang="en-US" b="0" dirty="0">
                  <a:latin typeface="Times New Roman" panose="02020603050405020304" pitchFamily="18" charset="0"/>
                </a:rPr>
                <a:t>&lt;&lt;extend&gt;&gt;</a:t>
              </a:r>
            </a:p>
          </p:txBody>
        </p:sp>
      </p:grpSp>
      <p:pic>
        <p:nvPicPr>
          <p:cNvPr id="2052" name="Picture 4" descr="http://assets.devx.com/articlefigs/figure2uml.bmp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83003" y="4364257"/>
            <a:ext cx="5008699" cy="2390504"/>
          </a:xfrm>
          <a:prstGeom prst="rect">
            <a:avLst/>
          </a:prstGeom>
          <a:noFill/>
        </p:spPr>
      </p:pic>
      <p:cxnSp>
        <p:nvCxnSpPr>
          <p:cNvPr id="26" name="Straight Connector 25"/>
          <p:cNvCxnSpPr/>
          <p:nvPr/>
        </p:nvCxnSpPr>
        <p:spPr>
          <a:xfrm rot="16200000" flipH="1">
            <a:off x="6583681" y="5486398"/>
            <a:ext cx="2168433" cy="522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rot="16200000" flipH="1">
            <a:off x="10861770" y="5440682"/>
            <a:ext cx="2216328" cy="87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rot="10800000" flipV="1">
            <a:off x="7694027" y="6570617"/>
            <a:ext cx="4297676" cy="391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rot="10800000" flipV="1">
            <a:off x="7680960" y="4332514"/>
            <a:ext cx="4293326" cy="566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143999" y="3944983"/>
            <a:ext cx="1123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Vacation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CBE2E7FE-5924-4BAA-8A09-546A4A927FA1}"/>
              </a:ext>
            </a:extLst>
          </p:cNvPr>
          <p:cNvSpPr txBox="1">
            <a:spLocks/>
          </p:cNvSpPr>
          <p:nvPr/>
        </p:nvSpPr>
        <p:spPr>
          <a:xfrm rot="5400000">
            <a:off x="11749548" y="250722"/>
            <a:ext cx="191729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 S.</a:t>
            </a:r>
            <a:fld id="{D57F1E4F-1CFF-5643-939E-217C01CDF565}" type="slidenum">
              <a:rPr lang="en-US" sz="1400" b="1" smtClean="0"/>
              <a:pPr/>
              <a:t>9</a:t>
            </a:fld>
            <a:r>
              <a:rPr lang="en-US" sz="1400" b="1" dirty="0"/>
              <a:t> 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C31C6C89-7717-443A-B07A-FD5D312FA952}"/>
              </a:ext>
            </a:extLst>
          </p:cNvPr>
          <p:cNvSpPr>
            <a:spLocks noGrp="1"/>
          </p:cNvSpPr>
          <p:nvPr/>
        </p:nvSpPr>
        <p:spPr>
          <a:xfrm>
            <a:off x="-137653" y="346762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3" name="Rectangle 2" descr="M. Mhahudul Hasan">
            <a:extLst>
              <a:ext uri="{FF2B5EF4-FFF2-40B4-BE49-F238E27FC236}">
                <a16:creationId xmlns:a16="http://schemas.microsoft.com/office/drawing/2014/main" id="{F1F82E91-8EFB-4903-863B-C1E404F339BC}"/>
              </a:ext>
            </a:extLst>
          </p:cNvPr>
          <p:cNvSpPr/>
          <p:nvPr/>
        </p:nvSpPr>
        <p:spPr>
          <a:xfrm>
            <a:off x="0" y="6636774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5" name="Rectangle 4" descr="M. Mhahudul Hasan">
            <a:extLst>
              <a:ext uri="{FF2B5EF4-FFF2-40B4-BE49-F238E27FC236}">
                <a16:creationId xmlns:a16="http://schemas.microsoft.com/office/drawing/2014/main" id="{5304FF81-CEE2-43D3-9E4D-8168B1210FF9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Chapter 2:  Use Case Diagram</a:t>
            </a:r>
          </a:p>
        </p:txBody>
      </p:sp>
      <p:sp>
        <p:nvSpPr>
          <p:cNvPr id="6" name="Rectangle 5" descr="M. Mhahudul Hasan">
            <a:extLst>
              <a:ext uri="{FF2B5EF4-FFF2-40B4-BE49-F238E27FC236}">
                <a16:creationId xmlns:a16="http://schemas.microsoft.com/office/drawing/2014/main" id="{91B9A805-7E69-4870-A41B-F40E1FC806E6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M. Mahmudul Hasan</a:t>
            </a:r>
          </a:p>
        </p:txBody>
      </p:sp>
    </p:spTree>
    <p:extLst>
      <p:ext uri="{BB962C8B-B14F-4D97-AF65-F5344CB8AC3E}">
        <p14:creationId xmlns:p14="http://schemas.microsoft.com/office/powerpoint/2010/main" val="301933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57200" y="539443"/>
            <a:ext cx="11029950" cy="507693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b="1" dirty="0">
                <a:solidFill>
                  <a:srgbClr val="0070C0"/>
                </a:solidFill>
                <a:latin typeface="Book Antiqua" pitchFamily="18" charset="0"/>
              </a:rPr>
              <a:t>Relationships  between  Use cases</a:t>
            </a:r>
            <a:endParaRPr lang="en-US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150710" y="1029828"/>
            <a:ext cx="11530011" cy="961206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sz="2200" b="1" dirty="0">
                <a:solidFill>
                  <a:srgbClr val="C00000"/>
                </a:solidFill>
                <a:latin typeface="+mj-lt"/>
              </a:rPr>
              <a:t>Generalization</a:t>
            </a:r>
            <a:r>
              <a:rPr lang="en-US" sz="2200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2200" dirty="0">
                <a:latin typeface="+mj-lt"/>
              </a:rPr>
              <a:t>- </a:t>
            </a:r>
            <a:r>
              <a:rPr lang="en-US" sz="2200" dirty="0"/>
              <a:t>A generalization relationship means that a child use case inherits the behavior and meaning of the parent use case. The child may add or override the behavior of the parent.</a:t>
            </a:r>
            <a:endParaRPr lang="en-US" sz="2200" dirty="0">
              <a:latin typeface="+mj-lt"/>
            </a:endParaRPr>
          </a:p>
        </p:txBody>
      </p:sp>
      <p:pic>
        <p:nvPicPr>
          <p:cNvPr id="25606" name="Picture 6" descr="http://geeksww.com/images/Lab2-PartA-1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09524" y="2020529"/>
            <a:ext cx="8961121" cy="4586748"/>
          </a:xfrm>
          <a:prstGeom prst="rect">
            <a:avLst/>
          </a:prstGeom>
          <a:noFill/>
        </p:spPr>
      </p:pic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7BEBBE5B-9642-4A32-A9D6-89D7FE470CC6}"/>
              </a:ext>
            </a:extLst>
          </p:cNvPr>
          <p:cNvSpPr txBox="1">
            <a:spLocks/>
          </p:cNvSpPr>
          <p:nvPr/>
        </p:nvSpPr>
        <p:spPr>
          <a:xfrm rot="5400000">
            <a:off x="11852787" y="162232"/>
            <a:ext cx="191729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 S.</a:t>
            </a:r>
            <a:fld id="{D57F1E4F-1CFF-5643-939E-217C01CDF565}" type="slidenum">
              <a:rPr lang="en-US" sz="1400" b="1" smtClean="0"/>
              <a:pPr/>
              <a:t>10</a:t>
            </a:fld>
            <a:r>
              <a:rPr lang="en-US" sz="1400" b="1" dirty="0"/>
              <a:t>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FE5AEB1-4FFB-426D-951C-FEF00FF32C1A}"/>
              </a:ext>
            </a:extLst>
          </p:cNvPr>
          <p:cNvSpPr>
            <a:spLocks noGrp="1"/>
          </p:cNvSpPr>
          <p:nvPr/>
        </p:nvSpPr>
        <p:spPr>
          <a:xfrm>
            <a:off x="-137653" y="346762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3" name="Rectangle 2" descr="M. Mhahudul Hasan">
            <a:extLst>
              <a:ext uri="{FF2B5EF4-FFF2-40B4-BE49-F238E27FC236}">
                <a16:creationId xmlns:a16="http://schemas.microsoft.com/office/drawing/2014/main" id="{40BD0876-1C54-4E64-8388-47688A1E8869}"/>
              </a:ext>
            </a:extLst>
          </p:cNvPr>
          <p:cNvSpPr/>
          <p:nvPr/>
        </p:nvSpPr>
        <p:spPr>
          <a:xfrm>
            <a:off x="0" y="6636774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5" name="Rectangle 4" descr="M. Mhahudul Hasan">
            <a:extLst>
              <a:ext uri="{FF2B5EF4-FFF2-40B4-BE49-F238E27FC236}">
                <a16:creationId xmlns:a16="http://schemas.microsoft.com/office/drawing/2014/main" id="{E5912640-BCD7-46AF-A6F7-952CE125FE2E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Chapter 2:  Use Case Diagram</a:t>
            </a:r>
          </a:p>
        </p:txBody>
      </p:sp>
      <p:sp>
        <p:nvSpPr>
          <p:cNvPr id="6" name="Rectangle 5" descr="M. Mhahudul Hasan">
            <a:extLst>
              <a:ext uri="{FF2B5EF4-FFF2-40B4-BE49-F238E27FC236}">
                <a16:creationId xmlns:a16="http://schemas.microsoft.com/office/drawing/2014/main" id="{7854C550-1096-413C-B23A-97D2367F195C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M. Mahmudul Hasan</a:t>
            </a:r>
          </a:p>
        </p:txBody>
      </p:sp>
    </p:spTree>
    <p:extLst>
      <p:ext uri="{BB962C8B-B14F-4D97-AF65-F5344CB8AC3E}">
        <p14:creationId xmlns:p14="http://schemas.microsoft.com/office/powerpoint/2010/main" val="3978179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12955" y="613185"/>
            <a:ext cx="11029950" cy="433950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b="1" dirty="0">
                <a:solidFill>
                  <a:srgbClr val="0070C0"/>
                </a:solidFill>
                <a:latin typeface="Book Antiqua" pitchFamily="18" charset="0"/>
              </a:rPr>
              <a:t>    Use cases  description</a:t>
            </a:r>
            <a:endParaRPr lang="en-US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814388" y="1457530"/>
            <a:ext cx="10920412" cy="4611688"/>
          </a:xfrm>
        </p:spPr>
        <p:txBody>
          <a:bodyPr>
            <a:noAutofit/>
          </a:bodyPr>
          <a:lstStyle/>
          <a:p>
            <a:pPr marL="342900" lvl="0" indent="-342900" algn="r" defTabSz="914400" rtl="1">
              <a:lnSpc>
                <a:spcPct val="115000"/>
              </a:lnSpc>
              <a:spcAft>
                <a:spcPts val="0"/>
              </a:spcAft>
              <a:buClrTx/>
              <a:buSzTx/>
              <a:buNone/>
              <a:defRPr/>
            </a:pPr>
            <a:endParaRPr lang="en-US" sz="2400" dirty="0">
              <a:solidFill>
                <a:schemeClr val="tx1"/>
              </a:solidFill>
            </a:endParaRPr>
          </a:p>
          <a:p>
            <a:pPr marL="742950" lvl="1" indent="-285750" defTabSz="914400">
              <a:lnSpc>
                <a:spcPct val="90000"/>
              </a:lnSpc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defRPr/>
            </a:pPr>
            <a:r>
              <a:rPr lang="en-US" sz="2000" dirty="0">
                <a:solidFill>
                  <a:schemeClr val="tx1"/>
                </a:solidFill>
              </a:rPr>
              <a:t>Title or Reference Name	- meaningful name of the UC</a:t>
            </a:r>
          </a:p>
          <a:p>
            <a:pPr marL="742950" lvl="1" indent="-285750" defTabSz="914400">
              <a:lnSpc>
                <a:spcPct val="90000"/>
              </a:lnSpc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defRPr/>
            </a:pPr>
            <a:r>
              <a:rPr lang="en-US" sz="2000" dirty="0">
                <a:solidFill>
                  <a:schemeClr val="tx1"/>
                </a:solidFill>
              </a:rPr>
              <a:t>Author/Date		- the author and creation date</a:t>
            </a:r>
          </a:p>
          <a:p>
            <a:pPr marL="742950" lvl="1" indent="-285750" defTabSz="914400">
              <a:lnSpc>
                <a:spcPct val="90000"/>
              </a:lnSpc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defRPr/>
            </a:pPr>
            <a:r>
              <a:rPr lang="en-US" sz="2000" dirty="0">
                <a:solidFill>
                  <a:schemeClr val="tx1"/>
                </a:solidFill>
              </a:rPr>
              <a:t>Modification/Date		- last modification and its date</a:t>
            </a:r>
          </a:p>
          <a:p>
            <a:pPr marL="742950" lvl="1" indent="-285750" defTabSz="914400">
              <a:lnSpc>
                <a:spcPct val="90000"/>
              </a:lnSpc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defRPr/>
            </a:pPr>
            <a:r>
              <a:rPr lang="en-US" sz="2000" dirty="0">
                <a:solidFill>
                  <a:schemeClr val="tx1"/>
                </a:solidFill>
              </a:rPr>
              <a:t>Purpose			- specifies the goal to be achieved</a:t>
            </a:r>
          </a:p>
          <a:p>
            <a:pPr marL="742950" lvl="1" indent="-285750" defTabSz="914400">
              <a:lnSpc>
                <a:spcPct val="90000"/>
              </a:lnSpc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defRPr/>
            </a:pPr>
            <a:r>
              <a:rPr lang="en-US" sz="2000" dirty="0">
                <a:solidFill>
                  <a:schemeClr val="tx1"/>
                </a:solidFill>
              </a:rPr>
              <a:t>Overview			- short description of the processes</a:t>
            </a:r>
          </a:p>
          <a:p>
            <a:pPr marL="742950" lvl="1" indent="-285750" defTabSz="914400">
              <a:lnSpc>
                <a:spcPct val="90000"/>
              </a:lnSpc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defRPr/>
            </a:pPr>
            <a:r>
              <a:rPr lang="en-US" sz="2000" dirty="0">
                <a:solidFill>
                  <a:schemeClr val="tx1"/>
                </a:solidFill>
              </a:rPr>
              <a:t>Cross References		- requirements references</a:t>
            </a:r>
          </a:p>
          <a:p>
            <a:pPr marL="742950" lvl="1" indent="-285750" defTabSz="914400">
              <a:lnSpc>
                <a:spcPct val="90000"/>
              </a:lnSpc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defRPr/>
            </a:pPr>
            <a:r>
              <a:rPr lang="en-US" sz="2000" dirty="0">
                <a:solidFill>
                  <a:schemeClr val="tx1"/>
                </a:solidFill>
              </a:rPr>
              <a:t>Actors			- agents participating</a:t>
            </a:r>
          </a:p>
          <a:p>
            <a:pPr marL="742950" lvl="1" indent="-285750" defTabSz="914400">
              <a:lnSpc>
                <a:spcPct val="90000"/>
              </a:lnSpc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defRPr/>
            </a:pPr>
            <a:r>
              <a:rPr lang="en-US" sz="2000" dirty="0">
                <a:solidFill>
                  <a:schemeClr val="tx1"/>
                </a:solidFill>
              </a:rPr>
              <a:t>Pre-Conditions		- must be true to allow execution</a:t>
            </a:r>
          </a:p>
          <a:p>
            <a:pPr marL="742950" lvl="1" indent="-285750" defTabSz="914400">
              <a:lnSpc>
                <a:spcPct val="90000"/>
              </a:lnSpc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defRPr/>
            </a:pPr>
            <a:r>
              <a:rPr lang="en-US" sz="2000" dirty="0">
                <a:solidFill>
                  <a:schemeClr val="tx1"/>
                </a:solidFill>
              </a:rPr>
              <a:t>Post Conditions		- will be set when completes normally</a:t>
            </a:r>
          </a:p>
          <a:p>
            <a:pPr marL="742950" lvl="1" indent="-285750" defTabSz="914400">
              <a:lnSpc>
                <a:spcPct val="90000"/>
              </a:lnSpc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defRPr/>
            </a:pPr>
            <a:r>
              <a:rPr lang="en-US" sz="2000" dirty="0">
                <a:solidFill>
                  <a:schemeClr val="tx1"/>
                </a:solidFill>
              </a:rPr>
              <a:t>Normal flow of events	- regular flow of activities</a:t>
            </a:r>
          </a:p>
          <a:p>
            <a:pPr marL="742950" lvl="1" indent="-285750" defTabSz="914400">
              <a:lnSpc>
                <a:spcPct val="90000"/>
              </a:lnSpc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defRPr/>
            </a:pPr>
            <a:r>
              <a:rPr lang="en-US" sz="2000" dirty="0">
                <a:solidFill>
                  <a:schemeClr val="tx1"/>
                </a:solidFill>
              </a:rPr>
              <a:t>Alternative flow of events 	- other flow of activities</a:t>
            </a:r>
          </a:p>
          <a:p>
            <a:pPr marL="742950" lvl="1" indent="-285750" defTabSz="914400">
              <a:lnSpc>
                <a:spcPct val="90000"/>
              </a:lnSpc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defRPr/>
            </a:pPr>
            <a:r>
              <a:rPr lang="en-US" sz="2000" dirty="0">
                <a:solidFill>
                  <a:schemeClr val="tx1"/>
                </a:solidFill>
              </a:rPr>
              <a:t>Exceptional flow of events 	- unusual situations</a:t>
            </a:r>
          </a:p>
          <a:p>
            <a:pPr marL="742950" lvl="1" indent="-285750" defTabSz="914400">
              <a:lnSpc>
                <a:spcPct val="90000"/>
              </a:lnSpc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defRPr/>
            </a:pPr>
            <a:r>
              <a:rPr lang="en-US" sz="2000" dirty="0">
                <a:solidFill>
                  <a:schemeClr val="tx1"/>
                </a:solidFill>
              </a:rPr>
              <a:t>Implementation issues	- foreseen implementation problems</a:t>
            </a:r>
          </a:p>
          <a:p>
            <a:pPr marL="742950" lvl="1" indent="-285750" defTabSz="914400">
              <a:lnSpc>
                <a:spcPct val="90000"/>
              </a:lnSpc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defRPr/>
            </a:pPr>
            <a:endParaRPr lang="en-US" sz="2000" dirty="0">
              <a:solidFill>
                <a:schemeClr val="tx1"/>
              </a:solidFill>
              <a:latin typeface="+mj-lt"/>
            </a:endParaRPr>
          </a:p>
          <a:p>
            <a:pPr marL="742950" lvl="1" indent="-285750" defTabSz="914400">
              <a:lnSpc>
                <a:spcPct val="90000"/>
              </a:lnSpc>
              <a:spcAft>
                <a:spcPts val="0"/>
              </a:spcAft>
              <a:buClr>
                <a:schemeClr val="tx2"/>
              </a:buClr>
              <a:buSzTx/>
              <a:buNone/>
              <a:defRPr/>
            </a:pPr>
            <a:endParaRPr lang="en-US" sz="2000" dirty="0">
              <a:latin typeface="+mj-lt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1EAFB8A-1AEA-40B5-A14A-190A9EB4C6FE}"/>
              </a:ext>
            </a:extLst>
          </p:cNvPr>
          <p:cNvSpPr txBox="1">
            <a:spLocks/>
          </p:cNvSpPr>
          <p:nvPr/>
        </p:nvSpPr>
        <p:spPr>
          <a:xfrm rot="5400000">
            <a:off x="11852787" y="162232"/>
            <a:ext cx="191729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 S.</a:t>
            </a:r>
            <a:fld id="{D57F1E4F-1CFF-5643-939E-217C01CDF565}" type="slidenum">
              <a:rPr lang="en-US" sz="1400" b="1" smtClean="0"/>
              <a:pPr/>
              <a:t>11</a:t>
            </a:fld>
            <a:r>
              <a:rPr lang="en-US" sz="1400" b="1" dirty="0"/>
              <a:t>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26FFB59-C743-4792-AC58-F4CA6580670A}"/>
              </a:ext>
            </a:extLst>
          </p:cNvPr>
          <p:cNvSpPr>
            <a:spLocks noGrp="1"/>
          </p:cNvSpPr>
          <p:nvPr/>
        </p:nvSpPr>
        <p:spPr>
          <a:xfrm>
            <a:off x="-137653" y="346762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3" name="Rectangle 2" descr="M. Mhahudul Hasan">
            <a:extLst>
              <a:ext uri="{FF2B5EF4-FFF2-40B4-BE49-F238E27FC236}">
                <a16:creationId xmlns:a16="http://schemas.microsoft.com/office/drawing/2014/main" id="{2F422778-FE59-4072-9EBD-8F4419A44187}"/>
              </a:ext>
            </a:extLst>
          </p:cNvPr>
          <p:cNvSpPr/>
          <p:nvPr/>
        </p:nvSpPr>
        <p:spPr>
          <a:xfrm>
            <a:off x="0" y="6636774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9" name="Rectangle 8" descr="M. Mhahudul Hasan">
            <a:extLst>
              <a:ext uri="{FF2B5EF4-FFF2-40B4-BE49-F238E27FC236}">
                <a16:creationId xmlns:a16="http://schemas.microsoft.com/office/drawing/2014/main" id="{C0F454B2-17D6-41A5-8E4B-B520B5BFB47C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Chapter 2:  Use Case Diagram</a:t>
            </a:r>
          </a:p>
        </p:txBody>
      </p:sp>
      <p:sp>
        <p:nvSpPr>
          <p:cNvPr id="11" name="Rectangle 10" descr="M. Mhahudul Hasan">
            <a:extLst>
              <a:ext uri="{FF2B5EF4-FFF2-40B4-BE49-F238E27FC236}">
                <a16:creationId xmlns:a16="http://schemas.microsoft.com/office/drawing/2014/main" id="{7C9A1C11-7E03-4D44-98A8-9A94CA6A2CB1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M. Mahmudul Hasan</a:t>
            </a:r>
          </a:p>
        </p:txBody>
      </p:sp>
    </p:spTree>
    <p:extLst>
      <p:ext uri="{BB962C8B-B14F-4D97-AF65-F5344CB8AC3E}">
        <p14:creationId xmlns:p14="http://schemas.microsoft.com/office/powerpoint/2010/main" val="4003408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16193" y="634182"/>
            <a:ext cx="11029950" cy="471948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b="1" dirty="0">
                <a:solidFill>
                  <a:srgbClr val="0070C0"/>
                </a:solidFill>
                <a:latin typeface="Book Antiqua" pitchFamily="18" charset="0"/>
              </a:rPr>
              <a:t> Use cases  example –  atm  money   withdraw</a:t>
            </a:r>
            <a:endParaRPr lang="en-US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578414" y="1463624"/>
            <a:ext cx="10920412" cy="4863434"/>
          </a:xfrm>
        </p:spPr>
        <p:txBody>
          <a:bodyPr>
            <a:noAutofit/>
          </a:bodyPr>
          <a:lstStyle/>
          <a:p>
            <a:pPr marL="342900" indent="-342900" defTabSz="914400">
              <a:spcAft>
                <a:spcPts val="0"/>
              </a:spcAft>
              <a:buClrTx/>
              <a:buSzTx/>
              <a:buFont typeface="Wingdings" pitchFamily="2" charset="2"/>
              <a:buChar char="q"/>
              <a:defRPr/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Use case Title: 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UC-1</a:t>
            </a:r>
          </a:p>
          <a:p>
            <a:pPr marL="342900" lvl="0" indent="-342900" defTabSz="914400">
              <a:spcAft>
                <a:spcPts val="0"/>
              </a:spcAft>
              <a:buClrTx/>
              <a:buSzTx/>
              <a:buFont typeface="Wingdings" pitchFamily="2" charset="2"/>
              <a:buChar char="q"/>
              <a:defRPr/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Use Case: 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Withdraw Money</a:t>
            </a:r>
          </a:p>
          <a:p>
            <a:pPr marL="342900" lvl="0" indent="-342900" defTabSz="914400">
              <a:spcAft>
                <a:spcPts val="0"/>
              </a:spcAft>
              <a:buClrTx/>
              <a:buSzTx/>
              <a:buFont typeface="Wingdings" pitchFamily="2" charset="2"/>
              <a:buChar char="q"/>
              <a:defRPr/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Author: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 Jack </a:t>
            </a:r>
            <a:r>
              <a:rPr lang="en-US" sz="2000" dirty="0" err="1">
                <a:solidFill>
                  <a:schemeClr val="tx1"/>
                </a:solidFill>
                <a:latin typeface="+mj-lt"/>
              </a:rPr>
              <a:t>Lonagon</a:t>
            </a:r>
            <a:endParaRPr lang="en-US" sz="2000" dirty="0">
              <a:solidFill>
                <a:schemeClr val="tx1"/>
              </a:solidFill>
              <a:latin typeface="+mj-lt"/>
            </a:endParaRPr>
          </a:p>
          <a:p>
            <a:pPr marL="342900" lvl="0" indent="-342900" defTabSz="914400">
              <a:spcAft>
                <a:spcPts val="0"/>
              </a:spcAft>
              <a:buClrTx/>
              <a:buSzTx/>
              <a:buFont typeface="Wingdings" pitchFamily="2" charset="2"/>
              <a:buChar char="q"/>
              <a:defRPr/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Created Date: 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1-OCT-2015</a:t>
            </a:r>
          </a:p>
          <a:p>
            <a:pPr marL="342900" indent="-342900" defTabSz="914400">
              <a:spcAft>
                <a:spcPts val="0"/>
              </a:spcAft>
              <a:buClrTx/>
              <a:buSzTx/>
              <a:buFont typeface="Wingdings" pitchFamily="2" charset="2"/>
              <a:buChar char="q"/>
              <a:defRPr/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Modification Date: 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20-Apr-2017</a:t>
            </a:r>
          </a:p>
          <a:p>
            <a:pPr marL="342900" lvl="0" indent="-342900" defTabSz="914400">
              <a:spcAft>
                <a:spcPts val="0"/>
              </a:spcAft>
              <a:buClrTx/>
              <a:buSzTx/>
              <a:buFont typeface="Wingdings" pitchFamily="2" charset="2"/>
              <a:buChar char="q"/>
              <a:defRPr/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Purpose: 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To withdraw some cash from user’s bank account</a:t>
            </a:r>
          </a:p>
          <a:p>
            <a:pPr marL="342900" lvl="0" indent="-342900" defTabSz="914400">
              <a:spcAft>
                <a:spcPts val="0"/>
              </a:spcAft>
              <a:buClrTx/>
              <a:buSzTx/>
              <a:buFont typeface="Wingdings" pitchFamily="2" charset="2"/>
              <a:buChar char="q"/>
              <a:defRPr/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Overview: 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The use case starts when the customer inserts his credit card into the system.</a:t>
            </a:r>
            <a:br>
              <a:rPr lang="en-US" sz="2000" dirty="0">
                <a:solidFill>
                  <a:schemeClr val="tx1"/>
                </a:solidFill>
                <a:latin typeface="+mj-lt"/>
              </a:rPr>
            </a:br>
            <a:r>
              <a:rPr lang="en-US" sz="2000" dirty="0">
                <a:solidFill>
                  <a:schemeClr val="tx1"/>
                </a:solidFill>
                <a:latin typeface="+mj-lt"/>
              </a:rPr>
              <a:t> The system requests the user PIN. The system validates the PIN. If the validation succeeded,</a:t>
            </a:r>
            <a:br>
              <a:rPr lang="en-US" sz="2000" dirty="0">
                <a:solidFill>
                  <a:schemeClr val="tx1"/>
                </a:solidFill>
                <a:latin typeface="+mj-lt"/>
              </a:rPr>
            </a:br>
            <a:r>
              <a:rPr lang="en-US" sz="2000" dirty="0">
                <a:solidFill>
                  <a:schemeClr val="tx1"/>
                </a:solidFill>
                <a:latin typeface="+mj-lt"/>
              </a:rPr>
              <a:t> the customer can choose the withdraw operation else alternative </a:t>
            </a:r>
            <a:r>
              <a:rPr lang="en-US" sz="2000" dirty="0">
                <a:solidFill>
                  <a:srgbClr val="C00000"/>
                </a:solidFill>
                <a:latin typeface="+mj-lt"/>
              </a:rPr>
              <a:t>1 – validation failure is executed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. </a:t>
            </a:r>
            <a:br>
              <a:rPr lang="en-US" sz="2000" dirty="0">
                <a:solidFill>
                  <a:schemeClr val="tx1"/>
                </a:solidFill>
                <a:latin typeface="+mj-lt"/>
              </a:rPr>
            </a:br>
            <a:r>
              <a:rPr lang="en-US" sz="2000" dirty="0">
                <a:solidFill>
                  <a:schemeClr val="tx1"/>
                </a:solidFill>
                <a:latin typeface="+mj-lt"/>
              </a:rPr>
              <a:t>The customer enters the amount of cash to withdraw. The system checks the amount of cash</a:t>
            </a:r>
            <a:br>
              <a:rPr lang="en-US" sz="2000" dirty="0">
                <a:solidFill>
                  <a:schemeClr val="tx1"/>
                </a:solidFill>
                <a:latin typeface="+mj-lt"/>
              </a:rPr>
            </a:br>
            <a:r>
              <a:rPr lang="en-US" sz="2000" dirty="0">
                <a:solidFill>
                  <a:schemeClr val="tx1"/>
                </a:solidFill>
                <a:latin typeface="+mj-lt"/>
              </a:rPr>
              <a:t>in the user account, its credit limit. If the withdraw amount in the range between the current</a:t>
            </a:r>
            <a:br>
              <a:rPr lang="en-US" sz="2000" dirty="0">
                <a:solidFill>
                  <a:schemeClr val="tx1"/>
                </a:solidFill>
                <a:latin typeface="+mj-lt"/>
              </a:rPr>
            </a:br>
            <a:r>
              <a:rPr lang="en-US" sz="2000" dirty="0">
                <a:solidFill>
                  <a:schemeClr val="tx1"/>
                </a:solidFill>
                <a:latin typeface="+mj-lt"/>
              </a:rPr>
              <a:t>amount + credit limit, the system dispense the cash and prints a withdraw receipt, </a:t>
            </a:r>
            <a:br>
              <a:rPr lang="en-US" sz="2000" dirty="0">
                <a:solidFill>
                  <a:schemeClr val="tx1"/>
                </a:solidFill>
                <a:latin typeface="+mj-lt"/>
              </a:rPr>
            </a:br>
            <a:r>
              <a:rPr lang="en-US" sz="2000" dirty="0">
                <a:solidFill>
                  <a:srgbClr val="C00000"/>
                </a:solidFill>
                <a:latin typeface="+mj-lt"/>
              </a:rPr>
              <a:t>else alternative 2 – amount exceeded is executed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.</a:t>
            </a:r>
          </a:p>
          <a:p>
            <a:pPr marL="342900" lvl="0" indent="-342900" defTabSz="914400">
              <a:spcAft>
                <a:spcPts val="0"/>
              </a:spcAft>
              <a:buClrTx/>
              <a:buSzTx/>
              <a:buFont typeface="Wingdings" pitchFamily="2" charset="2"/>
              <a:buChar char="q"/>
              <a:defRPr/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Cross References: 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UC-3</a:t>
            </a:r>
            <a:endParaRPr lang="en-US" sz="2000" dirty="0">
              <a:latin typeface="+mj-lt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EAE2D1A0-CE28-459B-8C21-71CC56CEF1F2}"/>
              </a:ext>
            </a:extLst>
          </p:cNvPr>
          <p:cNvSpPr txBox="1">
            <a:spLocks/>
          </p:cNvSpPr>
          <p:nvPr/>
        </p:nvSpPr>
        <p:spPr>
          <a:xfrm rot="5400000">
            <a:off x="11852787" y="162232"/>
            <a:ext cx="191729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 S.</a:t>
            </a:r>
            <a:fld id="{D57F1E4F-1CFF-5643-939E-217C01CDF565}" type="slidenum">
              <a:rPr lang="en-US" sz="1400" b="1" smtClean="0"/>
              <a:pPr/>
              <a:t>12</a:t>
            </a:fld>
            <a:r>
              <a:rPr lang="en-US" sz="1400" b="1" dirty="0"/>
              <a:t>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3E109EE-77C0-4AC0-BB07-5D07C5086C3E}"/>
              </a:ext>
            </a:extLst>
          </p:cNvPr>
          <p:cNvSpPr>
            <a:spLocks noGrp="1"/>
          </p:cNvSpPr>
          <p:nvPr/>
        </p:nvSpPr>
        <p:spPr>
          <a:xfrm>
            <a:off x="-137653" y="376259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3" name="Rectangle 2" descr="M. Mhahudul Hasan">
            <a:extLst>
              <a:ext uri="{FF2B5EF4-FFF2-40B4-BE49-F238E27FC236}">
                <a16:creationId xmlns:a16="http://schemas.microsoft.com/office/drawing/2014/main" id="{F70E40E8-7988-4473-AE58-7AB2DA4AAE32}"/>
              </a:ext>
            </a:extLst>
          </p:cNvPr>
          <p:cNvSpPr/>
          <p:nvPr/>
        </p:nvSpPr>
        <p:spPr>
          <a:xfrm>
            <a:off x="0" y="6636774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9" name="Rectangle 8" descr="M. Mhahudul Hasan">
            <a:extLst>
              <a:ext uri="{FF2B5EF4-FFF2-40B4-BE49-F238E27FC236}">
                <a16:creationId xmlns:a16="http://schemas.microsoft.com/office/drawing/2014/main" id="{1C8A9A93-5568-477A-8E57-61231E913D3A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Chapter 2:  Use Case Diagram</a:t>
            </a:r>
          </a:p>
        </p:txBody>
      </p:sp>
      <p:sp>
        <p:nvSpPr>
          <p:cNvPr id="11" name="Rectangle 10" descr="M. Mhahudul Hasan">
            <a:extLst>
              <a:ext uri="{FF2B5EF4-FFF2-40B4-BE49-F238E27FC236}">
                <a16:creationId xmlns:a16="http://schemas.microsoft.com/office/drawing/2014/main" id="{46E451D6-D87C-4417-B09C-BB89E660144E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M. Mahmudul Hasan</a:t>
            </a:r>
          </a:p>
        </p:txBody>
      </p:sp>
    </p:spTree>
    <p:extLst>
      <p:ext uri="{BB962C8B-B14F-4D97-AF65-F5344CB8AC3E}">
        <p14:creationId xmlns:p14="http://schemas.microsoft.com/office/powerpoint/2010/main" val="1545746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27703" y="613185"/>
            <a:ext cx="11029950" cy="507693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b="1" dirty="0">
                <a:solidFill>
                  <a:srgbClr val="0070C0"/>
                </a:solidFill>
                <a:latin typeface="Book Antiqua" pitchFamily="18" charset="0"/>
              </a:rPr>
              <a:t>Use cases  example –  </a:t>
            </a:r>
            <a:r>
              <a:rPr lang="en-US" altLang="en-US" b="1" dirty="0" err="1">
                <a:solidFill>
                  <a:srgbClr val="0070C0"/>
                </a:solidFill>
                <a:latin typeface="Book Antiqua" pitchFamily="18" charset="0"/>
              </a:rPr>
              <a:t>atm</a:t>
            </a:r>
            <a:r>
              <a:rPr lang="en-US" altLang="en-US" b="1" dirty="0">
                <a:solidFill>
                  <a:srgbClr val="0070C0"/>
                </a:solidFill>
                <a:latin typeface="Book Antiqua" pitchFamily="18" charset="0"/>
              </a:rPr>
              <a:t>  money   withdraw</a:t>
            </a:r>
            <a:endParaRPr lang="en-US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563665" y="1463625"/>
            <a:ext cx="10920412" cy="4114800"/>
          </a:xfrm>
        </p:spPr>
        <p:txBody>
          <a:bodyPr>
            <a:noAutofit/>
          </a:bodyPr>
          <a:lstStyle/>
          <a:p>
            <a:pPr marL="342900" lvl="0" indent="-342900" defTabSz="914400">
              <a:lnSpc>
                <a:spcPct val="90000"/>
              </a:lnSpc>
              <a:spcAft>
                <a:spcPts val="0"/>
              </a:spcAft>
              <a:buClrTx/>
              <a:buSzTx/>
              <a:buFont typeface="Wingdings" pitchFamily="2" charset="2"/>
              <a:buChar char="q"/>
              <a:defRPr/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Actors: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 Customer</a:t>
            </a:r>
            <a:br>
              <a:rPr lang="en-US" sz="2000" dirty="0">
                <a:solidFill>
                  <a:schemeClr val="tx1"/>
                </a:solidFill>
                <a:latin typeface="+mj-lt"/>
              </a:rPr>
            </a:br>
            <a:endParaRPr lang="en-US" sz="2000" dirty="0">
              <a:solidFill>
                <a:schemeClr val="tx1"/>
              </a:solidFill>
              <a:latin typeface="+mj-lt"/>
            </a:endParaRPr>
          </a:p>
          <a:p>
            <a:pPr marL="342900" lvl="0" indent="-342900" defTabSz="914400">
              <a:lnSpc>
                <a:spcPct val="90000"/>
              </a:lnSpc>
              <a:spcAft>
                <a:spcPts val="0"/>
              </a:spcAft>
              <a:buClrTx/>
              <a:buSzTx/>
              <a:buFont typeface="Wingdings" pitchFamily="2" charset="2"/>
              <a:buChar char="q"/>
              <a:defRPr/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Pre-Condition:</a:t>
            </a:r>
          </a:p>
          <a:p>
            <a:pPr marL="742950" lvl="1" indent="-285750" defTabSz="914400">
              <a:lnSpc>
                <a:spcPct val="90000"/>
              </a:lnSpc>
              <a:spcAft>
                <a:spcPts val="0"/>
              </a:spcAft>
              <a:buClrTx/>
              <a:buSzTx/>
              <a:buFont typeface="Arial" pitchFamily="34" charset="0"/>
              <a:buChar char="–"/>
              <a:defRPr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The ATM must be in a state ready to accept transactions</a:t>
            </a:r>
          </a:p>
          <a:p>
            <a:pPr marL="742950" lvl="1" indent="-285750" defTabSz="914400">
              <a:lnSpc>
                <a:spcPct val="90000"/>
              </a:lnSpc>
              <a:spcAft>
                <a:spcPts val="0"/>
              </a:spcAft>
              <a:buClrTx/>
              <a:buSzTx/>
              <a:buFont typeface="Arial" pitchFamily="34" charset="0"/>
              <a:buChar char="–"/>
              <a:defRPr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The ATM must have at least some cash on hand that it can dispense</a:t>
            </a:r>
          </a:p>
          <a:p>
            <a:pPr marL="742950" lvl="1" indent="-285750" defTabSz="914400">
              <a:lnSpc>
                <a:spcPct val="90000"/>
              </a:lnSpc>
              <a:spcAft>
                <a:spcPts val="0"/>
              </a:spcAft>
              <a:buClrTx/>
              <a:buSzTx/>
              <a:buFont typeface="Arial" pitchFamily="34" charset="0"/>
              <a:buChar char="–"/>
              <a:defRPr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The ATM must have enough paper to print a receipt for at least one transaction</a:t>
            </a:r>
            <a:br>
              <a:rPr lang="en-US" sz="2000" dirty="0">
                <a:solidFill>
                  <a:schemeClr val="tx1"/>
                </a:solidFill>
                <a:latin typeface="+mj-lt"/>
              </a:rPr>
            </a:br>
            <a:endParaRPr lang="en-US" sz="2000" dirty="0">
              <a:solidFill>
                <a:schemeClr val="tx1"/>
              </a:solidFill>
              <a:latin typeface="+mj-lt"/>
            </a:endParaRPr>
          </a:p>
          <a:p>
            <a:pPr marL="342900" lvl="0" indent="-342900" defTabSz="914400">
              <a:lnSpc>
                <a:spcPct val="90000"/>
              </a:lnSpc>
              <a:spcAft>
                <a:spcPts val="0"/>
              </a:spcAft>
              <a:buClrTx/>
              <a:buSzTx/>
              <a:buFont typeface="Wingdings" pitchFamily="2" charset="2"/>
              <a:buChar char="q"/>
              <a:defRPr/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Post Condition:</a:t>
            </a:r>
          </a:p>
          <a:p>
            <a:pPr marL="742950" lvl="1" indent="-285750" defTabSz="914400">
              <a:lnSpc>
                <a:spcPct val="90000"/>
              </a:lnSpc>
              <a:spcAft>
                <a:spcPts val="0"/>
              </a:spcAft>
              <a:buClrTx/>
              <a:buSzTx/>
              <a:buFont typeface="Arial" pitchFamily="34" charset="0"/>
              <a:buChar char="–"/>
              <a:defRPr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The current amount of cash in the user account is the amount before the withdraw minus the withdraw amount</a:t>
            </a:r>
          </a:p>
          <a:p>
            <a:pPr marL="742950" lvl="1" indent="-285750" defTabSz="914400">
              <a:lnSpc>
                <a:spcPct val="90000"/>
              </a:lnSpc>
              <a:spcAft>
                <a:spcPts val="0"/>
              </a:spcAft>
              <a:buClrTx/>
              <a:buSzTx/>
              <a:buFont typeface="Arial" pitchFamily="34" charset="0"/>
              <a:buChar char="–"/>
              <a:defRPr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A receipt was printed on the withdraw amount</a:t>
            </a:r>
          </a:p>
          <a:p>
            <a:pPr marL="742950" lvl="1" indent="-285750" defTabSz="914400">
              <a:lnSpc>
                <a:spcPct val="90000"/>
              </a:lnSpc>
              <a:spcAft>
                <a:spcPts val="0"/>
              </a:spcAft>
              <a:buClrTx/>
              <a:buSzTx/>
              <a:buFont typeface="Arial" pitchFamily="34" charset="0"/>
              <a:buChar char="–"/>
              <a:defRPr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The withdraw transaction was audit in the System log file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5E90CDEA-99D1-4F07-9266-ACDB79BB370C}"/>
              </a:ext>
            </a:extLst>
          </p:cNvPr>
          <p:cNvSpPr txBox="1">
            <a:spLocks/>
          </p:cNvSpPr>
          <p:nvPr/>
        </p:nvSpPr>
        <p:spPr>
          <a:xfrm rot="5400000">
            <a:off x="11852787" y="162232"/>
            <a:ext cx="191729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 S.</a:t>
            </a:r>
            <a:fld id="{D57F1E4F-1CFF-5643-939E-217C01CDF565}" type="slidenum">
              <a:rPr lang="en-US" sz="1400" b="1" smtClean="0"/>
              <a:pPr/>
              <a:t>13</a:t>
            </a:fld>
            <a:r>
              <a:rPr lang="en-US" sz="1400" b="1" dirty="0"/>
              <a:t>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2E17333-5B6F-4634-B70D-4393047AB208}"/>
              </a:ext>
            </a:extLst>
          </p:cNvPr>
          <p:cNvSpPr>
            <a:spLocks noGrp="1"/>
          </p:cNvSpPr>
          <p:nvPr/>
        </p:nvSpPr>
        <p:spPr>
          <a:xfrm>
            <a:off x="-137653" y="376259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3" name="Rectangle 2" descr="M. Mhahudul Hasan">
            <a:extLst>
              <a:ext uri="{FF2B5EF4-FFF2-40B4-BE49-F238E27FC236}">
                <a16:creationId xmlns:a16="http://schemas.microsoft.com/office/drawing/2014/main" id="{B405D476-85D0-45D8-8C27-E11175E81296}"/>
              </a:ext>
            </a:extLst>
          </p:cNvPr>
          <p:cNvSpPr/>
          <p:nvPr/>
        </p:nvSpPr>
        <p:spPr>
          <a:xfrm>
            <a:off x="0" y="6636774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9" name="Rectangle 8" descr="M. Mhahudul Hasan">
            <a:extLst>
              <a:ext uri="{FF2B5EF4-FFF2-40B4-BE49-F238E27FC236}">
                <a16:creationId xmlns:a16="http://schemas.microsoft.com/office/drawing/2014/main" id="{A454C812-F5B4-4761-9778-C941B9FF9DE4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Chapter 2:  Use Case Diagram</a:t>
            </a:r>
          </a:p>
        </p:txBody>
      </p:sp>
      <p:sp>
        <p:nvSpPr>
          <p:cNvPr id="11" name="Rectangle 10" descr="M. Mhahudul Hasan">
            <a:extLst>
              <a:ext uri="{FF2B5EF4-FFF2-40B4-BE49-F238E27FC236}">
                <a16:creationId xmlns:a16="http://schemas.microsoft.com/office/drawing/2014/main" id="{9B3D68A6-1431-4AEC-B29B-B665A06A326C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M. Mahmudul Hasan</a:t>
            </a:r>
          </a:p>
        </p:txBody>
      </p:sp>
    </p:spTree>
    <p:extLst>
      <p:ext uri="{BB962C8B-B14F-4D97-AF65-F5344CB8AC3E}">
        <p14:creationId xmlns:p14="http://schemas.microsoft.com/office/powerpoint/2010/main" val="3017070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98207" y="627933"/>
            <a:ext cx="11029950" cy="507693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b="1" dirty="0">
                <a:solidFill>
                  <a:srgbClr val="0070C0"/>
                </a:solidFill>
                <a:latin typeface="Book Antiqua" pitchFamily="18" charset="0"/>
              </a:rPr>
              <a:t>Use cases  example –  </a:t>
            </a:r>
            <a:r>
              <a:rPr lang="en-US" altLang="en-US" b="1" dirty="0" err="1">
                <a:solidFill>
                  <a:srgbClr val="0070C0"/>
                </a:solidFill>
                <a:latin typeface="Book Antiqua" pitchFamily="18" charset="0"/>
              </a:rPr>
              <a:t>atm</a:t>
            </a:r>
            <a:r>
              <a:rPr lang="en-US" altLang="en-US" b="1" dirty="0">
                <a:solidFill>
                  <a:srgbClr val="0070C0"/>
                </a:solidFill>
                <a:latin typeface="Book Antiqua" pitchFamily="18" charset="0"/>
              </a:rPr>
              <a:t>  money   withdraw</a:t>
            </a:r>
            <a:endParaRPr lang="en-US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784891" y="1474327"/>
            <a:ext cx="10920412" cy="509588"/>
          </a:xfrm>
        </p:spPr>
        <p:txBody>
          <a:bodyPr>
            <a:no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0"/>
              </a:spcAft>
              <a:buClrTx/>
              <a:buSzTx/>
              <a:buFont typeface="Wingdings" pitchFamily="2" charset="2"/>
              <a:buChar char="q"/>
              <a:defRPr/>
            </a:pPr>
            <a:r>
              <a:rPr lang="en-US" sz="2000" b="1" dirty="0">
                <a:latin typeface="Bell MT" pitchFamily="18" charset="0"/>
              </a:rPr>
              <a:t>Typical Course of events:</a:t>
            </a:r>
            <a:br>
              <a:rPr lang="en-US" sz="2000" dirty="0">
                <a:solidFill>
                  <a:schemeClr val="tx1"/>
                </a:solidFill>
                <a:latin typeface="+mj-lt"/>
              </a:rPr>
            </a:br>
            <a:endParaRPr lang="en-US" sz="2000" dirty="0">
              <a:solidFill>
                <a:schemeClr val="tx1"/>
              </a:solidFill>
              <a:latin typeface="+mj-lt"/>
            </a:endParaRPr>
          </a:p>
        </p:txBody>
      </p:sp>
      <p:graphicFrame>
        <p:nvGraphicFramePr>
          <p:cNvPr id="5" name="Group 5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08250738"/>
              </p:ext>
            </p:extLst>
          </p:nvPr>
        </p:nvGraphicFramePr>
        <p:xfrm>
          <a:off x="903023" y="1990330"/>
          <a:ext cx="10763794" cy="4087122"/>
        </p:xfrm>
        <a:graphic>
          <a:graphicData uri="http://schemas.openxmlformats.org/drawingml/2006/table">
            <a:tbl>
              <a:tblPr/>
              <a:tblGrid>
                <a:gridCol w="49769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868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j-lt"/>
                        </a:rPr>
                        <a:t>Actor Actions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j-lt"/>
                        </a:rPr>
                        <a:t>System Actions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08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j-lt"/>
                        </a:rPr>
                        <a:t>1. Begins when a Customer arrives at ATM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+mj-lt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66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j-lt"/>
                        </a:rPr>
                        <a:t>2. Customer inserts a Credit card into ATM &amp; PIN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j-lt"/>
                        </a:rPr>
                        <a:t>3. System verifies the customer ID and PIN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18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j-lt"/>
                        </a:rPr>
                        <a:t>5. Customer chooses  “Withdraw” operation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j-lt"/>
                        </a:rPr>
                        <a:t>4. System asks for an operation type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59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j-lt"/>
                        </a:rPr>
                        <a:t>7. Customer enters the cash amount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j-lt"/>
                        </a:rPr>
                        <a:t>6. System asks for the withdraw amount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83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+mj-lt"/>
                      </a:endParaRP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j-lt"/>
                        </a:rPr>
                        <a:t>8. System checks if withdraw amount is legal (50k per day)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00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+mj-lt"/>
                      </a:endParaRP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j-lt"/>
                        </a:rPr>
                        <a:t>9. System dispenses the cash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908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+mj-lt"/>
                      </a:endParaRP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j-lt"/>
                        </a:rPr>
                        <a:t>10. System deduces the withdraw amount from account </a:t>
                      </a: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j-lt"/>
                        </a:rPr>
                      </a:b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j-lt"/>
                        </a:rPr>
                        <a:t>      balance and set new balance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59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+mj-lt"/>
                      </a:endParaRP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j-lt"/>
                        </a:rPr>
                        <a:t>11. System prints a receipt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59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j-lt"/>
                        </a:rPr>
                        <a:t>13. Customer takes the cash and the receipt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+mj-lt"/>
                        </a:rPr>
                        <a:t>12. System ejects the cash card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F2C64CDD-C2AC-43E8-B790-DE0060260981}"/>
              </a:ext>
            </a:extLst>
          </p:cNvPr>
          <p:cNvSpPr txBox="1">
            <a:spLocks/>
          </p:cNvSpPr>
          <p:nvPr/>
        </p:nvSpPr>
        <p:spPr>
          <a:xfrm rot="5400000">
            <a:off x="11852787" y="162232"/>
            <a:ext cx="191729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 S.</a:t>
            </a:r>
            <a:fld id="{D57F1E4F-1CFF-5643-939E-217C01CDF565}" type="slidenum">
              <a:rPr lang="en-US" sz="1400" b="1" smtClean="0"/>
              <a:pPr/>
              <a:t>14</a:t>
            </a:fld>
            <a:r>
              <a:rPr lang="en-US" sz="1400" b="1" dirty="0"/>
              <a:t>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6B3AB9A-43C9-44D0-8046-FDB689E26A21}"/>
              </a:ext>
            </a:extLst>
          </p:cNvPr>
          <p:cNvSpPr>
            <a:spLocks noGrp="1"/>
          </p:cNvSpPr>
          <p:nvPr/>
        </p:nvSpPr>
        <p:spPr>
          <a:xfrm>
            <a:off x="-137653" y="376259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3" name="Rectangle 2" descr="M. Mhahudul Hasan">
            <a:extLst>
              <a:ext uri="{FF2B5EF4-FFF2-40B4-BE49-F238E27FC236}">
                <a16:creationId xmlns:a16="http://schemas.microsoft.com/office/drawing/2014/main" id="{A1301CA7-2394-41D5-8135-8ADEC92F9DF5}"/>
              </a:ext>
            </a:extLst>
          </p:cNvPr>
          <p:cNvSpPr/>
          <p:nvPr/>
        </p:nvSpPr>
        <p:spPr>
          <a:xfrm>
            <a:off x="0" y="6636774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6" name="Rectangle 5" descr="M. Mhahudul Hasan">
            <a:extLst>
              <a:ext uri="{FF2B5EF4-FFF2-40B4-BE49-F238E27FC236}">
                <a16:creationId xmlns:a16="http://schemas.microsoft.com/office/drawing/2014/main" id="{12BF6B06-6843-4C94-8A90-856A7C3B9918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Chapter 2:  Use Case Diagram</a:t>
            </a:r>
          </a:p>
        </p:txBody>
      </p:sp>
      <p:sp>
        <p:nvSpPr>
          <p:cNvPr id="12" name="Rectangle 11" descr="M. Mhahudul Hasan">
            <a:extLst>
              <a:ext uri="{FF2B5EF4-FFF2-40B4-BE49-F238E27FC236}">
                <a16:creationId xmlns:a16="http://schemas.microsoft.com/office/drawing/2014/main" id="{D245FC0D-45A2-4E4A-B7DF-9A3DDE4A223B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M. Mahmudul Hasan</a:t>
            </a:r>
          </a:p>
        </p:txBody>
      </p:sp>
    </p:spTree>
    <p:extLst>
      <p:ext uri="{BB962C8B-B14F-4D97-AF65-F5344CB8AC3E}">
        <p14:creationId xmlns:p14="http://schemas.microsoft.com/office/powerpoint/2010/main" val="43638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86696" y="672179"/>
            <a:ext cx="11029950" cy="522441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070C0"/>
                </a:solidFill>
                <a:latin typeface="Book Antiqua" pitchFamily="18" charset="0"/>
              </a:rPr>
              <a:t>Use cases  example –  atm  money   withdraw</a:t>
            </a:r>
            <a:endParaRPr lang="en-US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445678" y="1507869"/>
            <a:ext cx="10920412" cy="4701202"/>
          </a:xfrm>
        </p:spPr>
        <p:txBody>
          <a:bodyPr>
            <a:noAutofit/>
          </a:bodyPr>
          <a:lstStyle/>
          <a:p>
            <a:pPr marL="342900" lvl="0" indent="-342900" defTabSz="914400">
              <a:lnSpc>
                <a:spcPct val="90000"/>
              </a:lnSpc>
              <a:spcAft>
                <a:spcPts val="0"/>
              </a:spcAft>
              <a:buClrTx/>
              <a:buSzTx/>
              <a:buFont typeface="Wingdings" pitchFamily="2" charset="2"/>
              <a:buChar char="q"/>
              <a:defRPr/>
            </a:pPr>
            <a:r>
              <a:rPr lang="en-US" sz="2200" b="1" dirty="0">
                <a:solidFill>
                  <a:schemeClr val="tx1"/>
                </a:solidFill>
                <a:latin typeface="+mj-lt"/>
              </a:rPr>
              <a:t>Alternative flow of events:</a:t>
            </a:r>
          </a:p>
          <a:p>
            <a:pPr marL="742950" lvl="1" indent="-285750" defTabSz="914400">
              <a:lnSpc>
                <a:spcPct val="90000"/>
              </a:lnSpc>
              <a:spcAft>
                <a:spcPts val="0"/>
              </a:spcAft>
              <a:buClrTx/>
              <a:buSzTx/>
              <a:buFont typeface="Arial" pitchFamily="34" charset="0"/>
              <a:buChar char="–"/>
              <a:defRPr/>
            </a:pPr>
            <a:r>
              <a:rPr lang="en-US" sz="2200" dirty="0">
                <a:solidFill>
                  <a:srgbClr val="C00000"/>
                </a:solidFill>
                <a:latin typeface="+mj-lt"/>
              </a:rPr>
              <a:t>Step 3: </a:t>
            </a:r>
            <a:r>
              <a:rPr lang="en-US" sz="2200" dirty="0">
                <a:solidFill>
                  <a:schemeClr val="tx1"/>
                </a:solidFill>
                <a:latin typeface="+mj-lt"/>
              </a:rPr>
              <a:t>Customer authorization failed. Display an error message, cancel the transaction and eject the card. Some other thing may happen for example go to </a:t>
            </a:r>
            <a:r>
              <a:rPr lang="en-US" sz="2200" dirty="0">
                <a:solidFill>
                  <a:srgbClr val="7030A0"/>
                </a:solidFill>
                <a:latin typeface="+mj-lt"/>
              </a:rPr>
              <a:t>step 2 </a:t>
            </a:r>
            <a:r>
              <a:rPr lang="en-US" sz="2200" dirty="0">
                <a:solidFill>
                  <a:schemeClr val="tx1"/>
                </a:solidFill>
                <a:latin typeface="+mj-lt"/>
              </a:rPr>
              <a:t>try login again for maximum 3 times and after that the failed login attempt will seize and inform related authority of any suspicious activity in the ATM machine.</a:t>
            </a:r>
          </a:p>
          <a:p>
            <a:pPr marL="742950" lvl="1" indent="-285750" defTabSz="914400">
              <a:lnSpc>
                <a:spcPct val="90000"/>
              </a:lnSpc>
              <a:spcAft>
                <a:spcPts val="0"/>
              </a:spcAft>
              <a:buClrTx/>
              <a:buSzTx/>
              <a:buFont typeface="Arial" pitchFamily="34" charset="0"/>
              <a:buChar char="–"/>
              <a:defRPr/>
            </a:pPr>
            <a:r>
              <a:rPr lang="en-US" sz="2200" dirty="0">
                <a:solidFill>
                  <a:srgbClr val="C00000"/>
                </a:solidFill>
                <a:latin typeface="+mj-lt"/>
              </a:rPr>
              <a:t>Step 8: </a:t>
            </a:r>
            <a:r>
              <a:rPr lang="en-US" sz="2200" dirty="0">
                <a:solidFill>
                  <a:schemeClr val="tx1"/>
                </a:solidFill>
                <a:latin typeface="+mj-lt"/>
              </a:rPr>
              <a:t>Customer has insufficient funds in its account. Display an error message and go to </a:t>
            </a:r>
            <a:r>
              <a:rPr lang="en-US" sz="2200" dirty="0">
                <a:solidFill>
                  <a:srgbClr val="7030A0"/>
                </a:solidFill>
                <a:latin typeface="+mj-lt"/>
              </a:rPr>
              <a:t>step 6</a:t>
            </a:r>
            <a:r>
              <a:rPr lang="en-US" sz="2200" dirty="0">
                <a:solidFill>
                  <a:schemeClr val="tx1"/>
                </a:solidFill>
                <a:latin typeface="+mj-lt"/>
              </a:rPr>
              <a:t>.</a:t>
            </a:r>
          </a:p>
          <a:p>
            <a:pPr marL="742950" lvl="1" indent="-285750" defTabSz="914400">
              <a:lnSpc>
                <a:spcPct val="90000"/>
              </a:lnSpc>
              <a:spcAft>
                <a:spcPts val="0"/>
              </a:spcAft>
              <a:buClrTx/>
              <a:buSzTx/>
              <a:buFont typeface="Arial" pitchFamily="34" charset="0"/>
              <a:buChar char="–"/>
              <a:defRPr/>
            </a:pPr>
            <a:r>
              <a:rPr lang="en-US" sz="2200" dirty="0">
                <a:solidFill>
                  <a:srgbClr val="C00000"/>
                </a:solidFill>
                <a:latin typeface="+mj-lt"/>
              </a:rPr>
              <a:t>Step 8: </a:t>
            </a:r>
            <a:r>
              <a:rPr lang="en-US" sz="2200" dirty="0">
                <a:solidFill>
                  <a:schemeClr val="tx1"/>
                </a:solidFill>
                <a:latin typeface="+mj-lt"/>
              </a:rPr>
              <a:t>Customer exceeds its legal amount. Display an error message and go to </a:t>
            </a:r>
            <a:r>
              <a:rPr lang="en-US" sz="2200" dirty="0">
                <a:solidFill>
                  <a:srgbClr val="7030A0"/>
                </a:solidFill>
                <a:latin typeface="+mj-lt"/>
              </a:rPr>
              <a:t>step 4</a:t>
            </a:r>
            <a:r>
              <a:rPr lang="en-US" sz="2200" dirty="0">
                <a:solidFill>
                  <a:schemeClr val="tx1"/>
                </a:solidFill>
                <a:latin typeface="+mj-lt"/>
              </a:rPr>
              <a:t>.</a:t>
            </a:r>
          </a:p>
          <a:p>
            <a:pPr marL="742950" lvl="1" indent="-285750" defTabSz="914400">
              <a:lnSpc>
                <a:spcPct val="90000"/>
              </a:lnSpc>
              <a:spcAft>
                <a:spcPts val="0"/>
              </a:spcAft>
              <a:buClrTx/>
              <a:buSzTx/>
              <a:defRPr/>
            </a:pPr>
            <a:endParaRPr lang="en-US" sz="2200" dirty="0">
              <a:solidFill>
                <a:schemeClr val="tx1"/>
              </a:solidFill>
              <a:latin typeface="+mj-lt"/>
            </a:endParaRPr>
          </a:p>
          <a:p>
            <a:pPr marL="342900" lvl="0" indent="-342900" defTabSz="914400">
              <a:lnSpc>
                <a:spcPct val="90000"/>
              </a:lnSpc>
              <a:spcAft>
                <a:spcPts val="0"/>
              </a:spcAft>
              <a:buClrTx/>
              <a:buSzTx/>
              <a:buFont typeface="Wingdings" pitchFamily="2" charset="2"/>
              <a:buChar char="q"/>
              <a:defRPr/>
            </a:pPr>
            <a:r>
              <a:rPr lang="en-US" sz="2200" b="1" dirty="0">
                <a:solidFill>
                  <a:schemeClr val="tx1"/>
                </a:solidFill>
                <a:latin typeface="+mj-lt"/>
              </a:rPr>
              <a:t>Exceptional flow of events:</a:t>
            </a:r>
          </a:p>
          <a:p>
            <a:pPr marL="742950" lvl="1" indent="-285750" defTabSz="914400">
              <a:lnSpc>
                <a:spcPct val="90000"/>
              </a:lnSpc>
              <a:spcAft>
                <a:spcPts val="0"/>
              </a:spcAft>
              <a:buClrTx/>
              <a:buSzTx/>
              <a:buFont typeface="Arial" pitchFamily="34" charset="0"/>
              <a:buChar char="–"/>
              <a:defRPr/>
            </a:pPr>
            <a:r>
              <a:rPr lang="en-US" sz="2200" dirty="0">
                <a:solidFill>
                  <a:schemeClr val="tx1"/>
                </a:solidFill>
                <a:latin typeface="+mj-lt"/>
              </a:rPr>
              <a:t>Power failure in the process of the transaction </a:t>
            </a:r>
            <a:r>
              <a:rPr lang="en-US" sz="2200" dirty="0">
                <a:solidFill>
                  <a:srgbClr val="7030A0"/>
                </a:solidFill>
                <a:latin typeface="+mj-lt"/>
              </a:rPr>
              <a:t>before step 9</a:t>
            </a:r>
            <a:r>
              <a:rPr lang="en-US" sz="2200" dirty="0">
                <a:solidFill>
                  <a:schemeClr val="tx1"/>
                </a:solidFill>
                <a:latin typeface="+mj-lt"/>
              </a:rPr>
              <a:t>, cancel the transaction and eject the card</a:t>
            </a:r>
          </a:p>
          <a:p>
            <a:pPr marL="342900" lvl="0" indent="-342900" defTabSz="914400">
              <a:lnSpc>
                <a:spcPct val="90000"/>
              </a:lnSpc>
              <a:spcAft>
                <a:spcPts val="0"/>
              </a:spcAft>
              <a:buClrTx/>
              <a:buSzTx/>
              <a:buNone/>
              <a:defRPr/>
            </a:pPr>
            <a:endParaRPr lang="en-US" sz="2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7096AD7-E141-4168-9306-0092D5BABDEA}"/>
              </a:ext>
            </a:extLst>
          </p:cNvPr>
          <p:cNvSpPr txBox="1">
            <a:spLocks/>
          </p:cNvSpPr>
          <p:nvPr/>
        </p:nvSpPr>
        <p:spPr>
          <a:xfrm rot="5400000">
            <a:off x="11852787" y="162232"/>
            <a:ext cx="191729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/>
              <a:t> S.</a:t>
            </a:r>
            <a:fld id="{D57F1E4F-1CFF-5643-939E-217C01CDF565}" type="slidenum">
              <a:rPr lang="en-US" sz="1400" b="1" smtClean="0"/>
              <a:pPr/>
              <a:t>15</a:t>
            </a:fld>
            <a:r>
              <a:rPr lang="en-US" sz="1400" b="1"/>
              <a:t> </a:t>
            </a:r>
            <a:endParaRPr lang="en-US" sz="1400" b="1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2C3B8E8-7EBD-431B-AA3F-9A6EB9C8BB5D}"/>
              </a:ext>
            </a:extLst>
          </p:cNvPr>
          <p:cNvSpPr>
            <a:spLocks noGrp="1"/>
          </p:cNvSpPr>
          <p:nvPr/>
        </p:nvSpPr>
        <p:spPr>
          <a:xfrm>
            <a:off x="-137653" y="376259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>
                <a:solidFill>
                  <a:schemeClr val="bg1">
                    <a:lumMod val="50000"/>
                  </a:schemeClr>
                </a:solidFill>
              </a:rPr>
              <a:t>  MMH</a:t>
            </a:r>
            <a:endParaRPr lang="en-US" sz="3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Rectangle 2" descr="M. Mhahudul Hasan">
            <a:extLst>
              <a:ext uri="{FF2B5EF4-FFF2-40B4-BE49-F238E27FC236}">
                <a16:creationId xmlns:a16="http://schemas.microsoft.com/office/drawing/2014/main" id="{4BE68796-2ED8-4D5A-8FF5-F8DFBBF447E8}"/>
              </a:ext>
            </a:extLst>
          </p:cNvPr>
          <p:cNvSpPr/>
          <p:nvPr/>
        </p:nvSpPr>
        <p:spPr>
          <a:xfrm>
            <a:off x="0" y="6636774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9" name="Rectangle 8" descr="M. Mhahudul Hasan">
            <a:extLst>
              <a:ext uri="{FF2B5EF4-FFF2-40B4-BE49-F238E27FC236}">
                <a16:creationId xmlns:a16="http://schemas.microsoft.com/office/drawing/2014/main" id="{D0E328B3-9439-47C8-A7CC-00A65E4690D1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Chapter 2:  Use Case Diagram</a:t>
            </a:r>
          </a:p>
        </p:txBody>
      </p:sp>
      <p:sp>
        <p:nvSpPr>
          <p:cNvPr id="11" name="Rectangle 10" descr="M. Mhahudul Hasan">
            <a:extLst>
              <a:ext uri="{FF2B5EF4-FFF2-40B4-BE49-F238E27FC236}">
                <a16:creationId xmlns:a16="http://schemas.microsoft.com/office/drawing/2014/main" id="{A3653883-661A-498F-AEE3-E169986B3642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M. Mahmudul Hasan</a:t>
            </a:r>
          </a:p>
        </p:txBody>
      </p:sp>
    </p:spTree>
    <p:extLst>
      <p:ext uri="{BB962C8B-B14F-4D97-AF65-F5344CB8AC3E}">
        <p14:creationId xmlns:p14="http://schemas.microsoft.com/office/powerpoint/2010/main" val="174346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0722" y="568941"/>
            <a:ext cx="11029950" cy="566686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070C0"/>
                </a:solidFill>
                <a:latin typeface="Book Antiqua" pitchFamily="18" charset="0"/>
              </a:rPr>
              <a:t>Identify  Use cases</a:t>
            </a:r>
            <a:endParaRPr lang="en-US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740646" y="1387885"/>
            <a:ext cx="10920412" cy="4611688"/>
          </a:xfrm>
        </p:spPr>
        <p:txBody>
          <a:bodyPr>
            <a:noAutofit/>
          </a:bodyPr>
          <a:lstStyle/>
          <a:p>
            <a:pPr marL="342900" lvl="0" indent="-342900" defTabSz="914400">
              <a:lnSpc>
                <a:spcPct val="80000"/>
              </a:lnSpc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q"/>
              <a:defRPr/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One method to identify use cases is actor-based:</a:t>
            </a:r>
          </a:p>
          <a:p>
            <a:pPr marL="742950" lvl="1" indent="-285750" defTabSz="914400">
              <a:lnSpc>
                <a:spcPct val="80000"/>
              </a:lnSpc>
              <a:spcAft>
                <a:spcPts val="0"/>
              </a:spcAft>
              <a:buClr>
                <a:schemeClr val="tx2"/>
              </a:buClr>
              <a:buSzTx/>
              <a:buNone/>
              <a:defRPr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-   Identify the actors related to a system or organization.</a:t>
            </a:r>
          </a:p>
          <a:p>
            <a:pPr marL="742950" lvl="1" indent="-285750" defTabSz="914400">
              <a:lnSpc>
                <a:spcPct val="80000"/>
              </a:lnSpc>
              <a:spcAft>
                <a:spcPts val="0"/>
              </a:spcAft>
              <a:buClr>
                <a:schemeClr val="tx2"/>
              </a:buClr>
              <a:buSzTx/>
              <a:buFontTx/>
              <a:buChar char="-"/>
              <a:defRPr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For each actor, identify the processes they initiate or participate in.</a:t>
            </a:r>
          </a:p>
          <a:p>
            <a:pPr marL="742950" lvl="1" indent="-285750" defTabSz="914400">
              <a:lnSpc>
                <a:spcPct val="80000"/>
              </a:lnSpc>
              <a:spcAft>
                <a:spcPts val="0"/>
              </a:spcAft>
              <a:buClr>
                <a:schemeClr val="tx2"/>
              </a:buClr>
              <a:buSzTx/>
              <a:buFontTx/>
              <a:buChar char="-"/>
              <a:defRPr/>
            </a:pPr>
            <a:endParaRPr lang="en-US" sz="2000" dirty="0">
              <a:solidFill>
                <a:schemeClr val="tx1"/>
              </a:solidFill>
              <a:latin typeface="+mj-lt"/>
            </a:endParaRPr>
          </a:p>
          <a:p>
            <a:pPr marL="342900" lvl="0" indent="-342900" defTabSz="914400">
              <a:lnSpc>
                <a:spcPct val="80000"/>
              </a:lnSpc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q"/>
              <a:defRPr/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A second method to identify use cases is event-based:</a:t>
            </a:r>
          </a:p>
          <a:p>
            <a:pPr marL="342900" lvl="0" indent="-342900" defTabSz="914400">
              <a:lnSpc>
                <a:spcPct val="80000"/>
              </a:lnSpc>
              <a:spcAft>
                <a:spcPts val="0"/>
              </a:spcAft>
              <a:buClr>
                <a:schemeClr val="tx2"/>
              </a:buClr>
              <a:buSzTx/>
              <a:buNone/>
              <a:defRPr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       - Identify the external events that a system must respond to.</a:t>
            </a:r>
          </a:p>
          <a:p>
            <a:pPr marL="342900" lvl="0" indent="-342900" defTabSz="914400">
              <a:lnSpc>
                <a:spcPct val="80000"/>
              </a:lnSpc>
              <a:spcAft>
                <a:spcPts val="0"/>
              </a:spcAft>
              <a:buClr>
                <a:schemeClr val="tx2"/>
              </a:buClr>
              <a:buSzTx/>
              <a:buNone/>
              <a:defRPr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       - Relate the events (cash withdraw) to actors (customer) and use cases (ATM system).</a:t>
            </a:r>
          </a:p>
          <a:p>
            <a:pPr marL="342900" lvl="0" indent="-342900" defTabSz="914400">
              <a:lnSpc>
                <a:spcPct val="80000"/>
              </a:lnSpc>
              <a:spcAft>
                <a:spcPts val="0"/>
              </a:spcAft>
              <a:buClr>
                <a:schemeClr val="tx2"/>
              </a:buClr>
              <a:buSzTx/>
              <a:buNone/>
              <a:defRPr/>
            </a:pPr>
            <a:endParaRPr lang="en-US" sz="2000" dirty="0">
              <a:solidFill>
                <a:schemeClr val="tx1"/>
              </a:solidFill>
              <a:latin typeface="+mj-lt"/>
            </a:endParaRPr>
          </a:p>
          <a:p>
            <a:pPr marL="342900" lvl="0" indent="-342900" defTabSz="914400">
              <a:lnSpc>
                <a:spcPct val="80000"/>
              </a:lnSpc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q"/>
              <a:defRPr/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The following questions may be used to help identify the use cases for a system:</a:t>
            </a:r>
          </a:p>
          <a:p>
            <a:pPr marL="742950" lvl="1" indent="-285750" defTabSz="914400">
              <a:lnSpc>
                <a:spcPct val="80000"/>
              </a:lnSpc>
              <a:spcAft>
                <a:spcPts val="0"/>
              </a:spcAft>
              <a:buClrTx/>
              <a:buSzTx/>
              <a:buFontTx/>
              <a:buChar char="-"/>
              <a:defRPr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What are the tasks of each actor ?</a:t>
            </a:r>
          </a:p>
          <a:p>
            <a:pPr marL="742950" lvl="1" indent="-285750" defTabSz="914400">
              <a:lnSpc>
                <a:spcPct val="80000"/>
              </a:lnSpc>
              <a:spcAft>
                <a:spcPts val="0"/>
              </a:spcAft>
              <a:buClrTx/>
              <a:buSzTx/>
              <a:buFontTx/>
              <a:buChar char="-"/>
              <a:defRPr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Will any actor create, store, change, remove, or read information in the system ?</a:t>
            </a:r>
          </a:p>
          <a:p>
            <a:pPr marL="742950" lvl="1" indent="-285750" defTabSz="914400">
              <a:lnSpc>
                <a:spcPct val="80000"/>
              </a:lnSpc>
              <a:spcAft>
                <a:spcPts val="0"/>
              </a:spcAft>
              <a:buClrTx/>
              <a:buSzTx/>
              <a:buFontTx/>
              <a:buChar char="-"/>
              <a:defRPr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What use cases will create, store, change, remove, or read this information ?</a:t>
            </a:r>
          </a:p>
          <a:p>
            <a:pPr marL="742950" lvl="1" indent="-285750" defTabSz="914400">
              <a:lnSpc>
                <a:spcPct val="80000"/>
              </a:lnSpc>
              <a:spcAft>
                <a:spcPts val="0"/>
              </a:spcAft>
              <a:buClrTx/>
              <a:buSzTx/>
              <a:buFontTx/>
              <a:buChar char="-"/>
              <a:defRPr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Will any actor need to inform the system about sudden, external changes ? </a:t>
            </a:r>
          </a:p>
          <a:p>
            <a:pPr marL="742950" lvl="1" indent="-285750" defTabSz="914400">
              <a:lnSpc>
                <a:spcPct val="80000"/>
              </a:lnSpc>
              <a:spcAft>
                <a:spcPts val="0"/>
              </a:spcAft>
              <a:buClrTx/>
              <a:buSzTx/>
              <a:buFontTx/>
              <a:buChar char="-"/>
              <a:defRPr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Does any actor need to be informed about certain occurrences in the system ?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BA0A2B6-5C78-4BB7-B624-35A996EF4253}"/>
              </a:ext>
            </a:extLst>
          </p:cNvPr>
          <p:cNvSpPr txBox="1">
            <a:spLocks/>
          </p:cNvSpPr>
          <p:nvPr/>
        </p:nvSpPr>
        <p:spPr>
          <a:xfrm rot="5400000">
            <a:off x="11852787" y="162232"/>
            <a:ext cx="191729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 S.</a:t>
            </a:r>
            <a:fld id="{D57F1E4F-1CFF-5643-939E-217C01CDF565}" type="slidenum">
              <a:rPr lang="en-US" sz="1400" b="1" smtClean="0"/>
              <a:pPr/>
              <a:t>16</a:t>
            </a:fld>
            <a:r>
              <a:rPr lang="en-US" sz="1400" b="1" dirty="0"/>
              <a:t>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D9C2256-9C81-467E-A423-01DCF83B6027}"/>
              </a:ext>
            </a:extLst>
          </p:cNvPr>
          <p:cNvSpPr>
            <a:spLocks noGrp="1"/>
          </p:cNvSpPr>
          <p:nvPr/>
        </p:nvSpPr>
        <p:spPr>
          <a:xfrm>
            <a:off x="-137653" y="376259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3" name="Rectangle 2" descr="M. Mhahudul Hasan">
            <a:extLst>
              <a:ext uri="{FF2B5EF4-FFF2-40B4-BE49-F238E27FC236}">
                <a16:creationId xmlns:a16="http://schemas.microsoft.com/office/drawing/2014/main" id="{8079F5AA-3A8E-4EFF-8720-D91A1E258868}"/>
              </a:ext>
            </a:extLst>
          </p:cNvPr>
          <p:cNvSpPr/>
          <p:nvPr/>
        </p:nvSpPr>
        <p:spPr>
          <a:xfrm>
            <a:off x="0" y="6636774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9" name="Rectangle 8" descr="M. Mhahudul Hasan">
            <a:extLst>
              <a:ext uri="{FF2B5EF4-FFF2-40B4-BE49-F238E27FC236}">
                <a16:creationId xmlns:a16="http://schemas.microsoft.com/office/drawing/2014/main" id="{FFA6C7B6-CCBB-4CC7-A438-C55D5F8AB91E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Chapter 2:  Use Case Diagram</a:t>
            </a:r>
          </a:p>
        </p:txBody>
      </p:sp>
      <p:sp>
        <p:nvSpPr>
          <p:cNvPr id="11" name="Rectangle 10" descr="M. Mhahudul Hasan">
            <a:extLst>
              <a:ext uri="{FF2B5EF4-FFF2-40B4-BE49-F238E27FC236}">
                <a16:creationId xmlns:a16="http://schemas.microsoft.com/office/drawing/2014/main" id="{76FCF0BE-B873-4D02-8C7A-511B96D5C374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M. Mahmudul Hasan</a:t>
            </a:r>
          </a:p>
        </p:txBody>
      </p:sp>
    </p:spTree>
    <p:extLst>
      <p:ext uri="{BB962C8B-B14F-4D97-AF65-F5344CB8AC3E}">
        <p14:creationId xmlns:p14="http://schemas.microsoft.com/office/powerpoint/2010/main" val="1045691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09716" y="568940"/>
            <a:ext cx="11029950" cy="596183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070C0"/>
                </a:solidFill>
                <a:latin typeface="Book Antiqua" pitchFamily="18" charset="0"/>
              </a:rPr>
              <a:t>references</a:t>
            </a:r>
            <a:endParaRPr lang="en-US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445678" y="1255149"/>
            <a:ext cx="10920412" cy="2024063"/>
          </a:xfrm>
        </p:spPr>
        <p:txBody>
          <a:bodyPr>
            <a:noAutofit/>
          </a:bodyPr>
          <a:lstStyle/>
          <a:p>
            <a:pPr marL="342900" indent="-342900" defTabSz="914400">
              <a:lnSpc>
                <a:spcPct val="80000"/>
              </a:lnSpc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q"/>
              <a:defRPr/>
            </a:pPr>
            <a:r>
              <a:rPr lang="en-US" sz="2000" dirty="0" err="1"/>
              <a:t>Booch</a:t>
            </a:r>
            <a:r>
              <a:rPr lang="en-US" sz="2000" dirty="0"/>
              <a:t>, G., Rumbaugh, J. &amp; Jacobson, I. (2005). </a:t>
            </a:r>
            <a:r>
              <a:rPr lang="en-US" sz="2000" i="1" dirty="0"/>
              <a:t>The unified modeling language user guide</a:t>
            </a:r>
            <a:r>
              <a:rPr lang="en-US" sz="2000" dirty="0"/>
              <a:t>. Pearson Education India.</a:t>
            </a:r>
          </a:p>
          <a:p>
            <a:pPr marL="342900" lvl="0" indent="-342900" defTabSz="914400">
              <a:lnSpc>
                <a:spcPct val="80000"/>
              </a:lnSpc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q"/>
              <a:defRPr/>
            </a:pPr>
            <a:endParaRPr lang="en-US" sz="2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B0835D3-F935-4C37-B394-BA08E152F4D1}"/>
              </a:ext>
            </a:extLst>
          </p:cNvPr>
          <p:cNvSpPr txBox="1">
            <a:spLocks/>
          </p:cNvSpPr>
          <p:nvPr/>
        </p:nvSpPr>
        <p:spPr>
          <a:xfrm rot="5400000">
            <a:off x="11852787" y="162232"/>
            <a:ext cx="191729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 S.</a:t>
            </a:r>
            <a:fld id="{D57F1E4F-1CFF-5643-939E-217C01CDF565}" type="slidenum">
              <a:rPr lang="en-US" sz="1400" b="1" smtClean="0"/>
              <a:pPr/>
              <a:t>17</a:t>
            </a:fld>
            <a:r>
              <a:rPr lang="en-US" sz="1400" b="1" dirty="0"/>
              <a:t>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FFF6B16-0B77-45FC-B604-FBF30D4EB2D8}"/>
              </a:ext>
            </a:extLst>
          </p:cNvPr>
          <p:cNvSpPr>
            <a:spLocks noGrp="1"/>
          </p:cNvSpPr>
          <p:nvPr/>
        </p:nvSpPr>
        <p:spPr>
          <a:xfrm>
            <a:off x="-137653" y="376259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3" name="Rectangle 2" descr="M. Mhahudul Hasan">
            <a:extLst>
              <a:ext uri="{FF2B5EF4-FFF2-40B4-BE49-F238E27FC236}">
                <a16:creationId xmlns:a16="http://schemas.microsoft.com/office/drawing/2014/main" id="{D8D550C5-EB22-4339-8C19-5B67051F1789}"/>
              </a:ext>
            </a:extLst>
          </p:cNvPr>
          <p:cNvSpPr/>
          <p:nvPr/>
        </p:nvSpPr>
        <p:spPr>
          <a:xfrm>
            <a:off x="0" y="6636774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9" name="Rectangle 8" descr="M. Mhahudul Hasan">
            <a:extLst>
              <a:ext uri="{FF2B5EF4-FFF2-40B4-BE49-F238E27FC236}">
                <a16:creationId xmlns:a16="http://schemas.microsoft.com/office/drawing/2014/main" id="{59505159-2B8F-48FD-95A4-5EE9BABDF3FB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Chapter 2:  Use Case Diagram</a:t>
            </a:r>
          </a:p>
        </p:txBody>
      </p:sp>
      <p:sp>
        <p:nvSpPr>
          <p:cNvPr id="11" name="Rectangle 10" descr="M. Mhahudul Hasan">
            <a:extLst>
              <a:ext uri="{FF2B5EF4-FFF2-40B4-BE49-F238E27FC236}">
                <a16:creationId xmlns:a16="http://schemas.microsoft.com/office/drawing/2014/main" id="{DDE2FDC1-2C28-49A4-914D-C9DC8AFAFDED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M. Mahmudul Hasan</a:t>
            </a:r>
          </a:p>
        </p:txBody>
      </p:sp>
    </p:spTree>
    <p:extLst>
      <p:ext uri="{BB962C8B-B14F-4D97-AF65-F5344CB8AC3E}">
        <p14:creationId xmlns:p14="http://schemas.microsoft.com/office/powerpoint/2010/main" val="2967982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ividen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679</TotalTime>
  <Words>1794</Words>
  <Application>Microsoft Office PowerPoint</Application>
  <PresentationFormat>Widescreen</PresentationFormat>
  <Paragraphs>217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Arial</vt:lpstr>
      <vt:lpstr>Bell MT</vt:lpstr>
      <vt:lpstr>Book Antiqua</vt:lpstr>
      <vt:lpstr>Calibri</vt:lpstr>
      <vt:lpstr>Gill Sans MT</vt:lpstr>
      <vt:lpstr>Monotype Sorts</vt:lpstr>
      <vt:lpstr>Times New Roman</vt:lpstr>
      <vt:lpstr>Wingdings</vt:lpstr>
      <vt:lpstr>Wingdings 2</vt:lpstr>
      <vt:lpstr>Dividend</vt:lpstr>
      <vt:lpstr>PowerPoint Presentation</vt:lpstr>
      <vt:lpstr>Usage  of  Use  case  diagram?</vt:lpstr>
      <vt:lpstr>   USE  Case</vt:lpstr>
      <vt:lpstr>actor</vt:lpstr>
      <vt:lpstr>Use cases  and  actor</vt:lpstr>
      <vt:lpstr>Example  of  Use cases  diagram</vt:lpstr>
      <vt:lpstr>Relationships  between  Use cases</vt:lpstr>
      <vt:lpstr>Relationships  between  Use cases</vt:lpstr>
      <vt:lpstr>Relationships  between  Use cases</vt:lpstr>
      <vt:lpstr>Relationships  between  Use cases</vt:lpstr>
      <vt:lpstr>    Use cases  description</vt:lpstr>
      <vt:lpstr> Use cases  example –  atm  money   withdraw</vt:lpstr>
      <vt:lpstr>Use cases  example –  atm  money   withdraw</vt:lpstr>
      <vt:lpstr>Use cases  example –  atm  money   withdraw</vt:lpstr>
      <vt:lpstr>Use cases  example –  atm  money   withdraw</vt:lpstr>
      <vt:lpstr>Identify  Use cases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OOAD - Ch.02 - Use Case Diagram</dc:title>
  <dc:subject>Object Oriented Analysis and Design (OOAD)</dc:subject>
  <dc:creator>M. Mahmudul Hasan</dc:creator>
  <cp:lastModifiedBy>AFNAN BIN ISLAM NAHIN</cp:lastModifiedBy>
  <cp:revision>71</cp:revision>
  <cp:lastPrinted>2021-01-31T08:15:36Z</cp:lastPrinted>
  <dcterms:created xsi:type="dcterms:W3CDTF">2019-05-13T08:37:20Z</dcterms:created>
  <dcterms:modified xsi:type="dcterms:W3CDTF">2024-07-12T13:02:07Z</dcterms:modified>
</cp:coreProperties>
</file>
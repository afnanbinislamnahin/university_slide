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8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 snapToObjects="1">
      <p:cViewPr varScale="1">
        <p:scale>
          <a:sx n="113" d="100"/>
          <a:sy n="113" d="100"/>
        </p:scale>
        <p:origin x="16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NAN BIN ISLAM NAHIN" userId="288682b4-77b6-4f3e-a0c4-4af26aad528b" providerId="ADAL" clId="{79988929-352C-57E9-A43B-A5F2C3021FFB}"/>
    <pc:docChg chg="modSld">
      <pc:chgData name="AFNAN BIN ISLAM NAHIN" userId="288682b4-77b6-4f3e-a0c4-4af26aad528b" providerId="ADAL" clId="{79988929-352C-57E9-A43B-A5F2C3021FFB}" dt="2025-12-28T18:55:30.644" v="3" actId="20577"/>
      <pc:docMkLst>
        <pc:docMk/>
      </pc:docMkLst>
      <pc:sldChg chg="modSp mod">
        <pc:chgData name="AFNAN BIN ISLAM NAHIN" userId="288682b4-77b6-4f3e-a0c4-4af26aad528b" providerId="ADAL" clId="{79988929-352C-57E9-A43B-A5F2C3021FFB}" dt="2025-12-28T18:55:30.644" v="3" actId="20577"/>
        <pc:sldMkLst>
          <pc:docMk/>
          <pc:sldMk cId="2912874370" sldId="263"/>
        </pc:sldMkLst>
        <pc:spChg chg="mod">
          <ac:chgData name="AFNAN BIN ISLAM NAHIN" userId="288682b4-77b6-4f3e-a0c4-4af26aad528b" providerId="ADAL" clId="{79988929-352C-57E9-A43B-A5F2C3021FFB}" dt="2025-12-28T18:55:30.644" v="3" actId="20577"/>
          <ac:spMkLst>
            <pc:docMk/>
            <pc:sldMk cId="2912874370" sldId="263"/>
            <ac:spMk id="16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CB9A3-A835-403E-AB43-D9E7A06168D2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9A7AA-1F1F-4FE4-ADAB-8BB85BB80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4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F9A7AA-1F1F-4FE4-ADAB-8BB85BB80A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55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>
            <a:spLocks noGrp="1"/>
          </p:cNvSpPr>
          <p:nvPr>
            <p:ph type="title"/>
          </p:nvPr>
        </p:nvSpPr>
        <p:spPr>
          <a:xfrm>
            <a:off x="892969" y="1151930"/>
            <a:ext cx="7358063" cy="2321719"/>
          </a:xfrm>
          <a:prstGeom prst="rect">
            <a:avLst/>
          </a:prstGeom>
        </p:spPr>
        <p:txBody>
          <a:bodyPr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5625">
                <a:solidFill>
                  <a:srgbClr val="FFFFFF"/>
                </a:solidFill>
              </a:rPr>
              <a:t>Title Text</a:t>
            </a:r>
          </a:p>
        </p:txBody>
      </p:sp>
      <p:sp>
        <p:nvSpPr>
          <p:cNvPr id="6" name="Shape 6"/>
          <p:cNvSpPr>
            <a:spLocks noGrp="1"/>
          </p:cNvSpPr>
          <p:nvPr>
            <p:ph type="body" idx="1"/>
          </p:nvPr>
        </p:nvSpPr>
        <p:spPr>
          <a:xfrm>
            <a:off x="892969" y="3536156"/>
            <a:ext cx="7358063" cy="794742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50"/>
            </a:lvl1pPr>
            <a:lvl2pPr marL="0" indent="160729" algn="ctr">
              <a:spcBef>
                <a:spcPts val="0"/>
              </a:spcBef>
              <a:buSzTx/>
              <a:buNone/>
              <a:defRPr sz="2250"/>
            </a:lvl2pPr>
            <a:lvl3pPr marL="0" indent="321457" algn="ctr">
              <a:spcBef>
                <a:spcPts val="0"/>
              </a:spcBef>
              <a:buSzTx/>
              <a:buNone/>
              <a:defRPr sz="2250"/>
            </a:lvl3pPr>
            <a:lvl4pPr marL="0" indent="482186" algn="ctr">
              <a:spcBef>
                <a:spcPts val="0"/>
              </a:spcBef>
              <a:buSzTx/>
              <a:buNone/>
              <a:defRPr sz="2250"/>
            </a:lvl4pPr>
            <a:lvl5pPr marL="0" indent="642915" algn="ctr">
              <a:spcBef>
                <a:spcPts val="0"/>
              </a:spcBef>
              <a:buSzTx/>
              <a:buNone/>
              <a:defRPr sz="2250"/>
            </a:lvl5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One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Two</a:t>
            </a:r>
          </a:p>
          <a:p>
            <a:pPr lvl="2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Three</a:t>
            </a:r>
          </a:p>
          <a:p>
            <a:pPr lvl="3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Four</a:t>
            </a:r>
          </a:p>
          <a:p>
            <a:pPr lvl="4">
              <a:defRPr sz="1800">
                <a:solidFill>
                  <a:srgbClr val="000000"/>
                </a:solidFill>
              </a:defRPr>
            </a:pPr>
            <a:r>
              <a:rPr sz="2250">
                <a:solidFill>
                  <a:srgbClr val="FFFFFF"/>
                </a:solidFill>
              </a:rP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78799900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s.niu.edu/~byrnes/csci360/notes/360shift.htm" TargetMode="Externa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ROTATE Instructions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0052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99259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7145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12489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7(b)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Summer 23-24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aa-E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538908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>
            <a:spLocks noGrp="1"/>
          </p:cNvSpPr>
          <p:nvPr>
            <p:ph type="body" idx="1"/>
          </p:nvPr>
        </p:nvSpPr>
        <p:spPr>
          <a:xfrm>
            <a:off x="339328" y="2196702"/>
            <a:ext cx="8465344" cy="466129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Rotates work like the shifts, except that when a bit Is shifted out one end of an operand it is </a:t>
            </a:r>
            <a:r>
              <a:rPr sz="2257" b="1" dirty="0">
                <a:solidFill>
                  <a:schemeClr val="tx1"/>
                </a:solidFill>
              </a:rPr>
              <a:t>put back in the other end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These instructions can be used to </a:t>
            </a:r>
            <a:r>
              <a:rPr sz="2257" b="1" dirty="0">
                <a:solidFill>
                  <a:schemeClr val="tx1"/>
                </a:solidFill>
              </a:rPr>
              <a:t>examine</a:t>
            </a:r>
            <a:r>
              <a:rPr sz="2257" dirty="0">
                <a:solidFill>
                  <a:schemeClr val="tx1"/>
                </a:solidFill>
              </a:rPr>
              <a:t> and/or </a:t>
            </a:r>
            <a:r>
              <a:rPr sz="2257" b="1" dirty="0">
                <a:solidFill>
                  <a:schemeClr val="tx1"/>
                </a:solidFill>
              </a:rPr>
              <a:t>change bits or groups of bits</a:t>
            </a:r>
            <a:r>
              <a:rPr sz="2257" dirty="0">
                <a:solidFill>
                  <a:schemeClr val="tx1"/>
                </a:solidFill>
              </a:rPr>
              <a:t>.</a:t>
            </a:r>
            <a:endParaRPr sz="2257" b="1" dirty="0">
              <a:solidFill>
                <a:schemeClr val="tx1"/>
              </a:solidFill>
            </a:endParaRP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*** Logic, shift, and rotate instructions is used to do binary and hexadecimal I/O. </a:t>
            </a:r>
          </a:p>
          <a:p>
            <a:pPr marL="321457" indent="-321457" algn="l" defTabSz="349138">
              <a:spcBef>
                <a:spcPts val="2461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ability to read and write numbers will let us solve a great variety of problem.</a:t>
            </a:r>
          </a:p>
        </p:txBody>
      </p:sp>
      <p:sp>
        <p:nvSpPr>
          <p:cNvPr id="43" name="Shape 43"/>
          <p:cNvSpPr/>
          <p:nvPr/>
        </p:nvSpPr>
        <p:spPr>
          <a:xfrm>
            <a:off x="1223367" y="375047"/>
            <a:ext cx="7125891" cy="942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8000" b="1"/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endParaRPr sz="3375" dirty="0">
              <a:solidFill>
                <a:srgbClr val="0070C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Overview: ROTATE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7806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/>
          </p:cNvSpPr>
          <p:nvPr>
            <p:ph type="body" idx="1"/>
          </p:nvPr>
        </p:nvSpPr>
        <p:spPr>
          <a:xfrm>
            <a:off x="555896" y="2068567"/>
            <a:ext cx="8409511" cy="445834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instruction ROL (rotate left) shifts bits to the left.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 shifted into the rightmost bit. </a:t>
            </a: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CF also gets the bit shifted out of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. </a:t>
            </a: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You can think of the destination bits forming a circle, with the least significant bit following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 in the circle. </a:t>
            </a: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ROL destination, 1</a:t>
            </a:r>
            <a:endParaRPr lang="en-US" sz="2257" dirty="0">
              <a:solidFill>
                <a:schemeClr val="tx1"/>
              </a:solidFill>
            </a:endParaRP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and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 defTabSz="324493">
              <a:spcBef>
                <a:spcPts val="232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ROL destination, CL</a:t>
            </a:r>
          </a:p>
        </p:txBody>
      </p:sp>
      <p:pic>
        <p:nvPicPr>
          <p:cNvPr id="162" name="Screen Shot 2015-03-27 at 9.50.17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9578" y="4519232"/>
            <a:ext cx="4093689" cy="20076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Rotate Instructions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38774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>
            <a:spLocks noGrp="1"/>
          </p:cNvSpPr>
          <p:nvPr>
            <p:ph type="body" idx="1"/>
          </p:nvPr>
        </p:nvSpPr>
        <p:spPr>
          <a:xfrm>
            <a:off x="455414" y="1931691"/>
            <a:ext cx="7804548" cy="442019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instruction ROR (rotate right) works just like ROL except that the bits are rotated to the right.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The rightmost bit is shifted into the </a:t>
            </a:r>
            <a:r>
              <a:rPr sz="2257" dirty="0" err="1">
                <a:solidFill>
                  <a:schemeClr val="tx1"/>
                </a:solidFill>
              </a:rPr>
              <a:t>msb</a:t>
            </a:r>
            <a:r>
              <a:rPr sz="2257" dirty="0">
                <a:solidFill>
                  <a:schemeClr val="tx1"/>
                </a:solidFill>
              </a:rPr>
              <a:t>, and also into the CF  </a:t>
            </a: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ROR destination, 1 </a:t>
            </a:r>
            <a:endParaRPr lang="en-US" sz="2257" dirty="0">
              <a:solidFill>
                <a:schemeClr val="tx1"/>
              </a:solidFill>
            </a:endParaRP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257" dirty="0">
                <a:solidFill>
                  <a:schemeClr val="tx1"/>
                </a:solidFill>
              </a:rPr>
              <a:t>and</a:t>
            </a:r>
            <a:endParaRPr sz="2257" dirty="0">
              <a:solidFill>
                <a:schemeClr val="tx1"/>
              </a:solidFill>
            </a:endParaRPr>
          </a:p>
          <a:p>
            <a:pPr marL="321457" indent="-321457" algn="l" defTabSz="402536">
              <a:spcBef>
                <a:spcPts val="2883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ROR destination, CL</a:t>
            </a:r>
          </a:p>
        </p:txBody>
      </p:sp>
      <p:pic>
        <p:nvPicPr>
          <p:cNvPr id="166" name="Screen Shot 2015-03-27 at 10.31.28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9063" y="3554935"/>
            <a:ext cx="4804173" cy="2973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800" b="1" dirty="0">
                <a:solidFill>
                  <a:schemeClr val="accent3">
                    <a:lumMod val="75000"/>
                  </a:schemeClr>
                </a:solidFill>
              </a:rPr>
              <a:t>Rotate Right (ROR)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8743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>
            <a:spLocks noGrp="1"/>
          </p:cNvSpPr>
          <p:nvPr>
            <p:ph type="body" idx="1"/>
          </p:nvPr>
        </p:nvSpPr>
        <p:spPr>
          <a:xfrm>
            <a:off x="344758" y="1883392"/>
            <a:ext cx="8454484" cy="44105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In ROL and ROR, CF reflects the bit that is rotated out. 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ROL and ROR can be used to inspect the bits in a byte or word, without changing the contents.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Example: Use ROL to count the number of 1 bits in BX, without changing BX. Put the answer in AX.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dirty="0"/>
              <a:t>Solution:</a:t>
            </a:r>
          </a:p>
          <a:p>
            <a:pPr algn="l"/>
            <a:r>
              <a:rPr lang="en-US" sz="2000" b="1" dirty="0"/>
              <a:t>	XOR AX,AX</a:t>
            </a:r>
            <a:endParaRPr lang="en-US" sz="2000" dirty="0"/>
          </a:p>
          <a:p>
            <a:pPr algn="l"/>
            <a:r>
              <a:rPr lang="en-US" sz="2000" b="1" dirty="0"/>
              <a:t>	MOV CX,16</a:t>
            </a:r>
            <a:endParaRPr lang="en-US" sz="2000" dirty="0"/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b="1" dirty="0"/>
              <a:t>TOP:</a:t>
            </a:r>
            <a:endParaRPr lang="en-US" sz="2000" dirty="0"/>
          </a:p>
          <a:p>
            <a:pPr algn="l"/>
            <a:r>
              <a:rPr lang="en-US" sz="2000" b="1" dirty="0"/>
              <a:t>	ROL BX,1</a:t>
            </a:r>
            <a:endParaRPr lang="en-US" sz="2000" dirty="0"/>
          </a:p>
          <a:p>
            <a:pPr algn="l"/>
            <a:r>
              <a:rPr lang="en-US" sz="2000" b="1" dirty="0"/>
              <a:t>	JNC NEXT</a:t>
            </a:r>
            <a:endParaRPr lang="en-US" sz="2000" dirty="0"/>
          </a:p>
          <a:p>
            <a:pPr algn="l"/>
            <a:r>
              <a:rPr lang="en-US" sz="2000" b="1" dirty="0"/>
              <a:t>      INC AX</a:t>
            </a:r>
            <a:endParaRPr lang="en-US" sz="2000" dirty="0"/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000" b="1" dirty="0"/>
              <a:t>NEXT:</a:t>
            </a:r>
            <a:endParaRPr lang="en-US" sz="2000" dirty="0"/>
          </a:p>
          <a:p>
            <a:pPr algn="l"/>
            <a:r>
              <a:rPr lang="en-US" sz="2000" b="1" dirty="0"/>
              <a:t>	LOOP TOP</a:t>
            </a:r>
            <a:endParaRPr lang="en-US" sz="2000" dirty="0"/>
          </a:p>
          <a:p>
            <a:pPr marL="200911" indent="-200911" algn="l" defTabSz="234127">
              <a:spcBef>
                <a:spcPts val="1617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ROL, ROR and CF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48782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>
            <a:spLocks noGrp="1"/>
          </p:cNvSpPr>
          <p:nvPr>
            <p:ph type="body" idx="1"/>
          </p:nvPr>
        </p:nvSpPr>
        <p:spPr>
          <a:xfrm>
            <a:off x="288727" y="2159953"/>
            <a:ext cx="8566548" cy="46980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RCL (Rotate through Carry LEFT) shifts the bits of the destination to the left. </a:t>
            </a: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</a:t>
            </a:r>
            <a:r>
              <a:rPr sz="2000" dirty="0" err="1">
                <a:solidFill>
                  <a:schemeClr val="tx1"/>
                </a:solidFill>
              </a:rPr>
              <a:t>msb</a:t>
            </a:r>
            <a:r>
              <a:rPr sz="2000" dirty="0">
                <a:solidFill>
                  <a:schemeClr val="tx1"/>
                </a:solidFill>
              </a:rPr>
              <a:t> is shifted Into the CF and the previous value of CF is shifted Into the rightmost bit. </a:t>
            </a: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In other words, RCL works like Just like ROL, except that CF is part of the circle of bits being rotated. The syntax is:</a:t>
            </a: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RCL destination,1</a:t>
            </a:r>
            <a:endParaRPr lang="en-US" sz="2000" dirty="0">
              <a:solidFill>
                <a:schemeClr val="tx1"/>
              </a:solidFill>
            </a:endParaRP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000" dirty="0">
                <a:solidFill>
                  <a:schemeClr val="tx1"/>
                </a:solidFill>
              </a:rPr>
              <a:t>and</a:t>
            </a:r>
            <a:endParaRPr sz="2000" dirty="0">
              <a:solidFill>
                <a:schemeClr val="tx1"/>
              </a:solidFill>
            </a:endParaRPr>
          </a:p>
          <a:p>
            <a:pPr marL="321457" indent="-321457" algn="l" defTabSz="381998">
              <a:spcBef>
                <a:spcPts val="2742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RCL destination, CL</a:t>
            </a:r>
          </a:p>
        </p:txBody>
      </p:sp>
      <p:pic>
        <p:nvPicPr>
          <p:cNvPr id="173" name="Screen Shot 2015-03-27 at 10.49.39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290" y="4819526"/>
            <a:ext cx="3643313" cy="18216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RCL (Rotate Carry Left)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27331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176"/>
          <p:cNvSpPr>
            <a:spLocks noGrp="1"/>
          </p:cNvSpPr>
          <p:nvPr>
            <p:ph type="body" idx="1"/>
          </p:nvPr>
        </p:nvSpPr>
        <p:spPr>
          <a:xfrm>
            <a:off x="178595" y="2244259"/>
            <a:ext cx="9054703" cy="314660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The Instruction RCR (Rotate through Carry RIGHT) works just like RCL except the bits are rotated to the right. The syntax is:</a:t>
            </a:r>
          </a:p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RCR destination,1</a:t>
            </a:r>
          </a:p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and</a:t>
            </a:r>
          </a:p>
          <a:p>
            <a:pPr marL="321457" indent="-321457" algn="l">
              <a:lnSpc>
                <a:spcPct val="200000"/>
              </a:lnSpc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chemeClr val="tx1"/>
                </a:solidFill>
              </a:rPr>
              <a:t>RCR destination, CL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RCR (Rotate Carry Right)</a:t>
            </a:r>
            <a:endParaRPr sz="4640" b="1" dirty="0">
              <a:solidFill>
                <a:schemeClr val="accent5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A89615-AFC9-B5C5-2452-BA868F8B1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49354"/>
            <a:ext cx="4393405" cy="316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2875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/>
          </p:cNvSpPr>
          <p:nvPr>
            <p:ph type="body" idx="1"/>
          </p:nvPr>
        </p:nvSpPr>
        <p:spPr>
          <a:xfrm>
            <a:off x="669727" y="1702314"/>
            <a:ext cx="7804548" cy="1261505"/>
          </a:xfrm>
          <a:prstGeom prst="rect">
            <a:avLst/>
          </a:prstGeom>
        </p:spPr>
        <p:txBody>
          <a:bodyPr>
            <a:noAutofit/>
          </a:bodyPr>
          <a:lstStyle/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Suppose DH contains 8Ah, CF= 1, and CL contains 3. </a:t>
            </a:r>
            <a:endParaRPr lang="en-US" sz="2257" dirty="0">
              <a:solidFill>
                <a:schemeClr val="tx1"/>
              </a:solidFill>
            </a:endParaRPr>
          </a:p>
          <a:p>
            <a:pPr marL="321457" indent="-321457" algn="l" defTabSz="299848">
              <a:spcBef>
                <a:spcPts val="2109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sz="2257" dirty="0">
                <a:solidFill>
                  <a:schemeClr val="tx1"/>
                </a:solidFill>
              </a:rPr>
              <a:t>What are the values of DH and CF after the instruction RCR DH,CL is executed</a:t>
            </a:r>
            <a:r>
              <a:rPr lang="en-US" sz="2257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181" name="Screen Shot 2015-03-27 at 10.59.29 PM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101" y="3275357"/>
            <a:ext cx="6375797" cy="3446023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17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>
            <a:spLocks noGrp="1"/>
          </p:cNvSpPr>
          <p:nvPr>
            <p:ph type="body" idx="1"/>
          </p:nvPr>
        </p:nvSpPr>
        <p:spPr>
          <a:xfrm>
            <a:off x="500063" y="1802973"/>
            <a:ext cx="8112621" cy="462665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endParaRPr lang="en-US" sz="2257" b="1" dirty="0">
              <a:solidFill>
                <a:schemeClr val="tx1"/>
              </a:solidFill>
            </a:endParaRP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b="1" dirty="0">
                <a:solidFill>
                  <a:schemeClr val="tx1"/>
                </a:solidFill>
              </a:rPr>
              <a:t>Expectation: </a:t>
            </a:r>
            <a:r>
              <a:rPr lang="en-US" sz="2257" dirty="0">
                <a:solidFill>
                  <a:schemeClr val="tx1"/>
                </a:solidFill>
              </a:rPr>
              <a:t>If AL contains </a:t>
            </a:r>
            <a:r>
              <a:rPr lang="en-US" sz="2257" b="1" dirty="0">
                <a:solidFill>
                  <a:schemeClr val="tx1"/>
                </a:solidFill>
              </a:rPr>
              <a:t>11011100</a:t>
            </a:r>
            <a:r>
              <a:rPr lang="en-US" sz="2257" dirty="0">
                <a:solidFill>
                  <a:schemeClr val="tx1"/>
                </a:solidFill>
              </a:rPr>
              <a:t>, we want to make it </a:t>
            </a:r>
            <a:r>
              <a:rPr lang="en-US" sz="2257" b="1" dirty="0">
                <a:solidFill>
                  <a:schemeClr val="tx1"/>
                </a:solidFill>
              </a:rPr>
              <a:t>00111011</a:t>
            </a:r>
            <a:endParaRPr lang="en-US" sz="2257" dirty="0">
              <a:solidFill>
                <a:schemeClr val="tx1"/>
              </a:solidFill>
            </a:endParaRPr>
          </a:p>
          <a:p>
            <a:pPr marL="321457" lvl="1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Use </a:t>
            </a:r>
            <a:r>
              <a:rPr lang="en-US" sz="2257" b="1" dirty="0">
                <a:solidFill>
                  <a:schemeClr val="tx1"/>
                </a:solidFill>
              </a:rPr>
              <a:t>SHL</a:t>
            </a:r>
            <a:r>
              <a:rPr lang="en-US" sz="2257" dirty="0">
                <a:solidFill>
                  <a:schemeClr val="tx1"/>
                </a:solidFill>
              </a:rPr>
              <a:t> to shift the bits out the left end of AL Into CF. </a:t>
            </a:r>
          </a:p>
          <a:p>
            <a:pPr marL="321457" lvl="1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Then use </a:t>
            </a:r>
            <a:r>
              <a:rPr lang="en-US" sz="2257" b="1" dirty="0">
                <a:solidFill>
                  <a:schemeClr val="tx1"/>
                </a:solidFill>
              </a:rPr>
              <a:t>RCR </a:t>
            </a:r>
            <a:r>
              <a:rPr lang="en-US" sz="2257" dirty="0">
                <a:solidFill>
                  <a:schemeClr val="tx1"/>
                </a:solidFill>
              </a:rPr>
              <a:t>to move them Into the left end of another</a:t>
            </a:r>
            <a:br>
              <a:rPr lang="en-US" sz="2257" dirty="0">
                <a:solidFill>
                  <a:schemeClr val="tx1"/>
                </a:solidFill>
              </a:rPr>
            </a:br>
            <a:r>
              <a:rPr lang="en-US" sz="2257" dirty="0">
                <a:solidFill>
                  <a:schemeClr val="tx1"/>
                </a:solidFill>
              </a:rPr>
              <a:t>register (i.e. </a:t>
            </a:r>
            <a:r>
              <a:rPr lang="en-US" sz="2257" b="1" dirty="0">
                <a:solidFill>
                  <a:schemeClr val="tx1"/>
                </a:solidFill>
              </a:rPr>
              <a:t>BL</a:t>
            </a:r>
            <a:r>
              <a:rPr lang="en-US" sz="2257" dirty="0">
                <a:solidFill>
                  <a:schemeClr val="tx1"/>
                </a:solidFill>
              </a:rPr>
              <a:t>)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Run the above operation 8 times for 8 bits</a:t>
            </a:r>
            <a:br>
              <a:rPr lang="en-US" sz="2257" dirty="0">
                <a:solidFill>
                  <a:schemeClr val="tx1"/>
                </a:solidFill>
              </a:rPr>
            </a:br>
            <a:br>
              <a:rPr lang="en-US" sz="2257" dirty="0">
                <a:solidFill>
                  <a:schemeClr val="tx1"/>
                </a:solidFill>
              </a:rPr>
            </a:br>
            <a:br>
              <a:rPr lang="en-US" sz="2257" dirty="0">
                <a:solidFill>
                  <a:schemeClr val="tx1"/>
                </a:solidFill>
              </a:rPr>
            </a:br>
            <a:endParaRPr sz="2257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50157" y="5033460"/>
            <a:ext cx="6100801" cy="14586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Reversing Bit Pattern Application</a:t>
            </a:r>
            <a:endParaRPr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69579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7555" y="1890842"/>
            <a:ext cx="8590359" cy="2678906"/>
          </a:xfrm>
        </p:spPr>
        <p:txBody>
          <a:bodyPr>
            <a:norm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b="1" dirty="0">
                <a:solidFill>
                  <a:schemeClr val="tx1"/>
                </a:solidFill>
              </a:rPr>
              <a:t>Binary Input: </a:t>
            </a:r>
            <a:r>
              <a:rPr lang="en-US" sz="2257" dirty="0">
                <a:solidFill>
                  <a:schemeClr val="tx1"/>
                </a:solidFill>
              </a:rPr>
              <a:t>Lets assume a program reads In a binary number from the keyboard, followed by a carriage return.  [i.e. string of 0’s and 1’s]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Conversion in bit value needs to be done  as soon as the input character is entered.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After that collect the bits in register.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sz="2257" dirty="0">
                <a:solidFill>
                  <a:schemeClr val="tx1"/>
                </a:solidFill>
              </a:rPr>
              <a:t>To read a binary number from keyboard and store it in BX: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78781" y="4802839"/>
            <a:ext cx="6001906" cy="18752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Binary and Hex Input &amp; Output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6148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32359" y="2088107"/>
            <a:ext cx="5587790" cy="45555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Example: Process Input 110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245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12528" lvl="1" indent="0">
              <a:lnSpc>
                <a:spcPct val="20000"/>
              </a:lnSpc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7844" y="2511454"/>
            <a:ext cx="8102992" cy="404514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122830"/>
            <a:ext cx="7358063" cy="119476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Assembly Conversion for input processing (110)</a:t>
            </a:r>
            <a:endParaRPr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848393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727" y="2087116"/>
            <a:ext cx="7804547" cy="1357313"/>
          </a:xfrm>
        </p:spPr>
        <p:txBody>
          <a:bodyPr>
            <a:normAutofit/>
          </a:bodyPr>
          <a:lstStyle/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Outputting the contents of BX in binary also involves the shift operation. </a:t>
            </a:r>
          </a:p>
          <a:p>
            <a:pPr marL="321457" indent="-321457"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</a:rPr>
              <a:t>Algorithm for Binary output: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1728" y="3492242"/>
            <a:ext cx="6340544" cy="266774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6484" y="6169588"/>
            <a:ext cx="8465344" cy="28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266" dirty="0"/>
              <a:t>Write an assembly code to process the Binary output for this problem.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8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Binary Output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17745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3640" y="2099677"/>
            <a:ext cx="8090297" cy="4137351"/>
          </a:xfrm>
        </p:spPr>
        <p:txBody>
          <a:bodyPr>
            <a:normAutofit lnSpcReduction="10000"/>
          </a:bodyPr>
          <a:lstStyle/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Hex input consists of digits ("0" to "9") and letters ("A" to "F”) followed by a carriage return. 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For simplicity, we will assume that</a:t>
            </a:r>
          </a:p>
          <a:p>
            <a:pPr marL="321457" lvl="1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Only uppercase letters are used, and</a:t>
            </a:r>
          </a:p>
          <a:p>
            <a:pPr marL="321457" lvl="1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user inputs no more than four hex characters.</a:t>
            </a:r>
          </a:p>
          <a:p>
            <a:pPr marL="321457" indent="-321457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 process of converting characters to binary values is more Involved than it was for binary input, and BX must be </a:t>
            </a:r>
            <a:r>
              <a:rPr lang="en-US" b="1" dirty="0">
                <a:solidFill>
                  <a:schemeClr val="tx1"/>
                </a:solidFill>
              </a:rPr>
              <a:t>shifted four times</a:t>
            </a:r>
            <a:r>
              <a:rPr lang="en-US" dirty="0"/>
              <a:t> to make room for a hex value.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Hex Input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48491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5744" y="2058292"/>
            <a:ext cx="7842847" cy="45452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Algorithm for hex input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23684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14562" y="1977859"/>
            <a:ext cx="4920258" cy="46315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Example: input </a:t>
            </a:r>
            <a:r>
              <a:rPr lang="en-US" sz="4400" b="1" dirty="0">
                <a:solidFill>
                  <a:srgbClr val="0070C0"/>
                </a:solidFill>
              </a:rPr>
              <a:t>6AB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14543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54882" y="1910687"/>
            <a:ext cx="6285384" cy="47896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6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3600" b="1" dirty="0">
                <a:solidFill>
                  <a:schemeClr val="accent3">
                    <a:lumMod val="75000"/>
                  </a:schemeClr>
                </a:solidFill>
              </a:rPr>
              <a:t>Assembly Code for Processing </a:t>
            </a:r>
            <a:r>
              <a:rPr lang="en-US" sz="3600" b="1" dirty="0">
                <a:solidFill>
                  <a:srgbClr val="0070C0"/>
                </a:solidFill>
              </a:rPr>
              <a:t>6AB</a:t>
            </a:r>
            <a:endParaRPr sz="36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81503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63" y="2415654"/>
            <a:ext cx="8269940" cy="40405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Algorithm for Hex Output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90363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03784" y="1802973"/>
            <a:ext cx="5745372" cy="43272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46484" y="6319871"/>
            <a:ext cx="8465344" cy="4396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57" dirty="0"/>
              <a:t>Write an assembly code to process the Binary output for this problem.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7887"/>
            <a:ext cx="9144000" cy="1788416"/>
          </a:xfrm>
          <a:prstGeom prst="rect">
            <a:avLst/>
          </a:prstGeom>
        </p:spPr>
      </p:pic>
      <p:sp>
        <p:nvSpPr>
          <p:cNvPr id="7" name="Shape 38"/>
          <p:cNvSpPr>
            <a:spLocks noGrp="1"/>
          </p:cNvSpPr>
          <p:nvPr>
            <p:ph type="title"/>
          </p:nvPr>
        </p:nvSpPr>
        <p:spPr>
          <a:xfrm>
            <a:off x="203260" y="437491"/>
            <a:ext cx="7358063" cy="88010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>
              <a:defRPr sz="1800">
                <a:solidFill>
                  <a:srgbClr val="000000"/>
                </a:solidFill>
              </a:defRPr>
            </a:pPr>
            <a:r>
              <a:rPr lang="en-US" sz="4400" b="1" dirty="0">
                <a:solidFill>
                  <a:schemeClr val="accent3">
                    <a:lumMod val="75000"/>
                  </a:schemeClr>
                </a:solidFill>
              </a:rPr>
              <a:t>Conversion of 4CA9h to Binary</a:t>
            </a:r>
            <a:endParaRPr sz="464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2659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http://faculty.cs.niu.edu/~byrnes/csci360/notes/360shift.htm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543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371660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420</TotalTime>
  <Words>947</Words>
  <Application>Microsoft Macintosh PowerPoint</Application>
  <PresentationFormat>On-screen Show (4:3)</PresentationFormat>
  <Paragraphs>102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Corbel</vt:lpstr>
      <vt:lpstr>Times New Roman</vt:lpstr>
      <vt:lpstr>Wingdings</vt:lpstr>
      <vt:lpstr>Spectrum</vt:lpstr>
      <vt:lpstr>ROTATE Instructions</vt:lpstr>
      <vt:lpstr>Overview: ROTATE</vt:lpstr>
      <vt:lpstr>Rotate Instructions</vt:lpstr>
      <vt:lpstr>Rotate Right (ROR)</vt:lpstr>
      <vt:lpstr>ROL, ROR and CF</vt:lpstr>
      <vt:lpstr>RCL (Rotate Carry Left)</vt:lpstr>
      <vt:lpstr>RCR (Rotate Carry Right)</vt:lpstr>
      <vt:lpstr>Example</vt:lpstr>
      <vt:lpstr>Reversing Bit Pattern Application</vt:lpstr>
      <vt:lpstr>Binary and Hex Input &amp; Output</vt:lpstr>
      <vt:lpstr>Example: Process Input 110</vt:lpstr>
      <vt:lpstr>Assembly Conversion for input processing (110)</vt:lpstr>
      <vt:lpstr>Binary Output</vt:lpstr>
      <vt:lpstr>Hex Input</vt:lpstr>
      <vt:lpstr>Algorithm for hex input</vt:lpstr>
      <vt:lpstr>Example: input 6AB</vt:lpstr>
      <vt:lpstr>Assembly Code for Processing 6AB</vt:lpstr>
      <vt:lpstr>Algorithm for Hex Output</vt:lpstr>
      <vt:lpstr>Conversion of 4CA9h to Binary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AFNAN BIN ISLAM NAHIN</cp:lastModifiedBy>
  <cp:revision>28</cp:revision>
  <dcterms:created xsi:type="dcterms:W3CDTF">2018-12-10T17:20:29Z</dcterms:created>
  <dcterms:modified xsi:type="dcterms:W3CDTF">2025-12-28T18:55:38Z</dcterms:modified>
</cp:coreProperties>
</file>
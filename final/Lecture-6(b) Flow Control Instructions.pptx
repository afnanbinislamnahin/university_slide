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8" r:id="rId5"/>
    <p:sldId id="269" r:id="rId6"/>
    <p:sldId id="286" r:id="rId7"/>
    <p:sldId id="270" r:id="rId8"/>
    <p:sldId id="271" r:id="rId9"/>
    <p:sldId id="287" r:id="rId10"/>
    <p:sldId id="272" r:id="rId11"/>
    <p:sldId id="273" r:id="rId12"/>
    <p:sldId id="274" r:id="rId13"/>
    <p:sldId id="276" r:id="rId14"/>
    <p:sldId id="277" r:id="rId15"/>
    <p:sldId id="288" r:id="rId16"/>
    <p:sldId id="278" r:id="rId17"/>
    <p:sldId id="279" r:id="rId18"/>
    <p:sldId id="280" r:id="rId19"/>
    <p:sldId id="281" r:id="rId20"/>
    <p:sldId id="282" r:id="rId21"/>
    <p:sldId id="289" r:id="rId22"/>
    <p:sldId id="283" r:id="rId23"/>
    <p:sldId id="284" r:id="rId24"/>
    <p:sldId id="290" r:id="rId25"/>
    <p:sldId id="285" r:id="rId26"/>
    <p:sldId id="293" r:id="rId27"/>
    <p:sldId id="291" r:id="rId28"/>
    <p:sldId id="265" r:id="rId29"/>
    <p:sldId id="26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709"/>
  </p:normalViewPr>
  <p:slideViewPr>
    <p:cSldViewPr snapToGrid="0" snapToObjects="1">
      <p:cViewPr>
        <p:scale>
          <a:sx n="80" d="100"/>
          <a:sy n="80" d="100"/>
        </p:scale>
        <p:origin x="-424" y="8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NAN BIN ISLAM NAHIN" userId="288682b4-77b6-4f3e-a0c4-4af26aad528b" providerId="ADAL" clId="{79988929-352C-57E9-A43B-A5F2C3021FFB}"/>
    <pc:docChg chg="modSld">
      <pc:chgData name="AFNAN BIN ISLAM NAHIN" userId="288682b4-77b6-4f3e-a0c4-4af26aad528b" providerId="ADAL" clId="{79988929-352C-57E9-A43B-A5F2C3021FFB}" dt="2026-01-07T04:46:13.592" v="0" actId="14734"/>
      <pc:docMkLst>
        <pc:docMk/>
      </pc:docMkLst>
      <pc:sldChg chg="modSp mod">
        <pc:chgData name="AFNAN BIN ISLAM NAHIN" userId="288682b4-77b6-4f3e-a0c4-4af26aad528b" providerId="ADAL" clId="{79988929-352C-57E9-A43B-A5F2C3021FFB}" dt="2026-01-07T04:46:13.592" v="0" actId="14734"/>
        <pc:sldMkLst>
          <pc:docMk/>
          <pc:sldMk cId="2372707" sldId="286"/>
        </pc:sldMkLst>
        <pc:graphicFrameChg chg="modGraphic">
          <ac:chgData name="AFNAN BIN ISLAM NAHIN" userId="288682b4-77b6-4f3e-a0c4-4af26aad528b" providerId="ADAL" clId="{79988929-352C-57E9-A43B-A5F2C3021FFB}" dt="2026-01-07T04:46:13.592" v="0" actId="14734"/>
          <ac:graphicFrameMkLst>
            <pc:docMk/>
            <pc:sldMk cId="2372707" sldId="286"/>
            <ac:graphicFrameMk id="5" creationId="{3166CC3D-397E-764C-9F5A-7BC50EFC731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hare.net/prodipghoshjoy/flow-control-instructions-60602372" TargetMode="Externa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Helvetica Neue"/>
                <a:cs typeface="Helvetica Neue"/>
                <a:sym typeface="Helvetica Neue"/>
              </a:rPr>
              <a:t>Flow Control Instructions</a:t>
            </a:r>
            <a:r>
              <a:rPr lang="en-US" sz="4800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	</a:t>
            </a:r>
            <a:endParaRPr lang="en-US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2106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34989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309300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81686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35954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Summer 23-24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396404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487363" y="2363787"/>
            <a:ext cx="7753350" cy="3288867"/>
          </a:xfrm>
        </p:spPr>
        <p:txBody>
          <a:bodyPr>
            <a:noAutofit/>
          </a:bodyPr>
          <a:lstStyle/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Decision making and repeating statement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Jump and loop instructions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Algorithm conversion to assembly language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High-Level Language Structures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Branches with Compound Conditions 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7818" y="1996210"/>
            <a:ext cx="8631382" cy="4362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Clr>
                <a:srgbClr val="FFFFFF"/>
              </a:buClr>
              <a:buSzPct val="76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Sometimes the branching condition in an IF or CASE takes the form</a:t>
            </a:r>
          </a:p>
          <a:p>
            <a:pPr marL="0" lvl="6">
              <a:spcBef>
                <a:spcPts val="3300"/>
              </a:spcBef>
              <a:buClr>
                <a:srgbClr val="FFFFFF"/>
              </a:buClr>
              <a:buSzPct val="25000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condition_1' AND condition_2’</a:t>
            </a:r>
          </a:p>
          <a:p>
            <a:pPr marL="0" lvl="6">
              <a:spcBef>
                <a:spcPts val="3300"/>
              </a:spcBef>
              <a:buClr>
                <a:srgbClr val="FFFFFF"/>
              </a:buClr>
              <a:buSzPct val="25000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                  or</a:t>
            </a:r>
          </a:p>
          <a:p>
            <a:pPr marL="0" lvl="6">
              <a:spcBef>
                <a:spcPts val="3300"/>
              </a:spcBef>
              <a:buClr>
                <a:srgbClr val="FFFFFF"/>
              </a:buClr>
              <a:buSzPct val="25000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condition_1 OR condition_2</a:t>
            </a:r>
          </a:p>
          <a:p>
            <a:pPr marL="457200" lvl="0" indent="-457200">
              <a:spcBef>
                <a:spcPts val="3300"/>
              </a:spcBef>
              <a:buClr>
                <a:srgbClr val="FFFFFF"/>
              </a:buClr>
              <a:buSzPct val="76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Where condition 1 and condition:2 are either true or false. We will refer to the</a:t>
            </a:r>
          </a:p>
          <a:p>
            <a:pPr marL="457200" lvl="0" indent="-457200">
              <a:spcBef>
                <a:spcPts val="3300"/>
              </a:spcBef>
              <a:buClr>
                <a:srgbClr val="FFFFFF"/>
              </a:buClr>
              <a:buSzPct val="76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First of these as an AND condition and to the second as an OR condition.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Example : AND</a:t>
            </a:r>
            <a:endParaRPr lang="en-US" dirty="0">
              <a:latin typeface="+mn-lt"/>
            </a:endParaRPr>
          </a:p>
        </p:txBody>
      </p:sp>
      <p:sp>
        <p:nvSpPr>
          <p:cNvPr id="5" name="Shape 209"/>
          <p:cNvSpPr txBox="1">
            <a:spLocks/>
          </p:cNvSpPr>
          <p:nvPr/>
        </p:nvSpPr>
        <p:spPr>
          <a:xfrm>
            <a:off x="263237" y="2175165"/>
            <a:ext cx="8520545" cy="3820166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An AND condition is true if and only if Condition_1 and Condition_2 are both true. Likewise, if either condition is false, then the whole thing is false.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 character, and if it's an uppercase letter, display it. 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 character (into AL)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(character &gt;= 'A') and (character &lt;= 'Z')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THEN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display character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 IF </a:t>
            </a:r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9E974B9-4763-BD90-0B62-306236007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655" y="3389716"/>
            <a:ext cx="5090146" cy="88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149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  <a:ea typeface="Helvetica Neue"/>
                <a:cs typeface="Helvetica Neue"/>
                <a:sym typeface="Helvetica Neue"/>
              </a:rPr>
              <a:t>Converting to Assembly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hape 215"/>
          <p:cNvSpPr txBox="1">
            <a:spLocks/>
          </p:cNvSpPr>
          <p:nvPr/>
        </p:nvSpPr>
        <p:spPr>
          <a:xfrm>
            <a:off x="527977" y="2137611"/>
            <a:ext cx="3591791" cy="406893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;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 character</a:t>
            </a:r>
          </a:p>
          <a:p>
            <a:pPr>
              <a:spcBef>
                <a:spcPts val="36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MOV AH,1</a:t>
            </a:r>
          </a:p>
          <a:p>
            <a:pPr>
              <a:spcBef>
                <a:spcPts val="36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INT 21H</a:t>
            </a:r>
          </a:p>
          <a:p>
            <a:pPr>
              <a:spcBef>
                <a:spcPts val="36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; if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('A' &lt;= char&gt; and (chai: &lt;= 'Z')</a:t>
            </a:r>
          </a:p>
          <a:p>
            <a:pPr>
              <a:spcBef>
                <a:spcPts val="36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CMP AL, ‘A’      ;char &gt;’A’</a:t>
            </a:r>
          </a:p>
          <a:p>
            <a:pPr>
              <a:spcBef>
                <a:spcPts val="36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JL </a:t>
            </a:r>
            <a:r>
              <a:rPr lang="en-US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END_lF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;no exit</a:t>
            </a:r>
          </a:p>
        </p:txBody>
      </p:sp>
      <p:pic>
        <p:nvPicPr>
          <p:cNvPr id="6" name="Shape 2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 flipV="1">
            <a:off x="2764193" y="4131354"/>
            <a:ext cx="359520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7" name="Shape 216"/>
          <p:cNvSpPr/>
          <p:nvPr/>
        </p:nvSpPr>
        <p:spPr>
          <a:xfrm>
            <a:off x="5621737" y="2374477"/>
            <a:ext cx="3287452" cy="35952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CMP AL, 'Z'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JG </a:t>
            </a:r>
            <a:r>
              <a:rPr lang="en-US" b="1" i="0" u="none" strike="noStrike" cap="none" baseline="0" dirty="0" err="1">
                <a:ea typeface="Helvetica Neue"/>
                <a:cs typeface="Helvetica Neue"/>
                <a:sym typeface="Helvetica Neue"/>
              </a:rPr>
              <a:t>END_lF</a:t>
            </a: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  ;no exit 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MOV DL, AL.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MOV AH, 2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INT 21H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END_IF:</a:t>
            </a:r>
          </a:p>
        </p:txBody>
      </p:sp>
    </p:spTree>
    <p:extLst>
      <p:ext uri="{BB962C8B-B14F-4D97-AF65-F5344CB8AC3E}">
        <p14:creationId xmlns:p14="http://schemas.microsoft.com/office/powerpoint/2010/main" val="3810379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CE321F-CCB2-BF2E-3505-4FBDCDC2C7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66ADD0-2CDD-2065-9B00-657AAB539B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166CC3D-397E-764C-9F5A-7BC50EFC7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331197"/>
              </p:ext>
            </p:extLst>
          </p:nvPr>
        </p:nvGraphicFramePr>
        <p:xfrm>
          <a:off x="1055609" y="2256773"/>
          <a:ext cx="7119562" cy="4125497"/>
        </p:xfrm>
        <a:graphic>
          <a:graphicData uri="http://schemas.openxmlformats.org/drawingml/2006/table">
            <a:tbl>
              <a:tblPr/>
              <a:tblGrid>
                <a:gridCol w="4511002">
                  <a:extLst>
                    <a:ext uri="{9D8B030D-6E8A-4147-A177-3AD203B41FA5}">
                      <a16:colId xmlns:a16="http://schemas.microsoft.com/office/drawing/2014/main" val="3634909453"/>
                    </a:ext>
                  </a:extLst>
                </a:gridCol>
                <a:gridCol w="2608560">
                  <a:extLst>
                    <a:ext uri="{9D8B030D-6E8A-4147-A177-3AD203B41FA5}">
                      <a16:colId xmlns:a16="http://schemas.microsoft.com/office/drawing/2014/main" val="2380569187"/>
                    </a:ext>
                  </a:extLst>
                </a:gridCol>
              </a:tblGrid>
              <a:tr h="197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What the code does</a:t>
                      </a:r>
                      <a:endParaRPr lang="en-US" sz="1000"/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Simple meaning</a:t>
                      </a:r>
                      <a:endParaRPr lang="en-US" sz="1000"/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52532"/>
                  </a:ext>
                </a:extLst>
              </a:tr>
              <a:tr h="345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Courier New" panose="02070309020205020404" pitchFamily="49" charset="0"/>
                        </a:rPr>
                        <a:t>MOV AH,1</a:t>
                      </a:r>
                      <a:endParaRPr lang="en-US" sz="1000" dirty="0"/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Tell the computer: “I want to read a key from the keyboard.”</a:t>
                      </a:r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473358"/>
                  </a:ext>
                </a:extLst>
              </a:tr>
              <a:tr h="492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Courier New" panose="02070309020205020404" pitchFamily="49" charset="0"/>
                        </a:rPr>
                        <a:t>INT 21H</a:t>
                      </a:r>
                      <a:endParaRPr lang="en-US" sz="1000" dirty="0"/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The computer waits for you to press a key. It stores the pressed key in </a:t>
                      </a:r>
                      <a:r>
                        <a:rPr lang="en-US" sz="1000" b="1"/>
                        <a:t>AL</a:t>
                      </a:r>
                      <a:r>
                        <a:rPr lang="en-US" sz="1000"/>
                        <a:t>.</a:t>
                      </a:r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489532"/>
                  </a:ext>
                </a:extLst>
              </a:tr>
              <a:tr h="345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CMP AL, 'A'</a:t>
                      </a:r>
                      <a:endParaRPr lang="en-US" sz="1000"/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Check if the key is </a:t>
                      </a:r>
                      <a:r>
                        <a:rPr lang="en-US" sz="1000" i="1"/>
                        <a:t>before</a:t>
                      </a:r>
                      <a:r>
                        <a:rPr lang="en-US" sz="1000"/>
                        <a:t> the letter A.</a:t>
                      </a:r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020192"/>
                  </a:ext>
                </a:extLst>
              </a:tr>
              <a:tr h="585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JL END_IF</a:t>
                      </a:r>
                      <a:endParaRPr lang="en-US" sz="1000"/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If it is before A → jump to END_IF (meaning: “the key is NOT an uppercase letter”).</a:t>
                      </a:r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119086"/>
                  </a:ext>
                </a:extLst>
              </a:tr>
              <a:tr h="197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CMP AL, 'Z'</a:t>
                      </a:r>
                      <a:endParaRPr lang="en-US" sz="1000"/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Check if the key is </a:t>
                      </a:r>
                      <a:r>
                        <a:rPr lang="en-US" sz="1000" i="1"/>
                        <a:t>after</a:t>
                      </a:r>
                      <a:r>
                        <a:rPr lang="en-US" sz="1000"/>
                        <a:t> the letter Z.</a:t>
                      </a:r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294695"/>
                  </a:ext>
                </a:extLst>
              </a:tr>
              <a:tr h="345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JG END_IF</a:t>
                      </a:r>
                      <a:endParaRPr lang="en-US" sz="1000"/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If it is after Z → jump to END_IF (not uppercase).</a:t>
                      </a:r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107267"/>
                  </a:ext>
                </a:extLst>
              </a:tr>
              <a:tr h="345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(If the program reaches here, the key is from A to Z)</a:t>
                      </a:r>
                      <a:endParaRPr lang="en-US" sz="1000"/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Meaning: “Yes, the key is an uppercase letter.”</a:t>
                      </a:r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94367"/>
                  </a:ext>
                </a:extLst>
              </a:tr>
              <a:tr h="345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MOV DL, AL</a:t>
                      </a:r>
                      <a:endParaRPr lang="en-US" sz="1000"/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Put the uppercase letter into DL so it can be printed.</a:t>
                      </a:r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181858"/>
                  </a:ext>
                </a:extLst>
              </a:tr>
              <a:tr h="345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MOV AH, 2</a:t>
                      </a:r>
                      <a:endParaRPr lang="en-US" sz="1000"/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Tell the computer: “I want to print a character.”</a:t>
                      </a:r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122862"/>
                  </a:ext>
                </a:extLst>
              </a:tr>
              <a:tr h="197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INT 21H</a:t>
                      </a:r>
                      <a:endParaRPr lang="en-US" sz="1000"/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Print the letter that is inside DL.</a:t>
                      </a:r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318109"/>
                  </a:ext>
                </a:extLst>
              </a:tr>
              <a:tr h="345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END_IF:</a:t>
                      </a:r>
                      <a:endParaRPr lang="en-US" sz="1000"/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A marker where the program goes if the character was NOT uppercase.</a:t>
                      </a:r>
                    </a:p>
                  </a:txBody>
                  <a:tcPr marL="49291" marR="49291" marT="24645" marB="246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801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OR Conditions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Shape 223"/>
          <p:cNvSpPr txBox="1">
            <a:spLocks/>
          </p:cNvSpPr>
          <p:nvPr/>
        </p:nvSpPr>
        <p:spPr>
          <a:xfrm>
            <a:off x="324359" y="1719198"/>
            <a:ext cx="8237750" cy="513880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Condition_1 OR condition_2 is true if at least one of the conditions is true; it is only false when both conditions are false.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 character. If it's "y" or "Y", display it; otherwise, terminate the program. 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 character (into AL)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(character = ‘y‘) OR (character = 'Y‘)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THEN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display it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ELSE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terminate the program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 IF </a:t>
            </a:r>
          </a:p>
        </p:txBody>
      </p:sp>
    </p:spTree>
    <p:extLst>
      <p:ext uri="{BB962C8B-B14F-4D97-AF65-F5344CB8AC3E}">
        <p14:creationId xmlns:p14="http://schemas.microsoft.com/office/powerpoint/2010/main" val="1113963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+mn-lt"/>
              </a:rPr>
              <a:t>Assembly Conversion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628006"/>
              </p:ext>
            </p:extLst>
          </p:nvPr>
        </p:nvGraphicFramePr>
        <p:xfrm>
          <a:off x="787791" y="2062269"/>
          <a:ext cx="7990448" cy="448887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995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5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8873">
                <a:tc>
                  <a:txBody>
                    <a:bodyPr/>
                    <a:lstStyle/>
                    <a:p>
                      <a:pPr marL="0" marR="0" lvl="6" indent="622300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MOV AH,1 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INT 21H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CMP </a:t>
                      </a:r>
                      <a:r>
                        <a:rPr lang="en-US" sz="1600" b="1" i="0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AL,’y</a:t>
                      </a: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’ ;AL==‘y’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JE THEN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CMP AL, '</a:t>
                      </a:r>
                      <a:r>
                        <a:rPr lang="en-US" sz="1600" b="1" i="0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Y';char</a:t>
                      </a: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~ 'Y'?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JE THEN 			;yes, go to display it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JMP ELSE_   		;no - Terminate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THEN: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MOV AH,2	     ;prepare to display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MOV DL,AL ;get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sym typeface="Helvetica Neue"/>
                        </a:rPr>
                        <a:t>char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INT 21H 	;display it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JMP END IF ;and exit – 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ELSE_: 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MOV AH, 4CH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INT 21H 	;DOS exit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END_IF: 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730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12400-436C-4B1D-B8E4-E8C993BA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8AD732E-8D72-0553-4973-051788D9E81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72635412"/>
              </p:ext>
            </p:extLst>
          </p:nvPr>
        </p:nvGraphicFramePr>
        <p:xfrm>
          <a:off x="403094" y="1970560"/>
          <a:ext cx="3932238" cy="2387921"/>
        </p:xfrm>
        <a:graphic>
          <a:graphicData uri="http://schemas.openxmlformats.org/drawingml/2006/table">
            <a:tbl>
              <a:tblPr/>
              <a:tblGrid>
                <a:gridCol w="1966119">
                  <a:extLst>
                    <a:ext uri="{9D8B030D-6E8A-4147-A177-3AD203B41FA5}">
                      <a16:colId xmlns:a16="http://schemas.microsoft.com/office/drawing/2014/main" val="26814666"/>
                    </a:ext>
                  </a:extLst>
                </a:gridCol>
                <a:gridCol w="1966119">
                  <a:extLst>
                    <a:ext uri="{9D8B030D-6E8A-4147-A177-3AD203B41FA5}">
                      <a16:colId xmlns:a16="http://schemas.microsoft.com/office/drawing/2014/main" val="3613553449"/>
                    </a:ext>
                  </a:extLst>
                </a:gridCol>
              </a:tblGrid>
              <a:tr h="203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Code</a:t>
                      </a:r>
                      <a:endParaRPr lang="en-US" sz="1000" dirty="0"/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Simple Meaning</a:t>
                      </a:r>
                      <a:endParaRPr lang="en-US" sz="1000"/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30775"/>
                  </a:ext>
                </a:extLst>
              </a:tr>
              <a:tr h="355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MOV AH,1</a:t>
                      </a:r>
                      <a:endParaRPr lang="en-US" sz="1000"/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Tell DOS: “I want to read a key from the keyboard.”</a:t>
                      </a:r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74471"/>
                  </a:ext>
                </a:extLst>
              </a:tr>
              <a:tr h="355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INT 21H</a:t>
                      </a:r>
                      <a:endParaRPr lang="en-US" sz="1000"/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Wait for a key press → the key goes into </a:t>
                      </a:r>
                      <a:r>
                        <a:rPr lang="en-US" sz="1000" b="1"/>
                        <a:t>AL</a:t>
                      </a:r>
                      <a:r>
                        <a:rPr lang="en-US" sz="1000"/>
                        <a:t>.</a:t>
                      </a:r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575141"/>
                  </a:ext>
                </a:extLst>
              </a:tr>
              <a:tr h="203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CMP AL,'y'</a:t>
                      </a:r>
                      <a:endParaRPr lang="en-US" sz="1000"/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Check if the key you typed is </a:t>
                      </a:r>
                      <a:r>
                        <a:rPr lang="en-US" sz="1000" b="1" dirty="0"/>
                        <a:t>‘y’</a:t>
                      </a:r>
                      <a:r>
                        <a:rPr lang="en-US" sz="1000" dirty="0"/>
                        <a:t>.</a:t>
                      </a:r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042986"/>
                  </a:ext>
                </a:extLst>
              </a:tr>
              <a:tr h="355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JE THEN</a:t>
                      </a:r>
                      <a:endParaRPr lang="en-US" sz="1000"/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If AL == ‘y’, jump to </a:t>
                      </a:r>
                      <a:r>
                        <a:rPr lang="en-US" sz="1000" b="1"/>
                        <a:t>THEN</a:t>
                      </a:r>
                      <a:r>
                        <a:rPr lang="en-US" sz="1000"/>
                        <a:t> (meaning: “yes, it is ‘y’”).</a:t>
                      </a:r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801857"/>
                  </a:ext>
                </a:extLst>
              </a:tr>
              <a:tr h="203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CMP AL,'Y'</a:t>
                      </a:r>
                      <a:endParaRPr lang="en-US" sz="1000"/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Check if the key is </a:t>
                      </a:r>
                      <a:r>
                        <a:rPr lang="en-US" sz="1000" b="1"/>
                        <a:t>‘Y’</a:t>
                      </a:r>
                      <a:r>
                        <a:rPr lang="en-US" sz="1000"/>
                        <a:t> (uppercase Y).</a:t>
                      </a:r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474430"/>
                  </a:ext>
                </a:extLst>
              </a:tr>
              <a:tr h="355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JE THEN</a:t>
                      </a:r>
                      <a:endParaRPr lang="en-US" sz="1000"/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If AL == ‘Y’, jump to </a:t>
                      </a:r>
                      <a:r>
                        <a:rPr lang="en-US" sz="1000" b="1" dirty="0"/>
                        <a:t>THEN</a:t>
                      </a:r>
                      <a:r>
                        <a:rPr lang="en-US" sz="1000" dirty="0"/>
                        <a:t> (meaning: “yes, it is ‘Y’”).</a:t>
                      </a:r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678006"/>
                  </a:ext>
                </a:extLst>
              </a:tr>
              <a:tr h="355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JMP ELSE_</a:t>
                      </a:r>
                      <a:endParaRPr lang="en-US" sz="1000"/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If the key is NOT ‘y’ or ‘Y’, go to </a:t>
                      </a:r>
                      <a:r>
                        <a:rPr lang="en-US" sz="1000" b="1" dirty="0"/>
                        <a:t>ELSE_</a:t>
                      </a:r>
                      <a:r>
                        <a:rPr lang="en-US" sz="1000" dirty="0"/>
                        <a:t> (the NO branch).</a:t>
                      </a:r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887225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8569BD1-00D2-E439-72CD-A0405CA290F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527454612"/>
              </p:ext>
            </p:extLst>
          </p:nvPr>
        </p:nvGraphicFramePr>
        <p:xfrm>
          <a:off x="4926014" y="2123189"/>
          <a:ext cx="3932236" cy="1981383"/>
        </p:xfrm>
        <a:graphic>
          <a:graphicData uri="http://schemas.openxmlformats.org/drawingml/2006/table">
            <a:tbl>
              <a:tblPr/>
              <a:tblGrid>
                <a:gridCol w="1966118">
                  <a:extLst>
                    <a:ext uri="{9D8B030D-6E8A-4147-A177-3AD203B41FA5}">
                      <a16:colId xmlns:a16="http://schemas.microsoft.com/office/drawing/2014/main" val="745275956"/>
                    </a:ext>
                  </a:extLst>
                </a:gridCol>
                <a:gridCol w="1966118">
                  <a:extLst>
                    <a:ext uri="{9D8B030D-6E8A-4147-A177-3AD203B41FA5}">
                      <a16:colId xmlns:a16="http://schemas.microsoft.com/office/drawing/2014/main" val="845460079"/>
                    </a:ext>
                  </a:extLst>
                </a:gridCol>
              </a:tblGrid>
              <a:tr h="203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Code</a:t>
                      </a:r>
                      <a:endParaRPr lang="en-US" sz="1000"/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Simple Meaning</a:t>
                      </a:r>
                      <a:endParaRPr lang="en-US" sz="1000"/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935151"/>
                  </a:ext>
                </a:extLst>
              </a:tr>
              <a:tr h="203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THEN:</a:t>
                      </a:r>
                      <a:endParaRPr lang="en-US" sz="1000"/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Start of the YES block.</a:t>
                      </a:r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489015"/>
                  </a:ext>
                </a:extLst>
              </a:tr>
              <a:tr h="355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Courier New" panose="02070309020205020404" pitchFamily="49" charset="0"/>
                        </a:rPr>
                        <a:t>MOV AH,2</a:t>
                      </a:r>
                      <a:endParaRPr lang="en-US" sz="1000" dirty="0"/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Tell DOS: “I want to print a character.”</a:t>
                      </a:r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36413"/>
                  </a:ext>
                </a:extLst>
              </a:tr>
              <a:tr h="355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MOV DL,AL</a:t>
                      </a:r>
                      <a:endParaRPr lang="en-US" sz="1000"/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Put the typed character (AL) into DL → this is the character to print.</a:t>
                      </a:r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264528"/>
                  </a:ext>
                </a:extLst>
              </a:tr>
              <a:tr h="203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 panose="02070309020205020404" pitchFamily="49" charset="0"/>
                        </a:rPr>
                        <a:t>INT 21H</a:t>
                      </a:r>
                      <a:endParaRPr lang="en-US" sz="1000"/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Print the character on the screen.</a:t>
                      </a:r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096020"/>
                  </a:ext>
                </a:extLst>
              </a:tr>
              <a:tr h="355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Courier New" panose="02070309020205020404" pitchFamily="49" charset="0"/>
                        </a:rPr>
                        <a:t>JMP END_IF</a:t>
                      </a:r>
                      <a:endParaRPr lang="en-US" sz="1000" dirty="0"/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After printing, jump to END_IF to finish.</a:t>
                      </a:r>
                    </a:p>
                    <a:p>
                      <a:pPr>
                        <a:buNone/>
                      </a:pPr>
                      <a:endParaRPr lang="en-US" sz="1000" dirty="0"/>
                    </a:p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50807" marR="50807" marT="25403" marB="2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44536"/>
                  </a:ext>
                </a:extLst>
              </a:tr>
            </a:tbl>
          </a:graphicData>
        </a:graphic>
      </p:graphicFrame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F05182-6414-0C7E-EFB2-0D024AC56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57" y="4640425"/>
            <a:ext cx="8098971" cy="210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58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Looping Structure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235"/>
          <p:cNvSpPr txBox="1">
            <a:spLocks/>
          </p:cNvSpPr>
          <p:nvPr/>
        </p:nvSpPr>
        <p:spPr>
          <a:xfrm>
            <a:off x="551657" y="2230581"/>
            <a:ext cx="7678660" cy="4003963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lr>
                <a:srgbClr val="FFFFFF"/>
              </a:buClr>
              <a:buSzPct val="74716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A loop Is a sequence of instructions that is repeated. </a:t>
            </a:r>
          </a:p>
          <a:p>
            <a:pPr marL="457200" indent="-457200">
              <a:buClr>
                <a:srgbClr val="FFFFFF"/>
              </a:buClr>
              <a:buSzPct val="74716"/>
              <a:buFont typeface="Wingdings" pitchFamily="2" charset="2"/>
              <a:buChar char="Ø"/>
            </a:pPr>
            <a:endParaRPr lang="en-US" sz="2000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>
              <a:buClr>
                <a:srgbClr val="FFFFFF"/>
              </a:buClr>
              <a:buSzPct val="74716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number of times to repeat may be known in advance, or </a:t>
            </a:r>
          </a:p>
          <a:p>
            <a:pPr marL="457200" indent="-457200">
              <a:buClr>
                <a:srgbClr val="FFFFFF"/>
              </a:buClr>
              <a:buSzPct val="74716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It may depend on conditions </a:t>
            </a:r>
          </a:p>
          <a:p>
            <a:pPr marL="419100" lvl="1" algn="l">
              <a:spcBef>
                <a:spcPts val="4000"/>
              </a:spcBef>
              <a:buClr>
                <a:srgbClr val="FFFFFF"/>
              </a:buClr>
              <a:buSzPct val="74716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 1. FOR LOOP</a:t>
            </a:r>
          </a:p>
          <a:p>
            <a:pPr marL="419100" lvl="1" algn="l">
              <a:spcBef>
                <a:spcPts val="4000"/>
              </a:spcBef>
              <a:buClr>
                <a:srgbClr val="FFFFFF"/>
              </a:buClr>
              <a:buSzPct val="74716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  2. WHILE LOOP </a:t>
            </a:r>
          </a:p>
          <a:p>
            <a:pPr marL="419100" lvl="1" algn="l">
              <a:spcBef>
                <a:spcPts val="4000"/>
              </a:spcBef>
              <a:buClr>
                <a:srgbClr val="FFFFFF"/>
              </a:buClr>
              <a:buSzPct val="74716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3. REPEAT LOOP</a:t>
            </a:r>
          </a:p>
        </p:txBody>
      </p:sp>
    </p:spTree>
    <p:extLst>
      <p:ext uri="{BB962C8B-B14F-4D97-AF65-F5344CB8AC3E}">
        <p14:creationId xmlns:p14="http://schemas.microsoft.com/office/powerpoint/2010/main" val="951964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FOR LOOP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hape 241"/>
          <p:cNvSpPr txBox="1">
            <a:spLocks/>
          </p:cNvSpPr>
          <p:nvPr/>
        </p:nvSpPr>
        <p:spPr>
          <a:xfrm>
            <a:off x="318655" y="1939636"/>
            <a:ext cx="8395853" cy="436008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FOR LOOP is a loop structure in which the loop statements are repeated a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known number of times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(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 count-controlled loop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). In pseudo code, 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endParaRPr lang="en-US" sz="16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FOR </a:t>
            </a:r>
            <a:r>
              <a:rPr lang="en-US" sz="1600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loop_count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times DO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                 Statements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END_FOR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endParaRPr lang="en-US" sz="16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instruction can be used to implement a FOR loop. i.e.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endParaRPr lang="en-US" sz="16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                      LOOP    </a:t>
            </a:r>
            <a:r>
              <a:rPr lang="en-US" sz="1600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destination_label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endParaRPr lang="en-US" sz="16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counter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for the loop is the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register CX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which is initialized to </a:t>
            </a:r>
            <a:r>
              <a:rPr lang="en-US" sz="1600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loop_count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endParaRPr lang="en-US" sz="1600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Execution of the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Instruction causes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CX to be decremented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automatically,  </a:t>
            </a:r>
          </a:p>
        </p:txBody>
      </p:sp>
    </p:spTree>
    <p:extLst>
      <p:ext uri="{BB962C8B-B14F-4D97-AF65-F5344CB8AC3E}">
        <p14:creationId xmlns:p14="http://schemas.microsoft.com/office/powerpoint/2010/main" val="1119638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FOR LOOP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247"/>
          <p:cNvSpPr txBox="1">
            <a:spLocks/>
          </p:cNvSpPr>
          <p:nvPr/>
        </p:nvSpPr>
        <p:spPr>
          <a:xfrm>
            <a:off x="241231" y="1800377"/>
            <a:ext cx="3748877" cy="465960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control is transferred to </a:t>
            </a:r>
            <a:r>
              <a:rPr lang="en-US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destination_label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until CX becomes 0. </a:t>
            </a: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endParaRPr lang="en-US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 FOR LOOP can be implemented using the LOOP instruction:</a:t>
            </a: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endParaRPr lang="en-US" sz="18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TOP: </a:t>
            </a: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;initialize CX to </a:t>
            </a:r>
            <a:r>
              <a:rPr lang="en-US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loop_count</a:t>
            </a:r>
            <a:endParaRPr lang="en-US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endParaRPr lang="en-US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;body of the loop</a:t>
            </a:r>
          </a:p>
          <a:p>
            <a:pPr marL="0" lvl="4" indent="812800" algn="l">
              <a:spcBef>
                <a:spcPts val="37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 TOP </a:t>
            </a:r>
          </a:p>
        </p:txBody>
      </p:sp>
      <p:pic>
        <p:nvPicPr>
          <p:cNvPr id="6" name="Shape 2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60738" y="2121272"/>
            <a:ext cx="3649836" cy="40178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1614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Example: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254"/>
          <p:cNvSpPr txBox="1">
            <a:spLocks/>
          </p:cNvSpPr>
          <p:nvPr/>
        </p:nvSpPr>
        <p:spPr>
          <a:xfrm>
            <a:off x="310505" y="2050472"/>
            <a:ext cx="3610332" cy="419792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444500"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Write a count-controlled loop to display a row of 80 stars: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FOR 80 times DO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display ‘*’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END_FOR</a:t>
            </a:r>
          </a:p>
        </p:txBody>
      </p:sp>
      <p:cxnSp>
        <p:nvCxnSpPr>
          <p:cNvPr id="6" name="Shape 256"/>
          <p:cNvCxnSpPr/>
          <p:nvPr/>
        </p:nvCxnSpPr>
        <p:spPr>
          <a:xfrm flipV="1">
            <a:off x="4186124" y="2308922"/>
            <a:ext cx="0" cy="3681027"/>
          </a:xfrm>
          <a:prstGeom prst="straightConnector1">
            <a:avLst/>
          </a:prstGeom>
          <a:noFill/>
          <a:ln w="114300" cap="flat">
            <a:solidFill>
              <a:srgbClr val="BC80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Shape 255"/>
          <p:cNvSpPr/>
          <p:nvPr/>
        </p:nvSpPr>
        <p:spPr>
          <a:xfrm>
            <a:off x="4254062" y="2318880"/>
            <a:ext cx="3976255" cy="32789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6" indent="622300" algn="l" rtl="0">
              <a:spcBef>
                <a:spcPts val="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  <a:ea typeface="Helvetica Neue"/>
                <a:cs typeface="Helvetica Neue"/>
                <a:sym typeface="Helvetica Neue"/>
              </a:rPr>
              <a:t>MOV CX,80</a:t>
            </a:r>
          </a:p>
          <a:p>
            <a:pPr marL="0" marR="0" lvl="6" indent="622300" algn="l" rtl="0">
              <a:spcBef>
                <a:spcPts val="0"/>
              </a:spcBef>
              <a:buClr>
                <a:srgbClr val="FFFFFF"/>
              </a:buClr>
              <a:buSzPct val="25000"/>
              <a:buFont typeface="Helvetica Neue"/>
              <a:buNone/>
            </a:pPr>
            <a:endParaRPr lang="en-US" b="1" i="0" u="none" strike="noStrike" cap="none" baseline="0" dirty="0">
              <a:ea typeface="Helvetica Neue"/>
              <a:cs typeface="Helvetica Neue"/>
              <a:sym typeface="Helvetica Neue"/>
            </a:endParaRPr>
          </a:p>
          <a:p>
            <a:pPr marL="0" lvl="6" indent="622300">
              <a:buClr>
                <a:srgbClr val="FFFFFF"/>
              </a:buClr>
              <a:buSzPct val="25000"/>
            </a:pPr>
            <a:r>
              <a:rPr lang="en-US" b="1" dirty="0">
                <a:ea typeface="Helvetica Neue"/>
                <a:cs typeface="Helvetica Neue"/>
                <a:sym typeface="Helvetica Neue"/>
              </a:rPr>
              <a:t>TOP:</a:t>
            </a:r>
            <a:r>
              <a:rPr lang="en-US" sz="1800" b="1" i="0" u="none" strike="noStrike" cap="none" baseline="0" dirty="0">
                <a:solidFill>
                  <a:schemeClr val="tx1"/>
                </a:solidFill>
                <a:effectLst/>
                <a:latin typeface="+mn-lt"/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0" marR="0" lvl="6" indent="622300" algn="l" rtl="0">
              <a:spcBef>
                <a:spcPts val="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i="0" u="none" strike="noStrike" cap="none" baseline="0" dirty="0">
                <a:solidFill>
                  <a:schemeClr val="tx1"/>
                </a:solidFill>
                <a:effectLst/>
                <a:latin typeface="+mn-lt"/>
                <a:ea typeface="Helvetica Neue"/>
                <a:cs typeface="Helvetica Neue"/>
                <a:sym typeface="Helvetica Neue"/>
              </a:rPr>
              <a:t>    MOV AH,2</a:t>
            </a:r>
          </a:p>
          <a:p>
            <a:pPr marL="0" marR="0" lvl="6" indent="622300" algn="l" rtl="0">
              <a:spcBef>
                <a:spcPts val="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ea typeface="Helvetica Neue"/>
                <a:cs typeface="Helvetica Neue"/>
                <a:sym typeface="Helvetica Neue"/>
              </a:rPr>
              <a:t>    MOV DL, ‘*’</a:t>
            </a:r>
          </a:p>
          <a:p>
            <a:pPr marL="0" marR="0" lvl="6" indent="622300" algn="l" rtl="0">
              <a:spcBef>
                <a:spcPts val="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i="0" u="none" strike="noStrike" cap="none" baseline="0" dirty="0">
                <a:solidFill>
                  <a:schemeClr val="tx1"/>
                </a:solidFill>
                <a:effectLst/>
                <a:latin typeface="+mn-lt"/>
                <a:ea typeface="Helvetica Neue"/>
                <a:cs typeface="Helvetica Neue"/>
                <a:sym typeface="Helvetica Neue"/>
              </a:rPr>
              <a:t>    INT 21H</a:t>
            </a:r>
          </a:p>
          <a:p>
            <a:pPr marL="0" marR="0" lvl="6" indent="622300" algn="l" rtl="0">
              <a:spcBef>
                <a:spcPts val="19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ea typeface="Helvetica Neue"/>
                <a:cs typeface="Helvetica Neue"/>
                <a:sym typeface="Helvetica Neue"/>
              </a:rPr>
              <a:t>LOOP TOP         </a:t>
            </a:r>
            <a:endParaRPr lang="en-US" b="1" i="0" u="none" strike="noStrike" cap="none" baseline="0" dirty="0"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21071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 JCXZ and The LOOP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Shape 262"/>
          <p:cNvSpPr txBox="1">
            <a:spLocks/>
          </p:cNvSpPr>
          <p:nvPr/>
        </p:nvSpPr>
        <p:spPr>
          <a:xfrm>
            <a:off x="230079" y="2064327"/>
            <a:ext cx="8581412" cy="423949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lr>
                <a:srgbClr val="FFFFFF"/>
              </a:buClr>
              <a:buSzPct val="74100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FOR LOOP executes at least once.</a:t>
            </a:r>
          </a:p>
          <a:p>
            <a:pPr marL="850900" lvl="1" indent="-457200" algn="l">
              <a:spcBef>
                <a:spcPts val="3800"/>
              </a:spcBef>
              <a:buClr>
                <a:srgbClr val="FFFFFF"/>
              </a:buClr>
              <a:buSzPct val="74100"/>
              <a:buFont typeface="Wingdings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CX contains 0 when the loop is entered, the LOOP instruction causes CX to be decremented to </a:t>
            </a:r>
            <a:r>
              <a:rPr lang="en-US" sz="1800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FFFFh</a:t>
            </a:r>
            <a:r>
              <a:rPr lang="en-US" sz="18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850900" lvl="1" indent="-457200" algn="l">
              <a:spcBef>
                <a:spcPts val="3800"/>
              </a:spcBef>
              <a:buClr>
                <a:srgbClr val="FFFFFF"/>
              </a:buClr>
              <a:buSzPct val="74100"/>
              <a:buFont typeface="Wingdings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loop is then executed </a:t>
            </a:r>
            <a:r>
              <a:rPr lang="en-US" sz="1800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FFFFh</a:t>
            </a:r>
            <a:r>
              <a:rPr lang="en-US" sz="18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=65535 times more! </a:t>
            </a:r>
          </a:p>
          <a:p>
            <a:pPr marL="457200" indent="-457200">
              <a:spcBef>
                <a:spcPts val="3800"/>
              </a:spcBef>
              <a:buClr>
                <a:srgbClr val="FFFFFF"/>
              </a:buClr>
              <a:buSzPct val="74100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To Prevent this, the instruction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JCXZ (jump if CX is zero)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may be used before the loop. Its syntax</a:t>
            </a:r>
          </a:p>
          <a:p>
            <a:pPr marL="457200" lvl="8" indent="-457200" algn="l">
              <a:spcBef>
                <a:spcPts val="3800"/>
              </a:spcBef>
              <a:buClr>
                <a:srgbClr val="FFFFFF"/>
              </a:buClr>
              <a:buSzPct val="25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JCXZ </a:t>
            </a:r>
            <a:r>
              <a:rPr lang="en-US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destination_label</a:t>
            </a: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66548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4344052-9B4B-B6A4-E83B-3531B09E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880A60-7DDE-73EF-E717-38253F7E9F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58" y="2133600"/>
            <a:ext cx="6660280" cy="4256314"/>
          </a:xfrm>
          <a:noFill/>
        </p:spPr>
      </p:pic>
    </p:spTree>
    <p:extLst>
      <p:ext uri="{BB962C8B-B14F-4D97-AF65-F5344CB8AC3E}">
        <p14:creationId xmlns:p14="http://schemas.microsoft.com/office/powerpoint/2010/main" val="3380334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Use of JCXZ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268"/>
          <p:cNvSpPr txBox="1">
            <a:spLocks/>
          </p:cNvSpPr>
          <p:nvPr/>
        </p:nvSpPr>
        <p:spPr>
          <a:xfrm>
            <a:off x="421341" y="2424545"/>
            <a:ext cx="8011393" cy="354676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604" indent="-395604">
              <a:buClr>
                <a:srgbClr val="FFFFFF"/>
              </a:buClr>
              <a:buSzPct val="74602"/>
              <a:buFont typeface="Helvetica Neue"/>
              <a:buChar char="•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CX contains 0, control transferred to the destination label. So a loop implemented as follows is bypassed if CX is 0:</a:t>
            </a:r>
          </a:p>
          <a:p>
            <a:pPr marL="395604" indent="-395604">
              <a:buClr>
                <a:srgbClr val="FFFFFF"/>
              </a:buClr>
              <a:buSzPct val="74602"/>
              <a:buFont typeface="Helvetica Neue"/>
              <a:buChar char="•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95604" indent="-395604">
              <a:buClr>
                <a:srgbClr val="FFFFFF"/>
              </a:buClr>
              <a:buSzPct val="74602"/>
              <a:buFont typeface="Helvetica Neue"/>
              <a:buChar char="•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JCXZ SKIP</a:t>
            </a:r>
          </a:p>
          <a:p>
            <a:pPr marL="395604" indent="-395604">
              <a:buClr>
                <a:srgbClr val="FFFFFF"/>
              </a:buClr>
              <a:buSzPct val="74602"/>
              <a:buFont typeface="Helvetica Neue"/>
              <a:buChar char="•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95604" indent="-395604">
              <a:buClr>
                <a:srgbClr val="FFFFFF"/>
              </a:buClr>
              <a:buSzPct val="74602"/>
              <a:buFont typeface="Helvetica Neue"/>
              <a:buChar char="•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TOP: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0" lvl="6" indent="1219200" algn="l">
              <a:spcBef>
                <a:spcPts val="37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;body of the loop</a:t>
            </a:r>
          </a:p>
          <a:p>
            <a:pPr marL="0" lvl="6" indent="1219200" algn="l">
              <a:spcBef>
                <a:spcPts val="37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 TOP</a:t>
            </a:r>
          </a:p>
          <a:p>
            <a:pPr marL="0" lvl="4" indent="812800" algn="l">
              <a:spcBef>
                <a:spcPts val="37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SKIP:</a:t>
            </a:r>
          </a:p>
        </p:txBody>
      </p:sp>
    </p:spTree>
    <p:extLst>
      <p:ext uri="{BB962C8B-B14F-4D97-AF65-F5344CB8AC3E}">
        <p14:creationId xmlns:p14="http://schemas.microsoft.com/office/powerpoint/2010/main" val="2696681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WHILE LOOP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hape 274"/>
          <p:cNvSpPr txBox="1">
            <a:spLocks/>
          </p:cNvSpPr>
          <p:nvPr/>
        </p:nvSpPr>
        <p:spPr>
          <a:xfrm>
            <a:off x="225905" y="1981200"/>
            <a:ext cx="4484640" cy="448470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444500"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This WHILE LOOP depends on a condition.</a:t>
            </a:r>
          </a:p>
          <a:p>
            <a:pPr marL="444500" indent="-444500">
              <a:spcBef>
                <a:spcPts val="4200"/>
              </a:spcBef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WHILE </a:t>
            </a:r>
            <a:r>
              <a:rPr lang="en-US" sz="2000" b="1" i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condition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DO</a:t>
            </a:r>
          </a:p>
          <a:p>
            <a:pPr marL="0" lvl="6" indent="1371600" algn="l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	statements</a:t>
            </a:r>
          </a:p>
          <a:p>
            <a:pPr marL="0" lvl="6" indent="1371600" algn="l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END_WHILE</a:t>
            </a:r>
          </a:p>
        </p:txBody>
      </p:sp>
      <p:pic>
        <p:nvPicPr>
          <p:cNvPr id="6" name="Shape 2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92083" y="2373972"/>
            <a:ext cx="4089285" cy="3699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5008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WHILE LOOP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281"/>
          <p:cNvSpPr txBox="1">
            <a:spLocks/>
          </p:cNvSpPr>
          <p:nvPr/>
        </p:nvSpPr>
        <p:spPr>
          <a:xfrm>
            <a:off x="244903" y="2175164"/>
            <a:ext cx="8691279" cy="393469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Clr>
                <a:srgbClr val="FFFFFF"/>
              </a:buClr>
              <a:buSzPct val="75486"/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condition is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checked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at the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top of the loop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 </a:t>
            </a:r>
          </a:p>
          <a:p>
            <a:pPr marL="1003300" lvl="1" indent="-571500" algn="l">
              <a:spcBef>
                <a:spcPts val="4100"/>
              </a:spcBef>
              <a:buClr>
                <a:srgbClr val="FFFFFF"/>
              </a:buClr>
              <a:buSzPct val="75486"/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true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, the statements are executed; </a:t>
            </a:r>
          </a:p>
          <a:p>
            <a:pPr marL="1003300" lvl="1" indent="-571500" algn="l">
              <a:spcBef>
                <a:spcPts val="4100"/>
              </a:spcBef>
              <a:buClr>
                <a:srgbClr val="FFFFFF"/>
              </a:buClr>
              <a:buSzPct val="75486"/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false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, the program goes on to whatever follows. </a:t>
            </a:r>
          </a:p>
          <a:p>
            <a:pPr marL="571500" indent="-571500">
              <a:spcBef>
                <a:spcPts val="4100"/>
              </a:spcBef>
              <a:buClr>
                <a:srgbClr val="FFFFFF"/>
              </a:buClr>
              <a:buSzPct val="75486"/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It is possible the condition will be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false initially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, in which case the loop body ls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not executed at all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</a:t>
            </a:r>
          </a:p>
          <a:p>
            <a:pPr marL="571500" indent="-571500">
              <a:spcBef>
                <a:spcPts val="4100"/>
              </a:spcBef>
              <a:buClr>
                <a:srgbClr val="FFFFFF"/>
              </a:buClr>
              <a:buSzPct val="75486"/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loop executes as long as the condition is true</a:t>
            </a:r>
          </a:p>
        </p:txBody>
      </p:sp>
    </p:spTree>
    <p:extLst>
      <p:ext uri="{BB962C8B-B14F-4D97-AF65-F5344CB8AC3E}">
        <p14:creationId xmlns:p14="http://schemas.microsoft.com/office/powerpoint/2010/main" val="3006554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Example: WHILE LOOP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985425"/>
            <a:ext cx="80640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4485" lvl="0" indent="-324485">
              <a:buClr>
                <a:srgbClr val="FFFFFF"/>
              </a:buClr>
              <a:buSzPct val="74303"/>
              <a:buFont typeface="Helvetica Neue"/>
              <a:buChar char="•"/>
            </a:pPr>
            <a:r>
              <a:rPr lang="en-US" b="1" dirty="0">
                <a:ea typeface="Helvetica Neue"/>
                <a:cs typeface="Helvetica Neue"/>
                <a:sym typeface="Helvetica Neue"/>
              </a:rPr>
              <a:t>Write some code to count the number of characters in an input line.  </a:t>
            </a:r>
          </a:p>
        </p:txBody>
      </p:sp>
      <p:sp>
        <p:nvSpPr>
          <p:cNvPr id="6" name="Shape 288"/>
          <p:cNvSpPr/>
          <p:nvPr/>
        </p:nvSpPr>
        <p:spPr>
          <a:xfrm>
            <a:off x="166255" y="2854934"/>
            <a:ext cx="4613563" cy="29371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Initialize count to 0</a:t>
            </a: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Read a character</a:t>
            </a: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WHILE character &lt;&gt; </a:t>
            </a:r>
            <a:r>
              <a:rPr lang="en-US" b="1" i="0" u="none" strike="noStrike" cap="none" baseline="0" dirty="0" err="1">
                <a:ea typeface="Helvetica Neue"/>
                <a:cs typeface="Helvetica Neue"/>
                <a:sym typeface="Helvetica Neue"/>
              </a:rPr>
              <a:t>carriage_return</a:t>
            </a: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 DO</a:t>
            </a: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count =count + 1</a:t>
            </a: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read a character</a:t>
            </a:r>
          </a:p>
          <a:p>
            <a:pPr marL="381000" marR="0" lvl="0" indent="-381000" algn="l" rtl="0">
              <a:spcBef>
                <a:spcPts val="420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END_WHILE </a:t>
            </a:r>
          </a:p>
        </p:txBody>
      </p:sp>
      <p:cxnSp>
        <p:nvCxnSpPr>
          <p:cNvPr id="7" name="Shape 290"/>
          <p:cNvCxnSpPr/>
          <p:nvPr/>
        </p:nvCxnSpPr>
        <p:spPr>
          <a:xfrm flipV="1">
            <a:off x="4547129" y="2477685"/>
            <a:ext cx="0" cy="3622007"/>
          </a:xfrm>
          <a:prstGeom prst="straightConnector1">
            <a:avLst/>
          </a:prstGeom>
          <a:noFill/>
          <a:ln w="152400" cap="flat">
            <a:solidFill>
              <a:srgbClr val="BC80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Shape 289"/>
          <p:cNvSpPr/>
          <p:nvPr/>
        </p:nvSpPr>
        <p:spPr>
          <a:xfrm>
            <a:off x="4731453" y="1862206"/>
            <a:ext cx="4412547" cy="48529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	MOV DX,0 ; char count</a:t>
            </a: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	MOV AH,1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	INT 21H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WHILE_: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CMP AL,0DH  	; CR ?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JE END_WHILE  ;yes, exit		INC DX	; not CR so </a:t>
            </a:r>
            <a:r>
              <a:rPr lang="en-US" b="1" i="0" u="none" strike="noStrike" cap="none" baseline="0" dirty="0" err="1">
                <a:ea typeface="Helvetica Neue"/>
                <a:cs typeface="Helvetica Neue"/>
                <a:sym typeface="Helvetica Neue"/>
              </a:rPr>
              <a:t>inc</a:t>
            </a:r>
            <a:endParaRPr lang="en-US" b="1" i="0" u="none" strike="noStrike" cap="none" baseline="0" dirty="0">
              <a:ea typeface="Helvetica Neue"/>
              <a:cs typeface="Helvetica Neue"/>
              <a:sym typeface="Helvetica Neue"/>
            </a:endParaRPr>
          </a:p>
          <a:p>
            <a:pPr marL="0" marR="0" lvl="2" indent="292100" algn="l" rtl="0">
              <a:spcBef>
                <a:spcPts val="27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INT 21H</a:t>
            </a:r>
            <a:r>
              <a:rPr lang="en-US" b="1" i="0" u="none" strike="noStrike" cap="none" dirty="0">
                <a:ea typeface="Helvetica Neue"/>
                <a:cs typeface="Helvetica Neue"/>
                <a:sym typeface="Helvetica Neue"/>
              </a:rPr>
              <a:t> </a:t>
            </a: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; read next char</a:t>
            </a:r>
          </a:p>
          <a:p>
            <a:pPr marL="0" marR="0" lvl="2" indent="292100" algn="l" rtl="0">
              <a:spcBef>
                <a:spcPts val="27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JMP WHILE_  ; loop again</a:t>
            </a:r>
          </a:p>
          <a:p>
            <a:pPr marL="0" marR="0" lvl="2" indent="292100" algn="l" rtl="0">
              <a:spcBef>
                <a:spcPts val="27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END_WHILE:</a:t>
            </a:r>
          </a:p>
        </p:txBody>
      </p:sp>
    </p:spTree>
    <p:extLst>
      <p:ext uri="{BB962C8B-B14F-4D97-AF65-F5344CB8AC3E}">
        <p14:creationId xmlns:p14="http://schemas.microsoft.com/office/powerpoint/2010/main" val="4200409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WHILE LOOP Insights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hape 296"/>
          <p:cNvSpPr txBox="1">
            <a:spLocks/>
          </p:cNvSpPr>
          <p:nvPr/>
        </p:nvSpPr>
        <p:spPr>
          <a:xfrm>
            <a:off x="324359" y="1744959"/>
            <a:ext cx="7676135" cy="4728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Clr>
                <a:srgbClr val="FFFFFF"/>
              </a:buClr>
              <a:buSzPct val="75000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 WHILE loop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checks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the terminating condition at the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top of the loop,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571500" indent="-571500">
              <a:spcBef>
                <a:spcPts val="4200"/>
              </a:spcBef>
              <a:buClr>
                <a:srgbClr val="FFFFFF"/>
              </a:buClr>
              <a:buSzPct val="75000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So, you must make sure that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any variables involved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in the condition are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initialized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before the loop is entered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 </a:t>
            </a:r>
          </a:p>
          <a:p>
            <a:pPr marL="571500" indent="-571500">
              <a:spcBef>
                <a:spcPts val="4200"/>
              </a:spcBef>
              <a:buClr>
                <a:srgbClr val="FFFFFF"/>
              </a:buClr>
              <a:buSzPct val="75000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So you read a character before entering the loop, and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another one at the bottom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 </a:t>
            </a:r>
          </a:p>
          <a:p>
            <a:pPr marL="571500" indent="-571500">
              <a:spcBef>
                <a:spcPts val="4200"/>
              </a:spcBef>
              <a:buClr>
                <a:srgbClr val="FFFFFF"/>
              </a:buClr>
              <a:buSzPct val="75000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label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WHILE_: 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.is used because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WHILE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is a reserved word</a:t>
            </a:r>
          </a:p>
        </p:txBody>
      </p:sp>
    </p:spTree>
    <p:extLst>
      <p:ext uri="{BB962C8B-B14F-4D97-AF65-F5344CB8AC3E}">
        <p14:creationId xmlns:p14="http://schemas.microsoft.com/office/powerpoint/2010/main" val="113157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777CBB-A198-AC77-2356-8F1FA8AEAB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2D1123-1833-DA91-765E-C216962D76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236AD7-D041-B2FD-8631-C3532EE31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730710"/>
              </p:ext>
            </p:extLst>
          </p:nvPr>
        </p:nvGraphicFramePr>
        <p:xfrm>
          <a:off x="418633" y="2019541"/>
          <a:ext cx="8322594" cy="4261515"/>
        </p:xfrm>
        <a:graphic>
          <a:graphicData uri="http://schemas.openxmlformats.org/drawingml/2006/table">
            <a:tbl>
              <a:tblPr/>
              <a:tblGrid>
                <a:gridCol w="2774198">
                  <a:extLst>
                    <a:ext uri="{9D8B030D-6E8A-4147-A177-3AD203B41FA5}">
                      <a16:colId xmlns:a16="http://schemas.microsoft.com/office/drawing/2014/main" val="3777774927"/>
                    </a:ext>
                  </a:extLst>
                </a:gridCol>
                <a:gridCol w="2774198">
                  <a:extLst>
                    <a:ext uri="{9D8B030D-6E8A-4147-A177-3AD203B41FA5}">
                      <a16:colId xmlns:a16="http://schemas.microsoft.com/office/drawing/2014/main" val="1960149806"/>
                    </a:ext>
                  </a:extLst>
                </a:gridCol>
                <a:gridCol w="2774198">
                  <a:extLst>
                    <a:ext uri="{9D8B030D-6E8A-4147-A177-3AD203B41FA5}">
                      <a16:colId xmlns:a16="http://schemas.microsoft.com/office/drawing/2014/main" val="3703583615"/>
                    </a:ext>
                  </a:extLst>
                </a:gridCol>
              </a:tblGrid>
              <a:tr h="2805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Pseudocode (English)</a:t>
                      </a:r>
                      <a:endParaRPr lang="en-US" sz="1300"/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Assembly</a:t>
                      </a:r>
                      <a:endParaRPr lang="en-US" sz="1300"/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Meaning (Very Easy)</a:t>
                      </a:r>
                      <a:endParaRPr lang="en-US" sz="1300"/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00994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Set count = 0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MOV DX,0</a:t>
                      </a:r>
                      <a:endParaRPr lang="en-US" sz="1300"/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DX will store how many characters you typed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701461"/>
                  </a:ext>
                </a:extLst>
              </a:tr>
              <a:tr h="487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Read a character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>
                          <a:latin typeface="Courier New" panose="02070309020205020404" pitchFamily="49" charset="0"/>
                        </a:rPr>
                        <a:t>MOV AH,1</a:t>
                      </a:r>
                      <a:r>
                        <a:rPr lang="pt-BR" sz="1300"/>
                        <a:t> </a:t>
                      </a:r>
                      <a:r>
                        <a:rPr lang="pt-BR" sz="1300">
                          <a:latin typeface="Courier New" panose="02070309020205020404" pitchFamily="49" charset="0"/>
                        </a:rPr>
                        <a:t>INT 21H</a:t>
                      </a:r>
                      <a:endParaRPr lang="pt-BR" sz="1300"/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Reads 1 key → goes into AL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086097"/>
                  </a:ext>
                </a:extLst>
              </a:tr>
              <a:tr h="2805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Start loop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WHILE_:</a:t>
                      </a:r>
                      <a:endParaRPr lang="en-US" sz="1300"/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Beginning of loop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841386"/>
                  </a:ext>
                </a:extLst>
              </a:tr>
              <a:tr h="487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Is character Enter?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CMP AL,0DH</a:t>
                      </a:r>
                      <a:endParaRPr lang="en-US" sz="1300"/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Compare AL with 0DH (ENTER key)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327884"/>
                  </a:ext>
                </a:extLst>
              </a:tr>
              <a:tr h="487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If yes → stop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JE END_WHILE</a:t>
                      </a:r>
                      <a:endParaRPr lang="en-US" sz="1300"/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If AL = ENTER → exit loop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132222"/>
                  </a:ext>
                </a:extLst>
              </a:tr>
              <a:tr h="696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Increase count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INC DX</a:t>
                      </a:r>
                      <a:endParaRPr lang="en-US" sz="1300"/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Add 1 to count (because this was a normal character)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642115"/>
                  </a:ext>
                </a:extLst>
              </a:tr>
              <a:tr h="487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Read next character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INT 21H</a:t>
                      </a:r>
                      <a:endParaRPr lang="en-US" sz="1300"/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Read another key into AL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246181"/>
                  </a:ext>
                </a:extLst>
              </a:tr>
              <a:tr h="2805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Repeat loop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JMP WHILE_</a:t>
                      </a:r>
                      <a:endParaRPr lang="en-US" sz="1300"/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Go check again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000243"/>
                  </a:ext>
                </a:extLst>
              </a:tr>
              <a:tr h="2805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End loop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END_WHILE:</a:t>
                      </a:r>
                      <a:endParaRPr lang="en-US" sz="1300"/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Loop finished</a:t>
                      </a:r>
                    </a:p>
                  </a:txBody>
                  <a:tcPr marL="65452" marR="65452" marT="32726" marB="32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232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8812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REPEAT LOOP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302"/>
          <p:cNvSpPr txBox="1">
            <a:spLocks/>
          </p:cNvSpPr>
          <p:nvPr/>
        </p:nvSpPr>
        <p:spPr>
          <a:xfrm>
            <a:off x="421341" y="1925783"/>
            <a:ext cx="3288531" cy="2133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457200" algn="l">
              <a:spcBef>
                <a:spcPts val="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REPEAT</a:t>
            </a:r>
            <a:r>
              <a:rPr lang="en-US" sz="18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	</a:t>
            </a: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statements</a:t>
            </a:r>
          </a:p>
          <a:p>
            <a:pPr marL="0" lvl="2" indent="457200" algn="l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UNTIL condition </a:t>
            </a:r>
          </a:p>
        </p:txBody>
      </p:sp>
      <p:pic>
        <p:nvPicPr>
          <p:cNvPr id="6" name="Shape 3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38256" y="1925784"/>
            <a:ext cx="3492062" cy="236912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304"/>
          <p:cNvSpPr/>
          <p:nvPr/>
        </p:nvSpPr>
        <p:spPr>
          <a:xfrm>
            <a:off x="120974" y="4059383"/>
            <a:ext cx="8815208" cy="24647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2" indent="33020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In a REPEAT…UNTIL loop, the statements are executed, and then the condition is checked. 	</a:t>
            </a:r>
          </a:p>
          <a:p>
            <a:pPr marL="834389" marR="0" lvl="2" indent="-288289" algn="l" rtl="0">
              <a:spcBef>
                <a:spcPts val="3000"/>
              </a:spcBef>
              <a:buClr>
                <a:srgbClr val="FFFFFF"/>
              </a:buClr>
              <a:buSzPct val="99071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If true, the loop terminates; </a:t>
            </a:r>
          </a:p>
          <a:p>
            <a:pPr marL="834389" marR="0" lvl="2" indent="-288289" algn="l" rtl="0">
              <a:spcBef>
                <a:spcPts val="3000"/>
              </a:spcBef>
              <a:buClr>
                <a:srgbClr val="FFFFFF"/>
              </a:buClr>
              <a:buSzPct val="99071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If false, control branches to the top of the loop.</a:t>
            </a:r>
          </a:p>
        </p:txBody>
      </p:sp>
    </p:spTree>
    <p:extLst>
      <p:ext uri="{BB962C8B-B14F-4D97-AF65-F5344CB8AC3E}">
        <p14:creationId xmlns:p14="http://schemas.microsoft.com/office/powerpoint/2010/main" val="1289912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ea typeface="Helvetica Neue"/>
                <a:cs typeface="Helvetica Neue"/>
                <a:sym typeface="Helvetica Neue"/>
              </a:rPr>
              <a:t>Example: REPEAT LOOP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Shape 309"/>
          <p:cNvSpPr txBox="1">
            <a:spLocks/>
          </p:cNvSpPr>
          <p:nvPr/>
        </p:nvSpPr>
        <p:spPr>
          <a:xfrm>
            <a:off x="184906" y="1884219"/>
            <a:ext cx="5883386" cy="56397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Helvetica Neue"/>
                <a:cs typeface="Helvetica Neue"/>
                <a:sym typeface="Helvetica Neue"/>
              </a:rPr>
              <a:t>Write code to read characters until a blank is read. </a:t>
            </a:r>
          </a:p>
        </p:txBody>
      </p:sp>
      <p:sp>
        <p:nvSpPr>
          <p:cNvPr id="9" name="Shape 310"/>
          <p:cNvSpPr txBox="1">
            <a:spLocks/>
          </p:cNvSpPr>
          <p:nvPr/>
        </p:nvSpPr>
        <p:spPr>
          <a:xfrm>
            <a:off x="684307" y="2448197"/>
            <a:ext cx="3042566" cy="330422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REPEAT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read a character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UNTIL character is a BLANK </a:t>
            </a:r>
          </a:p>
        </p:txBody>
      </p:sp>
      <p:cxnSp>
        <p:nvCxnSpPr>
          <p:cNvPr id="10" name="Shape 312"/>
          <p:cNvCxnSpPr/>
          <p:nvPr/>
        </p:nvCxnSpPr>
        <p:spPr>
          <a:xfrm flipH="1" flipV="1">
            <a:off x="4375231" y="2587457"/>
            <a:ext cx="1" cy="3190905"/>
          </a:xfrm>
          <a:prstGeom prst="straightConnector1">
            <a:avLst/>
          </a:prstGeom>
          <a:noFill/>
          <a:ln w="50800" cap="flat">
            <a:solidFill>
              <a:srgbClr val="BC80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Shape 311"/>
          <p:cNvSpPr/>
          <p:nvPr/>
        </p:nvSpPr>
        <p:spPr>
          <a:xfrm>
            <a:off x="5023590" y="1829719"/>
            <a:ext cx="3572315" cy="47063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MOV AH,1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REPEAT: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dirty="0">
                <a:ea typeface="Helvetica Neue"/>
                <a:cs typeface="Helvetica Neue"/>
                <a:sym typeface="Helvetica Neue"/>
              </a:rPr>
              <a:t>                    </a:t>
            </a: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INT 21H</a:t>
            </a:r>
          </a:p>
          <a:p>
            <a:pPr marL="0" marR="0" lvl="5" indent="114300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CMP AL,' '</a:t>
            </a:r>
          </a:p>
          <a:p>
            <a:pPr marL="0" marR="0" lvl="5" indent="114300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JNE REPEAT </a:t>
            </a:r>
          </a:p>
        </p:txBody>
      </p:sp>
    </p:spTree>
    <p:extLst>
      <p:ext uri="{BB962C8B-B14F-4D97-AF65-F5344CB8AC3E}">
        <p14:creationId xmlns:p14="http://schemas.microsoft.com/office/powerpoint/2010/main" val="1896228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65E197-FD62-0C2A-20CA-040BEAE61E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BAD4BB-80B6-B24C-CCA5-A8A559135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907011"/>
              </p:ext>
            </p:extLst>
          </p:nvPr>
        </p:nvGraphicFramePr>
        <p:xfrm>
          <a:off x="1032668" y="2455273"/>
          <a:ext cx="7077074" cy="3017520"/>
        </p:xfrm>
        <a:graphic>
          <a:graphicData uri="http://schemas.openxmlformats.org/drawingml/2006/table">
            <a:tbl>
              <a:tblPr/>
              <a:tblGrid>
                <a:gridCol w="3538537">
                  <a:extLst>
                    <a:ext uri="{9D8B030D-6E8A-4147-A177-3AD203B41FA5}">
                      <a16:colId xmlns:a16="http://schemas.microsoft.com/office/drawing/2014/main" val="3995340538"/>
                    </a:ext>
                  </a:extLst>
                </a:gridCol>
                <a:gridCol w="3538537">
                  <a:extLst>
                    <a:ext uri="{9D8B030D-6E8A-4147-A177-3AD203B41FA5}">
                      <a16:colId xmlns:a16="http://schemas.microsoft.com/office/drawing/2014/main" val="131432965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64708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MOV AH,1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Select DOS service </a:t>
                      </a:r>
                      <a:r>
                        <a:rPr lang="en-US" sz="1800" b="1"/>
                        <a:t>read a single character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3396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REPEAT: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Label → start of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41213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INT 21H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Actually reads a character from the keyboard and stores it in </a:t>
                      </a:r>
                      <a:r>
                        <a:rPr lang="en-US" sz="1800" b="1"/>
                        <a:t>AL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3641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CMP AL, ' '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Check if the character is a </a:t>
                      </a:r>
                      <a:r>
                        <a:rPr lang="en-US" sz="1800" b="1"/>
                        <a:t>space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00329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JNE REPEAT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If the character is </a:t>
                      </a:r>
                      <a:r>
                        <a:rPr lang="en-US" sz="1800" b="1" dirty="0"/>
                        <a:t>NOT</a:t>
                      </a:r>
                      <a:r>
                        <a:rPr lang="en-US" sz="1800" dirty="0"/>
                        <a:t> a space → go back and read again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46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943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Difference between WHILE and REPEAT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Shape 318"/>
          <p:cNvSpPr txBox="1">
            <a:spLocks/>
          </p:cNvSpPr>
          <p:nvPr/>
        </p:nvSpPr>
        <p:spPr>
          <a:xfrm>
            <a:off x="0" y="1343891"/>
            <a:ext cx="9053561" cy="5322523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Clr>
                <a:srgbClr val="FFFFFF"/>
              </a:buClr>
              <a:buSzPct val="74272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Use of a WHILE loop or a REPEAT loop Is a matter of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personal preference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 </a:t>
            </a:r>
          </a:p>
          <a:p>
            <a:pPr marL="457200" indent="-457200" algn="just">
              <a:spcBef>
                <a:spcPts val="3600"/>
              </a:spcBef>
              <a:buClr>
                <a:srgbClr val="FFFFFF"/>
              </a:buClr>
              <a:buSzPct val="74272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advantage of a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WHILE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is that the loop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can be bypassed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if the terminating, condition is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initially false.</a:t>
            </a:r>
          </a:p>
          <a:p>
            <a:pPr marL="457200" indent="-457200" algn="just">
              <a:spcBef>
                <a:spcPts val="3600"/>
              </a:spcBef>
              <a:buClr>
                <a:srgbClr val="FFFFFF"/>
              </a:buClr>
              <a:buSzPct val="74272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Whereas the statements in a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REPEAT must be done at least once. </a:t>
            </a:r>
          </a:p>
          <a:p>
            <a:pPr marL="457200" indent="-457200" algn="just">
              <a:spcBef>
                <a:spcPts val="3600"/>
              </a:spcBef>
              <a:buClr>
                <a:srgbClr val="FFFFFF"/>
              </a:buClr>
              <a:buSzPct val="74272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However, the code for a REPEAT loop Is likely to be a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little shorter 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because there is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only a conditional jump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at the end,</a:t>
            </a:r>
          </a:p>
          <a:p>
            <a:pPr marL="457200" indent="-457200" algn="just">
              <a:spcBef>
                <a:spcPts val="3600"/>
              </a:spcBef>
              <a:buClr>
                <a:srgbClr val="FFFFFF"/>
              </a:buClr>
              <a:buSzPct val="74272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But a WHILE loop has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two jumps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: a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conditional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jump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at the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top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and a JMP at the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bottom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48033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DE7AF56E-FEB6-2F43-1DBF-FCF73B134A0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" r="1544"/>
          <a:stretch>
            <a:fillRect/>
          </a:stretch>
        </p:blipFill>
        <p:spPr>
          <a:xfrm>
            <a:off x="418633" y="2332743"/>
            <a:ext cx="8574087" cy="4377391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6FF3BAC-0B48-7EA7-C562-B09E5BF537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1A79C2-23E3-C66C-4446-3962A8B755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2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F40EEC-C946-F77C-CC55-EC0B90492C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097DE4-C5D2-CA5F-FEA9-5FB675B737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171C8D-DA4C-666D-3214-52AD44948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167342"/>
              </p:ext>
            </p:extLst>
          </p:nvPr>
        </p:nvGraphicFramePr>
        <p:xfrm>
          <a:off x="418634" y="1981674"/>
          <a:ext cx="7991157" cy="4044003"/>
        </p:xfrm>
        <a:graphic>
          <a:graphicData uri="http://schemas.openxmlformats.org/drawingml/2006/table">
            <a:tbl>
              <a:tblPr/>
              <a:tblGrid>
                <a:gridCol w="2663719">
                  <a:extLst>
                    <a:ext uri="{9D8B030D-6E8A-4147-A177-3AD203B41FA5}">
                      <a16:colId xmlns:a16="http://schemas.microsoft.com/office/drawing/2014/main" val="1047975230"/>
                    </a:ext>
                  </a:extLst>
                </a:gridCol>
                <a:gridCol w="2663719">
                  <a:extLst>
                    <a:ext uri="{9D8B030D-6E8A-4147-A177-3AD203B41FA5}">
                      <a16:colId xmlns:a16="http://schemas.microsoft.com/office/drawing/2014/main" val="3196645162"/>
                    </a:ext>
                  </a:extLst>
                </a:gridCol>
                <a:gridCol w="2663719">
                  <a:extLst>
                    <a:ext uri="{9D8B030D-6E8A-4147-A177-3AD203B41FA5}">
                      <a16:colId xmlns:a16="http://schemas.microsoft.com/office/drawing/2014/main" val="4205586288"/>
                    </a:ext>
                  </a:extLst>
                </a:gridCol>
              </a:tblGrid>
              <a:tr h="319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Feature</a:t>
                      </a:r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WHILE Loop</a:t>
                      </a:r>
                      <a:endParaRPr lang="en-US" sz="1600"/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REPEAT–UNTIL Loop</a:t>
                      </a:r>
                      <a:endParaRPr lang="en-US" sz="1600"/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923518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Condition checked</a:t>
                      </a:r>
                      <a:endParaRPr lang="en-US" sz="1600"/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At the </a:t>
                      </a:r>
                      <a:r>
                        <a:rPr lang="en-US" sz="1600" b="1"/>
                        <a:t>beginning</a:t>
                      </a:r>
                      <a:endParaRPr lang="en-US" sz="1600"/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At the </a:t>
                      </a:r>
                      <a:r>
                        <a:rPr lang="en-US" sz="1600" b="1"/>
                        <a:t>end</a:t>
                      </a:r>
                      <a:endParaRPr lang="en-US" sz="1600"/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777179"/>
                  </a:ext>
                </a:extLst>
              </a:tr>
              <a:tr h="558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Runs at least once?</a:t>
                      </a:r>
                      <a:endParaRPr lang="en-US" sz="1600"/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❌ </a:t>
                      </a:r>
                      <a:r>
                        <a:rPr lang="en-US" sz="1600" b="1"/>
                        <a:t>No</a:t>
                      </a:r>
                      <a:r>
                        <a:rPr lang="en-US" sz="1600"/>
                        <a:t> (may run 0 times)</a:t>
                      </a:r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</a:t>
                      </a:r>
                      <a:r>
                        <a:rPr lang="en-US" sz="1600" b="1"/>
                        <a:t>Yes</a:t>
                      </a:r>
                      <a:r>
                        <a:rPr lang="en-US" sz="1600"/>
                        <a:t> (always runs ≥ 1 time)</a:t>
                      </a:r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079921"/>
                  </a:ext>
                </a:extLst>
              </a:tr>
              <a:tr h="558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Structure</a:t>
                      </a:r>
                      <a:endParaRPr lang="en-US" sz="1600"/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WHILE condition NOT met → run body</a:t>
                      </a:r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Run body → stop when condition is met</a:t>
                      </a:r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477146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Assembly style</a:t>
                      </a:r>
                      <a:endParaRPr lang="en-US" sz="1600"/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Check first, then loop</a:t>
                      </a:r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Loop first, check later</a:t>
                      </a:r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244156"/>
                  </a:ext>
                </a:extLst>
              </a:tr>
              <a:tr h="798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Pseudo-code</a:t>
                      </a:r>
                      <a:endParaRPr lang="en-US" sz="1600"/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WHILE x != 0</a:t>
                      </a:r>
                      <a:r>
                        <a:rPr lang="en-US" sz="1600"/>
                        <a:t>  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do something</a:t>
                      </a:r>
                      <a:endParaRPr lang="en-US" sz="1600"/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REPEAT</a:t>
                      </a:r>
                      <a:r>
                        <a:rPr lang="en-US" sz="1600"/>
                        <a:t>  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do somethingUNTIL x == 0</a:t>
                      </a:r>
                      <a:endParaRPr lang="en-US" sz="1600"/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52973"/>
                  </a:ext>
                </a:extLst>
              </a:tr>
              <a:tr h="558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When to use</a:t>
                      </a:r>
                      <a:endParaRPr lang="en-US" sz="1600"/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you may </a:t>
                      </a:r>
                      <a:r>
                        <a:rPr lang="en-US" sz="1600" b="1"/>
                        <a:t>skip</a:t>
                      </a:r>
                      <a:r>
                        <a:rPr lang="en-US" sz="1600"/>
                        <a:t> loop entirely</a:t>
                      </a:r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you must </a:t>
                      </a:r>
                      <a:r>
                        <a:rPr lang="en-US" sz="1600" b="1"/>
                        <a:t>execute at least once</a:t>
                      </a:r>
                      <a:endParaRPr lang="en-US" sz="1600"/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95776"/>
                  </a:ext>
                </a:extLst>
              </a:tr>
              <a:tr h="558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Example meaning</a:t>
                      </a:r>
                      <a:endParaRPr lang="en-US" sz="1600"/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“Do this </a:t>
                      </a:r>
                      <a:r>
                        <a:rPr lang="en-US" sz="1600" b="1"/>
                        <a:t>while</a:t>
                      </a:r>
                      <a:r>
                        <a:rPr lang="en-US" sz="1600"/>
                        <a:t> condition is true”</a:t>
                      </a:r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“Do this </a:t>
                      </a:r>
                      <a:r>
                        <a:rPr lang="en-US" sz="1600" b="1" dirty="0"/>
                        <a:t>until</a:t>
                      </a:r>
                      <a:r>
                        <a:rPr lang="en-US" sz="1600" dirty="0"/>
                        <a:t> condition becomes true”</a:t>
                      </a:r>
                    </a:p>
                  </a:txBody>
                  <a:tcPr marL="79851" marR="79851" marT="39926" marB="39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585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459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890" y="2182777"/>
            <a:ext cx="75368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https://www.slideshare.net/prodipghoshjoy/flow-control-instructions-60602372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878305" y="2009054"/>
            <a:ext cx="718285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dirty="0">
                <a:ea typeface="Times New Roman" panose="02020603050405020304" pitchFamily="18" charset="0"/>
              </a:rPr>
              <a:t>and 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1980</TotalTime>
  <Words>2112</Words>
  <Application>Microsoft Macintosh PowerPoint</Application>
  <PresentationFormat>On-screen Show (4:3)</PresentationFormat>
  <Paragraphs>334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Corbel</vt:lpstr>
      <vt:lpstr>Courier New</vt:lpstr>
      <vt:lpstr>Helvetica Neue</vt:lpstr>
      <vt:lpstr>Times New Roman</vt:lpstr>
      <vt:lpstr>Wingdings</vt:lpstr>
      <vt:lpstr>Spectrum</vt:lpstr>
      <vt:lpstr>Flow Control Instructions </vt:lpstr>
      <vt:lpstr>Lecture Outline</vt:lpstr>
      <vt:lpstr>Branches with Compound Conditions </vt:lpstr>
      <vt:lpstr>Example : AND</vt:lpstr>
      <vt:lpstr>Converting to Assembly</vt:lpstr>
      <vt:lpstr>PowerPoint Presentation</vt:lpstr>
      <vt:lpstr>OR Conditions </vt:lpstr>
      <vt:lpstr>Assembly Conversion</vt:lpstr>
      <vt:lpstr>PowerPoint Presentation</vt:lpstr>
      <vt:lpstr>Looping Structure</vt:lpstr>
      <vt:lpstr>FOR LOOP</vt:lpstr>
      <vt:lpstr>FOR LOOP</vt:lpstr>
      <vt:lpstr>Example: </vt:lpstr>
      <vt:lpstr> JCXZ and The LOOP</vt:lpstr>
      <vt:lpstr>PowerPoint Presentation</vt:lpstr>
      <vt:lpstr>Use of JCXZ </vt:lpstr>
      <vt:lpstr>WHILE LOOP </vt:lpstr>
      <vt:lpstr>WHILE LOOP </vt:lpstr>
      <vt:lpstr>Example: WHILE LOOP</vt:lpstr>
      <vt:lpstr>WHILE LOOP Insights</vt:lpstr>
      <vt:lpstr>PowerPoint Presentation</vt:lpstr>
      <vt:lpstr>REPEAT LOOP </vt:lpstr>
      <vt:lpstr>Example: REPEAT LOOP</vt:lpstr>
      <vt:lpstr>PowerPoint Presentation</vt:lpstr>
      <vt:lpstr>Difference between WHILE and REPEAT 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AFNAN BIN ISLAM NAHIN</cp:lastModifiedBy>
  <cp:revision>106</cp:revision>
  <dcterms:created xsi:type="dcterms:W3CDTF">2018-12-10T17:20:29Z</dcterms:created>
  <dcterms:modified xsi:type="dcterms:W3CDTF">2026-01-07T04:46:23Z</dcterms:modified>
</cp:coreProperties>
</file>
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66" r:id="rId5"/>
    <p:sldId id="280" r:id="rId6"/>
    <p:sldId id="269" r:id="rId7"/>
    <p:sldId id="281" r:id="rId8"/>
    <p:sldId id="270" r:id="rId9"/>
    <p:sldId id="282" r:id="rId10"/>
    <p:sldId id="271" r:id="rId11"/>
    <p:sldId id="283" r:id="rId12"/>
    <p:sldId id="272" r:id="rId13"/>
    <p:sldId id="273" r:id="rId14"/>
    <p:sldId id="279" r:id="rId15"/>
    <p:sldId id="274" r:id="rId16"/>
    <p:sldId id="275" r:id="rId17"/>
    <p:sldId id="267" r:id="rId18"/>
    <p:sldId id="276" r:id="rId19"/>
    <p:sldId id="277" r:id="rId20"/>
    <p:sldId id="278" r:id="rId21"/>
    <p:sldId id="265" r:id="rId22"/>
    <p:sldId id="26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9B2B05-97D7-4385-991E-657C0AFC50AB}" v="1" dt="2024-06-10T09:14:32.2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343" autoAdjust="0"/>
  </p:normalViewPr>
  <p:slideViewPr>
    <p:cSldViewPr snapToGrid="0" snapToObjects="1">
      <p:cViewPr varScale="1">
        <p:scale>
          <a:sx n="77" d="100"/>
          <a:sy n="77" d="100"/>
        </p:scale>
        <p:origin x="10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FARUK ABDULLAH AL SOHAN" userId="49b838b6-cc57-4ff1-b78b-f35f84b7c1b1" providerId="ADAL" clId="{C49B2B05-97D7-4385-991E-657C0AFC50AB}"/>
    <pc:docChg chg="modSld">
      <pc:chgData name="MD. FARUK ABDULLAH AL SOHAN" userId="49b838b6-cc57-4ff1-b78b-f35f84b7c1b1" providerId="ADAL" clId="{C49B2B05-97D7-4385-991E-657C0AFC50AB}" dt="2024-06-10T09:14:32.294" v="0"/>
      <pc:docMkLst>
        <pc:docMk/>
      </pc:docMkLst>
      <pc:sldChg chg="modSp">
        <pc:chgData name="MD. FARUK ABDULLAH AL SOHAN" userId="49b838b6-cc57-4ff1-b78b-f35f84b7c1b1" providerId="ADAL" clId="{C49B2B05-97D7-4385-991E-657C0AFC50AB}" dt="2024-06-10T09:14:32.294" v="0"/>
        <pc:sldMkLst>
          <pc:docMk/>
          <pc:sldMk cId="700707328" sldId="256"/>
        </pc:sldMkLst>
        <pc:graphicFrameChg chg="mod">
          <ac:chgData name="MD. FARUK ABDULLAH AL SOHAN" userId="49b838b6-cc57-4ff1-b78b-f35f84b7c1b1" providerId="ADAL" clId="{C49B2B05-97D7-4385-991E-657C0AFC50AB}" dt="2024-06-10T09:14:32.294" v="0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5eb39d97-deb0-466a-af4c-298e34812974" providerId="ADAL" clId="{68D445AC-9A1D-4F22-8DF6-A5E69302D078}"/>
    <pc:docChg chg="custSel addSld modSld">
      <pc:chgData name="Dr. Md Mehedi Hasan" userId="5eb39d97-deb0-466a-af4c-298e34812974" providerId="ADAL" clId="{68D445AC-9A1D-4F22-8DF6-A5E69302D078}" dt="2022-07-27T05:24:58.612" v="28" actId="26606"/>
      <pc:docMkLst>
        <pc:docMk/>
      </pc:docMkLst>
      <pc:sldChg chg="modSp mod">
        <pc:chgData name="Dr. Md Mehedi Hasan" userId="5eb39d97-deb0-466a-af4c-298e34812974" providerId="ADAL" clId="{68D445AC-9A1D-4F22-8DF6-A5E69302D078}" dt="2022-07-27T05:21:47.738" v="11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68D445AC-9A1D-4F22-8DF6-A5E69302D078}" dt="2022-07-27T05:21:47.738" v="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Dr. Md Mehedi Hasan" userId="5eb39d97-deb0-466a-af4c-298e34812974" providerId="ADAL" clId="{68D445AC-9A1D-4F22-8DF6-A5E69302D078}" dt="2022-07-27T05:22:40.229" v="13" actId="20577"/>
        <pc:sldMkLst>
          <pc:docMk/>
          <pc:sldMk cId="2240201198" sldId="269"/>
        </pc:sldMkLst>
        <pc:spChg chg="mod">
          <ac:chgData name="Dr. Md Mehedi Hasan" userId="5eb39d97-deb0-466a-af4c-298e34812974" providerId="ADAL" clId="{68D445AC-9A1D-4F22-8DF6-A5E69302D078}" dt="2022-07-27T05:22:40.229" v="13" actId="20577"/>
          <ac:spMkLst>
            <pc:docMk/>
            <pc:sldMk cId="2240201198" sldId="269"/>
            <ac:spMk id="4" creationId="{00000000-0000-0000-0000-000000000000}"/>
          </ac:spMkLst>
        </pc:spChg>
      </pc:sldChg>
      <pc:sldChg chg="modSp mod">
        <pc:chgData name="Dr. Md Mehedi Hasan" userId="5eb39d97-deb0-466a-af4c-298e34812974" providerId="ADAL" clId="{68D445AC-9A1D-4F22-8DF6-A5E69302D078}" dt="2022-07-27T05:24:03.939" v="22" actId="404"/>
        <pc:sldMkLst>
          <pc:docMk/>
          <pc:sldMk cId="1458201025" sldId="273"/>
        </pc:sldMkLst>
        <pc:spChg chg="mod">
          <ac:chgData name="Dr. Md Mehedi Hasan" userId="5eb39d97-deb0-466a-af4c-298e34812974" providerId="ADAL" clId="{68D445AC-9A1D-4F22-8DF6-A5E69302D078}" dt="2022-07-27T05:24:03.939" v="22" actId="404"/>
          <ac:spMkLst>
            <pc:docMk/>
            <pc:sldMk cId="1458201025" sldId="273"/>
            <ac:spMk id="3" creationId="{00000000-0000-0000-0000-000000000000}"/>
          </ac:spMkLst>
        </pc:spChg>
      </pc:sldChg>
      <pc:sldChg chg="addSp delSp modSp mod modClrScheme chgLayout">
        <pc:chgData name="Dr. Md Mehedi Hasan" userId="5eb39d97-deb0-466a-af4c-298e34812974" providerId="ADAL" clId="{68D445AC-9A1D-4F22-8DF6-A5E69302D078}" dt="2022-07-27T05:24:58.612" v="28" actId="26606"/>
        <pc:sldMkLst>
          <pc:docMk/>
          <pc:sldMk cId="1857725490" sldId="277"/>
        </pc:sldMkLst>
        <pc:spChg chg="mod">
          <ac:chgData name="Dr. Md Mehedi Hasan" userId="5eb39d97-deb0-466a-af4c-298e34812974" providerId="ADAL" clId="{68D445AC-9A1D-4F22-8DF6-A5E69302D078}" dt="2022-07-27T05:24:58.612" v="28" actId="26606"/>
          <ac:spMkLst>
            <pc:docMk/>
            <pc:sldMk cId="1857725490" sldId="277"/>
            <ac:spMk id="2" creationId="{00000000-0000-0000-0000-000000000000}"/>
          </ac:spMkLst>
        </pc:spChg>
        <pc:spChg chg="add del mod ord">
          <ac:chgData name="Dr. Md Mehedi Hasan" userId="5eb39d97-deb0-466a-af4c-298e34812974" providerId="ADAL" clId="{68D445AC-9A1D-4F22-8DF6-A5E69302D078}" dt="2022-07-27T05:24:58.612" v="28" actId="26606"/>
          <ac:spMkLst>
            <pc:docMk/>
            <pc:sldMk cId="1857725490" sldId="277"/>
            <ac:spMk id="3" creationId="{05A11282-87EB-D105-9387-9BB51E6D0E14}"/>
          </ac:spMkLst>
        </pc:spChg>
        <pc:spChg chg="mod ord">
          <ac:chgData name="Dr. Md Mehedi Hasan" userId="5eb39d97-deb0-466a-af4c-298e34812974" providerId="ADAL" clId="{68D445AC-9A1D-4F22-8DF6-A5E69302D078}" dt="2022-07-27T05:24:58.612" v="28" actId="26606"/>
          <ac:spMkLst>
            <pc:docMk/>
            <pc:sldMk cId="1857725490" sldId="277"/>
            <ac:spMk id="4" creationId="{00000000-0000-0000-0000-000000000000}"/>
          </ac:spMkLst>
        </pc:spChg>
        <pc:spChg chg="add del mod ord">
          <ac:chgData name="Dr. Md Mehedi Hasan" userId="5eb39d97-deb0-466a-af4c-298e34812974" providerId="ADAL" clId="{68D445AC-9A1D-4F22-8DF6-A5E69302D078}" dt="2022-07-27T05:24:58.612" v="28" actId="26606"/>
          <ac:spMkLst>
            <pc:docMk/>
            <pc:sldMk cId="1857725490" sldId="277"/>
            <ac:spMk id="5" creationId="{817289A8-5433-36FB-4B04-9F3BBCE145CB}"/>
          </ac:spMkLst>
        </pc:spChg>
        <pc:picChg chg="mod">
          <ac:chgData name="Dr. Md Mehedi Hasan" userId="5eb39d97-deb0-466a-af4c-298e34812974" providerId="ADAL" clId="{68D445AC-9A1D-4F22-8DF6-A5E69302D078}" dt="2022-07-27T05:24:58.612" v="28" actId="26606"/>
          <ac:picMkLst>
            <pc:docMk/>
            <pc:sldMk cId="1857725490" sldId="277"/>
            <ac:picMk id="6" creationId="{00000000-0000-0000-0000-000000000000}"/>
          </ac:picMkLst>
        </pc:picChg>
      </pc:sldChg>
      <pc:sldChg chg="modSp add mod">
        <pc:chgData name="Dr. Md Mehedi Hasan" userId="5eb39d97-deb0-466a-af4c-298e34812974" providerId="ADAL" clId="{68D445AC-9A1D-4F22-8DF6-A5E69302D078}" dt="2022-07-27T05:24:14.947" v="26" actId="404"/>
        <pc:sldMkLst>
          <pc:docMk/>
          <pc:sldMk cId="2807084815" sldId="279"/>
        </pc:sldMkLst>
        <pc:spChg chg="mod">
          <ac:chgData name="Dr. Md Mehedi Hasan" userId="5eb39d97-deb0-466a-af4c-298e34812974" providerId="ADAL" clId="{68D445AC-9A1D-4F22-8DF6-A5E69302D078}" dt="2022-07-27T05:24:14.947" v="26" actId="404"/>
          <ac:spMkLst>
            <pc:docMk/>
            <pc:sldMk cId="2807084815" sldId="279"/>
            <ac:spMk id="3" creationId="{00000000-0000-0000-0000-000000000000}"/>
          </ac:spMkLst>
        </pc:spChg>
      </pc:sldChg>
    </pc:docChg>
  </pc:docChgLst>
  <pc:docChgLst>
    <pc:chgData name="Faruk Abdullah" userId="e52374dd587ef96a" providerId="LiveId" clId="{BB4E8D75-7CAF-40D7-92E7-99529BC87A64}"/>
    <pc:docChg chg="modSld">
      <pc:chgData name="Faruk Abdullah" userId="e52374dd587ef96a" providerId="LiveId" clId="{BB4E8D75-7CAF-40D7-92E7-99529BC87A64}" dt="2023-07-25T09:57:18.489" v="19" actId="20577"/>
      <pc:docMkLst>
        <pc:docMk/>
      </pc:docMkLst>
      <pc:sldChg chg="modSp mod">
        <pc:chgData name="Faruk Abdullah" userId="e52374dd587ef96a" providerId="LiveId" clId="{BB4E8D75-7CAF-40D7-92E7-99529BC87A64}" dt="2023-07-25T09:57:18.489" v="19" actId="20577"/>
        <pc:sldMkLst>
          <pc:docMk/>
          <pc:sldMk cId="700707328" sldId="256"/>
        </pc:sldMkLst>
        <pc:graphicFrameChg chg="modGraphic">
          <ac:chgData name="Faruk Abdullah" userId="e52374dd587ef96a" providerId="LiveId" clId="{BB4E8D75-7CAF-40D7-92E7-99529BC87A64}" dt="2023-07-25T09:57:18.489" v="1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5eb39d97-deb0-466a-af4c-298e34812974" providerId="ADAL" clId="{06942236-4899-4233-9E66-A641ED8A810B}"/>
    <pc:docChg chg="modSld">
      <pc:chgData name="Dr. Md Mehedi Hasan" userId="5eb39d97-deb0-466a-af4c-298e34812974" providerId="ADAL" clId="{06942236-4899-4233-9E66-A641ED8A810B}" dt="2022-04-12T03:13:46.115" v="98" actId="20577"/>
      <pc:docMkLst>
        <pc:docMk/>
      </pc:docMkLst>
      <pc:sldChg chg="modSp mod">
        <pc:chgData name="Dr. Md Mehedi Hasan" userId="5eb39d97-deb0-466a-af4c-298e34812974" providerId="ADAL" clId="{06942236-4899-4233-9E66-A641ED8A810B}" dt="2022-04-12T03:13:46.115" v="98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06942236-4899-4233-9E66-A641ED8A810B}" dt="2022-04-12T03:13:46.115" v="9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ie.ntu.edu.tw/~cyy/courses/assembly/10fall/lectures/handouts/lec15_x86procedure_4up.pdf" TargetMode="Externa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96728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The Stack and Introduction to Procedures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2106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005380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7725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0000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23-24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Nusrat Jahan Anannya, </a:t>
                      </a:r>
                      <a:r>
                        <a:rPr lang="en-US" i="1" dirty="0" err="1"/>
                        <a:t>anannya@</a:t>
                      </a:r>
                      <a:r>
                        <a:rPr lang="en-US" i="1" err="1"/>
                        <a:t>aiub</a:t>
                      </a:r>
                      <a:r>
                        <a:rPr lang="en-US" i="1"/>
                        <a:t>.edu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368695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01345"/>
          </a:xfrm>
        </p:spPr>
        <p:txBody>
          <a:bodyPr>
            <a:normAutofit fontScale="25000" lnSpcReduction="20000"/>
          </a:bodyPr>
          <a:lstStyle/>
          <a:p>
            <a:pPr marL="457200" lvl="0" indent="-457200" defTabSz="490727">
              <a:spcBef>
                <a:spcPts val="35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The stack segment of a program is used for </a:t>
            </a:r>
            <a:r>
              <a:rPr lang="en-US" sz="8000" b="1" dirty="0">
                <a:solidFill>
                  <a:schemeClr val="accent3"/>
                </a:solidFill>
              </a:rPr>
              <a:t>temporary storage</a:t>
            </a:r>
            <a:r>
              <a:rPr lang="en-US" sz="8000" dirty="0">
                <a:solidFill>
                  <a:schemeClr val="accent3"/>
                </a:solidFill>
              </a:rPr>
              <a:t> </a:t>
            </a:r>
            <a:r>
              <a:rPr lang="en-US" sz="8000" dirty="0">
                <a:solidFill>
                  <a:schemeClr val="tx1"/>
                </a:solidFill>
              </a:rPr>
              <a:t>of data and addresses. </a:t>
            </a:r>
          </a:p>
          <a:p>
            <a:pPr marL="457200" lvl="0" indent="-457200" defTabSz="490727">
              <a:spcBef>
                <a:spcPts val="35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In this chapter we will see how the stack is </a:t>
            </a:r>
            <a:r>
              <a:rPr lang="en-US" sz="8000" b="1" dirty="0">
                <a:solidFill>
                  <a:schemeClr val="accent3"/>
                </a:solidFill>
              </a:rPr>
              <a:t>manipulated.</a:t>
            </a:r>
          </a:p>
          <a:p>
            <a:pPr marL="457200" lvl="0" indent="-457200" defTabSz="490727">
              <a:spcBef>
                <a:spcPts val="35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How stack is used to implement procedures. </a:t>
            </a:r>
          </a:p>
          <a:p>
            <a:pPr marL="457200" lvl="0" indent="-457200" defTabSz="490727">
              <a:spcBef>
                <a:spcPts val="35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The </a:t>
            </a:r>
            <a:r>
              <a:rPr lang="en-US" sz="8000" b="1" dirty="0">
                <a:solidFill>
                  <a:schemeClr val="accent3"/>
                </a:solidFill>
              </a:rPr>
              <a:t>PUSH and POP </a:t>
            </a:r>
            <a:r>
              <a:rPr lang="en-US" sz="8000" dirty="0">
                <a:solidFill>
                  <a:schemeClr val="tx1"/>
                </a:solidFill>
              </a:rPr>
              <a:t>Instructions that </a:t>
            </a:r>
            <a:r>
              <a:rPr lang="en-US" sz="8000" b="1" dirty="0">
                <a:solidFill>
                  <a:schemeClr val="accent3"/>
                </a:solidFill>
              </a:rPr>
              <a:t>add and remove </a:t>
            </a:r>
            <a:r>
              <a:rPr lang="en-US" sz="8000" dirty="0">
                <a:solidFill>
                  <a:schemeClr val="tx1"/>
                </a:solidFill>
              </a:rPr>
              <a:t>words from the stack. </a:t>
            </a:r>
          </a:p>
          <a:p>
            <a:pPr marL="457200" lvl="0" indent="-457200" defTabSz="490727">
              <a:spcBef>
                <a:spcPts val="35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Because the last word to be added to the stack Is the first to be removed(</a:t>
            </a:r>
            <a:r>
              <a:rPr lang="en-US" sz="8000" b="1" dirty="0">
                <a:solidFill>
                  <a:schemeClr val="accent3"/>
                </a:solidFill>
              </a:rPr>
              <a:t>LIFO</a:t>
            </a:r>
            <a:r>
              <a:rPr lang="en-US" sz="8000" dirty="0">
                <a:solidFill>
                  <a:schemeClr val="tx1"/>
                </a:solidFill>
              </a:rPr>
              <a:t>), A stack can be used to </a:t>
            </a:r>
            <a:r>
              <a:rPr lang="en-US" sz="8000" b="1" dirty="0">
                <a:solidFill>
                  <a:schemeClr val="accent3"/>
                </a:solidFill>
              </a:rPr>
              <a:t>reverse</a:t>
            </a:r>
            <a:r>
              <a:rPr lang="en-US" sz="8000" dirty="0">
                <a:solidFill>
                  <a:schemeClr val="tx1"/>
                </a:solidFill>
              </a:rPr>
              <a:t> a list of data</a:t>
            </a:r>
          </a:p>
          <a:p>
            <a:pPr marL="571500" lvl="0" indent="-571500">
              <a:buClrTx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41127"/>
          </a:xfrm>
        </p:spPr>
        <p:txBody>
          <a:bodyPr>
            <a:normAutofit lnSpcReduction="10000"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Procedures are extremely important in all programming language.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We will discuss the essentials of assembly language procedures.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At the machine level, we can see exactly how a </a:t>
            </a:r>
            <a:r>
              <a:rPr lang="en-US" sz="2200" b="1" dirty="0">
                <a:solidFill>
                  <a:schemeClr val="accent3"/>
                </a:solidFill>
              </a:rPr>
              <a:t>procedure is called </a:t>
            </a:r>
            <a:r>
              <a:rPr lang="en-US" sz="2200" dirty="0">
                <a:solidFill>
                  <a:schemeClr val="tx1"/>
                </a:solidFill>
              </a:rPr>
              <a:t>and how it returns to the </a:t>
            </a:r>
            <a:r>
              <a:rPr lang="en-US" sz="2200" b="1" dirty="0">
                <a:solidFill>
                  <a:schemeClr val="accent3"/>
                </a:solidFill>
              </a:rPr>
              <a:t>calling program</a:t>
            </a:r>
            <a:r>
              <a:rPr lang="en-US" sz="2200" dirty="0">
                <a:solidFill>
                  <a:schemeClr val="accent3"/>
                </a:solidFill>
              </a:rPr>
              <a:t>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accent3"/>
              </a:solidFill>
            </a:endParaRPr>
          </a:p>
          <a:p>
            <a:pPr marL="342900" lvl="0" indent="-342900">
              <a:buClrTx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An example of procedure will be discussed to perform the binary multiplications and DEBUG program.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47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The Stack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89709" y="2247451"/>
            <a:ext cx="744060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 stack is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b="1" dirty="0">
                <a:solidFill>
                  <a:schemeClr val="accent3"/>
                </a:solidFill>
              </a:rPr>
              <a:t>one-dimensional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/>
              <a:t>data structure.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Items are added and removed from </a:t>
            </a:r>
            <a:r>
              <a:rPr lang="en-US" sz="2000" b="1" dirty="0">
                <a:solidFill>
                  <a:schemeClr val="accent3"/>
                </a:solidFill>
              </a:rPr>
              <a:t>one end </a:t>
            </a:r>
            <a:r>
              <a:rPr lang="en-US" sz="2000" dirty="0"/>
              <a:t>of the structure; that is, it is processed in a </a:t>
            </a:r>
            <a:r>
              <a:rPr lang="en-US" sz="2000" b="1" dirty="0">
                <a:solidFill>
                  <a:schemeClr val="accent3"/>
                </a:solidFill>
              </a:rPr>
              <a:t>"last-in, first-out" </a:t>
            </a:r>
            <a:r>
              <a:rPr lang="en-US" sz="2000" dirty="0"/>
              <a:t>manner.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>
                <a:solidFill>
                  <a:schemeClr val="accent3"/>
                </a:solidFill>
              </a:rPr>
              <a:t>most recent addition </a:t>
            </a:r>
            <a:r>
              <a:rPr lang="en-US" sz="2000" dirty="0"/>
              <a:t>to the stack is called the </a:t>
            </a:r>
            <a:r>
              <a:rPr lang="en-US" sz="2000" b="1" dirty="0">
                <a:solidFill>
                  <a:schemeClr val="accent3"/>
                </a:solidFill>
              </a:rPr>
              <a:t>top</a:t>
            </a:r>
            <a:r>
              <a:rPr lang="en-US" sz="2000" dirty="0"/>
              <a:t> of the stack.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 familiar example is a Stack of dishes; the last dish to go on the stack is the top one, and it's the only one that can be removed easily.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 program must </a:t>
            </a:r>
            <a:r>
              <a:rPr lang="en-US" sz="2000" b="1" dirty="0">
                <a:solidFill>
                  <a:schemeClr val="accent3"/>
                </a:solidFill>
              </a:rPr>
              <a:t>set aside a block of memory </a:t>
            </a:r>
            <a:r>
              <a:rPr lang="en-US" sz="2000" dirty="0"/>
              <a:t>to hold the stack.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We have been doing this by declaring a stack segment. For example, </a:t>
            </a:r>
          </a:p>
          <a:p>
            <a:pPr lvl="2"/>
            <a:r>
              <a:rPr lang="en-US" sz="2000" b="1" dirty="0"/>
              <a:t>.STACK </a:t>
            </a:r>
            <a:r>
              <a:rPr lang="en-US" sz="2000" b="1" dirty="0" err="1"/>
              <a:t>lOOH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7B13A-80A4-D656-D038-0A5DE9780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36891-6A59-72E5-23B1-32CBF9404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stack</a:t>
            </a:r>
            <a:r>
              <a:rPr lang="en-US" dirty="0"/>
              <a:t> is a </a:t>
            </a:r>
            <a:r>
              <a:rPr lang="en-US" b="1" dirty="0"/>
              <a:t>one-dimensional data structure</a:t>
            </a:r>
            <a:r>
              <a:rPr lang="en-US" dirty="0"/>
              <a:t> where items are added and removed from </a:t>
            </a:r>
            <a:r>
              <a:rPr lang="en-US" b="1" dirty="0"/>
              <a:t>one end only</a:t>
            </a:r>
            <a:r>
              <a:rPr lang="en-US" dirty="0"/>
              <a:t>—the </a:t>
            </a:r>
            <a:r>
              <a:rPr lang="en-US" b="1" dirty="0"/>
              <a:t>top</a:t>
            </a:r>
            <a:r>
              <a:rPr lang="en-US" dirty="0"/>
              <a:t>. It follows </a:t>
            </a:r>
            <a:r>
              <a:rPr lang="en-US" b="1" dirty="0"/>
              <a:t>LIFO (Last-In, First-Out)</a:t>
            </a:r>
            <a:r>
              <a:rPr lang="en-US" dirty="0"/>
              <a:t> order.</a:t>
            </a:r>
          </a:p>
          <a:p>
            <a:r>
              <a:rPr lang="en-US" b="1" dirty="0"/>
              <a:t>Example:</a:t>
            </a:r>
            <a:r>
              <a:rPr lang="en-US" dirty="0"/>
              <a:t> A stack of dishes—the last dish placed on top is the first to be removed.</a:t>
            </a:r>
          </a:p>
          <a:p>
            <a:r>
              <a:rPr lang="en-US" dirty="0"/>
              <a:t>In assembly, a program must </a:t>
            </a:r>
            <a:r>
              <a:rPr lang="en-US" b="1" dirty="0"/>
              <a:t>reserve memory</a:t>
            </a:r>
            <a:r>
              <a:rPr lang="en-US" dirty="0"/>
              <a:t> for the stack using a </a:t>
            </a:r>
            <a:r>
              <a:rPr lang="en-US" b="1" dirty="0"/>
              <a:t>stack segment</a:t>
            </a:r>
            <a:r>
              <a:rPr lang="en-US" dirty="0"/>
              <a:t>, e.g.: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72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The Stack(cont’d…)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1341" y="2663088"/>
            <a:ext cx="802993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When the program is assembled and loaded in memory , SS will contain the segment number of the stack segment.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For the preceding Stack declaration, SP, the stack pointer, is initialized to 1OOh.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This represents empty stack position.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When the stack is empty, SP contains the offset address of the top of the stack.</a:t>
            </a:r>
          </a:p>
        </p:txBody>
      </p:sp>
    </p:spTree>
    <p:extLst>
      <p:ext uri="{BB962C8B-B14F-4D97-AF65-F5344CB8AC3E}">
        <p14:creationId xmlns:p14="http://schemas.microsoft.com/office/powerpoint/2010/main" val="2240201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C7D56-1854-BB08-75C8-04A03DE93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C565FC-0D2F-88F7-4731-1CEA3315DA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721" y="3385583"/>
            <a:ext cx="772839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 (Stack Segment register)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holds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 address of the stack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 (Stack Pointer)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initialized to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100H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(top of the empty stack).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stack is empty,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 points to the top of the stack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8199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PUSH AND PUSHF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79970" y="2513704"/>
            <a:ext cx="822389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PUSH is used to </a:t>
            </a:r>
            <a:r>
              <a:rPr lang="en-US" sz="2000" b="1" dirty="0"/>
              <a:t>add new word </a:t>
            </a:r>
            <a:r>
              <a:rPr lang="en-US" sz="2000" dirty="0"/>
              <a:t>to the stack.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The syntax is:</a:t>
            </a:r>
          </a:p>
          <a:p>
            <a:r>
              <a:rPr lang="en-US" sz="2000" dirty="0"/>
              <a:t>             </a:t>
            </a:r>
            <a:r>
              <a:rPr lang="en-US" sz="2000" b="1" dirty="0"/>
              <a:t>PUSH Source (i.e. PUSH AX)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000" b="1" dirty="0"/>
              <a:t>SP is decreased by 2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000" dirty="0"/>
              <a:t>A copy of source content is moved to the address specified by SS:SP.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Initially, SP contains the offset address of memory location.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The first PUSH decreases SP by 2 and point to the LAST WORD	in the STACK segment.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b="1" dirty="0"/>
              <a:t>PUSHF</a:t>
            </a:r>
            <a:r>
              <a:rPr lang="en-US" sz="2000" dirty="0"/>
              <a:t> has no operands and pushes the contents of the flag register to the stack.</a:t>
            </a:r>
          </a:p>
        </p:txBody>
      </p:sp>
    </p:spTree>
    <p:extLst>
      <p:ext uri="{BB962C8B-B14F-4D97-AF65-F5344CB8AC3E}">
        <p14:creationId xmlns:p14="http://schemas.microsoft.com/office/powerpoint/2010/main" val="1395046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1585-58B1-2392-BFED-071245BF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CF7B2-4DA3-C6C1-3E88-D15814830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Stack Analogy – Stack of Books</a:t>
            </a:r>
          </a:p>
          <a:p>
            <a:r>
              <a:rPr lang="en-US" dirty="0"/>
              <a:t>Imagine a </a:t>
            </a:r>
            <a:r>
              <a:rPr lang="en-US" b="1" dirty="0"/>
              <a:t>stack of books on a table</a:t>
            </a:r>
            <a:r>
              <a:rPr lang="en-US" dirty="0"/>
              <a:t>.</a:t>
            </a:r>
          </a:p>
          <a:p>
            <a:r>
              <a:rPr lang="en-US" b="1" dirty="0"/>
              <a:t>PUSH</a:t>
            </a:r>
            <a:r>
              <a:rPr lang="en-US" dirty="0"/>
              <a:t> → you </a:t>
            </a:r>
            <a:r>
              <a:rPr lang="en-US" b="1" dirty="0"/>
              <a:t>add a new book on top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You </a:t>
            </a:r>
            <a:r>
              <a:rPr lang="en-US" b="1" dirty="0"/>
              <a:t>always place it on the top</a:t>
            </a:r>
            <a:r>
              <a:rPr lang="en-US" dirty="0"/>
              <a:t>, never the bottom.</a:t>
            </a:r>
          </a:p>
          <a:p>
            <a:pPr lvl="1"/>
            <a:r>
              <a:rPr lang="en-US" dirty="0"/>
              <a:t>The top book is now the </a:t>
            </a:r>
            <a:r>
              <a:rPr lang="en-US" b="1" dirty="0"/>
              <a:t>most recent one added</a:t>
            </a:r>
            <a:r>
              <a:rPr lang="en-US" dirty="0"/>
              <a:t>.</a:t>
            </a:r>
          </a:p>
          <a:p>
            <a:r>
              <a:rPr lang="en-US" b="1" dirty="0"/>
              <a:t>SP (Stack Pointer)</a:t>
            </a:r>
            <a:r>
              <a:rPr lang="en-US" dirty="0"/>
              <a:t> → your </a:t>
            </a:r>
            <a:r>
              <a:rPr lang="en-US" b="1" dirty="0"/>
              <a:t>hand pointing to the top book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When you add a book, your hand moves </a:t>
            </a:r>
            <a:r>
              <a:rPr lang="en-US" b="1" dirty="0"/>
              <a:t>down the stack</a:t>
            </a:r>
            <a:r>
              <a:rPr lang="en-US" dirty="0"/>
              <a:t> (like memory address decreasing in assembly).</a:t>
            </a:r>
          </a:p>
          <a:p>
            <a:r>
              <a:rPr lang="en-US" b="1" dirty="0"/>
              <a:t>PUSHF</a:t>
            </a:r>
            <a:r>
              <a:rPr lang="en-US" dirty="0"/>
              <a:t> → like placing a </a:t>
            </a:r>
            <a:r>
              <a:rPr lang="en-US" b="1" dirty="0"/>
              <a:t>special bookmark</a:t>
            </a:r>
            <a:r>
              <a:rPr lang="en-US" dirty="0"/>
              <a:t> (the flags) on top of the stack.</a:t>
            </a:r>
          </a:p>
          <a:p>
            <a:r>
              <a:rPr lang="en-US" dirty="0"/>
              <a:t>✅ Key idea: </a:t>
            </a:r>
            <a:r>
              <a:rPr lang="en-US" b="1" dirty="0"/>
              <a:t>You always add (PUSH) on top, and SP tracks the top position.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451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 PUSH OPERATION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6563" y="2466109"/>
            <a:ext cx="3715328" cy="34497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88345" y="2466109"/>
            <a:ext cx="3715328" cy="34497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6667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F6548-542A-D1E6-4EF6-A5BC1A18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white page&#10;&#10;AI-generated content may be incorrect.">
            <a:extLst>
              <a:ext uri="{FF2B5EF4-FFF2-40B4-BE49-F238E27FC236}">
                <a16:creationId xmlns:a16="http://schemas.microsoft.com/office/drawing/2014/main" id="{BD2FEA90-2940-556E-F326-A80C7F567B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22" y="2226560"/>
            <a:ext cx="3845525" cy="2287252"/>
          </a:xfr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899D2D-D565-83C9-A325-B53E1D94652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345" y="2044931"/>
            <a:ext cx="4286133" cy="448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09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 </a:t>
            </a:r>
            <a:r>
              <a:rPr lang="en-US" sz="4000" b="1" dirty="0">
                <a:latin typeface="+mn-lt"/>
              </a:rPr>
              <a:t>PUSH OPERATION (cont’d…)</a:t>
            </a:r>
            <a:endParaRPr lang="en-US" dirty="0">
              <a:latin typeface="+mn-lt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5818" y="2098964"/>
            <a:ext cx="4876800" cy="3886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1216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POP AND POPF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8174" y="2302916"/>
            <a:ext cx="788695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POP is used to </a:t>
            </a:r>
            <a:r>
              <a:rPr lang="en-US" sz="2400" b="1" dirty="0"/>
              <a:t>remove an item from </a:t>
            </a:r>
            <a:r>
              <a:rPr lang="en-US" sz="2400" dirty="0"/>
              <a:t>the stack.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The syntax is:</a:t>
            </a:r>
          </a:p>
          <a:p>
            <a:r>
              <a:rPr lang="en-US" sz="2400" b="1" dirty="0"/>
              <a:t>                 POP destination (i.e. POP AX) 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400" dirty="0"/>
              <a:t>The content of SS:SP (the top of the stack) Is moved to the destination. 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400" b="1" dirty="0"/>
              <a:t>SP is Increased by 2.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The Instruction </a:t>
            </a:r>
            <a:r>
              <a:rPr lang="en-US" sz="2400" b="1" dirty="0"/>
              <a:t>POPF, pops the top </a:t>
            </a:r>
            <a:r>
              <a:rPr lang="en-US" sz="2400" dirty="0"/>
              <a:t>of the stack into the FLAGS register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8201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POP AND POPF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8174" y="2302916"/>
            <a:ext cx="788695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/>
              <a:t>There is no effect of PUSH, PUSHF. POP, POPF on the flags.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Note that PUSH and POP are </a:t>
            </a:r>
            <a:r>
              <a:rPr lang="en-US" sz="2400" b="1" dirty="0"/>
              <a:t>word operations</a:t>
            </a:r>
            <a:r>
              <a:rPr lang="en-US" sz="2400" dirty="0"/>
              <a:t>, so a byte  Instruction(i.e. PUSH DL or PUSH 2) is illegal.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 For INT 21h DOS saves instructions in STACK before execution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7084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POP OPERATION</a:t>
            </a:r>
            <a:endParaRPr lang="en-US" dirty="0">
              <a:latin typeface="+mn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341" y="2022764"/>
            <a:ext cx="3962400" cy="4128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84882" y="2022764"/>
            <a:ext cx="3843482" cy="4199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06938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POP OPERATION (cont’d…)</a:t>
            </a:r>
            <a:endParaRPr lang="en-US" sz="4000" dirty="0">
              <a:latin typeface="+mn-lt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5309" y="2071254"/>
            <a:ext cx="4038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61532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STACK Application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46635" y="2205243"/>
            <a:ext cx="3336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Algorithm to Reverse Input</a:t>
            </a: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572653" y="2599848"/>
            <a:ext cx="3265055" cy="25435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</a:rPr>
              <a:t>Display a '?'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Initialize count to 0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Read a character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WHILE character is not a carriage return DO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		push character onto the 	stack 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</a:rPr>
              <a:t>	 increment count</a:t>
            </a:r>
          </a:p>
          <a:p>
            <a:pPr>
              <a:defRPr/>
            </a:pPr>
            <a:r>
              <a:rPr lang="en-US" sz="2000" b="1" dirty="0">
                <a:solidFill>
                  <a:schemeClr val="tx1"/>
                </a:solidFill>
              </a:rPr>
              <a:t>	 read a character </a:t>
            </a:r>
          </a:p>
          <a:p>
            <a:pPr>
              <a:defRPr/>
            </a:pPr>
            <a:r>
              <a:rPr lang="en-US" sz="2000" b="1" dirty="0">
                <a:solidFill>
                  <a:schemeClr val="tx1"/>
                </a:solidFill>
              </a:rPr>
              <a:t>END WHILE:  </a:t>
            </a:r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4394200" y="2205243"/>
            <a:ext cx="3475182" cy="3613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 fontScale="62500" lnSpcReduction="20000"/>
          </a:bodyPr>
          <a:lstStyle/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Go to a new 1ine </a:t>
            </a:r>
          </a:p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FOR count times DO </a:t>
            </a:r>
          </a:p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	pop a character from the stack; </a:t>
            </a:r>
          </a:p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	display it; </a:t>
            </a:r>
          </a:p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END FOR 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Terminology of Procedures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73733" y="1987505"/>
            <a:ext cx="870401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The idea is to take the original problem and decompose it into a series of sub problems that are easier to solve than the original.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Like high level languages, an assembly language program can also be structured as a collection of procedures.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One of the procedures is the main procedure containing the entry point to the program.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To carry out a task the main procedure calls one of the other procedures. It is also possible for these procedures to call each other or for a procedure to call itself.</a:t>
            </a:r>
            <a:endParaRPr lang="en-US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Procedure declaration: </a:t>
            </a:r>
          </a:p>
          <a:p>
            <a:r>
              <a:rPr lang="en-US" dirty="0"/>
              <a:t>          </a:t>
            </a:r>
            <a:r>
              <a:rPr lang="en-US" b="1" dirty="0">
                <a:solidFill>
                  <a:schemeClr val="accent3"/>
                </a:solidFill>
              </a:rPr>
              <a:t>name PROC type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; body of the procedure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     RET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name ENDP</a:t>
            </a:r>
          </a:p>
        </p:txBody>
      </p:sp>
    </p:spTree>
    <p:extLst>
      <p:ext uri="{BB962C8B-B14F-4D97-AF65-F5344CB8AC3E}">
        <p14:creationId xmlns:p14="http://schemas.microsoft.com/office/powerpoint/2010/main" val="1966637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Procedure Call and Return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03412" y="2151063"/>
            <a:ext cx="3931920" cy="3975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spcAft>
                <a:spcPts val="600"/>
              </a:spcAft>
              <a:buSzPct val="90000"/>
              <a:buFont typeface="Wingdings" pitchFamily="2" charset="2"/>
              <a:buChar char=""/>
            </a:pPr>
            <a:r>
              <a:rPr lang="en-US" sz="2200">
                <a:solidFill>
                  <a:schemeClr val="tx1">
                    <a:lumMod val="85000"/>
                    <a:lumOff val="15000"/>
                  </a:schemeClr>
                </a:solidFill>
              </a:rPr>
              <a:t>Name is the user defined name of the procedure.</a:t>
            </a:r>
          </a:p>
          <a:p>
            <a:pPr marL="457200" indent="-457200">
              <a:spcAft>
                <a:spcPts val="600"/>
              </a:spcAft>
              <a:buSzPct val="90000"/>
              <a:buFont typeface="Wingdings" pitchFamily="2" charset="2"/>
              <a:buChar char=""/>
            </a:pPr>
            <a:r>
              <a:rPr lang="en-US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Near: </a:t>
            </a:r>
            <a:r>
              <a:rPr lang="en-US" sz="2200">
                <a:solidFill>
                  <a:schemeClr val="tx1">
                    <a:lumMod val="85000"/>
                    <a:lumOff val="15000"/>
                  </a:schemeClr>
                </a:solidFill>
              </a:rPr>
              <a:t>It means that the statement that calls the procedure is in the same segment as the procedure it self.</a:t>
            </a:r>
          </a:p>
          <a:p>
            <a:pPr marL="457200" indent="-457200">
              <a:spcAft>
                <a:spcPts val="600"/>
              </a:spcAft>
              <a:buSzPct val="90000"/>
              <a:buFont typeface="Wingdings" pitchFamily="2" charset="2"/>
              <a:buChar char=""/>
            </a:pPr>
            <a:r>
              <a:rPr lang="en-US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Far: </a:t>
            </a:r>
            <a:r>
              <a:rPr lang="en-US" sz="2200">
                <a:solidFill>
                  <a:schemeClr val="tx1">
                    <a:lumMod val="85000"/>
                    <a:lumOff val="15000"/>
                  </a:schemeClr>
                </a:solidFill>
              </a:rPr>
              <a:t>It means that the calling statement is in the a different segment.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188" y="2396149"/>
            <a:ext cx="3931920" cy="34849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7725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Procedure Call and Return </a:t>
            </a:r>
            <a:r>
              <a:rPr lang="en-US" sz="3600" b="1" dirty="0"/>
              <a:t>( cont’d…)</a:t>
            </a:r>
            <a:endParaRPr lang="en-US" sz="360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7645" y="2898729"/>
            <a:ext cx="757645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Ret : The </a:t>
            </a:r>
            <a:r>
              <a:rPr lang="en-US" sz="2000" b="1" dirty="0"/>
              <a:t>ret</a:t>
            </a:r>
            <a:r>
              <a:rPr lang="en-US" sz="2000" dirty="0"/>
              <a:t> instruction causes control to transfer back to the calling procedure. </a:t>
            </a:r>
          </a:p>
          <a:p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Every procedure should have a </a:t>
            </a:r>
            <a:r>
              <a:rPr lang="en-US" sz="2000" b="1" dirty="0"/>
              <a:t>ret</a:t>
            </a:r>
            <a:r>
              <a:rPr lang="en-US" sz="2000" dirty="0"/>
              <a:t> someplace (except main procedure) </a:t>
            </a:r>
          </a:p>
        </p:txBody>
      </p:sp>
    </p:spTree>
    <p:extLst>
      <p:ext uri="{BB962C8B-B14F-4D97-AF65-F5344CB8AC3E}">
        <p14:creationId xmlns:p14="http://schemas.microsoft.com/office/powerpoint/2010/main" val="12420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914400" y="2065832"/>
            <a:ext cx="697556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https://www.csie.ntu.edu.tw/~cyy/courses/assembly/10fall/lectures/handouts/lec15_x86procedure_4up.pdf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770708" y="1506477"/>
            <a:ext cx="724988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1594</TotalTime>
  <Words>1261</Words>
  <Application>Microsoft Office PowerPoint</Application>
  <PresentationFormat>On-screen Show (4:3)</PresentationFormat>
  <Paragraphs>127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Unicode MS</vt:lpstr>
      <vt:lpstr>Calibri</vt:lpstr>
      <vt:lpstr>Corbel</vt:lpstr>
      <vt:lpstr>Times New Roman</vt:lpstr>
      <vt:lpstr>Wingdings</vt:lpstr>
      <vt:lpstr>Spectrum</vt:lpstr>
      <vt:lpstr>The Stack and Introduction to Procedures</vt:lpstr>
      <vt:lpstr>Lecture Outline</vt:lpstr>
      <vt:lpstr>Lecture Outline</vt:lpstr>
      <vt:lpstr>The Stack</vt:lpstr>
      <vt:lpstr>PowerPoint Presentation</vt:lpstr>
      <vt:lpstr>The Stack(cont’d…)</vt:lpstr>
      <vt:lpstr>PowerPoint Presentation</vt:lpstr>
      <vt:lpstr>PUSH AND PUSHF</vt:lpstr>
      <vt:lpstr>PowerPoint Presentation</vt:lpstr>
      <vt:lpstr> PUSH OPERATION</vt:lpstr>
      <vt:lpstr>PowerPoint Presentation</vt:lpstr>
      <vt:lpstr> PUSH OPERATION (cont’d…)</vt:lpstr>
      <vt:lpstr>POP AND POPF</vt:lpstr>
      <vt:lpstr>POP AND POPF</vt:lpstr>
      <vt:lpstr>POP OPERATION</vt:lpstr>
      <vt:lpstr>POP OPERATION (cont’d…)</vt:lpstr>
      <vt:lpstr>STACK Application </vt:lpstr>
      <vt:lpstr>Terminology of Procedures</vt:lpstr>
      <vt:lpstr>Procedure Call and Return</vt:lpstr>
      <vt:lpstr>Procedure Call and Return ( cont’d…)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shandipan paul</cp:lastModifiedBy>
  <cp:revision>57</cp:revision>
  <dcterms:created xsi:type="dcterms:W3CDTF">2018-12-10T17:20:29Z</dcterms:created>
  <dcterms:modified xsi:type="dcterms:W3CDTF">2025-12-13T07:59:37Z</dcterms:modified>
</cp:coreProperties>
</file>
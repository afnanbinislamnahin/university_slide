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embeddedFontLst>
    <p:embeddedFont>
      <p:font typeface="Bookman Old Style" panose="02050604050505020204" pitchFamily="18" charset="0"/>
      <p:regular r:id="rId26"/>
      <p:bold r:id="rId27"/>
      <p:italic r:id="rId28"/>
      <p:boldItalic r:id="rId29"/>
    </p:embeddedFont>
    <p:embeddedFont>
      <p:font typeface="Corbel" panose="020B0503020204020204" pitchFamily="34" charset="0"/>
      <p:regular r:id="rId30"/>
      <p:bold r:id="rId31"/>
      <p:italic r:id="rId32"/>
      <p:boldItalic r:id="rId33"/>
    </p:embeddedFont>
    <p:embeddedFont>
      <p:font typeface="Rockwell" panose="02060603020205020403" pitchFamily="18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ichNQsaBIJD5yUUnVtytbgUbn1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B3EE344-830F-4C70-8B26-3A83E73AC9D4}">
  <a:tblStyle styleId="{0B3EE344-830F-4C70-8B26-3A83E73AC9D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542B6ED-F2C7-4B19-9224-CAED55E1959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customschemas.google.com/relationships/presentationmetadata" Target="meta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27T06:12:06.524"/>
    </inkml:context>
    <inkml:brush xml:id="br0">
      <inkml:brushProperty name="width" value="0.2" units="cm"/>
      <inkml:brushProperty name="height" value="1.2" units="cm"/>
      <inkml:brushProperty name="ignorePressure" value="1"/>
      <inkml:brushProperty name="inkEffects" value="pencil"/>
    </inkml:brush>
  </inkml:definitions>
  <inkml:trace contextRef="#ctx0" brushRef="#br0">518 295,'-4'0,"-8"0,-6 0,-5 0,-4 0,-2 0,-2 0,-5 0,4-6,2 0,0-1,7-3,6-6,2 1,3-3,-2-3,-3-3,-3-7,-5 1,-6 1,0 0,7 0,7 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6:12:12.8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619 344 24575,'-3'-1'0,"1"1"0,0-1 0,0 0 0,-1 1 0,1-1 0,0 0 0,0 0 0,-4-3 0,-11-5 0,-10 1 0,1-1 0,1-1 0,0-1 0,0-1 0,-37-26 0,-76-53 0,131 87 0,1-1 0,-1 0 0,1-1 0,0 0 0,-5-7 0,7 8 0,-1 0 0,1 0 0,-1 1 0,1-1 0,-1 1 0,-1 0 0,1 1 0,0-1 0,-10-4 0,-111-42-1365,104 40-5461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6:12:15.3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0 751 24575,'3'0'0,"0"-1"0,-1 0 0,0-1 0,1 1 0,-1 0 0,1-1 0,-1 1 0,0-1 0,0 0 0,0 0 0,0 0 0,2-3 0,4-3 0,-3 4 0,-1-1 0,0 1 0,0-1 0,0 0 0,0 0 0,-1 0 0,0-1 0,0 1 0,-1-1 0,1 0 0,-1 0 0,2-8 0,-1-6 0,0 0 0,1-30 0,-4 33 0,1 0 0,1 0 0,0 1 0,8-29 0,0 23 0,1 0 0,1 0 0,1 1 0,1 1 0,0 0 0,28-29 0,-15 18 0,-18 18 0,0 0 0,-1 0 0,0 0 0,-1-1 0,-1 0 0,0-1 0,-1 1 0,0-1 0,-1 0 0,-1 0 0,2-18 0,-5 28-151,1 1-1,0-1 0,1 1 0,-1-1 1,1 1-1,0-1 0,0 1 1,5-8-1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6:12:19.8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863 1 24575,'-4'0'0,"0"1"0,-1-1 0,1 2 0,0-1 0,0 0 0,-6 3 0,-13 4 0,-85 6 0,76-11 0,-60 13 0,82-13 0,-1 0 0,1 1 0,0 0 0,0 1 0,1 0 0,-1 0 0,1 1 0,0 1 0,-13 11 0,10-6 0,-1-1 0,0 0 0,0-1 0,-21 11 0,22-13 0,0 0 0,-15 13 0,20-14 0,0-2 0,0 1 0,-1-1 0,1 0 0,-1 0 0,0-1 0,0 0 0,-1-1 0,-9 4 0,5-4 0,-1 1 0,1 1 0,0 0 0,1 1 0,0 0 0,-1 1 0,2 0 0,-1 1 0,-12 12 0,-22 13 330,31-24-1177,-26 24-1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6:12:21.8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 24575,'0'50'0,"-1"-15"0,1 1 0,2-1 0,9 52 0,-4-48 0,3 79 0,-6-62 0,-2-37 0,2-1 0,0 1 0,1-1 0,13 30 0,-1-3 0,-11-28 114,1-1 0,9 17 0,-13-27-328,1 0 1,0 0 0,0 0-1,0-1 1,1 1 0,-1-1-1,11 8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6:12:35.6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7T06:12:36.7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7" name="Google Shape;5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3" name="Google Shape;63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6" name="Google Shape;66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3" name="Google Shape;67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0" name="Google Shape;68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>
            <a:spLocks noGrp="1"/>
          </p:cNvSpPr>
          <p:nvPr>
            <p:ph type="dt" idx="10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ftr" idx="11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5"/>
          <p:cNvSpPr txBox="1">
            <a:spLocks noGrp="1"/>
          </p:cNvSpPr>
          <p:nvPr>
            <p:ph type="sldNum" idx="12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5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rgbClr val="262626">
              <a:alpha val="84705"/>
            </a:srgbClr>
          </a:solidFill>
          <a:ln>
            <a:noFill/>
          </a:ln>
        </p:spPr>
        <p:txBody>
          <a:bodyPr spcFirstLastPara="1" wrap="square" lIns="91425" tIns="45700" rIns="182875" bIns="365750" anchor="b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endParaRPr sz="42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0" name="Google Shape;20;p25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21" name="Google Shape;21;p2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5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25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" name="Google Shape;24;p25"/>
          <p:cNvSpPr txBox="1"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sz="4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5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25" descr="Image result for AIUB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38596" y="459899"/>
            <a:ext cx="1419654" cy="1428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>
            <a:spLocks noGrp="1"/>
          </p:cNvSpPr>
          <p:nvPr>
            <p:ph type="dt" idx="10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ftr" idx="11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1" name="Google Shape;31;p26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32" name="Google Shape;32;p26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2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26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5" name="Google Shape;35;p26" descr="Image result for AIUB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49374" y="55844"/>
            <a:ext cx="1279161" cy="1287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" name="Google Shape;38;p2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39" name="Google Shape;39;p2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7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2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" name="Google Shape;42;p27"/>
          <p:cNvSpPr txBox="1"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1470" algn="l">
              <a:spcBef>
                <a:spcPts val="2000"/>
              </a:spcBef>
              <a:spcAft>
                <a:spcPts val="0"/>
              </a:spcAft>
              <a:buSzPts val="1620"/>
              <a:buChar char="🡽"/>
              <a:defRPr/>
            </a:lvl1pPr>
            <a:lvl2pPr marL="914400" lvl="1" indent="-331469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2pPr>
            <a:lvl3pPr marL="1371600" lvl="2" indent="-331469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3pPr>
            <a:lvl4pPr marL="1828800" lvl="3" indent="-331469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4pPr>
            <a:lvl5pPr marL="2286000" lvl="4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5pPr>
            <a:lvl6pPr marL="2743200" lvl="5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6pPr>
            <a:lvl7pPr marL="3200400" lvl="6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7pPr>
            <a:lvl8pPr marL="3657600" lvl="7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8pPr>
            <a:lvl9pPr marL="4114800" lvl="8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dt" idx="10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7"/>
          <p:cNvSpPr txBox="1">
            <a:spLocks noGrp="1"/>
          </p:cNvSpPr>
          <p:nvPr>
            <p:ph type="ftr" idx="11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7"/>
          <p:cNvSpPr txBox="1">
            <a:spLocks noGrp="1"/>
          </p:cNvSpPr>
          <p:nvPr>
            <p:ph type="sldNum" idx="12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ith Picture">
  <p:cSld name="Title Slide with Picture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8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rgbClr val="262626">
              <a:alpha val="84705"/>
            </a:srgbClr>
          </a:solidFill>
          <a:ln>
            <a:noFill/>
          </a:ln>
        </p:spPr>
        <p:txBody>
          <a:bodyPr spcFirstLastPara="1" wrap="square" lIns="91425" tIns="45700" rIns="182875" bIns="365750" anchor="b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endParaRPr sz="42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" name="Google Shape;49;p28"/>
          <p:cNvSpPr txBox="1">
            <a:spLocks noGrp="1"/>
          </p:cNvSpPr>
          <p:nvPr>
            <p:ph type="dt" idx="10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8"/>
          <p:cNvSpPr txBox="1">
            <a:spLocks noGrp="1"/>
          </p:cNvSpPr>
          <p:nvPr>
            <p:ph type="ftr" idx="11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sldNum" idx="12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28"/>
          <p:cNvSpPr>
            <a:spLocks noGrp="1"/>
          </p:cNvSpPr>
          <p:nvPr>
            <p:ph type="pic" idx="2"/>
          </p:nvPr>
        </p:nvSpPr>
        <p:spPr>
          <a:xfrm>
            <a:off x="284162" y="2017058"/>
            <a:ext cx="8574087" cy="4377391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28"/>
          <p:cNvSpPr txBox="1"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54" name="Google Shape;54;p28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55" name="Google Shape;55;p2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28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28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" name="Google Shape;58;p2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🡽</a:t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8"/>
          <p:cNvSpPr txBox="1"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9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rgbClr val="262626">
              <a:alpha val="84705"/>
            </a:srgbClr>
          </a:solidFill>
          <a:ln>
            <a:noFill/>
          </a:ln>
        </p:spPr>
        <p:txBody>
          <a:bodyPr spcFirstLastPara="1" wrap="square" lIns="91425" tIns="45700" rIns="182875" bIns="365750" anchor="b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endParaRPr sz="42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62" name="Google Shape;62;p29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63" name="Google Shape;63;p2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2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29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" name="Google Shape;66;p29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🡽</a:t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9"/>
          <p:cNvSpPr txBox="1"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sz="4200" b="0" i="0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9"/>
          <p:cNvSpPr txBox="1"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dt" idx="10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ftr" idx="11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sldNum" idx="12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with Picture">
  <p:cSld name="Section with Pictu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>
            <a:spLocks noGrp="1"/>
          </p:cNvSpPr>
          <p:nvPr>
            <p:ph type="pic" idx="2"/>
          </p:nvPr>
        </p:nvSpPr>
        <p:spPr>
          <a:xfrm>
            <a:off x="284162" y="443754"/>
            <a:ext cx="8574087" cy="4370293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30"/>
          <p:cNvSpPr txBox="1">
            <a:spLocks noGrp="1"/>
          </p:cNvSpPr>
          <p:nvPr>
            <p:ph type="dt" idx="10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ftr" idx="11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sldNum" idx="12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30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rgbClr val="262626">
              <a:alpha val="84705"/>
            </a:srgbClr>
          </a:solidFill>
          <a:ln>
            <a:noFill/>
          </a:ln>
        </p:spPr>
        <p:txBody>
          <a:bodyPr spcFirstLastPara="1" wrap="square" lIns="91425" tIns="45700" rIns="182875" bIns="365750" anchor="b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endParaRPr sz="42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78" name="Google Shape;78;p30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79" name="Google Shape;79;p3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3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3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30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🡽</a:t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0"/>
          <p:cNvSpPr txBox="1"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sz="4200" b="0" i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1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" name="Google Shape;87;p31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8" name="Google Shape;88;p3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31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3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31"/>
          <p:cNvSpPr txBox="1"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1"/>
          <p:cNvSpPr txBox="1">
            <a:spLocks noGrp="1"/>
          </p:cNvSpPr>
          <p:nvPr>
            <p:ph type="body" idx="1"/>
          </p:nvPr>
        </p:nvSpPr>
        <p:spPr>
          <a:xfrm>
            <a:off x="403412" y="2151063"/>
            <a:ext cx="393192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4330" algn="l">
              <a:spcBef>
                <a:spcPts val="2000"/>
              </a:spcBef>
              <a:spcAft>
                <a:spcPts val="0"/>
              </a:spcAft>
              <a:buSzPts val="1980"/>
              <a:buChar char="🡽"/>
              <a:defRPr sz="2200"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🡽"/>
              <a:defRPr sz="2000"/>
            </a:lvl2pPr>
            <a:lvl3pPr marL="1371600" lvl="2" indent="-331469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3pPr>
            <a:lvl4pPr marL="1828800" lvl="3" indent="-331469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4pPr>
            <a:lvl5pPr marL="2286000" lvl="4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5pPr>
            <a:lvl6pPr marL="2743200" lvl="5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6pPr>
            <a:lvl7pPr marL="3200400" lvl="6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7pPr>
            <a:lvl8pPr marL="3657600" lvl="7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8pPr>
            <a:lvl9pPr marL="4114800" lvl="8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9pPr>
          </a:lstStyle>
          <a:p>
            <a:endParaRPr/>
          </a:p>
        </p:txBody>
      </p:sp>
      <p:sp>
        <p:nvSpPr>
          <p:cNvPr id="93" name="Google Shape;93;p31"/>
          <p:cNvSpPr txBox="1">
            <a:spLocks noGrp="1"/>
          </p:cNvSpPr>
          <p:nvPr>
            <p:ph type="body" idx="2"/>
          </p:nvPr>
        </p:nvSpPr>
        <p:spPr>
          <a:xfrm>
            <a:off x="4778188" y="2151063"/>
            <a:ext cx="393192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4330" algn="l">
              <a:spcBef>
                <a:spcPts val="2000"/>
              </a:spcBef>
              <a:spcAft>
                <a:spcPts val="0"/>
              </a:spcAft>
              <a:buSzPts val="1980"/>
              <a:buChar char="🡽"/>
              <a:defRPr sz="2200"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🡽"/>
              <a:defRPr sz="2000"/>
            </a:lvl2pPr>
            <a:lvl3pPr marL="1371600" lvl="2" indent="-331469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3pPr>
            <a:lvl4pPr marL="1828800" lvl="3" indent="-331469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4pPr>
            <a:lvl5pPr marL="2286000" lvl="4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5pPr>
            <a:lvl6pPr marL="2743200" lvl="5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6pPr>
            <a:lvl7pPr marL="3200400" lvl="6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7pPr>
            <a:lvl8pPr marL="3657600" lvl="7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8pPr>
            <a:lvl9pPr marL="4114800" lvl="8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9pPr>
          </a:lstStyle>
          <a:p>
            <a:endParaRPr/>
          </a:p>
        </p:txBody>
      </p:sp>
      <p:sp>
        <p:nvSpPr>
          <p:cNvPr id="94" name="Google Shape;94;p31"/>
          <p:cNvSpPr txBox="1">
            <a:spLocks noGrp="1"/>
          </p:cNvSpPr>
          <p:nvPr>
            <p:ph type="dt" idx="10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1"/>
          <p:cNvSpPr txBox="1">
            <a:spLocks noGrp="1"/>
          </p:cNvSpPr>
          <p:nvPr>
            <p:ph type="ftr" idx="11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1"/>
          <p:cNvSpPr txBox="1">
            <a:spLocks noGrp="1"/>
          </p:cNvSpPr>
          <p:nvPr>
            <p:ph type="sldNum" idx="12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2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" name="Google Shape;99;p32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0" name="Google Shape;100;p32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3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32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" name="Google Shape;103;p32"/>
          <p:cNvSpPr txBox="1"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2"/>
          <p:cNvSpPr txBox="1"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40"/>
              <a:buNone/>
              <a:defRPr sz="26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2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600" b="1"/>
            </a:lvl9pPr>
          </a:lstStyle>
          <a:p>
            <a:endParaRPr/>
          </a:p>
        </p:txBody>
      </p:sp>
      <p:sp>
        <p:nvSpPr>
          <p:cNvPr id="105" name="Google Shape;105;p32"/>
          <p:cNvSpPr txBox="1">
            <a:spLocks noGrp="1"/>
          </p:cNvSpPr>
          <p:nvPr>
            <p:ph type="body" idx="2"/>
          </p:nvPr>
        </p:nvSpPr>
        <p:spPr>
          <a:xfrm>
            <a:off x="403412" y="2590800"/>
            <a:ext cx="3931920" cy="353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4330" algn="l">
              <a:spcBef>
                <a:spcPts val="2000"/>
              </a:spcBef>
              <a:spcAft>
                <a:spcPts val="0"/>
              </a:spcAft>
              <a:buSzPts val="1980"/>
              <a:buChar char="🡽"/>
              <a:defRPr sz="2200"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🡽"/>
              <a:defRPr sz="2000"/>
            </a:lvl2pPr>
            <a:lvl3pPr marL="1371600" lvl="2" indent="-331469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3pPr>
            <a:lvl4pPr marL="1828800" lvl="3" indent="-331469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4pPr>
            <a:lvl5pPr marL="2286000" lvl="4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8pPr>
            <a:lvl9pPr marL="4114800" lvl="8" indent="-320040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9pPr>
          </a:lstStyle>
          <a:p>
            <a:endParaRPr/>
          </a:p>
        </p:txBody>
      </p:sp>
      <p:sp>
        <p:nvSpPr>
          <p:cNvPr id="106" name="Google Shape;106;p32"/>
          <p:cNvSpPr txBox="1">
            <a:spLocks noGrp="1"/>
          </p:cNvSpPr>
          <p:nvPr>
            <p:ph type="body" idx="3"/>
          </p:nvPr>
        </p:nvSpPr>
        <p:spPr>
          <a:xfrm>
            <a:off x="4779495" y="1735138"/>
            <a:ext cx="3931920" cy="83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40"/>
              <a:buNone/>
              <a:defRPr sz="26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2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0"/>
              </a:spcAft>
              <a:buSzPts val="144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32"/>
          <p:cNvSpPr txBox="1">
            <a:spLocks noGrp="1"/>
          </p:cNvSpPr>
          <p:nvPr>
            <p:ph type="body" idx="4"/>
          </p:nvPr>
        </p:nvSpPr>
        <p:spPr>
          <a:xfrm>
            <a:off x="4779495" y="2590800"/>
            <a:ext cx="3931920" cy="353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4330" algn="l">
              <a:spcBef>
                <a:spcPts val="2000"/>
              </a:spcBef>
              <a:spcAft>
                <a:spcPts val="0"/>
              </a:spcAft>
              <a:buSzPts val="1980"/>
              <a:buChar char="🡽"/>
              <a:defRPr sz="2200"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🡽"/>
              <a:defRPr sz="2000"/>
            </a:lvl2pPr>
            <a:lvl3pPr marL="1371600" lvl="2" indent="-331469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3pPr>
            <a:lvl4pPr marL="1828800" lvl="3" indent="-331469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4pPr>
            <a:lvl5pPr marL="2286000" lvl="4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5pPr>
            <a:lvl6pPr marL="2743200" lvl="5" indent="-320039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6pPr>
            <a:lvl7pPr marL="3200400" lvl="6" indent="-320039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7pPr>
            <a:lvl8pPr marL="3657600" lvl="7" indent="-320040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8pPr>
            <a:lvl9pPr marL="4114800" lvl="8" indent="-320040" algn="l">
              <a:spcBef>
                <a:spcPts val="600"/>
              </a:spcBef>
              <a:spcAft>
                <a:spcPts val="0"/>
              </a:spcAft>
              <a:buSzPts val="1440"/>
              <a:buChar char="🡽"/>
              <a:defRPr sz="1600"/>
            </a:lvl9pPr>
          </a:lstStyle>
          <a:p>
            <a:endParaRPr/>
          </a:p>
        </p:txBody>
      </p:sp>
      <p:sp>
        <p:nvSpPr>
          <p:cNvPr id="108" name="Google Shape;108;p32"/>
          <p:cNvSpPr txBox="1">
            <a:spLocks noGrp="1"/>
          </p:cNvSpPr>
          <p:nvPr>
            <p:ph type="dt" idx="10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32"/>
          <p:cNvSpPr txBox="1">
            <a:spLocks noGrp="1"/>
          </p:cNvSpPr>
          <p:nvPr>
            <p:ph type="ftr" idx="11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2"/>
          <p:cNvSpPr txBox="1">
            <a:spLocks noGrp="1"/>
          </p:cNvSpPr>
          <p:nvPr>
            <p:ph type="sldNum" idx="12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3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" name="Google Shape;113;p33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14" name="Google Shape;114;p33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33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3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33"/>
          <p:cNvSpPr txBox="1"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3"/>
          <p:cNvSpPr txBox="1">
            <a:spLocks noGrp="1"/>
          </p:cNvSpPr>
          <p:nvPr>
            <p:ph type="dt" idx="10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33"/>
          <p:cNvSpPr txBox="1">
            <a:spLocks noGrp="1"/>
          </p:cNvSpPr>
          <p:nvPr>
            <p:ph type="ftr" idx="11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3"/>
          <p:cNvSpPr txBox="1">
            <a:spLocks noGrp="1"/>
          </p:cNvSpPr>
          <p:nvPr>
            <p:ph type="sldNum" idx="12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4"/>
          <p:cNvSpPr txBox="1"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orbel"/>
              <a:buNone/>
              <a:defRPr sz="3200" b="1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4"/>
          <p:cNvSpPr txBox="1">
            <a:spLocks noGrp="1"/>
          </p:cNvSpPr>
          <p:nvPr>
            <p:ph type="body" idx="1"/>
          </p:nvPr>
        </p:nvSpPr>
        <p:spPr>
          <a:xfrm>
            <a:off x="4783567" y="914400"/>
            <a:ext cx="4069080" cy="521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4330" algn="l">
              <a:spcBef>
                <a:spcPts val="2000"/>
              </a:spcBef>
              <a:spcAft>
                <a:spcPts val="0"/>
              </a:spcAft>
              <a:buSzPts val="1980"/>
              <a:buChar char="🡽"/>
              <a:defRPr sz="2200"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🡽"/>
              <a:defRPr sz="2000"/>
            </a:lvl2pPr>
            <a:lvl3pPr marL="1371600" lvl="2" indent="-331469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3pPr>
            <a:lvl4pPr marL="1828800" lvl="3" indent="-331469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4pPr>
            <a:lvl5pPr marL="2286000" lvl="4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5pPr>
            <a:lvl6pPr marL="2743200" lvl="5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6pPr>
            <a:lvl7pPr marL="3200400" lvl="6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7pPr>
            <a:lvl8pPr marL="3657600" lvl="7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8pPr>
            <a:lvl9pPr marL="4114800" lvl="8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9pPr>
          </a:lstStyle>
          <a:p>
            <a:endParaRPr/>
          </a:p>
        </p:txBody>
      </p:sp>
      <p:sp>
        <p:nvSpPr>
          <p:cNvPr id="124" name="Google Shape;124;p34"/>
          <p:cNvSpPr txBox="1">
            <a:spLocks noGrp="1"/>
          </p:cNvSpPr>
          <p:nvPr>
            <p:ph type="body" idx="2"/>
          </p:nvPr>
        </p:nvSpPr>
        <p:spPr>
          <a:xfrm>
            <a:off x="268941" y="2456329"/>
            <a:ext cx="4069080" cy="318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600"/>
              </a:spcBef>
              <a:spcAft>
                <a:spcPts val="0"/>
              </a:spcAft>
              <a:buSzPts val="1620"/>
              <a:buNone/>
              <a:defRPr sz="18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>
            <a:endParaRPr/>
          </a:p>
        </p:txBody>
      </p:sp>
      <p:sp>
        <p:nvSpPr>
          <p:cNvPr id="125" name="Google Shape;125;p34"/>
          <p:cNvSpPr txBox="1">
            <a:spLocks noGrp="1"/>
          </p:cNvSpPr>
          <p:nvPr>
            <p:ph type="dt" idx="10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4"/>
          <p:cNvSpPr txBox="1">
            <a:spLocks noGrp="1"/>
          </p:cNvSpPr>
          <p:nvPr>
            <p:ph type="ftr" idx="11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4"/>
          <p:cNvSpPr txBox="1">
            <a:spLocks noGrp="1"/>
          </p:cNvSpPr>
          <p:nvPr>
            <p:ph type="sldNum" idx="12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8" name="Google Shape;128;p34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129" name="Google Shape;129;p34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34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34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5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rgbClr val="262626">
              <a:alpha val="84705"/>
            </a:srgbClr>
          </a:solidFill>
          <a:ln>
            <a:noFill/>
          </a:ln>
        </p:spPr>
        <p:txBody>
          <a:bodyPr spcFirstLastPara="1" wrap="square" lIns="91425" tIns="45700" rIns="182875" bIns="365750" anchor="b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endParaRPr sz="42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34" name="Google Shape;134;p35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35" name="Google Shape;135;p3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35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35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" name="Google Shape;138;p35"/>
          <p:cNvSpPr txBox="1"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rbel"/>
              <a:buNone/>
              <a:defRPr sz="2800" b="0" i="0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5"/>
          <p:cNvSpPr>
            <a:spLocks noGrp="1"/>
          </p:cNvSpPr>
          <p:nvPr>
            <p:ph type="pic" idx="2"/>
          </p:nvPr>
        </p:nvSpPr>
        <p:spPr>
          <a:xfrm>
            <a:off x="284163" y="457199"/>
            <a:ext cx="8577072" cy="4352544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35"/>
          <p:cNvSpPr txBox="1">
            <a:spLocks noGrp="1"/>
          </p:cNvSpPr>
          <p:nvPr>
            <p:ph type="body" idx="1"/>
          </p:nvPr>
        </p:nvSpPr>
        <p:spPr>
          <a:xfrm>
            <a:off x="419099" y="5367338"/>
            <a:ext cx="8304213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>
            <a:endParaRPr/>
          </a:p>
        </p:txBody>
      </p:sp>
      <p:sp>
        <p:nvSpPr>
          <p:cNvPr id="141" name="Google Shape;141;p35"/>
          <p:cNvSpPr txBox="1">
            <a:spLocks noGrp="1"/>
          </p:cNvSpPr>
          <p:nvPr>
            <p:ph type="dt" idx="10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5"/>
          <p:cNvSpPr txBox="1">
            <a:spLocks noGrp="1"/>
          </p:cNvSpPr>
          <p:nvPr>
            <p:ph type="ftr" idx="11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5"/>
          <p:cNvSpPr txBox="1">
            <a:spLocks noGrp="1"/>
          </p:cNvSpPr>
          <p:nvPr>
            <p:ph type="sldNum" idx="12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, Alt.">
  <p:cSld name="Picture with Caption, Alt.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36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46" name="Google Shape;146;p36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3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36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36"/>
          <p:cNvSpPr txBox="1"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rbel"/>
              <a:buNone/>
              <a:defRPr sz="2800" b="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6"/>
          <p:cNvSpPr>
            <a:spLocks noGrp="1"/>
          </p:cNvSpPr>
          <p:nvPr>
            <p:ph type="pic" idx="2"/>
          </p:nvPr>
        </p:nvSpPr>
        <p:spPr>
          <a:xfrm>
            <a:off x="284163" y="457200"/>
            <a:ext cx="8577072" cy="3822192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36"/>
          <p:cNvSpPr txBox="1">
            <a:spLocks noGrp="1"/>
          </p:cNvSpPr>
          <p:nvPr>
            <p:ph type="body" idx="1"/>
          </p:nvPr>
        </p:nvSpPr>
        <p:spPr>
          <a:xfrm>
            <a:off x="419099" y="5344927"/>
            <a:ext cx="8304213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rgbClr val="262626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>
            <a:endParaRPr/>
          </a:p>
        </p:txBody>
      </p:sp>
      <p:sp>
        <p:nvSpPr>
          <p:cNvPr id="152" name="Google Shape;152;p36"/>
          <p:cNvSpPr txBox="1">
            <a:spLocks noGrp="1"/>
          </p:cNvSpPr>
          <p:nvPr>
            <p:ph type="dt" idx="10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6"/>
          <p:cNvSpPr txBox="1">
            <a:spLocks noGrp="1"/>
          </p:cNvSpPr>
          <p:nvPr>
            <p:ph type="ftr" idx="11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6"/>
          <p:cNvSpPr txBox="1">
            <a:spLocks noGrp="1"/>
          </p:cNvSpPr>
          <p:nvPr>
            <p:ph type="sldNum" idx="12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, Picture, and Caption">
  <p:cSld name="Content, Picture, and Caption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7"/>
          <p:cNvSpPr txBox="1">
            <a:spLocks noGrp="1"/>
          </p:cNvSpPr>
          <p:nvPr>
            <p:ph type="body" idx="1"/>
          </p:nvPr>
        </p:nvSpPr>
        <p:spPr>
          <a:xfrm>
            <a:off x="3657600" y="914400"/>
            <a:ext cx="5195047" cy="521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4330" algn="l">
              <a:spcBef>
                <a:spcPts val="2000"/>
              </a:spcBef>
              <a:spcAft>
                <a:spcPts val="0"/>
              </a:spcAft>
              <a:buSzPts val="1980"/>
              <a:buChar char="🡽"/>
              <a:defRPr sz="2200"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🡽"/>
              <a:defRPr sz="2000"/>
            </a:lvl2pPr>
            <a:lvl3pPr marL="1371600" lvl="2" indent="-331469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3pPr>
            <a:lvl4pPr marL="1828800" lvl="3" indent="-331469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4pPr>
            <a:lvl5pPr marL="2286000" lvl="4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5pPr>
            <a:lvl6pPr marL="2743200" lvl="5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6pPr>
            <a:lvl7pPr marL="3200400" lvl="6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7pPr>
            <a:lvl8pPr marL="3657600" lvl="7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8pPr>
            <a:lvl9pPr marL="4114800" lvl="8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 sz="1800"/>
            </a:lvl9pPr>
          </a:lstStyle>
          <a:p>
            <a:endParaRPr/>
          </a:p>
        </p:txBody>
      </p:sp>
      <p:sp>
        <p:nvSpPr>
          <p:cNvPr id="157" name="Google Shape;157;p37"/>
          <p:cNvSpPr txBox="1">
            <a:spLocks noGrp="1"/>
          </p:cNvSpPr>
          <p:nvPr>
            <p:ph type="dt" idx="10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7"/>
          <p:cNvSpPr txBox="1">
            <a:spLocks noGrp="1"/>
          </p:cNvSpPr>
          <p:nvPr>
            <p:ph type="ftr" idx="11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7"/>
          <p:cNvSpPr txBox="1">
            <a:spLocks noGrp="1"/>
          </p:cNvSpPr>
          <p:nvPr>
            <p:ph type="sldNum" idx="12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37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rgbClr val="262626">
              <a:alpha val="84705"/>
            </a:srgbClr>
          </a:solidFill>
          <a:ln>
            <a:noFill/>
          </a:ln>
        </p:spPr>
        <p:txBody>
          <a:bodyPr spcFirstLastPara="1" wrap="square" lIns="91425" tIns="45700" rIns="182875" bIns="365750" anchor="b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endParaRPr sz="42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1" name="Google Shape;161;p37"/>
          <p:cNvSpPr txBox="1">
            <a:spLocks noGrp="1"/>
          </p:cNvSpPr>
          <p:nvPr>
            <p:ph type="body" idx="2"/>
          </p:nvPr>
        </p:nvSpPr>
        <p:spPr>
          <a:xfrm>
            <a:off x="419101" y="4953001"/>
            <a:ext cx="2472017" cy="124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>
            <a:endParaRPr/>
          </a:p>
        </p:txBody>
      </p:sp>
      <p:sp>
        <p:nvSpPr>
          <p:cNvPr id="162" name="Google Shape;162;p37"/>
          <p:cNvSpPr txBox="1"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rbel"/>
              <a:buNone/>
              <a:defRPr sz="20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7"/>
          <p:cNvSpPr>
            <a:spLocks noGrp="1"/>
          </p:cNvSpPr>
          <p:nvPr>
            <p:ph type="pic" idx="3"/>
          </p:nvPr>
        </p:nvSpPr>
        <p:spPr>
          <a:xfrm>
            <a:off x="284164" y="594360"/>
            <a:ext cx="2743200" cy="3675888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64" name="Google Shape;164;p37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5" name="Google Shape;165;p37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7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s with Caption">
  <p:cSld name="3 Pictures with Caption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rgbClr val="262626">
              <a:alpha val="84705"/>
            </a:srgbClr>
          </a:solidFill>
          <a:ln>
            <a:noFill/>
          </a:ln>
        </p:spPr>
        <p:txBody>
          <a:bodyPr spcFirstLastPara="1" wrap="square" lIns="91425" tIns="45700" rIns="182875" bIns="365750" anchor="b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endParaRPr sz="42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70" name="Google Shape;170;p3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71" name="Google Shape;171;p3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38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38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38"/>
          <p:cNvSpPr txBox="1"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rbel"/>
              <a:buNone/>
              <a:defRPr sz="2800" b="0" i="0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8"/>
          <p:cNvSpPr>
            <a:spLocks noGrp="1"/>
          </p:cNvSpPr>
          <p:nvPr>
            <p:ph type="pic" idx="2"/>
          </p:nvPr>
        </p:nvSpPr>
        <p:spPr>
          <a:xfrm>
            <a:off x="3021014" y="457199"/>
            <a:ext cx="5833872" cy="4352544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38"/>
          <p:cNvSpPr txBox="1">
            <a:spLocks noGrp="1"/>
          </p:cNvSpPr>
          <p:nvPr>
            <p:ph type="body" idx="1"/>
          </p:nvPr>
        </p:nvSpPr>
        <p:spPr>
          <a:xfrm>
            <a:off x="3069805" y="5367338"/>
            <a:ext cx="5653507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0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9pPr>
          </a:lstStyle>
          <a:p>
            <a:endParaRPr/>
          </a:p>
        </p:txBody>
      </p:sp>
      <p:sp>
        <p:nvSpPr>
          <p:cNvPr id="177" name="Google Shape;177;p38"/>
          <p:cNvSpPr txBox="1">
            <a:spLocks noGrp="1"/>
          </p:cNvSpPr>
          <p:nvPr>
            <p:ph type="dt" idx="10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8"/>
          <p:cNvSpPr txBox="1">
            <a:spLocks noGrp="1"/>
          </p:cNvSpPr>
          <p:nvPr>
            <p:ph type="ftr" idx="11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38"/>
          <p:cNvSpPr txBox="1">
            <a:spLocks noGrp="1"/>
          </p:cNvSpPr>
          <p:nvPr>
            <p:ph type="sldNum" idx="12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38"/>
          <p:cNvSpPr>
            <a:spLocks noGrp="1"/>
          </p:cNvSpPr>
          <p:nvPr>
            <p:ph type="pic" idx="3"/>
          </p:nvPr>
        </p:nvSpPr>
        <p:spPr>
          <a:xfrm>
            <a:off x="284164" y="457200"/>
            <a:ext cx="2736850" cy="2907792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38"/>
          <p:cNvSpPr>
            <a:spLocks noGrp="1"/>
          </p:cNvSpPr>
          <p:nvPr>
            <p:ph type="pic" idx="4"/>
          </p:nvPr>
        </p:nvSpPr>
        <p:spPr>
          <a:xfrm>
            <a:off x="284164" y="3364992"/>
            <a:ext cx="2736850" cy="289864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4" name="Google Shape;184;p39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85" name="Google Shape;185;p3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3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39"/>
          <p:cNvSpPr txBox="1"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39"/>
          <p:cNvSpPr txBox="1">
            <a:spLocks noGrp="1"/>
          </p:cNvSpPr>
          <p:nvPr>
            <p:ph type="body" idx="1"/>
          </p:nvPr>
        </p:nvSpPr>
        <p:spPr>
          <a:xfrm rot="5400000">
            <a:off x="2564607" y="-146843"/>
            <a:ext cx="4013200" cy="857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1470" algn="l">
              <a:spcBef>
                <a:spcPts val="2000"/>
              </a:spcBef>
              <a:spcAft>
                <a:spcPts val="0"/>
              </a:spcAft>
              <a:buSzPts val="1620"/>
              <a:buChar char="🡽"/>
              <a:defRPr/>
            </a:lvl1pPr>
            <a:lvl2pPr marL="914400" lvl="1" indent="-331469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2pPr>
            <a:lvl3pPr marL="1371600" lvl="2" indent="-331469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3pPr>
            <a:lvl4pPr marL="1828800" lvl="3" indent="-331469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4pPr>
            <a:lvl5pPr marL="2286000" lvl="4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5pPr>
            <a:lvl6pPr marL="2743200" lvl="5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6pPr>
            <a:lvl7pPr marL="3200400" lvl="6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7pPr>
            <a:lvl8pPr marL="3657600" lvl="7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8pPr>
            <a:lvl9pPr marL="4114800" lvl="8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9pPr>
          </a:lstStyle>
          <a:p>
            <a:endParaRPr/>
          </a:p>
        </p:txBody>
      </p:sp>
      <p:sp>
        <p:nvSpPr>
          <p:cNvPr id="190" name="Google Shape;190;p39"/>
          <p:cNvSpPr txBox="1">
            <a:spLocks noGrp="1"/>
          </p:cNvSpPr>
          <p:nvPr>
            <p:ph type="dt" idx="10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39"/>
          <p:cNvSpPr txBox="1">
            <a:spLocks noGrp="1"/>
          </p:cNvSpPr>
          <p:nvPr>
            <p:ph type="ftr" idx="11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9"/>
          <p:cNvSpPr txBox="1">
            <a:spLocks noGrp="1"/>
          </p:cNvSpPr>
          <p:nvPr>
            <p:ph type="sldNum" idx="12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0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 rot="5400000">
            <a:off x="5219069" y="2949131"/>
            <a:ext cx="5921375" cy="969264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orbel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40"/>
          <p:cNvSpPr txBox="1">
            <a:spLocks noGrp="1"/>
          </p:cNvSpPr>
          <p:nvPr>
            <p:ph type="body" idx="1"/>
          </p:nvPr>
        </p:nvSpPr>
        <p:spPr>
          <a:xfrm rot="5400000">
            <a:off x="564357" y="177007"/>
            <a:ext cx="5937250" cy="649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1470" algn="l">
              <a:spcBef>
                <a:spcPts val="2000"/>
              </a:spcBef>
              <a:spcAft>
                <a:spcPts val="0"/>
              </a:spcAft>
              <a:buSzPts val="1620"/>
              <a:buChar char="🡽"/>
              <a:defRPr/>
            </a:lvl1pPr>
            <a:lvl2pPr marL="914400" lvl="1" indent="-331469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2pPr>
            <a:lvl3pPr marL="1371600" lvl="2" indent="-331469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3pPr>
            <a:lvl4pPr marL="1828800" lvl="3" indent="-331469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4pPr>
            <a:lvl5pPr marL="2286000" lvl="4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5pPr>
            <a:lvl6pPr marL="2743200" lvl="5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6pPr>
            <a:lvl7pPr marL="3200400" lvl="6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7pPr>
            <a:lvl8pPr marL="3657600" lvl="7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8pPr>
            <a:lvl9pPr marL="4114800" lvl="8" indent="-331470" algn="l">
              <a:spcBef>
                <a:spcPts val="600"/>
              </a:spcBef>
              <a:spcAft>
                <a:spcPts val="0"/>
              </a:spcAft>
              <a:buSzPts val="1620"/>
              <a:buChar char="🡽"/>
              <a:defRPr/>
            </a:lvl9pPr>
          </a:lstStyle>
          <a:p>
            <a:endParaRPr/>
          </a:p>
        </p:txBody>
      </p:sp>
      <p:sp>
        <p:nvSpPr>
          <p:cNvPr id="197" name="Google Shape;197;p40"/>
          <p:cNvSpPr txBox="1">
            <a:spLocks noGrp="1"/>
          </p:cNvSpPr>
          <p:nvPr>
            <p:ph type="dt" idx="10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40"/>
          <p:cNvSpPr txBox="1">
            <a:spLocks noGrp="1"/>
          </p:cNvSpPr>
          <p:nvPr>
            <p:ph type="ftr" idx="11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40"/>
          <p:cNvSpPr txBox="1">
            <a:spLocks noGrp="1"/>
          </p:cNvSpPr>
          <p:nvPr>
            <p:ph type="sldNum" idx="12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00" name="Google Shape;200;p40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201" name="Google Shape;201;p40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4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4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5760" algn="l" rtl="0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2160"/>
              <a:buFont typeface="Noto Sans Symbols"/>
              <a:buChar char="🡽"/>
              <a:defRPr sz="24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4330" algn="l" rtl="0"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980"/>
              <a:buFont typeface="Noto Sans Symbols"/>
              <a:buChar char="🡽"/>
              <a:defRPr sz="22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Noto Sans Symbols"/>
              <a:buChar char="🡽"/>
              <a:defRPr sz="2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1469" algn="l" rtl="0"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🡽"/>
              <a:defRPr sz="18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1470" algn="l" rtl="0"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🡽"/>
              <a:defRPr sz="18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1470" algn="l" rtl="0"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🡽"/>
              <a:defRPr sz="18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1470" algn="l" rtl="0"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🡽"/>
              <a:defRPr sz="18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1470" algn="l" rtl="0"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🡽"/>
              <a:defRPr sz="18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1470" algn="l" rtl="0">
              <a:spcBef>
                <a:spcPts val="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🡽"/>
              <a:defRPr sz="18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dt" idx="10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1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4"/>
          <p:cNvSpPr txBox="1">
            <a:spLocks noGrp="1"/>
          </p:cNvSpPr>
          <p:nvPr>
            <p:ph type="ftr" idx="11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1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sldNum" idx="12"/>
          </p:nvPr>
        </p:nvSpPr>
        <p:spPr>
          <a:xfrm>
            <a:off x="8306459" y="167347"/>
            <a:ext cx="630621" cy="35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rgbClr val="262626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  <a:defRPr sz="4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illah.masumcu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4.xml"/><Relationship Id="rId1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eb.cecs.pdx.edu/~sheard/course/Cs321/notes/index.ht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s.nuim.ie/~jpower/Courses/Previous/parsing/node9.html" TargetMode="External"/><Relationship Id="rId4" Type="http://schemas.openxmlformats.org/officeDocument/2006/relationships/hyperlink" Target="https://en.wikipedia.org/wiki/Powerset_construction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"/>
          <p:cNvSpPr txBox="1">
            <a:spLocks noGrp="1"/>
          </p:cNvSpPr>
          <p:nvPr>
            <p:ph type="ctrTitle"/>
          </p:nvPr>
        </p:nvSpPr>
        <p:spPr>
          <a:xfrm>
            <a:off x="421341" y="520861"/>
            <a:ext cx="7808976" cy="1122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NFA to DFA Conversion </a:t>
            </a:r>
            <a:br>
              <a:rPr lang="en-US"/>
            </a:br>
            <a:r>
              <a:rPr lang="en-US"/>
              <a:t>(Subset Construction Method)</a:t>
            </a:r>
            <a:endParaRPr/>
          </a:p>
        </p:txBody>
      </p:sp>
      <p:sp>
        <p:nvSpPr>
          <p:cNvPr id="209" name="Google Shape;209;p1"/>
          <p:cNvSpPr txBox="1"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/>
              <a:t>Course Code: CSC3220  </a:t>
            </a:r>
            <a:endParaRPr/>
          </a:p>
        </p:txBody>
      </p:sp>
      <p:sp>
        <p:nvSpPr>
          <p:cNvPr id="210" name="Google Shape;210;p1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Dept. of Computer Science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Faculty of Science and Technology</a:t>
            </a:r>
            <a:endParaRPr sz="2400" b="1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1" name="Google Shape;211;p1"/>
          <p:cNvGraphicFramePr/>
          <p:nvPr/>
        </p:nvGraphicFramePr>
        <p:xfrm>
          <a:off x="476205" y="5186042"/>
          <a:ext cx="8335800" cy="1018815"/>
        </p:xfrm>
        <a:graphic>
          <a:graphicData uri="http://schemas.openxmlformats.org/drawingml/2006/table">
            <a:tbl>
              <a:tblPr firstRow="1" bandRow="1">
                <a:noFill/>
                <a:tableStyleId>{0B3EE344-830F-4C70-8B26-3A83E73AC9D4}</a:tableStyleId>
              </a:tblPr>
              <a:tblGrid>
                <a:gridCol w="148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1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0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4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Lecturer No: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Week No: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Semester: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Lecturer: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1"/>
                        <a:t>Md Masum Billah, </a:t>
                      </a:r>
                      <a:r>
                        <a:rPr lang="en-US" sz="1800" i="1" u="sng">
                          <a:solidFill>
                            <a:schemeClr val="hlink"/>
                          </a:solidFill>
                          <a:hlinkClick r:id="rId3"/>
                        </a:rPr>
                        <a:t>billah.masumcu@aiub.edu</a:t>
                      </a:r>
                      <a:endParaRPr sz="1800" i="1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1"/>
                        <a:t>Masum-billah.net</a:t>
                      </a:r>
                      <a:endParaRPr sz="1800" i="1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2" name="Google Shape;212;p1"/>
          <p:cNvSpPr txBox="1"/>
          <p:nvPr/>
        </p:nvSpPr>
        <p:spPr>
          <a:xfrm>
            <a:off x="3320578" y="1538380"/>
            <a:ext cx="4164439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Course Title: Compiler Design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"/>
          <p:cNvSpPr txBox="1"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Lecture Outline</a:t>
            </a:r>
            <a:endParaRPr/>
          </a:p>
        </p:txBody>
      </p:sp>
      <p:sp>
        <p:nvSpPr>
          <p:cNvPr id="218" name="Google Shape;218;p2"/>
          <p:cNvSpPr txBox="1"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NFA TO DFA (Subset Construction Method)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Subset Construction Algorithm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Font typeface="Noto Sans Symbols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DFA Designing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Example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Exercise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References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"/>
          <p:cNvSpPr txBox="1"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Objective and Outcome</a:t>
            </a:r>
            <a:endParaRPr/>
          </a:p>
        </p:txBody>
      </p:sp>
      <p:sp>
        <p:nvSpPr>
          <p:cNvPr id="224" name="Google Shape;224;p3"/>
          <p:cNvSpPr txBox="1">
            <a:spLocks noGrp="1"/>
          </p:cNvSpPr>
          <p:nvPr>
            <p:ph type="subTitle" idx="1"/>
          </p:nvPr>
        </p:nvSpPr>
        <p:spPr>
          <a:xfrm>
            <a:off x="486696" y="2237318"/>
            <a:ext cx="8302973" cy="3853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160"/>
              <a:buFont typeface="Noto Sans Symbols"/>
              <a:buNone/>
            </a:pPr>
            <a:r>
              <a:rPr lang="en-US" sz="2400">
                <a:solidFill>
                  <a:srgbClr val="FF0000"/>
                </a:solidFill>
              </a:rPr>
              <a:t>Objective: 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To explain the subset construction algorithm/method for converting a Non deterministic machine to deterministic machine.  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Provide necessary example and explanation of NFA to DFA conversion method using subset construction method.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To explain and practice Deterministic Finite Automata (DFA) Machine Design for a given Grammar. 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160"/>
              <a:buFont typeface="Noto Sans Symbols"/>
              <a:buNone/>
            </a:pPr>
            <a:r>
              <a:rPr lang="en-US" sz="2400">
                <a:solidFill>
                  <a:srgbClr val="FF0000"/>
                </a:solidFill>
              </a:rPr>
              <a:t>Outcome: 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After this lecture the students will be capable of demonstrating the subset construction algorithm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After this lecture the student will be able to convert an NFA to relevant DFA by following subset construction method.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After this class student will be able to design and demonstrate DFA construction from a given Grammar. </a:t>
            </a:r>
            <a:endParaRPr/>
          </a:p>
          <a:p>
            <a:pPr marL="28575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28575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"/>
          <p:cNvSpPr txBox="1"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NFA to DFA Conversion </a:t>
            </a:r>
            <a:endParaRPr/>
          </a:p>
        </p:txBody>
      </p:sp>
      <p:sp>
        <p:nvSpPr>
          <p:cNvPr id="230" name="Google Shape;230;p4"/>
          <p:cNvSpPr txBox="1"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/>
              <a:t>Subset Construction Algorithm</a:t>
            </a:r>
            <a:endParaRPr/>
          </a:p>
        </p:txBody>
      </p:sp>
      <p:sp>
        <p:nvSpPr>
          <p:cNvPr id="231" name="Google Shape;231;p4"/>
          <p:cNvSpPr txBox="1"/>
          <p:nvPr/>
        </p:nvSpPr>
        <p:spPr>
          <a:xfrm>
            <a:off x="250857" y="2017059"/>
            <a:ext cx="8638500" cy="4166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NFA N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DFA D accepting the same language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Constructs a transition table Dtran for D. Each DFA state is a set of NFA states and construct Dtran so that D will simulate “in parallel” all possible moves N can make on a given input string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8129" y="4100441"/>
            <a:ext cx="5838827" cy="207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"/>
          <p:cNvSpPr txBox="1"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NFA to DFA Conversion </a:t>
            </a:r>
            <a:endParaRPr/>
          </a:p>
        </p:txBody>
      </p:sp>
      <p:sp>
        <p:nvSpPr>
          <p:cNvPr id="238" name="Google Shape;238;p5"/>
          <p:cNvSpPr txBox="1"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/>
              <a:t>Subset Construction Algorithm</a:t>
            </a:r>
            <a:endParaRPr/>
          </a:p>
        </p:txBody>
      </p:sp>
      <p:pic>
        <p:nvPicPr>
          <p:cNvPr id="239" name="Google Shape;23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7637" y="2346243"/>
            <a:ext cx="7505520" cy="3517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"/>
          <p:cNvSpPr txBox="1"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NFA to DFA Conversion </a:t>
            </a:r>
            <a:endParaRPr/>
          </a:p>
        </p:txBody>
      </p:sp>
      <p:sp>
        <p:nvSpPr>
          <p:cNvPr id="245" name="Google Shape;245;p6"/>
          <p:cNvSpPr txBox="1"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/>
              <a:t>ε</a:t>
            </a:r>
            <a:r>
              <a:rPr lang="en-US" i="1"/>
              <a:t>-closure</a:t>
            </a:r>
            <a:r>
              <a:rPr lang="en-US"/>
              <a:t> and </a:t>
            </a:r>
            <a:r>
              <a:rPr lang="en-US" i="1"/>
              <a:t>move</a:t>
            </a:r>
            <a:r>
              <a:rPr lang="en-US"/>
              <a:t> Examples</a:t>
            </a:r>
            <a:endParaRPr/>
          </a:p>
        </p:txBody>
      </p:sp>
      <p:sp>
        <p:nvSpPr>
          <p:cNvPr id="246" name="Google Shape;246;p6"/>
          <p:cNvSpPr txBox="1"/>
          <p:nvPr/>
        </p:nvSpPr>
        <p:spPr>
          <a:xfrm>
            <a:off x="250857" y="2017059"/>
            <a:ext cx="8638500" cy="4186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2990804" y="2237372"/>
            <a:ext cx="304800" cy="304800"/>
          </a:xfrm>
          <a:prstGeom prst="ellipse">
            <a:avLst/>
          </a:prstGeom>
          <a:solidFill>
            <a:srgbClr val="D34817"/>
          </a:solidFill>
          <a:ln w="38100" cap="flat" cmpd="dbl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48" name="Google Shape;248;p6"/>
          <p:cNvSpPr txBox="1"/>
          <p:nvPr/>
        </p:nvSpPr>
        <p:spPr>
          <a:xfrm>
            <a:off x="2457405" y="2084973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249" name="Google Shape;249;p6"/>
          <p:cNvSpPr/>
          <p:nvPr/>
        </p:nvSpPr>
        <p:spPr>
          <a:xfrm>
            <a:off x="2076404" y="223737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250" name="Google Shape;250;p6"/>
          <p:cNvCxnSpPr/>
          <p:nvPr/>
        </p:nvCxnSpPr>
        <p:spPr>
          <a:xfrm>
            <a:off x="2381204" y="2389772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51" name="Google Shape;251;p6"/>
          <p:cNvSpPr/>
          <p:nvPr/>
        </p:nvSpPr>
        <p:spPr>
          <a:xfrm>
            <a:off x="4819604" y="3151772"/>
            <a:ext cx="304800" cy="304800"/>
          </a:xfrm>
          <a:prstGeom prst="ellipse">
            <a:avLst/>
          </a:prstGeom>
          <a:solidFill>
            <a:srgbClr val="D34817"/>
          </a:solidFill>
          <a:ln w="38100" cap="flat" cmpd="dbl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52" name="Google Shape;252;p6"/>
          <p:cNvSpPr txBox="1"/>
          <p:nvPr/>
        </p:nvSpPr>
        <p:spPr>
          <a:xfrm>
            <a:off x="2457405" y="2985085"/>
            <a:ext cx="32067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2076404" y="3137485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cxnSp>
        <p:nvCxnSpPr>
          <p:cNvPr id="254" name="Google Shape;254;p6"/>
          <p:cNvCxnSpPr/>
          <p:nvPr/>
        </p:nvCxnSpPr>
        <p:spPr>
          <a:xfrm>
            <a:off x="2381204" y="3289885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55" name="Google Shape;255;p6"/>
          <p:cNvCxnSpPr/>
          <p:nvPr/>
        </p:nvCxnSpPr>
        <p:spPr>
          <a:xfrm>
            <a:off x="1466804" y="3289885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56" name="Google Shape;256;p6"/>
          <p:cNvSpPr/>
          <p:nvPr/>
        </p:nvSpPr>
        <p:spPr>
          <a:xfrm>
            <a:off x="2990804" y="315177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3905204" y="315177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58" name="Google Shape;258;p6"/>
          <p:cNvSpPr txBox="1"/>
          <p:nvPr/>
        </p:nvSpPr>
        <p:spPr>
          <a:xfrm>
            <a:off x="3371805" y="2999373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cxnSp>
        <p:nvCxnSpPr>
          <p:cNvPr id="259" name="Google Shape;259;p6"/>
          <p:cNvCxnSpPr/>
          <p:nvPr/>
        </p:nvCxnSpPr>
        <p:spPr>
          <a:xfrm>
            <a:off x="3295604" y="3304172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60" name="Google Shape;260;p6"/>
          <p:cNvSpPr txBox="1"/>
          <p:nvPr/>
        </p:nvSpPr>
        <p:spPr>
          <a:xfrm>
            <a:off x="4286205" y="2999373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cxnSp>
        <p:nvCxnSpPr>
          <p:cNvPr id="261" name="Google Shape;261;p6"/>
          <p:cNvCxnSpPr/>
          <p:nvPr/>
        </p:nvCxnSpPr>
        <p:spPr>
          <a:xfrm>
            <a:off x="4210004" y="3304172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62" name="Google Shape;262;p6"/>
          <p:cNvSpPr/>
          <p:nvPr/>
        </p:nvSpPr>
        <p:spPr>
          <a:xfrm>
            <a:off x="2990804" y="4066172"/>
            <a:ext cx="304800" cy="304800"/>
          </a:xfrm>
          <a:prstGeom prst="ellipse">
            <a:avLst/>
          </a:prstGeom>
          <a:solidFill>
            <a:srgbClr val="D34817"/>
          </a:solidFill>
          <a:ln w="38100" cap="flat" cmpd="dbl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263" name="Google Shape;263;p6"/>
          <p:cNvSpPr/>
          <p:nvPr/>
        </p:nvSpPr>
        <p:spPr>
          <a:xfrm>
            <a:off x="2076404" y="406617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cxnSp>
        <p:nvCxnSpPr>
          <p:cNvPr id="264" name="Google Shape;264;p6"/>
          <p:cNvCxnSpPr/>
          <p:nvPr/>
        </p:nvCxnSpPr>
        <p:spPr>
          <a:xfrm>
            <a:off x="2381204" y="4218572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65" name="Google Shape;265;p6"/>
          <p:cNvCxnSpPr/>
          <p:nvPr/>
        </p:nvCxnSpPr>
        <p:spPr>
          <a:xfrm rot="10800000" flipH="1">
            <a:off x="1390604" y="2465972"/>
            <a:ext cx="685800" cy="6858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66" name="Google Shape;266;p6"/>
          <p:cNvSpPr/>
          <p:nvPr/>
        </p:nvSpPr>
        <p:spPr>
          <a:xfrm>
            <a:off x="2206580" y="3675648"/>
            <a:ext cx="479425" cy="466725"/>
          </a:xfrm>
          <a:custGeom>
            <a:avLst/>
            <a:gdLst/>
            <a:ahLst/>
            <a:cxnLst/>
            <a:rect l="l" t="t" r="r" b="b"/>
            <a:pathLst>
              <a:path w="302" h="294" extrusionOk="0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3143205" y="3685173"/>
            <a:ext cx="479425" cy="466725"/>
          </a:xfrm>
          <a:custGeom>
            <a:avLst/>
            <a:gdLst/>
            <a:ahLst/>
            <a:cxnLst/>
            <a:rect l="l" t="t" r="r" b="b"/>
            <a:pathLst>
              <a:path w="302" h="294" extrusionOk="0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6"/>
          <p:cNvSpPr txBox="1"/>
          <p:nvPr/>
        </p:nvSpPr>
        <p:spPr>
          <a:xfrm>
            <a:off x="2381205" y="3380373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269" name="Google Shape;269;p6"/>
          <p:cNvSpPr txBox="1"/>
          <p:nvPr/>
        </p:nvSpPr>
        <p:spPr>
          <a:xfrm>
            <a:off x="3295605" y="3394660"/>
            <a:ext cx="32067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270" name="Google Shape;270;p6"/>
          <p:cNvSpPr/>
          <p:nvPr/>
        </p:nvSpPr>
        <p:spPr>
          <a:xfrm>
            <a:off x="1162004" y="315177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cxnSp>
        <p:nvCxnSpPr>
          <p:cNvPr id="271" name="Google Shape;271;p6"/>
          <p:cNvCxnSpPr/>
          <p:nvPr/>
        </p:nvCxnSpPr>
        <p:spPr>
          <a:xfrm>
            <a:off x="1390604" y="3456572"/>
            <a:ext cx="685800" cy="6858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72" name="Google Shape;272;p6"/>
          <p:cNvCxnSpPr/>
          <p:nvPr/>
        </p:nvCxnSpPr>
        <p:spPr>
          <a:xfrm>
            <a:off x="552404" y="3289885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73" name="Google Shape;273;p6"/>
          <p:cNvSpPr txBox="1"/>
          <p:nvPr/>
        </p:nvSpPr>
        <p:spPr>
          <a:xfrm>
            <a:off x="476205" y="2923172"/>
            <a:ext cx="633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1466805" y="3608973"/>
            <a:ext cx="3397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275" name="Google Shape;275;p6"/>
          <p:cNvSpPr/>
          <p:nvPr/>
        </p:nvSpPr>
        <p:spPr>
          <a:xfrm>
            <a:off x="1543005" y="2796298"/>
            <a:ext cx="35940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276" name="Google Shape;276;p6"/>
          <p:cNvSpPr/>
          <p:nvPr/>
        </p:nvSpPr>
        <p:spPr>
          <a:xfrm>
            <a:off x="1431880" y="2480260"/>
            <a:ext cx="33972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277" name="Google Shape;277;p6"/>
          <p:cNvSpPr/>
          <p:nvPr/>
        </p:nvSpPr>
        <p:spPr>
          <a:xfrm>
            <a:off x="5560010" y="2268329"/>
            <a:ext cx="2893741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ε</a:t>
            </a: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-closure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({0}) = {0,1,3,7}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({0,1,3,7},</a:t>
            </a:r>
            <a:r>
              <a:rPr lang="en-US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 {2,4,7}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ε</a:t>
            </a: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-closure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({2,4,7}) = {2,4,7}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({2,4,7},</a:t>
            </a:r>
            <a:r>
              <a:rPr lang="en-US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 {7}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ε</a:t>
            </a: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-closure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({7}) = {7}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({7},</a:t>
            </a:r>
            <a:r>
              <a:rPr lang="en-US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 {8}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ε</a:t>
            </a: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-closure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({8}) = {8}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({8},</a:t>
            </a:r>
            <a:r>
              <a:rPr lang="en-US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 ∅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 txBox="1"/>
          <p:nvPr/>
        </p:nvSpPr>
        <p:spPr>
          <a:xfrm>
            <a:off x="937548" y="4988689"/>
            <a:ext cx="35071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Alphabet / Symbol = {a, b}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"/>
          <p:cNvSpPr txBox="1"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Subset Construction Algorithm</a:t>
            </a:r>
            <a:endParaRPr/>
          </a:p>
        </p:txBody>
      </p:sp>
      <p:sp>
        <p:nvSpPr>
          <p:cNvPr id="284" name="Google Shape;284;p7"/>
          <p:cNvSpPr txBox="1"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/>
              <a:t>Subset Construction Algorithm</a:t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312516" y="2136339"/>
            <a:ext cx="8518968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subset construction algorithm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converts an NFA into a DFA using: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ε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-closure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 {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∪ {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⏐ 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ε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→</a:t>
            </a:r>
            <a:r>
              <a:rPr lang="en-US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ε 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ε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-closure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 ∪</a:t>
            </a:r>
            <a:r>
              <a:rPr lang="en-US" sz="1800" i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lang="en-US" sz="1800" i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ε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-closure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 {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⏐ 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US" sz="1800" i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 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algorithm produces: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800" i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set of states of the new DFA consisting of sets of states of the NFA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800" i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transition table of the new DFA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"/>
          <p:cNvSpPr txBox="1"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Subset Construction Algorithm</a:t>
            </a:r>
            <a:endParaRPr/>
          </a:p>
        </p:txBody>
      </p:sp>
      <p:sp>
        <p:nvSpPr>
          <p:cNvPr id="291" name="Google Shape;291;p8"/>
          <p:cNvSpPr txBox="1"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/>
              <a:t>Algorithm Explained</a:t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182913" y="2188858"/>
            <a:ext cx="8671719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the start state of the DFA by taking the ε-closure of the start state of the NFA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 the following for the DFA state: 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move to the newly-created state and the input symbol; this will return a set of states.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the ε-closure to this set of states, possibly resulting in a new set.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set of NFA states will be a single state in the DFA.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rbel"/>
              <a:buAutoNum type="arabicPeriod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time we generate a new DFA state, we must apply step 2 to it. The process is complete when applying step 2 does not yield any new states.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rbel"/>
              <a:buAutoNum type="arabicPeriod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finish states of the DFA are those which contain any of the finish states of the NFA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"/>
          <p:cNvSpPr txBox="1"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Subset Construction Algorithm</a:t>
            </a:r>
            <a:endParaRPr/>
          </a:p>
        </p:txBody>
      </p:sp>
      <p:sp>
        <p:nvSpPr>
          <p:cNvPr id="298" name="Google Shape;298;p9"/>
          <p:cNvSpPr txBox="1"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/>
              <a:t>Algorithm with while Loop</a:t>
            </a:r>
            <a:endParaRPr/>
          </a:p>
        </p:txBody>
      </p:sp>
      <p:sp>
        <p:nvSpPr>
          <p:cNvPr id="299" name="Google Shape;299;p9"/>
          <p:cNvSpPr txBox="1"/>
          <p:nvPr/>
        </p:nvSpPr>
        <p:spPr>
          <a:xfrm>
            <a:off x="254644" y="2017059"/>
            <a:ext cx="8634714" cy="416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 nfa2dfa start edges =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let val chars = nodup(sigma edges)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val s0 = eclosure edges [start]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val worklist = ref [s0]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val work = ref []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val old = ref []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val newEdges = ref []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in while (not (null (!worklist))) do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( work := hd(!worklist)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; old := (!work) :: (!old)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; worklist := tl(!worklist)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; let fun nextOn c = (Char.toString c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,eclosure edges (nodesOnFromMany (Char c) (!work) edges))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val possible = map nextOn chars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fun add ((c,[])::xs) es = add xs 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| add ((c,ss)::xs) es = add xs ((!work,c,ss)::es)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| add [] es = 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fun ok [] = false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| ok xs = not(exists (fn ys =&gt; xs=ys) (!old)) andalso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not(exists (fn ys =&gt; xs=ys) (!worklist))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val new = filter ok (map snd possible)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 worklist := new @ (!worklist);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newEdges := add possible (!newEdges)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end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);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(s0,!old,!newEdges)</a:t>
            </a:r>
            <a:endParaRPr/>
          </a:p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end;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"/>
          <p:cNvSpPr txBox="1"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NFA to DFA Conversion </a:t>
            </a:r>
            <a:endParaRPr/>
          </a:p>
        </p:txBody>
      </p:sp>
      <p:sp>
        <p:nvSpPr>
          <p:cNvPr id="305" name="Google Shape;305;p10"/>
          <p:cNvSpPr txBox="1"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/>
              <a:t>Subset Construction Method (Example-1)</a:t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1660968" y="376356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307" name="Google Shape;307;p10"/>
          <p:cNvSpPr txBox="1"/>
          <p:nvPr/>
        </p:nvSpPr>
        <p:spPr>
          <a:xfrm>
            <a:off x="1051369" y="3534962"/>
            <a:ext cx="633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/>
          </a:p>
        </p:txBody>
      </p:sp>
      <p:cxnSp>
        <p:nvCxnSpPr>
          <p:cNvPr id="308" name="Google Shape;308;p10"/>
          <p:cNvCxnSpPr/>
          <p:nvPr/>
        </p:nvCxnSpPr>
        <p:spPr>
          <a:xfrm>
            <a:off x="1965768" y="3915962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09" name="Google Shape;309;p10"/>
          <p:cNvSpPr txBox="1"/>
          <p:nvPr/>
        </p:nvSpPr>
        <p:spPr>
          <a:xfrm>
            <a:off x="5683694" y="3611163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2575368" y="376356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8061768" y="3763562"/>
            <a:ext cx="304800" cy="304800"/>
          </a:xfrm>
          <a:prstGeom prst="ellipse">
            <a:avLst/>
          </a:prstGeom>
          <a:solidFill>
            <a:srgbClr val="D34817"/>
          </a:solidFill>
          <a:ln w="38100" cap="flat" cmpd="dbl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2324544" y="2620563"/>
            <a:ext cx="2619375" cy="1166813"/>
          </a:xfrm>
          <a:custGeom>
            <a:avLst/>
            <a:gdLst/>
            <a:ahLst/>
            <a:cxnLst/>
            <a:rect l="l" t="t" r="r" b="b"/>
            <a:pathLst>
              <a:path w="1650" h="869" extrusionOk="0">
                <a:moveTo>
                  <a:pt x="1471" y="869"/>
                </a:moveTo>
                <a:cubicBezTo>
                  <a:pt x="1482" y="763"/>
                  <a:pt x="1650" y="376"/>
                  <a:pt x="1539" y="231"/>
                </a:cubicBezTo>
                <a:cubicBezTo>
                  <a:pt x="1428" y="86"/>
                  <a:pt x="1047" y="0"/>
                  <a:pt x="807" y="1"/>
                </a:cubicBezTo>
                <a:cubicBezTo>
                  <a:pt x="567" y="2"/>
                  <a:pt x="202" y="97"/>
                  <a:pt x="101" y="239"/>
                </a:cubicBezTo>
                <a:cubicBezTo>
                  <a:pt x="0" y="381"/>
                  <a:pt x="182" y="724"/>
                  <a:pt x="203" y="852"/>
                </a:cubicBezTo>
              </a:path>
            </a:pathLst>
          </a:cu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3032568" y="292536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14" name="Google Shape;314;p10"/>
          <p:cNvSpPr txBox="1"/>
          <p:nvPr/>
        </p:nvSpPr>
        <p:spPr>
          <a:xfrm>
            <a:off x="6598094" y="3611163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315" name="Google Shape;315;p10"/>
          <p:cNvSpPr txBox="1"/>
          <p:nvPr/>
        </p:nvSpPr>
        <p:spPr>
          <a:xfrm>
            <a:off x="3413569" y="4373163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316" name="Google Shape;316;p10"/>
          <p:cNvSpPr txBox="1"/>
          <p:nvPr/>
        </p:nvSpPr>
        <p:spPr>
          <a:xfrm>
            <a:off x="3413569" y="2772963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1889568" y="4044550"/>
            <a:ext cx="3500438" cy="1166812"/>
          </a:xfrm>
          <a:custGeom>
            <a:avLst/>
            <a:gdLst/>
            <a:ahLst/>
            <a:cxnLst/>
            <a:rect l="l" t="t" r="r" b="b"/>
            <a:pathLst>
              <a:path w="2205" h="828" extrusionOk="0">
                <a:moveTo>
                  <a:pt x="0" y="0"/>
                </a:moveTo>
                <a:cubicBezTo>
                  <a:pt x="54" y="99"/>
                  <a:pt x="140" y="458"/>
                  <a:pt x="324" y="595"/>
                </a:cubicBezTo>
                <a:cubicBezTo>
                  <a:pt x="508" y="732"/>
                  <a:pt x="842" y="828"/>
                  <a:pt x="1107" y="825"/>
                </a:cubicBezTo>
                <a:cubicBezTo>
                  <a:pt x="1372" y="822"/>
                  <a:pt x="1732" y="714"/>
                  <a:pt x="1915" y="578"/>
                </a:cubicBezTo>
                <a:cubicBezTo>
                  <a:pt x="2098" y="442"/>
                  <a:pt x="2145" y="127"/>
                  <a:pt x="2205" y="8"/>
                </a:cubicBezTo>
              </a:path>
            </a:pathLst>
          </a:cu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0"/>
          <p:cNvSpPr txBox="1"/>
          <p:nvPr/>
        </p:nvSpPr>
        <p:spPr>
          <a:xfrm>
            <a:off x="7528369" y="3611163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3946968" y="292536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3032568" y="452556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3946968" y="452556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4404168" y="376356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5318568" y="376356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6232968" y="376356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7147368" y="376356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cxnSp>
        <p:nvCxnSpPr>
          <p:cNvPr id="326" name="Google Shape;326;p10"/>
          <p:cNvCxnSpPr/>
          <p:nvPr/>
        </p:nvCxnSpPr>
        <p:spPr>
          <a:xfrm>
            <a:off x="1051368" y="3915962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27" name="Google Shape;327;p10"/>
          <p:cNvCxnSpPr/>
          <p:nvPr/>
        </p:nvCxnSpPr>
        <p:spPr>
          <a:xfrm rot="10800000" flipH="1">
            <a:off x="2803968" y="3230162"/>
            <a:ext cx="304800" cy="5334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28" name="Google Shape;328;p10"/>
          <p:cNvCxnSpPr/>
          <p:nvPr/>
        </p:nvCxnSpPr>
        <p:spPr>
          <a:xfrm>
            <a:off x="3337368" y="3077762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29" name="Google Shape;329;p10"/>
          <p:cNvCxnSpPr/>
          <p:nvPr/>
        </p:nvCxnSpPr>
        <p:spPr>
          <a:xfrm rot="10800000" flipH="1">
            <a:off x="4175568" y="4068362"/>
            <a:ext cx="304800" cy="5334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30" name="Google Shape;330;p10"/>
          <p:cNvCxnSpPr/>
          <p:nvPr/>
        </p:nvCxnSpPr>
        <p:spPr>
          <a:xfrm>
            <a:off x="4175568" y="3230162"/>
            <a:ext cx="304800" cy="5334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31" name="Google Shape;331;p10"/>
          <p:cNvCxnSpPr/>
          <p:nvPr/>
        </p:nvCxnSpPr>
        <p:spPr>
          <a:xfrm>
            <a:off x="2803968" y="3992162"/>
            <a:ext cx="304800" cy="5334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32" name="Google Shape;332;p10"/>
          <p:cNvCxnSpPr/>
          <p:nvPr/>
        </p:nvCxnSpPr>
        <p:spPr>
          <a:xfrm>
            <a:off x="3337368" y="4677962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33" name="Google Shape;333;p10"/>
          <p:cNvCxnSpPr/>
          <p:nvPr/>
        </p:nvCxnSpPr>
        <p:spPr>
          <a:xfrm>
            <a:off x="4708968" y="3915962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34" name="Google Shape;334;p10"/>
          <p:cNvCxnSpPr/>
          <p:nvPr/>
        </p:nvCxnSpPr>
        <p:spPr>
          <a:xfrm>
            <a:off x="5623368" y="3915962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35" name="Google Shape;335;p10"/>
          <p:cNvCxnSpPr/>
          <p:nvPr/>
        </p:nvCxnSpPr>
        <p:spPr>
          <a:xfrm>
            <a:off x="6537768" y="3915962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36" name="Google Shape;336;p10"/>
          <p:cNvCxnSpPr/>
          <p:nvPr/>
        </p:nvCxnSpPr>
        <p:spPr>
          <a:xfrm>
            <a:off x="7452168" y="3915962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37" name="Google Shape;337;p10"/>
          <p:cNvSpPr/>
          <p:nvPr/>
        </p:nvSpPr>
        <p:spPr>
          <a:xfrm>
            <a:off x="2083244" y="3458763"/>
            <a:ext cx="3397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2845244" y="3382563"/>
            <a:ext cx="3397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2880169" y="3915963"/>
            <a:ext cx="3397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4216844" y="4220763"/>
            <a:ext cx="3397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4216844" y="3077763"/>
            <a:ext cx="3397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4785169" y="3458763"/>
            <a:ext cx="3397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3384201" y="5038298"/>
            <a:ext cx="350044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344" name="Google Shape;344;p10"/>
          <p:cNvSpPr txBox="1"/>
          <p:nvPr/>
        </p:nvSpPr>
        <p:spPr>
          <a:xfrm>
            <a:off x="746568" y="5619324"/>
            <a:ext cx="65093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Regular Expression: (a | b)* abb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692278" y="2103501"/>
            <a:ext cx="65093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NFA:</a:t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3448094" y="2197356"/>
            <a:ext cx="8123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ε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"/>
          <p:cNvSpPr txBox="1"/>
          <p:nvPr/>
        </p:nvSpPr>
        <p:spPr>
          <a:xfrm>
            <a:off x="335494" y="538775"/>
            <a:ext cx="6543608" cy="48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Subset Construction Method (Example-1)  </a:t>
            </a:r>
            <a:endParaRPr/>
          </a:p>
          <a:p>
            <a:pPr marL="0" marR="0" lvl="0" indent="0" algn="l" rtl="0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endParaRPr sz="2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945093" y="2367575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353" name="Google Shape;353;p11"/>
          <p:cNvSpPr txBox="1"/>
          <p:nvPr/>
        </p:nvSpPr>
        <p:spPr>
          <a:xfrm>
            <a:off x="335494" y="2138975"/>
            <a:ext cx="633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/>
          </a:p>
        </p:txBody>
      </p:sp>
      <p:cxnSp>
        <p:nvCxnSpPr>
          <p:cNvPr id="354" name="Google Shape;354;p11"/>
          <p:cNvCxnSpPr/>
          <p:nvPr/>
        </p:nvCxnSpPr>
        <p:spPr>
          <a:xfrm>
            <a:off x="1249893" y="2519975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55" name="Google Shape;355;p11"/>
          <p:cNvSpPr txBox="1"/>
          <p:nvPr/>
        </p:nvSpPr>
        <p:spPr>
          <a:xfrm>
            <a:off x="4967819" y="2215176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1859493" y="2367575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7345893" y="2367575"/>
            <a:ext cx="304800" cy="304800"/>
          </a:xfrm>
          <a:prstGeom prst="ellipse">
            <a:avLst/>
          </a:prstGeom>
          <a:solidFill>
            <a:srgbClr val="D34817"/>
          </a:solidFill>
          <a:ln w="38100" cap="flat" cmpd="dbl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1608669" y="1224576"/>
            <a:ext cx="2619375" cy="1166813"/>
          </a:xfrm>
          <a:custGeom>
            <a:avLst/>
            <a:gdLst/>
            <a:ahLst/>
            <a:cxnLst/>
            <a:rect l="l" t="t" r="r" b="b"/>
            <a:pathLst>
              <a:path w="1650" h="869" extrusionOk="0">
                <a:moveTo>
                  <a:pt x="1471" y="869"/>
                </a:moveTo>
                <a:cubicBezTo>
                  <a:pt x="1482" y="763"/>
                  <a:pt x="1650" y="376"/>
                  <a:pt x="1539" y="231"/>
                </a:cubicBezTo>
                <a:cubicBezTo>
                  <a:pt x="1428" y="86"/>
                  <a:pt x="1047" y="0"/>
                  <a:pt x="807" y="1"/>
                </a:cubicBezTo>
                <a:cubicBezTo>
                  <a:pt x="567" y="2"/>
                  <a:pt x="202" y="97"/>
                  <a:pt x="101" y="239"/>
                </a:cubicBezTo>
                <a:cubicBezTo>
                  <a:pt x="0" y="381"/>
                  <a:pt x="182" y="724"/>
                  <a:pt x="203" y="852"/>
                </a:cubicBezTo>
              </a:path>
            </a:pathLst>
          </a:cu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2316693" y="1529375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60" name="Google Shape;360;p11"/>
          <p:cNvSpPr txBox="1"/>
          <p:nvPr/>
        </p:nvSpPr>
        <p:spPr>
          <a:xfrm>
            <a:off x="5882219" y="2215176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361" name="Google Shape;361;p11"/>
          <p:cNvSpPr txBox="1"/>
          <p:nvPr/>
        </p:nvSpPr>
        <p:spPr>
          <a:xfrm>
            <a:off x="2697694" y="2977176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362" name="Google Shape;362;p11"/>
          <p:cNvSpPr txBox="1"/>
          <p:nvPr/>
        </p:nvSpPr>
        <p:spPr>
          <a:xfrm>
            <a:off x="2697694" y="1376976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1173693" y="2648563"/>
            <a:ext cx="3500438" cy="1166812"/>
          </a:xfrm>
          <a:custGeom>
            <a:avLst/>
            <a:gdLst/>
            <a:ahLst/>
            <a:cxnLst/>
            <a:rect l="l" t="t" r="r" b="b"/>
            <a:pathLst>
              <a:path w="2205" h="828" extrusionOk="0">
                <a:moveTo>
                  <a:pt x="0" y="0"/>
                </a:moveTo>
                <a:cubicBezTo>
                  <a:pt x="54" y="99"/>
                  <a:pt x="140" y="458"/>
                  <a:pt x="324" y="595"/>
                </a:cubicBezTo>
                <a:cubicBezTo>
                  <a:pt x="508" y="732"/>
                  <a:pt x="842" y="828"/>
                  <a:pt x="1107" y="825"/>
                </a:cubicBezTo>
                <a:cubicBezTo>
                  <a:pt x="1372" y="822"/>
                  <a:pt x="1732" y="714"/>
                  <a:pt x="1915" y="578"/>
                </a:cubicBezTo>
                <a:cubicBezTo>
                  <a:pt x="2098" y="442"/>
                  <a:pt x="2145" y="127"/>
                  <a:pt x="2205" y="8"/>
                </a:cubicBezTo>
              </a:path>
            </a:pathLst>
          </a:cu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1"/>
          <p:cNvSpPr txBox="1"/>
          <p:nvPr/>
        </p:nvSpPr>
        <p:spPr>
          <a:xfrm>
            <a:off x="6812494" y="2215176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3231093" y="1529375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2316693" y="3129575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3231093" y="3129575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3688293" y="2367575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4602693" y="2367575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370" name="Google Shape;370;p11"/>
          <p:cNvSpPr/>
          <p:nvPr/>
        </p:nvSpPr>
        <p:spPr>
          <a:xfrm>
            <a:off x="5517093" y="2367575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6431493" y="2367575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cxnSp>
        <p:nvCxnSpPr>
          <p:cNvPr id="372" name="Google Shape;372;p11"/>
          <p:cNvCxnSpPr/>
          <p:nvPr/>
        </p:nvCxnSpPr>
        <p:spPr>
          <a:xfrm>
            <a:off x="335493" y="2519975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73" name="Google Shape;373;p11"/>
          <p:cNvCxnSpPr/>
          <p:nvPr/>
        </p:nvCxnSpPr>
        <p:spPr>
          <a:xfrm rot="10800000" flipH="1">
            <a:off x="2088093" y="1834175"/>
            <a:ext cx="304800" cy="5334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74" name="Google Shape;374;p11"/>
          <p:cNvCxnSpPr/>
          <p:nvPr/>
        </p:nvCxnSpPr>
        <p:spPr>
          <a:xfrm>
            <a:off x="2621493" y="1681775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75" name="Google Shape;375;p11"/>
          <p:cNvCxnSpPr/>
          <p:nvPr/>
        </p:nvCxnSpPr>
        <p:spPr>
          <a:xfrm rot="10800000" flipH="1">
            <a:off x="3459693" y="2672375"/>
            <a:ext cx="304800" cy="5334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76" name="Google Shape;376;p11"/>
          <p:cNvCxnSpPr/>
          <p:nvPr/>
        </p:nvCxnSpPr>
        <p:spPr>
          <a:xfrm>
            <a:off x="3459693" y="1834175"/>
            <a:ext cx="304800" cy="5334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77" name="Google Shape;377;p11"/>
          <p:cNvCxnSpPr/>
          <p:nvPr/>
        </p:nvCxnSpPr>
        <p:spPr>
          <a:xfrm>
            <a:off x="2088093" y="2596175"/>
            <a:ext cx="304800" cy="5334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78" name="Google Shape;378;p11"/>
          <p:cNvCxnSpPr/>
          <p:nvPr/>
        </p:nvCxnSpPr>
        <p:spPr>
          <a:xfrm>
            <a:off x="2621493" y="3281975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79" name="Google Shape;379;p11"/>
          <p:cNvCxnSpPr/>
          <p:nvPr/>
        </p:nvCxnSpPr>
        <p:spPr>
          <a:xfrm>
            <a:off x="3993093" y="2519975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80" name="Google Shape;380;p11"/>
          <p:cNvCxnSpPr/>
          <p:nvPr/>
        </p:nvCxnSpPr>
        <p:spPr>
          <a:xfrm>
            <a:off x="4907493" y="2519975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81" name="Google Shape;381;p11"/>
          <p:cNvCxnSpPr/>
          <p:nvPr/>
        </p:nvCxnSpPr>
        <p:spPr>
          <a:xfrm>
            <a:off x="5821893" y="2519975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82" name="Google Shape;382;p11"/>
          <p:cNvCxnSpPr/>
          <p:nvPr/>
        </p:nvCxnSpPr>
        <p:spPr>
          <a:xfrm>
            <a:off x="6736293" y="2519975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83" name="Google Shape;383;p11"/>
          <p:cNvSpPr/>
          <p:nvPr/>
        </p:nvSpPr>
        <p:spPr>
          <a:xfrm>
            <a:off x="1367369" y="2062776"/>
            <a:ext cx="3397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384" name="Google Shape;384;p11"/>
          <p:cNvSpPr/>
          <p:nvPr/>
        </p:nvSpPr>
        <p:spPr>
          <a:xfrm>
            <a:off x="2129369" y="1986576"/>
            <a:ext cx="3397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385" name="Google Shape;385;p11"/>
          <p:cNvSpPr/>
          <p:nvPr/>
        </p:nvSpPr>
        <p:spPr>
          <a:xfrm>
            <a:off x="2164294" y="2519976"/>
            <a:ext cx="3397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386" name="Google Shape;386;p11"/>
          <p:cNvSpPr/>
          <p:nvPr/>
        </p:nvSpPr>
        <p:spPr>
          <a:xfrm>
            <a:off x="3500969" y="2824776"/>
            <a:ext cx="3397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3500969" y="1681776"/>
            <a:ext cx="3397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388" name="Google Shape;388;p11"/>
          <p:cNvSpPr/>
          <p:nvPr/>
        </p:nvSpPr>
        <p:spPr>
          <a:xfrm>
            <a:off x="4069294" y="2062776"/>
            <a:ext cx="3397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2621493" y="3666815"/>
            <a:ext cx="41592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graphicFrame>
        <p:nvGraphicFramePr>
          <p:cNvPr id="390" name="Google Shape;390;p11"/>
          <p:cNvGraphicFramePr/>
          <p:nvPr/>
        </p:nvGraphicFramePr>
        <p:xfrm>
          <a:off x="82682" y="4247495"/>
          <a:ext cx="5589725" cy="2529480"/>
        </p:xfrm>
        <a:graphic>
          <a:graphicData uri="http://schemas.openxmlformats.org/drawingml/2006/table">
            <a:tbl>
              <a:tblPr>
                <a:noFill/>
                <a:tableStyleId>{D542B6ED-F2C7-4B19-9224-CAED55E19592}</a:tableStyleId>
              </a:tblPr>
              <a:tblGrid>
                <a:gridCol w="148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2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DFA State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E-closure of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E-closure outcome states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48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E-closure ({0})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Rockwell"/>
                          <a:ea typeface="Rockwell"/>
                          <a:cs typeface="Rockwell"/>
                          <a:sym typeface="Rockwell"/>
                        </a:rPr>
                        <a:t>0,1,2,4,7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E-closure ({3,8})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1,2,3,4,6,7,8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E-closure ({5})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1,2,4,5,6,7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E-closure({5,9})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1,2,4,5,6,7,9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E-closure({5,10})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1,2,4,5,6,7,10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91" name="Google Shape;391;p11"/>
          <p:cNvGraphicFramePr/>
          <p:nvPr>
            <p:extLst>
              <p:ext uri="{D42A27DB-BD31-4B8C-83A1-F6EECF244321}">
                <p14:modId xmlns:p14="http://schemas.microsoft.com/office/powerpoint/2010/main" val="1952124699"/>
              </p:ext>
            </p:extLst>
          </p:nvPr>
        </p:nvGraphicFramePr>
        <p:xfrm>
          <a:off x="5672407" y="4193957"/>
          <a:ext cx="3471586" cy="2529481"/>
        </p:xfrm>
        <a:graphic>
          <a:graphicData uri="http://schemas.openxmlformats.org/drawingml/2006/table">
            <a:tbl>
              <a:tblPr>
                <a:noFill/>
                <a:tableStyleId>{D542B6ED-F2C7-4B19-9224-CAED55E19592}</a:tableStyleId>
              </a:tblPr>
              <a:tblGrid>
                <a:gridCol w="1819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57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NFA States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DFA State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48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73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0,1,2,4,7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73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1,2,3,4,6,7,8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73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1,2,4,5,6,7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73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1,2,4,5,6,7,9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73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1,2,4,5,6,7,10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dirty="0"/>
                        <a:t>C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92" name="Google Shape;392;p11"/>
          <p:cNvSpPr/>
          <p:nvPr/>
        </p:nvSpPr>
        <p:spPr>
          <a:xfrm>
            <a:off x="2697694" y="777556"/>
            <a:ext cx="41592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B060091-024F-2EAC-9E6F-48B38BC439EF}"/>
                  </a:ext>
                </a:extLst>
              </p14:cNvPr>
              <p14:cNvContentPartPr/>
              <p14:nvPr/>
            </p14:nvContentPartPr>
            <p14:xfrm>
              <a:off x="1737636" y="2264969"/>
              <a:ext cx="186840" cy="106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B060091-024F-2EAC-9E6F-48B38BC439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01636" y="2049329"/>
                <a:ext cx="258480" cy="53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08FB6F39-B913-30DE-AB46-1B4EB86A579F}"/>
              </a:ext>
            </a:extLst>
          </p:cNvPr>
          <p:cNvGrpSpPr/>
          <p:nvPr/>
        </p:nvGrpSpPr>
        <p:grpSpPr>
          <a:xfrm>
            <a:off x="1680396" y="2089649"/>
            <a:ext cx="368640" cy="281520"/>
            <a:chOff x="1680396" y="2089649"/>
            <a:chExt cx="368640" cy="28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B9F6485-62C0-1351-59C8-BEA125320D07}"/>
                    </a:ext>
                  </a:extLst>
                </p14:cNvPr>
                <p14:cNvContentPartPr/>
                <p14:nvPr/>
              </p14:nvContentPartPr>
              <p14:xfrm>
                <a:off x="1680396" y="2247329"/>
                <a:ext cx="222840" cy="123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B9F6485-62C0-1351-59C8-BEA125320D0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62756" y="2229329"/>
                  <a:ext cx="2584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E54C10F-3F9B-52AF-7B60-34075E872828}"/>
                    </a:ext>
                  </a:extLst>
                </p14:cNvPr>
                <p14:cNvContentPartPr/>
                <p14:nvPr/>
              </p14:nvContentPartPr>
              <p14:xfrm>
                <a:off x="1924116" y="2089649"/>
                <a:ext cx="124920" cy="270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E54C10F-3F9B-52AF-7B60-34075E87282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906116" y="2072009"/>
                  <a:ext cx="160560" cy="30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563A4E2-911C-91D6-6441-E83B17DD86F8}"/>
              </a:ext>
            </a:extLst>
          </p:cNvPr>
          <p:cNvGrpSpPr/>
          <p:nvPr/>
        </p:nvGrpSpPr>
        <p:grpSpPr>
          <a:xfrm>
            <a:off x="4377876" y="2657729"/>
            <a:ext cx="366480" cy="309600"/>
            <a:chOff x="4377876" y="2657729"/>
            <a:chExt cx="366480" cy="30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C02B3CC-5119-1795-8D71-AA1A4F796E1B}"/>
                    </a:ext>
                  </a:extLst>
                </p14:cNvPr>
                <p14:cNvContentPartPr/>
                <p14:nvPr/>
              </p14:nvContentPartPr>
              <p14:xfrm>
                <a:off x="4377876" y="2657729"/>
                <a:ext cx="311040" cy="147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C02B3CC-5119-1795-8D71-AA1A4F796E1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360236" y="2640089"/>
                  <a:ext cx="3466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93E4B71-6AC3-133A-A7F3-CA5C9CBB6D74}"/>
                    </a:ext>
                  </a:extLst>
                </p14:cNvPr>
                <p14:cNvContentPartPr/>
                <p14:nvPr/>
              </p14:nvContentPartPr>
              <p14:xfrm>
                <a:off x="4687836" y="2699849"/>
                <a:ext cx="56520" cy="267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93E4B71-6AC3-133A-A7F3-CA5C9CBB6D7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670196" y="2682209"/>
                  <a:ext cx="92160" cy="30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28DEEC9-4FA0-AFC9-603B-18C0044561AF}"/>
                  </a:ext>
                </a:extLst>
              </p14:cNvPr>
              <p14:cNvContentPartPr/>
              <p14:nvPr/>
            </p14:nvContentPartPr>
            <p14:xfrm>
              <a:off x="-2403444" y="2221769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28DEEC9-4FA0-AFC9-603B-18C0044561A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2421444" y="220412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885E7AC-9BCB-1170-1147-2442C96176C1}"/>
                  </a:ext>
                </a:extLst>
              </p14:cNvPr>
              <p14:cNvContentPartPr/>
              <p14:nvPr/>
            </p14:nvContentPartPr>
            <p14:xfrm>
              <a:off x="-2977284" y="956729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885E7AC-9BCB-1170-1147-2442C96176C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2995284" y="938729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2"/>
          <p:cNvSpPr/>
          <p:nvPr/>
        </p:nvSpPr>
        <p:spPr>
          <a:xfrm>
            <a:off x="965636" y="263348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398" name="Google Shape;398;p12"/>
          <p:cNvSpPr txBox="1"/>
          <p:nvPr/>
        </p:nvSpPr>
        <p:spPr>
          <a:xfrm>
            <a:off x="356037" y="2404882"/>
            <a:ext cx="633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/>
          </a:p>
        </p:txBody>
      </p:sp>
      <p:cxnSp>
        <p:nvCxnSpPr>
          <p:cNvPr id="399" name="Google Shape;399;p12"/>
          <p:cNvCxnSpPr/>
          <p:nvPr/>
        </p:nvCxnSpPr>
        <p:spPr>
          <a:xfrm>
            <a:off x="1270436" y="2785882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00" name="Google Shape;400;p12"/>
          <p:cNvSpPr txBox="1"/>
          <p:nvPr/>
        </p:nvSpPr>
        <p:spPr>
          <a:xfrm>
            <a:off x="4988362" y="2481083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1880036" y="263348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7366436" y="2633482"/>
            <a:ext cx="304800" cy="304800"/>
          </a:xfrm>
          <a:prstGeom prst="ellipse">
            <a:avLst/>
          </a:prstGeom>
          <a:solidFill>
            <a:srgbClr val="D34817"/>
          </a:solidFill>
          <a:ln w="38100" cap="flat" cmpd="dbl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1629212" y="1490483"/>
            <a:ext cx="2619375" cy="1166813"/>
          </a:xfrm>
          <a:custGeom>
            <a:avLst/>
            <a:gdLst/>
            <a:ahLst/>
            <a:cxnLst/>
            <a:rect l="l" t="t" r="r" b="b"/>
            <a:pathLst>
              <a:path w="1650" h="869" extrusionOk="0">
                <a:moveTo>
                  <a:pt x="1471" y="869"/>
                </a:moveTo>
                <a:cubicBezTo>
                  <a:pt x="1482" y="763"/>
                  <a:pt x="1650" y="376"/>
                  <a:pt x="1539" y="231"/>
                </a:cubicBezTo>
                <a:cubicBezTo>
                  <a:pt x="1428" y="86"/>
                  <a:pt x="1047" y="0"/>
                  <a:pt x="807" y="1"/>
                </a:cubicBezTo>
                <a:cubicBezTo>
                  <a:pt x="567" y="2"/>
                  <a:pt x="202" y="97"/>
                  <a:pt x="101" y="239"/>
                </a:cubicBezTo>
                <a:cubicBezTo>
                  <a:pt x="0" y="381"/>
                  <a:pt x="182" y="724"/>
                  <a:pt x="203" y="852"/>
                </a:cubicBezTo>
              </a:path>
            </a:pathLst>
          </a:cu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2337236" y="179528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05" name="Google Shape;405;p12"/>
          <p:cNvSpPr txBox="1"/>
          <p:nvPr/>
        </p:nvSpPr>
        <p:spPr>
          <a:xfrm>
            <a:off x="5902762" y="2481083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406" name="Google Shape;406;p12"/>
          <p:cNvSpPr txBox="1"/>
          <p:nvPr/>
        </p:nvSpPr>
        <p:spPr>
          <a:xfrm>
            <a:off x="2718237" y="3243083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407" name="Google Shape;407;p12"/>
          <p:cNvSpPr txBox="1"/>
          <p:nvPr/>
        </p:nvSpPr>
        <p:spPr>
          <a:xfrm>
            <a:off x="2718237" y="1642883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1194236" y="2914470"/>
            <a:ext cx="3500438" cy="1166812"/>
          </a:xfrm>
          <a:custGeom>
            <a:avLst/>
            <a:gdLst/>
            <a:ahLst/>
            <a:cxnLst/>
            <a:rect l="l" t="t" r="r" b="b"/>
            <a:pathLst>
              <a:path w="2205" h="828" extrusionOk="0">
                <a:moveTo>
                  <a:pt x="0" y="0"/>
                </a:moveTo>
                <a:cubicBezTo>
                  <a:pt x="54" y="99"/>
                  <a:pt x="140" y="458"/>
                  <a:pt x="324" y="595"/>
                </a:cubicBezTo>
                <a:cubicBezTo>
                  <a:pt x="508" y="732"/>
                  <a:pt x="842" y="828"/>
                  <a:pt x="1107" y="825"/>
                </a:cubicBezTo>
                <a:cubicBezTo>
                  <a:pt x="1372" y="822"/>
                  <a:pt x="1732" y="714"/>
                  <a:pt x="1915" y="578"/>
                </a:cubicBezTo>
                <a:cubicBezTo>
                  <a:pt x="2098" y="442"/>
                  <a:pt x="2145" y="127"/>
                  <a:pt x="2205" y="8"/>
                </a:cubicBezTo>
              </a:path>
            </a:pathLst>
          </a:cu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2"/>
          <p:cNvSpPr txBox="1"/>
          <p:nvPr/>
        </p:nvSpPr>
        <p:spPr>
          <a:xfrm>
            <a:off x="6833037" y="2481083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410" name="Google Shape;410;p12"/>
          <p:cNvSpPr/>
          <p:nvPr/>
        </p:nvSpPr>
        <p:spPr>
          <a:xfrm>
            <a:off x="3251636" y="179528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2337236" y="339548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3251636" y="339548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413" name="Google Shape;413;p12"/>
          <p:cNvSpPr/>
          <p:nvPr/>
        </p:nvSpPr>
        <p:spPr>
          <a:xfrm>
            <a:off x="3708836" y="263348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414" name="Google Shape;414;p12"/>
          <p:cNvSpPr/>
          <p:nvPr/>
        </p:nvSpPr>
        <p:spPr>
          <a:xfrm>
            <a:off x="4623236" y="263348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5537636" y="263348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416" name="Google Shape;416;p12"/>
          <p:cNvSpPr/>
          <p:nvPr/>
        </p:nvSpPr>
        <p:spPr>
          <a:xfrm>
            <a:off x="6452036" y="2633482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cxnSp>
        <p:nvCxnSpPr>
          <p:cNvPr id="417" name="Google Shape;417;p12"/>
          <p:cNvCxnSpPr/>
          <p:nvPr/>
        </p:nvCxnSpPr>
        <p:spPr>
          <a:xfrm>
            <a:off x="356036" y="2785882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18" name="Google Shape;418;p12"/>
          <p:cNvCxnSpPr/>
          <p:nvPr/>
        </p:nvCxnSpPr>
        <p:spPr>
          <a:xfrm rot="10800000" flipH="1">
            <a:off x="2108636" y="2100082"/>
            <a:ext cx="304800" cy="5334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19" name="Google Shape;419;p12"/>
          <p:cNvCxnSpPr/>
          <p:nvPr/>
        </p:nvCxnSpPr>
        <p:spPr>
          <a:xfrm>
            <a:off x="2642036" y="1947682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20" name="Google Shape;420;p12"/>
          <p:cNvCxnSpPr/>
          <p:nvPr/>
        </p:nvCxnSpPr>
        <p:spPr>
          <a:xfrm rot="10800000" flipH="1">
            <a:off x="3480236" y="2938282"/>
            <a:ext cx="304800" cy="5334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21" name="Google Shape;421;p12"/>
          <p:cNvCxnSpPr/>
          <p:nvPr/>
        </p:nvCxnSpPr>
        <p:spPr>
          <a:xfrm>
            <a:off x="3480236" y="2100082"/>
            <a:ext cx="304800" cy="5334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22" name="Google Shape;422;p12"/>
          <p:cNvCxnSpPr/>
          <p:nvPr/>
        </p:nvCxnSpPr>
        <p:spPr>
          <a:xfrm>
            <a:off x="2108636" y="2862082"/>
            <a:ext cx="304800" cy="5334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23" name="Google Shape;423;p12"/>
          <p:cNvCxnSpPr/>
          <p:nvPr/>
        </p:nvCxnSpPr>
        <p:spPr>
          <a:xfrm>
            <a:off x="2642036" y="3547882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24" name="Google Shape;424;p12"/>
          <p:cNvCxnSpPr/>
          <p:nvPr/>
        </p:nvCxnSpPr>
        <p:spPr>
          <a:xfrm>
            <a:off x="4013636" y="2785882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25" name="Google Shape;425;p12"/>
          <p:cNvCxnSpPr/>
          <p:nvPr/>
        </p:nvCxnSpPr>
        <p:spPr>
          <a:xfrm>
            <a:off x="4928036" y="2785882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26" name="Google Shape;426;p12"/>
          <p:cNvCxnSpPr/>
          <p:nvPr/>
        </p:nvCxnSpPr>
        <p:spPr>
          <a:xfrm>
            <a:off x="5842436" y="2785882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27" name="Google Shape;427;p12"/>
          <p:cNvCxnSpPr/>
          <p:nvPr/>
        </p:nvCxnSpPr>
        <p:spPr>
          <a:xfrm>
            <a:off x="6756836" y="2785882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28" name="Google Shape;428;p12"/>
          <p:cNvSpPr/>
          <p:nvPr/>
        </p:nvSpPr>
        <p:spPr>
          <a:xfrm>
            <a:off x="1387912" y="2328683"/>
            <a:ext cx="3397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429" name="Google Shape;429;p12"/>
          <p:cNvSpPr/>
          <p:nvPr/>
        </p:nvSpPr>
        <p:spPr>
          <a:xfrm>
            <a:off x="2149912" y="2252483"/>
            <a:ext cx="3397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430" name="Google Shape;430;p12"/>
          <p:cNvSpPr/>
          <p:nvPr/>
        </p:nvSpPr>
        <p:spPr>
          <a:xfrm>
            <a:off x="2184837" y="2785883"/>
            <a:ext cx="3397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3521512" y="3090683"/>
            <a:ext cx="3397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432" name="Google Shape;432;p12"/>
          <p:cNvSpPr/>
          <p:nvPr/>
        </p:nvSpPr>
        <p:spPr>
          <a:xfrm>
            <a:off x="3521512" y="1947683"/>
            <a:ext cx="3397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433" name="Google Shape;433;p12"/>
          <p:cNvSpPr/>
          <p:nvPr/>
        </p:nvSpPr>
        <p:spPr>
          <a:xfrm>
            <a:off x="4089837" y="2328683"/>
            <a:ext cx="3397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434" name="Google Shape;434;p12"/>
          <p:cNvSpPr/>
          <p:nvPr/>
        </p:nvSpPr>
        <p:spPr>
          <a:xfrm>
            <a:off x="2718237" y="3938409"/>
            <a:ext cx="32067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435" name="Google Shape;435;p12"/>
          <p:cNvSpPr/>
          <p:nvPr/>
        </p:nvSpPr>
        <p:spPr>
          <a:xfrm>
            <a:off x="5797985" y="5248888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436" name="Google Shape;436;p12"/>
          <p:cNvSpPr txBox="1"/>
          <p:nvPr/>
        </p:nvSpPr>
        <p:spPr>
          <a:xfrm>
            <a:off x="5188386" y="5020288"/>
            <a:ext cx="633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/>
          </a:p>
        </p:txBody>
      </p:sp>
      <p:cxnSp>
        <p:nvCxnSpPr>
          <p:cNvPr id="437" name="Google Shape;437;p12"/>
          <p:cNvCxnSpPr/>
          <p:nvPr/>
        </p:nvCxnSpPr>
        <p:spPr>
          <a:xfrm>
            <a:off x="5188385" y="5401288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38" name="Google Shape;438;p12"/>
          <p:cNvSpPr/>
          <p:nvPr/>
        </p:nvSpPr>
        <p:spPr>
          <a:xfrm>
            <a:off x="6712385" y="5248888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439" name="Google Shape;439;p12"/>
          <p:cNvSpPr/>
          <p:nvPr/>
        </p:nvSpPr>
        <p:spPr>
          <a:xfrm>
            <a:off x="6712385" y="4334488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440" name="Google Shape;440;p12"/>
          <p:cNvSpPr/>
          <p:nvPr/>
        </p:nvSpPr>
        <p:spPr>
          <a:xfrm>
            <a:off x="7626785" y="5248888"/>
            <a:ext cx="304800" cy="304800"/>
          </a:xfrm>
          <a:prstGeom prst="ellipse">
            <a:avLst/>
          </a:prstGeom>
          <a:solidFill>
            <a:srgbClr val="D3481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441" name="Google Shape;441;p12"/>
          <p:cNvSpPr/>
          <p:nvPr/>
        </p:nvSpPr>
        <p:spPr>
          <a:xfrm>
            <a:off x="8541185" y="5248888"/>
            <a:ext cx="304800" cy="304800"/>
          </a:xfrm>
          <a:prstGeom prst="ellipse">
            <a:avLst/>
          </a:prstGeom>
          <a:solidFill>
            <a:srgbClr val="D34817"/>
          </a:solidFill>
          <a:ln w="38100" cap="flat" cmpd="dbl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cxnSp>
        <p:nvCxnSpPr>
          <p:cNvPr id="442" name="Google Shape;442;p12"/>
          <p:cNvCxnSpPr/>
          <p:nvPr/>
        </p:nvCxnSpPr>
        <p:spPr>
          <a:xfrm>
            <a:off x="6102785" y="5401288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43" name="Google Shape;443;p12"/>
          <p:cNvCxnSpPr/>
          <p:nvPr/>
        </p:nvCxnSpPr>
        <p:spPr>
          <a:xfrm>
            <a:off x="7017185" y="5401288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44" name="Google Shape;444;p12"/>
          <p:cNvCxnSpPr/>
          <p:nvPr/>
        </p:nvCxnSpPr>
        <p:spPr>
          <a:xfrm>
            <a:off x="7931585" y="5401288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45" name="Google Shape;445;p12"/>
          <p:cNvCxnSpPr/>
          <p:nvPr/>
        </p:nvCxnSpPr>
        <p:spPr>
          <a:xfrm rot="5400000">
            <a:off x="6559985" y="4944088"/>
            <a:ext cx="60960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46" name="Google Shape;446;p12"/>
          <p:cNvSpPr/>
          <p:nvPr/>
        </p:nvSpPr>
        <p:spPr>
          <a:xfrm>
            <a:off x="6864786" y="3953489"/>
            <a:ext cx="479425" cy="466725"/>
          </a:xfrm>
          <a:custGeom>
            <a:avLst/>
            <a:gdLst/>
            <a:ahLst/>
            <a:cxnLst/>
            <a:rect l="l" t="t" r="r" b="b"/>
            <a:pathLst>
              <a:path w="302" h="294" extrusionOk="0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2"/>
          <p:cNvSpPr/>
          <p:nvPr/>
        </p:nvSpPr>
        <p:spPr>
          <a:xfrm rot="10800000">
            <a:off x="6407585" y="54774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302" h="294" extrusionOk="0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8" name="Google Shape;448;p12"/>
          <p:cNvCxnSpPr/>
          <p:nvPr/>
        </p:nvCxnSpPr>
        <p:spPr>
          <a:xfrm rot="10800000" flipH="1">
            <a:off x="6058335" y="4594838"/>
            <a:ext cx="698500" cy="69850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449" name="Google Shape;449;p12"/>
          <p:cNvCxnSpPr/>
          <p:nvPr/>
        </p:nvCxnSpPr>
        <p:spPr>
          <a:xfrm rot="10800000">
            <a:off x="6972735" y="4594838"/>
            <a:ext cx="1612900" cy="67945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450" name="Google Shape;450;p12"/>
          <p:cNvCxnSpPr/>
          <p:nvPr/>
        </p:nvCxnSpPr>
        <p:spPr>
          <a:xfrm rot="10800000">
            <a:off x="6972785" y="5509138"/>
            <a:ext cx="1720800" cy="63600"/>
          </a:xfrm>
          <a:prstGeom prst="curvedConnector3">
            <a:avLst>
              <a:gd name="adj1" fmla="val 0"/>
            </a:avLst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451" name="Google Shape;451;p12"/>
          <p:cNvCxnSpPr/>
          <p:nvPr/>
        </p:nvCxnSpPr>
        <p:spPr>
          <a:xfrm flipH="1">
            <a:off x="6972836" y="5509239"/>
            <a:ext cx="698400" cy="1500"/>
          </a:xfrm>
          <a:prstGeom prst="curvedConnector3">
            <a:avLst>
              <a:gd name="adj1" fmla="val 0"/>
            </a:avLst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452" name="Google Shape;452;p12"/>
          <p:cNvSpPr txBox="1"/>
          <p:nvPr/>
        </p:nvSpPr>
        <p:spPr>
          <a:xfrm>
            <a:off x="7702986" y="4639288"/>
            <a:ext cx="32067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453" name="Google Shape;453;p12"/>
          <p:cNvSpPr txBox="1"/>
          <p:nvPr/>
        </p:nvSpPr>
        <p:spPr>
          <a:xfrm>
            <a:off x="7093386" y="5096488"/>
            <a:ext cx="32067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454" name="Google Shape;454;p12"/>
          <p:cNvSpPr txBox="1"/>
          <p:nvPr/>
        </p:nvSpPr>
        <p:spPr>
          <a:xfrm>
            <a:off x="6102786" y="4715488"/>
            <a:ext cx="32067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455" name="Google Shape;455;p12"/>
          <p:cNvSpPr txBox="1"/>
          <p:nvPr/>
        </p:nvSpPr>
        <p:spPr>
          <a:xfrm>
            <a:off x="8007786" y="5096488"/>
            <a:ext cx="32067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456" name="Google Shape;456;p12"/>
          <p:cNvSpPr txBox="1"/>
          <p:nvPr/>
        </p:nvSpPr>
        <p:spPr>
          <a:xfrm>
            <a:off x="7779186" y="5706088"/>
            <a:ext cx="32067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457" name="Google Shape;457;p12"/>
          <p:cNvSpPr txBox="1"/>
          <p:nvPr/>
        </p:nvSpPr>
        <p:spPr>
          <a:xfrm>
            <a:off x="7398186" y="5477488"/>
            <a:ext cx="32067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458" name="Google Shape;458;p12"/>
          <p:cNvSpPr txBox="1"/>
          <p:nvPr/>
        </p:nvSpPr>
        <p:spPr>
          <a:xfrm>
            <a:off x="6391711" y="5858488"/>
            <a:ext cx="32067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459" name="Google Shape;459;p12"/>
          <p:cNvSpPr txBox="1"/>
          <p:nvPr/>
        </p:nvSpPr>
        <p:spPr>
          <a:xfrm>
            <a:off x="6178986" y="5096488"/>
            <a:ext cx="32067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460" name="Google Shape;460;p12"/>
          <p:cNvSpPr txBox="1"/>
          <p:nvPr/>
        </p:nvSpPr>
        <p:spPr>
          <a:xfrm>
            <a:off x="6848911" y="4701201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461" name="Google Shape;461;p12"/>
          <p:cNvSpPr txBox="1"/>
          <p:nvPr/>
        </p:nvSpPr>
        <p:spPr>
          <a:xfrm>
            <a:off x="7062553" y="3672943"/>
            <a:ext cx="32702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graphicFrame>
        <p:nvGraphicFramePr>
          <p:cNvPr id="462" name="Google Shape;462;p12"/>
          <p:cNvGraphicFramePr/>
          <p:nvPr/>
        </p:nvGraphicFramePr>
        <p:xfrm>
          <a:off x="-1" y="4499588"/>
          <a:ext cx="4694675" cy="2468940"/>
        </p:xfrm>
        <a:graphic>
          <a:graphicData uri="http://schemas.openxmlformats.org/drawingml/2006/table">
            <a:tbl>
              <a:tblPr>
                <a:noFill/>
                <a:tableStyleId>{D542B6ED-F2C7-4B19-9224-CAED55E19592}</a:tableStyleId>
              </a:tblPr>
              <a:tblGrid>
                <a:gridCol w="206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7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NFA State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DFA State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48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0,1,2,4,7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1,2,3,4,6,7,8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1,2,4,5,6,7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1,2,4,5,6,7,9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1,2,4,5,6,7,10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C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63" name="Google Shape;463;p12"/>
          <p:cNvSpPr/>
          <p:nvPr/>
        </p:nvSpPr>
        <p:spPr>
          <a:xfrm>
            <a:off x="2718237" y="1052660"/>
            <a:ext cx="32067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/>
          </a:p>
        </p:txBody>
      </p:sp>
      <p:sp>
        <p:nvSpPr>
          <p:cNvPr id="464" name="Google Shape;464;p12"/>
          <p:cNvSpPr txBox="1"/>
          <p:nvPr/>
        </p:nvSpPr>
        <p:spPr>
          <a:xfrm>
            <a:off x="335494" y="538775"/>
            <a:ext cx="6834092" cy="556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ct val="90000"/>
              <a:buFont typeface="Noto Sans Symbols"/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Subset Construction Method (Example-1 Cont.)   </a:t>
            </a:r>
            <a:endParaRPr/>
          </a:p>
          <a:p>
            <a:pPr marL="0" marR="0" lvl="0" indent="0" algn="l" rtl="0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ct val="90000"/>
              <a:buFont typeface="Noto Sans Symbols"/>
              <a:buNone/>
            </a:pPr>
            <a:endParaRPr sz="2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3"/>
          <p:cNvSpPr txBox="1"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NFA to DFA Conversion </a:t>
            </a:r>
            <a:endParaRPr/>
          </a:p>
        </p:txBody>
      </p:sp>
      <p:sp>
        <p:nvSpPr>
          <p:cNvPr id="470" name="Google Shape;470;p13"/>
          <p:cNvSpPr txBox="1"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/>
              <a:t>Subset Construction Method (Exercise 1)</a:t>
            </a:r>
            <a:endParaRPr/>
          </a:p>
        </p:txBody>
      </p:sp>
      <p:sp>
        <p:nvSpPr>
          <p:cNvPr id="471" name="Google Shape;471;p13"/>
          <p:cNvSpPr/>
          <p:nvPr/>
        </p:nvSpPr>
        <p:spPr>
          <a:xfrm>
            <a:off x="4341841" y="2483642"/>
            <a:ext cx="304800" cy="304800"/>
          </a:xfrm>
          <a:prstGeom prst="ellipse">
            <a:avLst/>
          </a:prstGeom>
          <a:solidFill>
            <a:schemeClr val="accent1"/>
          </a:solidFill>
          <a:ln w="38100" cap="flat" cmpd="dbl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72" name="Google Shape;472;p13"/>
          <p:cNvSpPr txBox="1"/>
          <p:nvPr/>
        </p:nvSpPr>
        <p:spPr>
          <a:xfrm>
            <a:off x="3808442" y="2331243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473" name="Google Shape;473;p13"/>
          <p:cNvSpPr/>
          <p:nvPr/>
        </p:nvSpPr>
        <p:spPr>
          <a:xfrm>
            <a:off x="3427441" y="2483642"/>
            <a:ext cx="304800" cy="304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474" name="Google Shape;474;p13"/>
          <p:cNvCxnSpPr/>
          <p:nvPr/>
        </p:nvCxnSpPr>
        <p:spPr>
          <a:xfrm>
            <a:off x="3732241" y="2636042"/>
            <a:ext cx="609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75" name="Google Shape;475;p13"/>
          <p:cNvSpPr/>
          <p:nvPr/>
        </p:nvSpPr>
        <p:spPr>
          <a:xfrm>
            <a:off x="6170641" y="3398042"/>
            <a:ext cx="304800" cy="304800"/>
          </a:xfrm>
          <a:prstGeom prst="ellipse">
            <a:avLst/>
          </a:prstGeom>
          <a:solidFill>
            <a:schemeClr val="accent1"/>
          </a:solidFill>
          <a:ln w="38100" cap="flat" cmpd="dbl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76" name="Google Shape;476;p13"/>
          <p:cNvSpPr txBox="1"/>
          <p:nvPr/>
        </p:nvSpPr>
        <p:spPr>
          <a:xfrm>
            <a:off x="3808442" y="3231355"/>
            <a:ext cx="32067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477" name="Google Shape;477;p13"/>
          <p:cNvSpPr/>
          <p:nvPr/>
        </p:nvSpPr>
        <p:spPr>
          <a:xfrm>
            <a:off x="3427441" y="3383755"/>
            <a:ext cx="304800" cy="304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478" name="Google Shape;478;p13"/>
          <p:cNvCxnSpPr/>
          <p:nvPr/>
        </p:nvCxnSpPr>
        <p:spPr>
          <a:xfrm>
            <a:off x="3732241" y="3536155"/>
            <a:ext cx="609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79" name="Google Shape;479;p13"/>
          <p:cNvCxnSpPr/>
          <p:nvPr/>
        </p:nvCxnSpPr>
        <p:spPr>
          <a:xfrm>
            <a:off x="2817841" y="3536155"/>
            <a:ext cx="609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80" name="Google Shape;480;p13"/>
          <p:cNvSpPr/>
          <p:nvPr/>
        </p:nvSpPr>
        <p:spPr>
          <a:xfrm>
            <a:off x="4341841" y="3398042"/>
            <a:ext cx="304800" cy="304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81" name="Google Shape;481;p13"/>
          <p:cNvSpPr/>
          <p:nvPr/>
        </p:nvSpPr>
        <p:spPr>
          <a:xfrm>
            <a:off x="5256241" y="3398042"/>
            <a:ext cx="304800" cy="304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82" name="Google Shape;482;p13"/>
          <p:cNvSpPr txBox="1"/>
          <p:nvPr/>
        </p:nvSpPr>
        <p:spPr>
          <a:xfrm>
            <a:off x="4722842" y="3245643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cxnSp>
        <p:nvCxnSpPr>
          <p:cNvPr id="483" name="Google Shape;483;p13"/>
          <p:cNvCxnSpPr/>
          <p:nvPr/>
        </p:nvCxnSpPr>
        <p:spPr>
          <a:xfrm>
            <a:off x="4646641" y="3550442"/>
            <a:ext cx="609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84" name="Google Shape;484;p13"/>
          <p:cNvSpPr txBox="1"/>
          <p:nvPr/>
        </p:nvSpPr>
        <p:spPr>
          <a:xfrm>
            <a:off x="5637242" y="3245643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cxnSp>
        <p:nvCxnSpPr>
          <p:cNvPr id="485" name="Google Shape;485;p13"/>
          <p:cNvCxnSpPr/>
          <p:nvPr/>
        </p:nvCxnSpPr>
        <p:spPr>
          <a:xfrm>
            <a:off x="5561041" y="3550442"/>
            <a:ext cx="609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86" name="Google Shape;486;p13"/>
          <p:cNvSpPr/>
          <p:nvPr/>
        </p:nvSpPr>
        <p:spPr>
          <a:xfrm>
            <a:off x="4341841" y="4312442"/>
            <a:ext cx="304800" cy="304800"/>
          </a:xfrm>
          <a:prstGeom prst="ellipse">
            <a:avLst/>
          </a:prstGeom>
          <a:solidFill>
            <a:schemeClr val="accent1"/>
          </a:solidFill>
          <a:ln w="38100" cap="flat" cmpd="dbl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87" name="Google Shape;487;p13"/>
          <p:cNvSpPr txBox="1"/>
          <p:nvPr/>
        </p:nvSpPr>
        <p:spPr>
          <a:xfrm>
            <a:off x="3808442" y="4402930"/>
            <a:ext cx="32067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488" name="Google Shape;488;p13"/>
          <p:cNvSpPr/>
          <p:nvPr/>
        </p:nvSpPr>
        <p:spPr>
          <a:xfrm>
            <a:off x="3427441" y="4312442"/>
            <a:ext cx="304800" cy="304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489" name="Google Shape;489;p13"/>
          <p:cNvCxnSpPr/>
          <p:nvPr/>
        </p:nvCxnSpPr>
        <p:spPr>
          <a:xfrm>
            <a:off x="3732241" y="4464842"/>
            <a:ext cx="609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90" name="Google Shape;490;p13"/>
          <p:cNvCxnSpPr/>
          <p:nvPr/>
        </p:nvCxnSpPr>
        <p:spPr>
          <a:xfrm rot="10800000" flipH="1">
            <a:off x="2741641" y="2712242"/>
            <a:ext cx="685800" cy="6858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91" name="Google Shape;491;p13"/>
          <p:cNvSpPr/>
          <p:nvPr/>
        </p:nvSpPr>
        <p:spPr>
          <a:xfrm>
            <a:off x="3557617" y="3921918"/>
            <a:ext cx="479425" cy="466725"/>
          </a:xfrm>
          <a:custGeom>
            <a:avLst/>
            <a:gdLst/>
            <a:ahLst/>
            <a:cxnLst/>
            <a:rect l="l" t="t" r="r" b="b"/>
            <a:pathLst>
              <a:path w="302" h="294" extrusionOk="0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4494242" y="3931443"/>
            <a:ext cx="479425" cy="466725"/>
          </a:xfrm>
          <a:custGeom>
            <a:avLst/>
            <a:gdLst/>
            <a:ahLst/>
            <a:cxnLst/>
            <a:rect l="l" t="t" r="r" b="b"/>
            <a:pathLst>
              <a:path w="302" h="294" extrusionOk="0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3"/>
          <p:cNvSpPr txBox="1"/>
          <p:nvPr/>
        </p:nvSpPr>
        <p:spPr>
          <a:xfrm>
            <a:off x="3732242" y="3626643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494" name="Google Shape;494;p13"/>
          <p:cNvSpPr txBox="1"/>
          <p:nvPr/>
        </p:nvSpPr>
        <p:spPr>
          <a:xfrm>
            <a:off x="4646642" y="3640930"/>
            <a:ext cx="32067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495" name="Google Shape;495;p13"/>
          <p:cNvSpPr/>
          <p:nvPr/>
        </p:nvSpPr>
        <p:spPr>
          <a:xfrm>
            <a:off x="2513041" y="3398042"/>
            <a:ext cx="304800" cy="304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cxnSp>
        <p:nvCxnSpPr>
          <p:cNvPr id="496" name="Google Shape;496;p13"/>
          <p:cNvCxnSpPr/>
          <p:nvPr/>
        </p:nvCxnSpPr>
        <p:spPr>
          <a:xfrm>
            <a:off x="2741641" y="3702842"/>
            <a:ext cx="685800" cy="6858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97" name="Google Shape;497;p13"/>
          <p:cNvCxnSpPr/>
          <p:nvPr/>
        </p:nvCxnSpPr>
        <p:spPr>
          <a:xfrm>
            <a:off x="1903441" y="3536155"/>
            <a:ext cx="609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98" name="Google Shape;498;p13"/>
          <p:cNvSpPr txBox="1"/>
          <p:nvPr/>
        </p:nvSpPr>
        <p:spPr>
          <a:xfrm>
            <a:off x="1827242" y="3169442"/>
            <a:ext cx="633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endParaRPr/>
          </a:p>
        </p:txBody>
      </p:sp>
      <p:sp>
        <p:nvSpPr>
          <p:cNvPr id="499" name="Google Shape;499;p13"/>
          <p:cNvSpPr/>
          <p:nvPr/>
        </p:nvSpPr>
        <p:spPr>
          <a:xfrm>
            <a:off x="2817842" y="3855243"/>
            <a:ext cx="3397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ε</a:t>
            </a:r>
            <a:endParaRPr/>
          </a:p>
        </p:txBody>
      </p:sp>
      <p:sp>
        <p:nvSpPr>
          <p:cNvPr id="500" name="Google Shape;500;p13"/>
          <p:cNvSpPr/>
          <p:nvPr/>
        </p:nvSpPr>
        <p:spPr>
          <a:xfrm>
            <a:off x="2894042" y="3169443"/>
            <a:ext cx="339725" cy="51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ε</a:t>
            </a:r>
            <a:endParaRPr/>
          </a:p>
        </p:txBody>
      </p:sp>
      <p:sp>
        <p:nvSpPr>
          <p:cNvPr id="501" name="Google Shape;501;p13"/>
          <p:cNvSpPr/>
          <p:nvPr/>
        </p:nvSpPr>
        <p:spPr>
          <a:xfrm>
            <a:off x="2782917" y="2726530"/>
            <a:ext cx="33972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ε</a:t>
            </a:r>
            <a:endParaRPr/>
          </a:p>
        </p:txBody>
      </p:sp>
      <p:sp>
        <p:nvSpPr>
          <p:cNvPr id="502" name="Google Shape;502;p13"/>
          <p:cNvSpPr txBox="1"/>
          <p:nvPr/>
        </p:nvSpPr>
        <p:spPr>
          <a:xfrm>
            <a:off x="3713554" y="1984793"/>
            <a:ext cx="609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NFA</a:t>
            </a:r>
            <a:endParaRPr/>
          </a:p>
        </p:txBody>
      </p:sp>
      <p:sp>
        <p:nvSpPr>
          <p:cNvPr id="503" name="Google Shape;503;p13"/>
          <p:cNvSpPr txBox="1"/>
          <p:nvPr/>
        </p:nvSpPr>
        <p:spPr>
          <a:xfrm>
            <a:off x="2817842" y="5346976"/>
            <a:ext cx="39239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Converted DFA in the next Slide</a:t>
            </a:r>
            <a:endParaRPr/>
          </a:p>
        </p:txBody>
      </p:sp>
      <p:sp>
        <p:nvSpPr>
          <p:cNvPr id="504" name="Google Shape;504;p13"/>
          <p:cNvSpPr txBox="1"/>
          <p:nvPr/>
        </p:nvSpPr>
        <p:spPr>
          <a:xfrm>
            <a:off x="4684246" y="2435245"/>
            <a:ext cx="3818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 i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3"/>
          <p:cNvSpPr txBox="1"/>
          <p:nvPr/>
        </p:nvSpPr>
        <p:spPr>
          <a:xfrm>
            <a:off x="6581308" y="3382347"/>
            <a:ext cx="3818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 i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3"/>
          <p:cNvSpPr txBox="1"/>
          <p:nvPr/>
        </p:nvSpPr>
        <p:spPr>
          <a:xfrm>
            <a:off x="5005445" y="4249757"/>
            <a:ext cx="3818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 i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4"/>
          <p:cNvSpPr txBox="1"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NFA to DFA Conversion </a:t>
            </a:r>
            <a:endParaRPr/>
          </a:p>
        </p:txBody>
      </p:sp>
      <p:sp>
        <p:nvSpPr>
          <p:cNvPr id="512" name="Google Shape;512;p14"/>
          <p:cNvSpPr txBox="1"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/>
              <a:t>Subset Construction Method (Exercise 1)</a:t>
            </a:r>
            <a:endParaRPr/>
          </a:p>
        </p:txBody>
      </p:sp>
      <p:sp>
        <p:nvSpPr>
          <p:cNvPr id="513" name="Google Shape;513;p14"/>
          <p:cNvSpPr txBox="1"/>
          <p:nvPr/>
        </p:nvSpPr>
        <p:spPr>
          <a:xfrm>
            <a:off x="3713554" y="2093259"/>
            <a:ext cx="609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DFA</a:t>
            </a:r>
            <a:endParaRPr/>
          </a:p>
        </p:txBody>
      </p:sp>
      <p:sp>
        <p:nvSpPr>
          <p:cNvPr id="514" name="Google Shape;514;p14"/>
          <p:cNvSpPr/>
          <p:nvPr/>
        </p:nvSpPr>
        <p:spPr>
          <a:xfrm>
            <a:off x="2948931" y="3992913"/>
            <a:ext cx="304800" cy="304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cxnSp>
        <p:nvCxnSpPr>
          <p:cNvPr id="515" name="Google Shape;515;p14"/>
          <p:cNvCxnSpPr/>
          <p:nvPr/>
        </p:nvCxnSpPr>
        <p:spPr>
          <a:xfrm>
            <a:off x="2339331" y="4131026"/>
            <a:ext cx="609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16" name="Google Shape;516;p14"/>
          <p:cNvSpPr txBox="1"/>
          <p:nvPr/>
        </p:nvSpPr>
        <p:spPr>
          <a:xfrm>
            <a:off x="2263132" y="3764313"/>
            <a:ext cx="633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endParaRPr/>
          </a:p>
        </p:txBody>
      </p:sp>
      <p:cxnSp>
        <p:nvCxnSpPr>
          <p:cNvPr id="517" name="Google Shape;517;p14"/>
          <p:cNvCxnSpPr/>
          <p:nvPr/>
        </p:nvCxnSpPr>
        <p:spPr>
          <a:xfrm rot="10800000">
            <a:off x="4015731" y="3383313"/>
            <a:ext cx="0" cy="5334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18" name="Google Shape;518;p14"/>
          <p:cNvSpPr txBox="1"/>
          <p:nvPr/>
        </p:nvSpPr>
        <p:spPr>
          <a:xfrm>
            <a:off x="3253732" y="4526314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519" name="Google Shape;519;p14"/>
          <p:cNvSpPr/>
          <p:nvPr/>
        </p:nvSpPr>
        <p:spPr>
          <a:xfrm>
            <a:off x="3863331" y="3992913"/>
            <a:ext cx="304800" cy="3048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520" name="Google Shape;520;p14"/>
          <p:cNvSpPr txBox="1"/>
          <p:nvPr/>
        </p:nvSpPr>
        <p:spPr>
          <a:xfrm>
            <a:off x="4244332" y="4678714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cxnSp>
        <p:nvCxnSpPr>
          <p:cNvPr id="521" name="Google Shape;521;p14"/>
          <p:cNvCxnSpPr/>
          <p:nvPr/>
        </p:nvCxnSpPr>
        <p:spPr>
          <a:xfrm rot="10800000" flipH="1">
            <a:off x="3177531" y="3307113"/>
            <a:ext cx="685800" cy="6858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22" name="Google Shape;522;p14"/>
          <p:cNvSpPr txBox="1"/>
          <p:nvPr/>
        </p:nvSpPr>
        <p:spPr>
          <a:xfrm>
            <a:off x="3253732" y="3383314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523" name="Google Shape;523;p14"/>
          <p:cNvSpPr/>
          <p:nvPr/>
        </p:nvSpPr>
        <p:spPr>
          <a:xfrm>
            <a:off x="4015732" y="2683227"/>
            <a:ext cx="479425" cy="466725"/>
          </a:xfrm>
          <a:custGeom>
            <a:avLst/>
            <a:gdLst/>
            <a:ahLst/>
            <a:cxnLst/>
            <a:rect l="l" t="t" r="r" b="b"/>
            <a:pathLst>
              <a:path w="302" h="294" extrusionOk="0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3993507" y="3602389"/>
            <a:ext cx="479425" cy="466725"/>
          </a:xfrm>
          <a:custGeom>
            <a:avLst/>
            <a:gdLst/>
            <a:ahLst/>
            <a:cxnLst/>
            <a:rect l="l" t="t" r="r" b="b"/>
            <a:pathLst>
              <a:path w="302" h="294" extrusionOk="0">
                <a:moveTo>
                  <a:pt x="93" y="294"/>
                </a:moveTo>
                <a:cubicBezTo>
                  <a:pt x="123" y="276"/>
                  <a:pt x="242" y="227"/>
                  <a:pt x="272" y="184"/>
                </a:cubicBezTo>
                <a:cubicBezTo>
                  <a:pt x="302" y="141"/>
                  <a:pt x="297" y="58"/>
                  <a:pt x="272" y="33"/>
                </a:cubicBezTo>
                <a:cubicBezTo>
                  <a:pt x="247" y="8"/>
                  <a:pt x="164" y="0"/>
                  <a:pt x="119" y="33"/>
                </a:cubicBezTo>
                <a:cubicBezTo>
                  <a:pt x="74" y="66"/>
                  <a:pt x="25" y="188"/>
                  <a:pt x="0" y="229"/>
                </a:cubicBezTo>
              </a:path>
            </a:pathLst>
          </a:cu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 txBox="1"/>
          <p:nvPr/>
        </p:nvSpPr>
        <p:spPr>
          <a:xfrm>
            <a:off x="4168132" y="3307114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cxnSp>
        <p:nvCxnSpPr>
          <p:cNvPr id="526" name="Google Shape;526;p14"/>
          <p:cNvCxnSpPr/>
          <p:nvPr/>
        </p:nvCxnSpPr>
        <p:spPr>
          <a:xfrm>
            <a:off x="3177531" y="4297713"/>
            <a:ext cx="685800" cy="6858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27" name="Google Shape;527;p14"/>
          <p:cNvSpPr txBox="1"/>
          <p:nvPr/>
        </p:nvSpPr>
        <p:spPr>
          <a:xfrm>
            <a:off x="3710932" y="3535714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cxnSp>
        <p:nvCxnSpPr>
          <p:cNvPr id="528" name="Google Shape;528;p14"/>
          <p:cNvCxnSpPr/>
          <p:nvPr/>
        </p:nvCxnSpPr>
        <p:spPr>
          <a:xfrm>
            <a:off x="4168131" y="4983513"/>
            <a:ext cx="609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29" name="Google Shape;529;p14"/>
          <p:cNvCxnSpPr/>
          <p:nvPr/>
        </p:nvCxnSpPr>
        <p:spPr>
          <a:xfrm>
            <a:off x="5082531" y="4983513"/>
            <a:ext cx="6096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30" name="Google Shape;530;p14"/>
          <p:cNvSpPr txBox="1"/>
          <p:nvPr/>
        </p:nvSpPr>
        <p:spPr>
          <a:xfrm>
            <a:off x="5158732" y="4678714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531" name="Google Shape;531;p14"/>
          <p:cNvSpPr/>
          <p:nvPr/>
        </p:nvSpPr>
        <p:spPr>
          <a:xfrm>
            <a:off x="3863331" y="4831113"/>
            <a:ext cx="304800" cy="304800"/>
          </a:xfrm>
          <a:prstGeom prst="ellipse">
            <a:avLst/>
          </a:prstGeom>
          <a:solidFill>
            <a:schemeClr val="accent1"/>
          </a:solidFill>
          <a:ln w="38100" cap="flat" cmpd="dbl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532" name="Google Shape;532;p14"/>
          <p:cNvSpPr/>
          <p:nvPr/>
        </p:nvSpPr>
        <p:spPr>
          <a:xfrm>
            <a:off x="3863331" y="3078513"/>
            <a:ext cx="304800" cy="304800"/>
          </a:xfrm>
          <a:prstGeom prst="ellipse">
            <a:avLst/>
          </a:prstGeom>
          <a:solidFill>
            <a:schemeClr val="accent1"/>
          </a:solidFill>
          <a:ln w="38100" cap="flat" cmpd="dbl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533" name="Google Shape;533;p14"/>
          <p:cNvSpPr/>
          <p:nvPr/>
        </p:nvSpPr>
        <p:spPr>
          <a:xfrm>
            <a:off x="4777731" y="4831113"/>
            <a:ext cx="304800" cy="304800"/>
          </a:xfrm>
          <a:prstGeom prst="ellipse">
            <a:avLst/>
          </a:prstGeom>
          <a:solidFill>
            <a:schemeClr val="accent1"/>
          </a:solidFill>
          <a:ln w="38100" cap="flat" cmpd="dbl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534" name="Google Shape;534;p14"/>
          <p:cNvSpPr/>
          <p:nvPr/>
        </p:nvSpPr>
        <p:spPr>
          <a:xfrm>
            <a:off x="5692131" y="4831113"/>
            <a:ext cx="304800" cy="304800"/>
          </a:xfrm>
          <a:prstGeom prst="ellipse">
            <a:avLst/>
          </a:prstGeom>
          <a:solidFill>
            <a:schemeClr val="accent1"/>
          </a:solidFill>
          <a:ln w="38100" cap="flat" cmpd="dbl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cxnSp>
        <p:nvCxnSpPr>
          <p:cNvPr id="535" name="Google Shape;535;p14"/>
          <p:cNvCxnSpPr/>
          <p:nvPr/>
        </p:nvCxnSpPr>
        <p:spPr>
          <a:xfrm rot="10800000">
            <a:off x="4015731" y="4297713"/>
            <a:ext cx="0" cy="5334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36" name="Google Shape;536;p14"/>
          <p:cNvSpPr txBox="1"/>
          <p:nvPr/>
        </p:nvSpPr>
        <p:spPr>
          <a:xfrm>
            <a:off x="3710932" y="4464401"/>
            <a:ext cx="32067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cxnSp>
        <p:nvCxnSpPr>
          <p:cNvPr id="537" name="Google Shape;537;p14"/>
          <p:cNvCxnSpPr>
            <a:stCxn id="534" idx="0"/>
            <a:endCxn id="532" idx="6"/>
          </p:cNvCxnSpPr>
          <p:nvPr/>
        </p:nvCxnSpPr>
        <p:spPr>
          <a:xfrm rot="5400000" flipH="1">
            <a:off x="4206231" y="3192813"/>
            <a:ext cx="1600200" cy="1676400"/>
          </a:xfrm>
          <a:prstGeom prst="curvedConnector2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538" name="Google Shape;538;p14"/>
          <p:cNvSpPr txBox="1"/>
          <p:nvPr/>
        </p:nvSpPr>
        <p:spPr>
          <a:xfrm>
            <a:off x="5387332" y="3535714"/>
            <a:ext cx="3206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539" name="Google Shape;539;p14"/>
          <p:cNvSpPr txBox="1"/>
          <p:nvPr/>
        </p:nvSpPr>
        <p:spPr>
          <a:xfrm>
            <a:off x="4264969" y="2849913"/>
            <a:ext cx="3978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4"/>
          <p:cNvSpPr txBox="1"/>
          <p:nvPr/>
        </p:nvSpPr>
        <p:spPr>
          <a:xfrm>
            <a:off x="6782420" y="3129650"/>
            <a:ext cx="1447897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Dstates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{0,1,3,7}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= {2,4,7}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= {8}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{7}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= {5,8}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{6,8}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8946" y="1310531"/>
            <a:ext cx="5356533" cy="2688688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15"/>
          <p:cNvSpPr txBox="1"/>
          <p:nvPr/>
        </p:nvSpPr>
        <p:spPr>
          <a:xfrm>
            <a:off x="0" y="731162"/>
            <a:ext cx="7637433" cy="493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NFA to DFA / Subset Construction Method (Exercise 2)</a:t>
            </a:r>
            <a:endParaRPr/>
          </a:p>
          <a:p>
            <a:pPr marL="0" marR="0" lvl="0" indent="0" algn="l" rtl="0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endParaRPr sz="2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7" name="Google Shape;547;p15" descr="df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6585" y="4085174"/>
            <a:ext cx="6061256" cy="2688688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15"/>
          <p:cNvSpPr txBox="1"/>
          <p:nvPr/>
        </p:nvSpPr>
        <p:spPr>
          <a:xfrm>
            <a:off x="194179" y="2199588"/>
            <a:ext cx="8524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NFA</a:t>
            </a:r>
            <a:endParaRPr/>
          </a:p>
        </p:txBody>
      </p:sp>
      <p:sp>
        <p:nvSpPr>
          <p:cNvPr id="549" name="Google Shape;549;p15"/>
          <p:cNvSpPr txBox="1"/>
          <p:nvPr/>
        </p:nvSpPr>
        <p:spPr>
          <a:xfrm>
            <a:off x="194179" y="5244852"/>
            <a:ext cx="85240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Hints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6"/>
          <p:cNvSpPr txBox="1"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Deterministic Finite Machine</a:t>
            </a:r>
            <a:endParaRPr/>
          </a:p>
        </p:txBody>
      </p:sp>
      <p:sp>
        <p:nvSpPr>
          <p:cNvPr id="555" name="Google Shape;555;p16"/>
          <p:cNvSpPr txBox="1"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/>
              <a:t>DFA DESIGN</a:t>
            </a:r>
            <a:endParaRPr/>
          </a:p>
        </p:txBody>
      </p:sp>
      <p:sp>
        <p:nvSpPr>
          <p:cNvPr id="556" name="Google Shape;556;p16"/>
          <p:cNvSpPr txBox="1"/>
          <p:nvPr/>
        </p:nvSpPr>
        <p:spPr>
          <a:xfrm>
            <a:off x="142875" y="2214007"/>
            <a:ext cx="8839200" cy="3441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1313" marR="0" lvl="0" indent="-3413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finite automaton is a 5-tuple 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Σ,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), where </a:t>
            </a:r>
            <a:endParaRPr/>
          </a:p>
          <a:p>
            <a:pPr marL="804863" marR="0" lvl="1" indent="-3492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a finite set called the </a:t>
            </a:r>
            <a:r>
              <a:rPr lang="en-US" sz="1800" b="1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states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/>
          </a:p>
          <a:p>
            <a:pPr marL="804863" marR="0" lvl="1" indent="-3492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Σ is a finite set called the </a:t>
            </a:r>
            <a:r>
              <a:rPr lang="en-US" sz="1800" b="1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alphabet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/>
          </a:p>
          <a:p>
            <a:pPr marL="804863" marR="0" lvl="1" indent="-3492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δ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× Σ →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the </a:t>
            </a:r>
            <a:r>
              <a:rPr lang="en-US" sz="1800" b="1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transition function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/>
          </a:p>
          <a:p>
            <a:pPr marL="804863" marR="0" lvl="1" indent="-3492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∈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the </a:t>
            </a:r>
            <a:r>
              <a:rPr lang="en-US" sz="1800" b="1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 state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/>
          </a:p>
          <a:p>
            <a:pPr marL="804863" marR="0" lvl="1" indent="-3492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⊆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the set of </a:t>
            </a:r>
            <a:r>
              <a:rPr lang="en-US" sz="1800" b="1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accept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final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1800" b="1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states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341313" marR="0" lvl="0" indent="-341313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A is the set of all strings that a machine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accepts, we say that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the </a:t>
            </a:r>
            <a:r>
              <a:rPr lang="en-US" sz="1800" b="1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language of machine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write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)=</a:t>
            </a:r>
            <a:r>
              <a:rPr lang="en-US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b="1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 recognizes A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US" sz="1800" b="1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 accepts A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7"/>
          <p:cNvSpPr txBox="1">
            <a:spLocks noGrp="1"/>
          </p:cNvSpPr>
          <p:nvPr>
            <p:ph type="subTitle" idx="1"/>
          </p:nvPr>
        </p:nvSpPr>
        <p:spPr>
          <a:xfrm>
            <a:off x="485729" y="2821478"/>
            <a:ext cx="775411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/>
              <a:t>DFA DESIGN</a:t>
            </a:r>
            <a:endParaRPr/>
          </a:p>
        </p:txBody>
      </p:sp>
      <p:sp>
        <p:nvSpPr>
          <p:cNvPr id="562" name="Google Shape;562;p17"/>
          <p:cNvSpPr txBox="1"/>
          <p:nvPr/>
        </p:nvSpPr>
        <p:spPr>
          <a:xfrm>
            <a:off x="161924" y="3021014"/>
            <a:ext cx="8788400" cy="3913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1313" marR="0" lvl="0" indent="-34131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4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lang="en-US"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Σ, </a:t>
            </a:r>
            <a:r>
              <a:rPr lang="en-US"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24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where – </a:t>
            </a:r>
            <a:endParaRPr/>
          </a:p>
          <a:p>
            <a:pPr marL="804863" marR="0" lvl="1" indent="-3492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•"/>
            </a:pPr>
            <a:r>
              <a:rPr lang="en-US" sz="22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{</a:t>
            </a:r>
            <a:r>
              <a:rPr lang="en-US" sz="22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22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2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q</a:t>
            </a:r>
            <a:r>
              <a:rPr lang="en-US" sz="22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2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q</a:t>
            </a:r>
            <a:r>
              <a:rPr lang="en-US" sz="22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},</a:t>
            </a:r>
            <a:endParaRPr/>
          </a:p>
          <a:p>
            <a:pPr marL="804863" marR="0" lvl="1" indent="-3492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•"/>
            </a:pPr>
            <a:r>
              <a:rPr lang="en-US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Σ = {0, 1},</a:t>
            </a:r>
            <a:endParaRPr/>
          </a:p>
          <a:p>
            <a:pPr marL="804863" marR="0" lvl="1" indent="-3492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•"/>
            </a:pPr>
            <a:r>
              <a:rPr lang="en-US" sz="22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δ is describe as – </a:t>
            </a:r>
            <a:endParaRPr/>
          </a:p>
          <a:p>
            <a:pPr marL="804863" marR="0" lvl="1" indent="-3492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•"/>
            </a:pPr>
            <a:r>
              <a:rPr lang="en-US" sz="22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22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2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q</a:t>
            </a:r>
            <a:r>
              <a:rPr lang="en-US" sz="22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2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marL="804863" marR="0" lvl="1" indent="-3492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•"/>
            </a:pPr>
            <a:r>
              <a:rPr lang="en-US" sz="22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= </a:t>
            </a:r>
            <a:r>
              <a:rPr lang="en-US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22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22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r>
              <a:rPr lang="en-US" sz="22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1255713" marR="0" lvl="2" indent="-336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3" name="Google Shape;563;p17"/>
          <p:cNvGrpSpPr/>
          <p:nvPr/>
        </p:nvGrpSpPr>
        <p:grpSpPr>
          <a:xfrm>
            <a:off x="4341812" y="1984376"/>
            <a:ext cx="4713287" cy="1522413"/>
            <a:chOff x="110" y="423"/>
            <a:chExt cx="2969" cy="959"/>
          </a:xfrm>
        </p:grpSpPr>
        <p:sp>
          <p:nvSpPr>
            <p:cNvPr id="564" name="Google Shape;564;p17"/>
            <p:cNvSpPr/>
            <p:nvPr/>
          </p:nvSpPr>
          <p:spPr>
            <a:xfrm rot="-5174652">
              <a:off x="1672" y="508"/>
              <a:ext cx="258" cy="222"/>
            </a:xfrm>
            <a:custGeom>
              <a:avLst/>
              <a:gdLst/>
              <a:ahLst/>
              <a:cxnLst/>
              <a:rect l="l" t="t" r="r" b="b"/>
              <a:pathLst>
                <a:path w="21600" h="43178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47"/>
                    <a:pt x="12518" y="42652"/>
                    <a:pt x="982" y="43177"/>
                  </a:cubicBezTo>
                </a:path>
                <a:path w="21600" h="43178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47"/>
                    <a:pt x="12518" y="42652"/>
                    <a:pt x="982" y="4317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grpSp>
          <p:nvGrpSpPr>
            <p:cNvPr id="565" name="Google Shape;565;p17"/>
            <p:cNvGrpSpPr/>
            <p:nvPr/>
          </p:nvGrpSpPr>
          <p:grpSpPr>
            <a:xfrm>
              <a:off x="110" y="423"/>
              <a:ext cx="2969" cy="959"/>
              <a:chOff x="466" y="423"/>
              <a:chExt cx="2969" cy="959"/>
            </a:xfrm>
          </p:grpSpPr>
          <p:sp>
            <p:nvSpPr>
              <p:cNvPr id="566" name="Google Shape;566;p17"/>
              <p:cNvSpPr/>
              <p:nvPr/>
            </p:nvSpPr>
            <p:spPr>
              <a:xfrm>
                <a:off x="806" y="750"/>
                <a:ext cx="413" cy="382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341313" marR="0" lvl="0" indent="-34131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Bookman Old Style"/>
                  <a:buNone/>
                </a:pPr>
                <a:r>
                  <a:rPr lang="en-US" sz="2400" b="0" i="1" u="none" strike="noStrike" cap="non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q</a:t>
                </a:r>
                <a:r>
                  <a:rPr lang="en-US" sz="2400" b="0" i="0" u="none" strike="noStrike" cap="none" baseline="-25000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1</a:t>
                </a:r>
                <a:endParaRPr/>
              </a:p>
            </p:txBody>
          </p:sp>
          <p:sp>
            <p:nvSpPr>
              <p:cNvPr id="567" name="Google Shape;567;p17"/>
              <p:cNvSpPr/>
              <p:nvPr/>
            </p:nvSpPr>
            <p:spPr>
              <a:xfrm>
                <a:off x="1947" y="750"/>
                <a:ext cx="413" cy="382"/>
              </a:xfrm>
              <a:prstGeom prst="ellipse">
                <a:avLst/>
              </a:prstGeom>
              <a:noFill/>
              <a:ln w="127000" cap="flat" cmpd="dbl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341313" marR="0" lvl="0" indent="-34131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Bookman Old Style"/>
                  <a:buNone/>
                </a:pPr>
                <a:r>
                  <a:rPr lang="en-US" sz="2400" b="0" i="1" u="none" strike="noStrike" cap="non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q</a:t>
                </a:r>
                <a:r>
                  <a:rPr lang="en-US" sz="2400" b="0" i="0" u="none" strike="noStrike" cap="none" baseline="-25000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2</a:t>
                </a:r>
                <a:endParaRPr/>
              </a:p>
            </p:txBody>
          </p:sp>
          <p:sp>
            <p:nvSpPr>
              <p:cNvPr id="568" name="Google Shape;568;p17"/>
              <p:cNvSpPr/>
              <p:nvPr/>
            </p:nvSpPr>
            <p:spPr>
              <a:xfrm>
                <a:off x="3022" y="750"/>
                <a:ext cx="413" cy="382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341313" marR="0" lvl="0" indent="-34131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Bookman Old Style"/>
                  <a:buNone/>
                </a:pPr>
                <a:r>
                  <a:rPr lang="en-US" sz="2400" b="0" i="1" u="none" strike="noStrike" cap="non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q</a:t>
                </a:r>
                <a:r>
                  <a:rPr lang="en-US" sz="2400" b="0" i="0" u="none" strike="noStrike" cap="none" baseline="-25000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3</a:t>
                </a:r>
                <a:endParaRPr/>
              </a:p>
            </p:txBody>
          </p:sp>
          <p:cxnSp>
            <p:nvCxnSpPr>
              <p:cNvPr id="569" name="Google Shape;569;p17"/>
              <p:cNvCxnSpPr>
                <a:stCxn id="566" idx="7"/>
                <a:endCxn id="567" idx="1"/>
              </p:cNvCxnSpPr>
              <p:nvPr/>
            </p:nvCxnSpPr>
            <p:spPr>
              <a:xfrm rot="10800000">
                <a:off x="1609" y="356"/>
                <a:ext cx="0" cy="900"/>
              </a:xfrm>
              <a:prstGeom prst="curvedConnector3">
                <a:avLst>
                  <a:gd name="adj1" fmla="val 785713"/>
                </a:avLst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cxnSp>
          <p:cxnSp>
            <p:nvCxnSpPr>
              <p:cNvPr id="570" name="Google Shape;570;p17"/>
              <p:cNvCxnSpPr>
                <a:stCxn id="567" idx="7"/>
                <a:endCxn id="568" idx="1"/>
              </p:cNvCxnSpPr>
              <p:nvPr/>
            </p:nvCxnSpPr>
            <p:spPr>
              <a:xfrm rot="10800000">
                <a:off x="2750" y="356"/>
                <a:ext cx="0" cy="900"/>
              </a:xfrm>
              <a:prstGeom prst="curvedConnector3">
                <a:avLst>
                  <a:gd name="adj1" fmla="val -685713"/>
                </a:avLst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cxnSp>
          <p:cxnSp>
            <p:nvCxnSpPr>
              <p:cNvPr id="571" name="Google Shape;571;p17"/>
              <p:cNvCxnSpPr>
                <a:stCxn id="568" idx="3"/>
                <a:endCxn id="567" idx="5"/>
              </p:cNvCxnSpPr>
              <p:nvPr/>
            </p:nvCxnSpPr>
            <p:spPr>
              <a:xfrm>
                <a:off x="2632" y="626"/>
                <a:ext cx="0" cy="900"/>
              </a:xfrm>
              <a:prstGeom prst="curvedConnector3">
                <a:avLst>
                  <a:gd name="adj1" fmla="val 782144"/>
                </a:avLst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cxnSp>
          <p:cxnSp>
            <p:nvCxnSpPr>
              <p:cNvPr id="572" name="Google Shape;572;p17"/>
              <p:cNvCxnSpPr/>
              <p:nvPr/>
            </p:nvCxnSpPr>
            <p:spPr>
              <a:xfrm rot="10800000" flipH="1">
                <a:off x="466" y="933"/>
                <a:ext cx="336" cy="5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cxnSp>
          <p:sp>
            <p:nvSpPr>
              <p:cNvPr id="573" name="Google Shape;573;p17"/>
              <p:cNvSpPr/>
              <p:nvPr/>
            </p:nvSpPr>
            <p:spPr>
              <a:xfrm rot="-5174652">
                <a:off x="863" y="543"/>
                <a:ext cx="270" cy="22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43178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47"/>
                      <a:pt x="12518" y="42652"/>
                      <a:pt x="982" y="43177"/>
                    </a:cubicBezTo>
                  </a:path>
                  <a:path w="21600" h="43178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47"/>
                      <a:pt x="12518" y="42652"/>
                      <a:pt x="982" y="4317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200"/>
                  <a:buFont typeface="Calibri"/>
                  <a:buNone/>
                </a:pPr>
                <a:endParaRPr sz="3200" b="0" i="0" u="none" strike="noStrike" cap="none">
                  <a:solidFill>
                    <a:srgbClr val="000000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endParaRPr>
              </a:p>
            </p:txBody>
          </p:sp>
          <p:sp>
            <p:nvSpPr>
              <p:cNvPr id="574" name="Google Shape;574;p17"/>
              <p:cNvSpPr txBox="1"/>
              <p:nvPr/>
            </p:nvSpPr>
            <p:spPr>
              <a:xfrm>
                <a:off x="1033" y="435"/>
                <a:ext cx="129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1313" marR="0" lvl="0" indent="-34131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Bookman Old Style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0</a:t>
                </a:r>
                <a:endParaRPr/>
              </a:p>
            </p:txBody>
          </p:sp>
          <p:sp>
            <p:nvSpPr>
              <p:cNvPr id="575" name="Google Shape;575;p17"/>
              <p:cNvSpPr txBox="1"/>
              <p:nvPr/>
            </p:nvSpPr>
            <p:spPr>
              <a:xfrm>
                <a:off x="2623" y="522"/>
                <a:ext cx="130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1313" marR="0" lvl="0" indent="-34131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Bookman Old Style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0</a:t>
                </a:r>
                <a:endParaRPr/>
              </a:p>
            </p:txBody>
          </p:sp>
          <p:sp>
            <p:nvSpPr>
              <p:cNvPr id="576" name="Google Shape;576;p17"/>
              <p:cNvSpPr txBox="1"/>
              <p:nvPr/>
            </p:nvSpPr>
            <p:spPr>
              <a:xfrm>
                <a:off x="1483" y="506"/>
                <a:ext cx="130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1313" marR="0" lvl="0" indent="-34131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Bookman Old Style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1</a:t>
                </a:r>
                <a:endParaRPr/>
              </a:p>
            </p:txBody>
          </p:sp>
          <p:sp>
            <p:nvSpPr>
              <p:cNvPr id="577" name="Google Shape;577;p17"/>
              <p:cNvSpPr txBox="1"/>
              <p:nvPr/>
            </p:nvSpPr>
            <p:spPr>
              <a:xfrm>
                <a:off x="2181" y="423"/>
                <a:ext cx="130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1313" marR="0" lvl="0" indent="-34131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Bookman Old Style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1</a:t>
                </a:r>
                <a:endParaRPr/>
              </a:p>
            </p:txBody>
          </p:sp>
          <p:sp>
            <p:nvSpPr>
              <p:cNvPr id="578" name="Google Shape;578;p17"/>
              <p:cNvSpPr txBox="1"/>
              <p:nvPr/>
            </p:nvSpPr>
            <p:spPr>
              <a:xfrm>
                <a:off x="2588" y="1209"/>
                <a:ext cx="453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1313" marR="0" lvl="0" indent="-34131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Bookman Old Style"/>
                  <a:buNone/>
                </a:pPr>
                <a:r>
                  <a:rPr lang="en-US" sz="1200" b="0" i="0" u="none" strike="noStrike" cap="non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0,1</a:t>
                </a:r>
                <a:endParaRPr/>
              </a:p>
            </p:txBody>
          </p:sp>
        </p:grpSp>
      </p:grpSp>
      <p:sp>
        <p:nvSpPr>
          <p:cNvPr id="579" name="Google Shape;579;p17"/>
          <p:cNvSpPr txBox="1"/>
          <p:nvPr/>
        </p:nvSpPr>
        <p:spPr>
          <a:xfrm>
            <a:off x="5583237" y="3419476"/>
            <a:ext cx="3078162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85800" marR="0" lvl="0" indent="-685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Figure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Finite Automaton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0" name="Google Shape;580;p17"/>
          <p:cNvGraphicFramePr/>
          <p:nvPr/>
        </p:nvGraphicFramePr>
        <p:xfrm>
          <a:off x="3776662" y="45912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{D542B6ED-F2C7-4B19-9224-CAED55E19592}</a:tableStyleId>
              </a:tblPr>
              <a:tblGrid>
                <a:gridCol w="4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δ</a:t>
                      </a:r>
                      <a:endParaRPr/>
                    </a:p>
                  </a:txBody>
                  <a:tcPr marL="91450" marR="91450" marT="45675" marB="4567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675" marB="456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r>
                        <a:rPr lang="en-US" sz="2000" b="0" i="0" u="none" strike="noStrike" cap="none" baseline="-25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675" marB="4567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r>
                        <a:rPr lang="en-US" sz="2000" b="0" i="0" u="none" strike="noStrike" cap="none" baseline="-25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r>
                        <a:rPr lang="en-US" sz="2000" b="0" i="0" u="none" strike="noStrike" cap="none" baseline="-25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675" marB="456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r>
                        <a:rPr lang="en-US" sz="2000" b="0" i="0" u="none" strike="noStrike" cap="none" baseline="-25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675" marB="4567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r>
                        <a:rPr lang="en-US" sz="2000" b="0" i="0" u="none" strike="noStrike" cap="none" baseline="-25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r>
                        <a:rPr lang="en-US" sz="2000" b="0" i="0" u="none" strike="noStrike" cap="none" baseline="-25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675" marB="456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r>
                        <a:rPr lang="en-US" sz="2000" b="0" i="0" u="none" strike="noStrike" cap="none" baseline="-25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675" marB="4567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r>
                        <a:rPr lang="en-US" sz="2000" b="0" i="0" u="none" strike="noStrike" cap="none" baseline="-25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675" marB="45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r>
                        <a:rPr lang="en-US" sz="2000" b="0" i="0" u="none" strike="noStrike" cap="none" baseline="-25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1450" marR="91450" marT="45675" marB="456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81" name="Google Shape;581;p17"/>
          <p:cNvSpPr txBox="1"/>
          <p:nvPr/>
        </p:nvSpPr>
        <p:spPr>
          <a:xfrm>
            <a:off x="5583237" y="4806951"/>
            <a:ext cx="3248025" cy="133985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Bookman Old Style"/>
              <a:buNone/>
            </a:pPr>
            <a:r>
              <a:rPr lang="en-US" sz="2000" b="0" i="1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δ</a:t>
            </a:r>
            <a:r>
              <a:rPr lang="en-US" sz="20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(</a:t>
            </a:r>
            <a:r>
              <a:rPr lang="en-US" sz="2000" b="0" i="1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</a:t>
            </a:r>
            <a:r>
              <a:rPr lang="en-US" sz="2000" b="0" i="0" u="none" strike="noStrike" cap="none" baseline="-25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r>
              <a:rPr lang="en-US" sz="20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,0) =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</a:t>
            </a:r>
            <a:r>
              <a:rPr lang="en-US" sz="2000" b="0" i="0" u="none" strike="noStrike" cap="none" baseline="-25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r>
              <a:rPr lang="en-US" sz="20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δ</a:t>
            </a:r>
            <a:r>
              <a:rPr lang="en-US" sz="20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(</a:t>
            </a:r>
            <a:r>
              <a:rPr lang="en-US" sz="2000" b="0" i="1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</a:t>
            </a:r>
            <a:r>
              <a:rPr lang="en-US" sz="2000" b="0" i="0" u="none" strike="noStrike" cap="none" baseline="-25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r>
              <a:rPr lang="en-US" sz="20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,1) =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</a:t>
            </a:r>
            <a:r>
              <a:rPr lang="en-US" sz="2000" b="0" i="0" u="none" strike="noStrike" cap="none" baseline="-25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r>
              <a:rPr lang="en-US" sz="20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Bookman Old Style"/>
              <a:buNone/>
            </a:pPr>
            <a:r>
              <a:rPr lang="en-US" sz="2000" b="0" i="1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δ</a:t>
            </a:r>
            <a:r>
              <a:rPr lang="en-US" sz="20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(</a:t>
            </a:r>
            <a:r>
              <a:rPr lang="en-US" sz="2000" b="0" i="1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</a:t>
            </a:r>
            <a:r>
              <a:rPr lang="en-US" sz="2000" b="0" i="1" u="none" strike="noStrike" cap="none" baseline="-25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r>
              <a:rPr lang="en-US" sz="20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,0) =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</a:t>
            </a:r>
            <a:r>
              <a:rPr lang="en-US" sz="2000" b="0" i="0" u="none" strike="noStrike" cap="none" baseline="-25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r>
              <a:rPr lang="en-US" sz="20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δ</a:t>
            </a:r>
            <a:r>
              <a:rPr lang="en-US" sz="20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(</a:t>
            </a:r>
            <a:r>
              <a:rPr lang="en-US" sz="2000" b="0" i="1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</a:t>
            </a:r>
            <a:r>
              <a:rPr lang="en-US" sz="2000" b="0" i="1" u="none" strike="noStrike" cap="none" baseline="-25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r>
              <a:rPr lang="en-US" sz="20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,1) =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</a:t>
            </a:r>
            <a:r>
              <a:rPr lang="en-US" sz="2000" b="0" i="1" u="none" strike="noStrike" cap="none" baseline="-25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r>
              <a:rPr lang="en-US" sz="20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Bookman Old Style"/>
              <a:buNone/>
            </a:pPr>
            <a:r>
              <a:rPr lang="en-US" sz="2000" b="0" i="1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δ</a:t>
            </a:r>
            <a:r>
              <a:rPr lang="en-US" sz="20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(</a:t>
            </a:r>
            <a:r>
              <a:rPr lang="en-US" sz="2000" b="0" i="1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</a:t>
            </a:r>
            <a:r>
              <a:rPr lang="en-US" sz="2000" b="0" i="1" u="none" strike="noStrike" cap="none" baseline="-25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r>
              <a:rPr lang="en-US" sz="20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,0) =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</a:t>
            </a:r>
            <a:r>
              <a:rPr lang="en-US" sz="2000" b="0" i="1" u="none" strike="noStrike" cap="none" baseline="-25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r>
              <a:rPr lang="en-US" sz="20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δ</a:t>
            </a:r>
            <a:r>
              <a:rPr lang="en-US" sz="20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(</a:t>
            </a:r>
            <a:r>
              <a:rPr lang="en-US" sz="2000" b="0" i="1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</a:t>
            </a:r>
            <a:r>
              <a:rPr lang="en-US" sz="2000" b="0" i="0" u="none" strike="noStrike" cap="none" baseline="-25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r>
              <a:rPr lang="en-US" sz="20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,1) =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</a:t>
            </a:r>
            <a:r>
              <a:rPr lang="en-US" sz="2000" b="0" i="1" u="none" strike="noStrike" cap="none" baseline="-25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r>
              <a:rPr lang="en-US" sz="2000" b="0" i="1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endParaRPr sz="2000" b="0" i="0" u="none" strike="noStrike" cap="none">
              <a:solidFill>
                <a:srgbClr val="0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582" name="Google Shape;582;p17"/>
          <p:cNvSpPr txBox="1"/>
          <p:nvPr/>
        </p:nvSpPr>
        <p:spPr>
          <a:xfrm>
            <a:off x="5105399" y="5338691"/>
            <a:ext cx="47783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Bookman Old Style"/>
              <a:buNone/>
            </a:pPr>
            <a:r>
              <a:rPr lang="en-US" sz="2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or</a:t>
            </a:r>
            <a:endParaRPr/>
          </a:p>
        </p:txBody>
      </p:sp>
      <p:sp>
        <p:nvSpPr>
          <p:cNvPr id="583" name="Google Shape;583;p17"/>
          <p:cNvSpPr txBox="1"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orbel"/>
              <a:buNone/>
            </a:pPr>
            <a:r>
              <a:rPr lang="en-US"/>
              <a:t>Deterministic Finite Machine</a:t>
            </a:r>
            <a:endParaRPr/>
          </a:p>
        </p:txBody>
      </p:sp>
      <p:sp>
        <p:nvSpPr>
          <p:cNvPr id="584" name="Google Shape;584;p17"/>
          <p:cNvSpPr txBox="1"/>
          <p:nvPr/>
        </p:nvSpPr>
        <p:spPr>
          <a:xfrm>
            <a:off x="476205" y="1532427"/>
            <a:ext cx="775411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DFA Example 1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8"/>
          <p:cNvSpPr txBox="1"/>
          <p:nvPr/>
        </p:nvSpPr>
        <p:spPr>
          <a:xfrm>
            <a:off x="2583656" y="526682"/>
            <a:ext cx="4373635" cy="493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DFA Design Example </a:t>
            </a:r>
            <a:endParaRPr/>
          </a:p>
        </p:txBody>
      </p:sp>
      <p:sp>
        <p:nvSpPr>
          <p:cNvPr id="591" name="Google Shape;591;p18"/>
          <p:cNvSpPr txBox="1"/>
          <p:nvPr/>
        </p:nvSpPr>
        <p:spPr>
          <a:xfrm>
            <a:off x="3121025" y="1229001"/>
            <a:ext cx="5883275" cy="561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1313" marR="0" lvl="0" indent="-34131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Alphabet Σ={0,1,2}.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1313" marR="0" lvl="0" indent="-341313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Language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{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the sum of all the symbols in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multiple of 3 }.</a:t>
            </a:r>
            <a:endParaRPr/>
          </a:p>
          <a:p>
            <a:pPr marL="804863" marR="0" lvl="1" indent="-349250" algn="l" rtl="0">
              <a:lnSpc>
                <a:spcPct val="8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•"/>
            </a:pPr>
            <a: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be represented as follows – </a:t>
            </a:r>
            <a:endParaRPr/>
          </a:p>
          <a:p>
            <a:pPr marL="1255713" marR="0" lvl="2" indent="-33655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•"/>
            </a:pPr>
            <a:r>
              <a:rPr lang="en-US"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the sum of all the symbols in </a:t>
            </a:r>
            <a:r>
              <a:rPr lang="en-US"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1255713" marR="0" lvl="2" indent="-33655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en-US"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modulo 3 = 0 then the sum is multiple of 3.</a:t>
            </a:r>
            <a:endParaRPr/>
          </a:p>
          <a:p>
            <a:pPr marL="1255713" marR="0" lvl="2" indent="-33655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 the sum of all the symbols in </a:t>
            </a:r>
            <a:r>
              <a:rPr lang="en-US"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0 modulo 3.</a:t>
            </a:r>
            <a:endParaRPr/>
          </a:p>
          <a:p>
            <a:pPr marL="1255713" marR="0" lvl="2" indent="-33655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Here, </a:t>
            </a:r>
            <a:r>
              <a:rPr lang="en-US"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6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modeled as </a:t>
            </a:r>
            <a:r>
              <a:rPr lang="en-US"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modulo 3 = </a:t>
            </a:r>
            <a:r>
              <a:rPr lang="en-US" sz="1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341313" marR="0" lvl="0" indent="-341313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finite state machine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180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Σ,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lang="en-US" sz="180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180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where – </a:t>
            </a:r>
            <a:endParaRPr/>
          </a:p>
          <a:p>
            <a:pPr marL="804863" marR="0" lvl="1" indent="-349250" algn="l" rtl="0">
              <a:lnSpc>
                <a:spcPct val="8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•"/>
            </a:pPr>
            <a:r>
              <a:rPr lang="en-US" sz="1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170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{</a:t>
            </a:r>
            <a:r>
              <a:rPr lang="en-US" sz="1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1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1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},</a:t>
            </a:r>
            <a:endParaRPr/>
          </a:p>
          <a:p>
            <a:pPr marL="804863" marR="0" lvl="1" indent="-349250" algn="l" rtl="0">
              <a:lnSpc>
                <a:spcPct val="8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•"/>
            </a:pPr>
            <a:r>
              <a:rPr lang="en-US" sz="1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1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marL="804863" marR="0" lvl="1" indent="-349250" algn="l" rtl="0">
              <a:lnSpc>
                <a:spcPct val="8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•"/>
            </a:pPr>
            <a:r>
              <a:rPr lang="en-US" sz="1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170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{</a:t>
            </a:r>
            <a:r>
              <a:rPr lang="en-US" sz="1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},</a:t>
            </a:r>
            <a:endParaRPr/>
          </a:p>
          <a:p>
            <a:pPr marL="804863" marR="0" lvl="1" indent="-349250" algn="l" rtl="0">
              <a:lnSpc>
                <a:spcPct val="80000"/>
              </a:lnSpc>
              <a:spcBef>
                <a:spcPts val="10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•"/>
            </a:pPr>
            <a:r>
              <a:rPr lang="en-US" sz="1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lang="en-US" sz="170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700" b="0" i="1" u="sng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br>
              <a:rPr lang="en-US" sz="1700" b="0" i="1" u="sng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00" b="0" i="1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    </a:t>
            </a:r>
            <a:r>
              <a:rPr lang="en-US" sz="2100" b="0" i="1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b="0" i="1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      </a:t>
            </a:r>
            <a:r>
              <a:rPr lang="en-US" sz="17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	1	2  </a:t>
            </a:r>
            <a:r>
              <a:rPr lang="en-US" sz="1700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      </a:t>
            </a:r>
            <a: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	</a:t>
            </a:r>
            <a:r>
              <a:rPr lang="en-US" sz="1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b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      </a:t>
            </a:r>
            <a: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	</a:t>
            </a:r>
            <a:r>
              <a:rPr lang="en-US" sz="1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b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      </a:t>
            </a:r>
            <a: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	</a:t>
            </a:r>
            <a:r>
              <a:rPr lang="en-US" sz="1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	</a:t>
            </a:r>
            <a:r>
              <a:rPr lang="en-US" sz="17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92" name="Google Shape;592;p18"/>
          <p:cNvSpPr/>
          <p:nvPr/>
        </p:nvSpPr>
        <p:spPr>
          <a:xfrm>
            <a:off x="0" y="4164288"/>
            <a:ext cx="3381375" cy="25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1313" marR="0" lvl="0" indent="-34131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example: 01120101</a:t>
            </a:r>
            <a:endParaRPr/>
          </a:p>
          <a:p>
            <a:pPr marL="341313" marR="0" lvl="0" indent="-341313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 State:</a:t>
            </a:r>
            <a:endParaRPr/>
          </a:p>
          <a:p>
            <a:pPr marL="341313" marR="0" lvl="0" indent="-227013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1313" marR="0" lvl="0" indent="-227013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1313" marR="0" lvl="0" indent="-341313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symbol:</a:t>
            </a:r>
            <a:endParaRPr/>
          </a:p>
          <a:p>
            <a:pPr marL="341313" marR="0" lvl="0" indent="-188913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1313" marR="0" lvl="0" indent="-341313"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Accepted</a:t>
            </a:r>
            <a:endParaRPr/>
          </a:p>
        </p:txBody>
      </p:sp>
      <p:sp>
        <p:nvSpPr>
          <p:cNvPr id="593" name="Google Shape;593;p18"/>
          <p:cNvSpPr txBox="1"/>
          <p:nvPr/>
        </p:nvSpPr>
        <p:spPr>
          <a:xfrm>
            <a:off x="790575" y="4834213"/>
            <a:ext cx="555625" cy="457200"/>
          </a:xfrm>
          <a:prstGeom prst="rect">
            <a:avLst/>
          </a:prstGeom>
          <a:solidFill>
            <a:srgbClr val="66FF3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ookman Old Style"/>
              <a:buNone/>
            </a:pPr>
            <a:r>
              <a:rPr lang="en-US" sz="24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</a:t>
            </a:r>
            <a:r>
              <a:rPr lang="en-US" sz="2400" baseline="-25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/>
          </a:p>
        </p:txBody>
      </p:sp>
      <p:sp>
        <p:nvSpPr>
          <p:cNvPr id="594" name="Google Shape;594;p18"/>
          <p:cNvSpPr txBox="1"/>
          <p:nvPr/>
        </p:nvSpPr>
        <p:spPr>
          <a:xfrm>
            <a:off x="796925" y="4826276"/>
            <a:ext cx="555625" cy="457200"/>
          </a:xfrm>
          <a:prstGeom prst="rect">
            <a:avLst/>
          </a:prstGeom>
          <a:solidFill>
            <a:srgbClr val="66FF3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ookman Old Style"/>
              <a:buNone/>
            </a:pPr>
            <a:r>
              <a:rPr lang="en-US" sz="24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</a:t>
            </a:r>
            <a:r>
              <a:rPr lang="en-US" sz="2400" baseline="-25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/>
          </a:p>
        </p:txBody>
      </p:sp>
      <p:sp>
        <p:nvSpPr>
          <p:cNvPr id="595" name="Google Shape;595;p18"/>
          <p:cNvSpPr txBox="1"/>
          <p:nvPr/>
        </p:nvSpPr>
        <p:spPr>
          <a:xfrm>
            <a:off x="776288" y="4824688"/>
            <a:ext cx="555625" cy="457200"/>
          </a:xfrm>
          <a:prstGeom prst="rect">
            <a:avLst/>
          </a:prstGeom>
          <a:solidFill>
            <a:srgbClr val="66FF3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ookman Old Style"/>
              <a:buNone/>
            </a:pPr>
            <a:r>
              <a:rPr lang="en-US" sz="24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</a:t>
            </a:r>
            <a:r>
              <a:rPr lang="en-US" sz="2400" baseline="-25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/>
          </a:p>
        </p:txBody>
      </p:sp>
      <p:sp>
        <p:nvSpPr>
          <p:cNvPr id="596" name="Google Shape;596;p18"/>
          <p:cNvSpPr txBox="1"/>
          <p:nvPr/>
        </p:nvSpPr>
        <p:spPr>
          <a:xfrm>
            <a:off x="409575" y="5947051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Bookman Old Style"/>
              <a:buNone/>
            </a:pPr>
            <a:r>
              <a:rPr lang="en-US" sz="1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1120101</a:t>
            </a:r>
            <a:endParaRPr/>
          </a:p>
        </p:txBody>
      </p:sp>
      <p:sp>
        <p:nvSpPr>
          <p:cNvPr id="597" name="Google Shape;597;p18"/>
          <p:cNvSpPr txBox="1"/>
          <p:nvPr/>
        </p:nvSpPr>
        <p:spPr>
          <a:xfrm>
            <a:off x="415925" y="5926413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ookman Old Style"/>
              <a:buNone/>
            </a:pP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r>
              <a:rPr lang="en-US" sz="1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120101</a:t>
            </a:r>
            <a:endParaRPr/>
          </a:p>
        </p:txBody>
      </p:sp>
      <p:sp>
        <p:nvSpPr>
          <p:cNvPr id="598" name="Google Shape;598;p18"/>
          <p:cNvSpPr txBox="1"/>
          <p:nvPr/>
        </p:nvSpPr>
        <p:spPr>
          <a:xfrm>
            <a:off x="406400" y="5940701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ookman Old Style"/>
              <a:buNone/>
            </a:pP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01</a:t>
            </a:r>
            <a:r>
              <a:rPr lang="en-US" sz="1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20101</a:t>
            </a:r>
            <a:endParaRPr/>
          </a:p>
        </p:txBody>
      </p:sp>
      <p:sp>
        <p:nvSpPr>
          <p:cNvPr id="599" name="Google Shape;599;p18"/>
          <p:cNvSpPr txBox="1"/>
          <p:nvPr/>
        </p:nvSpPr>
        <p:spPr>
          <a:xfrm>
            <a:off x="415925" y="5926413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ookman Old Style"/>
              <a:buNone/>
            </a:pP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011</a:t>
            </a:r>
            <a:r>
              <a:rPr lang="en-US" sz="1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0101</a:t>
            </a:r>
            <a:endParaRPr/>
          </a:p>
        </p:txBody>
      </p:sp>
      <p:sp>
        <p:nvSpPr>
          <p:cNvPr id="600" name="Google Shape;600;p18"/>
          <p:cNvSpPr txBox="1"/>
          <p:nvPr/>
        </p:nvSpPr>
        <p:spPr>
          <a:xfrm>
            <a:off x="409575" y="5932763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ookman Old Style"/>
              <a:buNone/>
            </a:pP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0112</a:t>
            </a:r>
            <a:r>
              <a:rPr lang="en-US" sz="1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101</a:t>
            </a:r>
            <a:endParaRPr/>
          </a:p>
        </p:txBody>
      </p:sp>
      <p:sp>
        <p:nvSpPr>
          <p:cNvPr id="601" name="Google Shape;601;p18"/>
          <p:cNvSpPr txBox="1"/>
          <p:nvPr/>
        </p:nvSpPr>
        <p:spPr>
          <a:xfrm>
            <a:off x="415925" y="5926413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ookman Old Style"/>
              <a:buNone/>
            </a:pP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01120</a:t>
            </a:r>
            <a:r>
              <a:rPr lang="en-US" sz="1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01</a:t>
            </a:r>
            <a:endParaRPr/>
          </a:p>
        </p:txBody>
      </p:sp>
      <p:sp>
        <p:nvSpPr>
          <p:cNvPr id="602" name="Google Shape;602;p18"/>
          <p:cNvSpPr txBox="1"/>
          <p:nvPr/>
        </p:nvSpPr>
        <p:spPr>
          <a:xfrm>
            <a:off x="396875" y="5934351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ookman Old Style"/>
              <a:buNone/>
            </a:pP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011201</a:t>
            </a:r>
            <a:r>
              <a:rPr lang="en-US" sz="1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/>
          </a:p>
        </p:txBody>
      </p:sp>
      <p:sp>
        <p:nvSpPr>
          <p:cNvPr id="603" name="Google Shape;603;p18"/>
          <p:cNvSpPr txBox="1"/>
          <p:nvPr/>
        </p:nvSpPr>
        <p:spPr>
          <a:xfrm>
            <a:off x="403225" y="5929588"/>
            <a:ext cx="1497013" cy="336550"/>
          </a:xfrm>
          <a:prstGeom prst="rect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ookman Old Style"/>
              <a:buNone/>
            </a:pP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0112010</a:t>
            </a:r>
            <a:r>
              <a:rPr lang="en-US" sz="1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/>
          </a:p>
        </p:txBody>
      </p:sp>
      <p:cxnSp>
        <p:nvCxnSpPr>
          <p:cNvPr id="604" name="Google Shape;604;p18"/>
          <p:cNvCxnSpPr/>
          <p:nvPr/>
        </p:nvCxnSpPr>
        <p:spPr>
          <a:xfrm rot="10800000">
            <a:off x="939800" y="3575326"/>
            <a:ext cx="0" cy="542925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605" name="Google Shape;605;p18"/>
          <p:cNvSpPr/>
          <p:nvPr/>
        </p:nvSpPr>
        <p:spPr>
          <a:xfrm>
            <a:off x="1393825" y="1032151"/>
            <a:ext cx="847725" cy="847725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1313" marR="0" lvl="0" indent="-34131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Bookman Old Style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</a:t>
            </a:r>
            <a:r>
              <a:rPr lang="en-US" sz="3200" b="0" i="0" u="none" strike="noStrike" cap="none" baseline="-25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/>
          </a:p>
        </p:txBody>
      </p:sp>
      <p:sp>
        <p:nvSpPr>
          <p:cNvPr id="606" name="Google Shape;606;p18"/>
          <p:cNvSpPr/>
          <p:nvPr/>
        </p:nvSpPr>
        <p:spPr>
          <a:xfrm>
            <a:off x="527050" y="2708551"/>
            <a:ext cx="847725" cy="847725"/>
          </a:xfrm>
          <a:prstGeom prst="ellipse">
            <a:avLst/>
          </a:prstGeom>
          <a:noFill/>
          <a:ln w="88900" cap="flat" cmpd="dbl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1313" marR="0" lvl="0" indent="-34131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Bookman Old Style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</a:t>
            </a:r>
            <a:r>
              <a:rPr lang="en-US" sz="3200" b="0" i="0" u="none" strike="noStrike" cap="none" baseline="-25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/>
          </a:p>
        </p:txBody>
      </p:sp>
      <p:sp>
        <p:nvSpPr>
          <p:cNvPr id="607" name="Google Shape;607;p18"/>
          <p:cNvSpPr/>
          <p:nvPr/>
        </p:nvSpPr>
        <p:spPr>
          <a:xfrm>
            <a:off x="2187575" y="2673626"/>
            <a:ext cx="847725" cy="847725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1313" marR="0" lvl="0" indent="-34131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Bookman Old Style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</a:t>
            </a:r>
            <a:r>
              <a:rPr lang="en-US" sz="3200" b="0" i="0" u="none" strike="noStrike" cap="none" baseline="-25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/>
          </a:p>
        </p:txBody>
      </p:sp>
      <p:cxnSp>
        <p:nvCxnSpPr>
          <p:cNvPr id="608" name="Google Shape;608;p18"/>
          <p:cNvCxnSpPr>
            <a:stCxn id="606" idx="1"/>
            <a:endCxn id="605" idx="2"/>
          </p:cNvCxnSpPr>
          <p:nvPr/>
        </p:nvCxnSpPr>
        <p:spPr>
          <a:xfrm rot="-5400000">
            <a:off x="334096" y="1773097"/>
            <a:ext cx="1376700" cy="742500"/>
          </a:xfrm>
          <a:prstGeom prst="curved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609" name="Google Shape;609;p18"/>
          <p:cNvCxnSpPr>
            <a:stCxn id="605" idx="3"/>
            <a:endCxn id="606" idx="0"/>
          </p:cNvCxnSpPr>
          <p:nvPr/>
        </p:nvCxnSpPr>
        <p:spPr>
          <a:xfrm flipH="1">
            <a:off x="950971" y="1755730"/>
            <a:ext cx="567000" cy="952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610" name="Google Shape;610;p18"/>
          <p:cNvCxnSpPr>
            <a:stCxn id="606" idx="7"/>
            <a:endCxn id="607" idx="1"/>
          </p:cNvCxnSpPr>
          <p:nvPr/>
        </p:nvCxnSpPr>
        <p:spPr>
          <a:xfrm rot="10800000" flipH="1">
            <a:off x="1250629" y="2797897"/>
            <a:ext cx="1061100" cy="34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611" name="Google Shape;611;p18"/>
          <p:cNvCxnSpPr>
            <a:stCxn id="607" idx="0"/>
            <a:endCxn id="605" idx="5"/>
          </p:cNvCxnSpPr>
          <p:nvPr/>
        </p:nvCxnSpPr>
        <p:spPr>
          <a:xfrm rot="10800000">
            <a:off x="2117338" y="1755626"/>
            <a:ext cx="494100" cy="918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612" name="Google Shape;612;p18"/>
          <p:cNvCxnSpPr>
            <a:stCxn id="605" idx="6"/>
            <a:endCxn id="607" idx="7"/>
          </p:cNvCxnSpPr>
          <p:nvPr/>
        </p:nvCxnSpPr>
        <p:spPr>
          <a:xfrm>
            <a:off x="2241550" y="1456014"/>
            <a:ext cx="669600" cy="1341900"/>
          </a:xfrm>
          <a:prstGeom prst="curved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613" name="Google Shape;613;p18"/>
          <p:cNvCxnSpPr>
            <a:stCxn id="607" idx="3"/>
            <a:endCxn id="606" idx="5"/>
          </p:cNvCxnSpPr>
          <p:nvPr/>
        </p:nvCxnSpPr>
        <p:spPr>
          <a:xfrm rot="5400000">
            <a:off x="1763771" y="2884055"/>
            <a:ext cx="34800" cy="1061100"/>
          </a:xfrm>
          <a:prstGeom prst="curvedConnector3">
            <a:avLst>
              <a:gd name="adj1" fmla="val 1114006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614" name="Google Shape;614;p18"/>
          <p:cNvCxnSpPr>
            <a:stCxn id="606" idx="2"/>
            <a:endCxn id="606" idx="3"/>
          </p:cNvCxnSpPr>
          <p:nvPr/>
        </p:nvCxnSpPr>
        <p:spPr>
          <a:xfrm>
            <a:off x="527050" y="3132413"/>
            <a:ext cx="124200" cy="299700"/>
          </a:xfrm>
          <a:prstGeom prst="curvedConnector4">
            <a:avLst>
              <a:gd name="adj1" fmla="val -366842"/>
              <a:gd name="adj2" fmla="val 217708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615" name="Google Shape;615;p18"/>
          <p:cNvCxnSpPr>
            <a:stCxn id="605" idx="0"/>
            <a:endCxn id="605" idx="1"/>
          </p:cNvCxnSpPr>
          <p:nvPr/>
        </p:nvCxnSpPr>
        <p:spPr>
          <a:xfrm rot="5400000">
            <a:off x="1605738" y="944401"/>
            <a:ext cx="124200" cy="299700"/>
          </a:xfrm>
          <a:prstGeom prst="curvedConnector3">
            <a:avLst>
              <a:gd name="adj1" fmla="val -377064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616" name="Google Shape;616;p18"/>
          <p:cNvCxnSpPr>
            <a:stCxn id="607" idx="4"/>
            <a:endCxn id="607" idx="5"/>
          </p:cNvCxnSpPr>
          <p:nvPr/>
        </p:nvCxnSpPr>
        <p:spPr>
          <a:xfrm rot="-5400000">
            <a:off x="2699188" y="3309401"/>
            <a:ext cx="124200" cy="299700"/>
          </a:xfrm>
          <a:prstGeom prst="curvedConnector3">
            <a:avLst>
              <a:gd name="adj1" fmla="val -292708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617" name="Google Shape;617;p18"/>
          <p:cNvSpPr txBox="1"/>
          <p:nvPr/>
        </p:nvSpPr>
        <p:spPr>
          <a:xfrm>
            <a:off x="1782763" y="613051"/>
            <a:ext cx="3317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Bookman Old Style"/>
              <a:buNone/>
            </a:pPr>
            <a:r>
              <a:rPr lang="en-US" sz="2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/>
          </a:p>
        </p:txBody>
      </p:sp>
      <p:sp>
        <p:nvSpPr>
          <p:cNvPr id="618" name="Google Shape;618;p18"/>
          <p:cNvSpPr txBox="1"/>
          <p:nvPr/>
        </p:nvSpPr>
        <p:spPr>
          <a:xfrm>
            <a:off x="187325" y="2808563"/>
            <a:ext cx="3317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Bookman Old Style"/>
              <a:buNone/>
            </a:pPr>
            <a:r>
              <a:rPr lang="en-US" sz="2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/>
          </a:p>
        </p:txBody>
      </p:sp>
      <p:sp>
        <p:nvSpPr>
          <p:cNvPr id="619" name="Google Shape;619;p18"/>
          <p:cNvSpPr txBox="1"/>
          <p:nvPr/>
        </p:nvSpPr>
        <p:spPr>
          <a:xfrm>
            <a:off x="2354263" y="3502301"/>
            <a:ext cx="3317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Bookman Old Style"/>
              <a:buNone/>
            </a:pPr>
            <a:r>
              <a:rPr lang="en-US" sz="2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/>
          </a:p>
        </p:txBody>
      </p:sp>
      <p:sp>
        <p:nvSpPr>
          <p:cNvPr id="620" name="Google Shape;620;p18"/>
          <p:cNvSpPr txBox="1"/>
          <p:nvPr/>
        </p:nvSpPr>
        <p:spPr>
          <a:xfrm>
            <a:off x="419100" y="2137051"/>
            <a:ext cx="3317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Bookman Old Style"/>
              <a:buNone/>
            </a:pPr>
            <a:r>
              <a:rPr lang="en-US" sz="2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/>
          </a:p>
        </p:txBody>
      </p:sp>
      <p:sp>
        <p:nvSpPr>
          <p:cNvPr id="621" name="Google Shape;621;p18"/>
          <p:cNvSpPr txBox="1"/>
          <p:nvPr/>
        </p:nvSpPr>
        <p:spPr>
          <a:xfrm>
            <a:off x="1911350" y="3349901"/>
            <a:ext cx="3317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Bookman Old Style"/>
              <a:buNone/>
            </a:pPr>
            <a:r>
              <a:rPr lang="en-US" sz="2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/>
          </a:p>
        </p:txBody>
      </p:sp>
      <p:sp>
        <p:nvSpPr>
          <p:cNvPr id="622" name="Google Shape;622;p18"/>
          <p:cNvSpPr txBox="1"/>
          <p:nvPr/>
        </p:nvSpPr>
        <p:spPr>
          <a:xfrm>
            <a:off x="2281238" y="1176613"/>
            <a:ext cx="3317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Bookman Old Style"/>
              <a:buNone/>
            </a:pPr>
            <a:r>
              <a:rPr lang="en-US" sz="2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/>
          </a:p>
        </p:txBody>
      </p:sp>
      <p:sp>
        <p:nvSpPr>
          <p:cNvPr id="623" name="Google Shape;623;p18"/>
          <p:cNvSpPr txBox="1"/>
          <p:nvPr/>
        </p:nvSpPr>
        <p:spPr>
          <a:xfrm>
            <a:off x="1381125" y="1744938"/>
            <a:ext cx="3317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Bookman Old Style"/>
              <a:buNone/>
            </a:pPr>
            <a:r>
              <a:rPr lang="en-US" sz="2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/>
          </a:p>
        </p:txBody>
      </p:sp>
      <p:sp>
        <p:nvSpPr>
          <p:cNvPr id="624" name="Google Shape;624;p18"/>
          <p:cNvSpPr txBox="1"/>
          <p:nvPr/>
        </p:nvSpPr>
        <p:spPr>
          <a:xfrm>
            <a:off x="1335088" y="2719663"/>
            <a:ext cx="3317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Bookman Old Style"/>
              <a:buNone/>
            </a:pPr>
            <a:r>
              <a:rPr lang="en-US" sz="2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/>
          </a:p>
        </p:txBody>
      </p:sp>
      <p:sp>
        <p:nvSpPr>
          <p:cNvPr id="625" name="Google Shape;625;p18"/>
          <p:cNvSpPr txBox="1"/>
          <p:nvPr/>
        </p:nvSpPr>
        <p:spPr>
          <a:xfrm>
            <a:off x="2195513" y="2322788"/>
            <a:ext cx="3317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Bookman Old Style"/>
              <a:buNone/>
            </a:pPr>
            <a:r>
              <a:rPr lang="en-US" sz="2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/>
          </a:p>
        </p:txBody>
      </p:sp>
      <p:sp>
        <p:nvSpPr>
          <p:cNvPr id="626" name="Google Shape;626;p18"/>
          <p:cNvSpPr/>
          <p:nvPr/>
        </p:nvSpPr>
        <p:spPr>
          <a:xfrm>
            <a:off x="889000" y="4011888"/>
            <a:ext cx="106363" cy="119063"/>
          </a:xfrm>
          <a:prstGeom prst="ellipse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rgbClr val="0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627" name="Google Shape;627;p18"/>
          <p:cNvSpPr/>
          <p:nvPr/>
        </p:nvSpPr>
        <p:spPr>
          <a:xfrm>
            <a:off x="822325" y="2878413"/>
            <a:ext cx="106363" cy="119063"/>
          </a:xfrm>
          <a:prstGeom prst="ellipse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rgbClr val="0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628" name="Google Shape;628;p18"/>
          <p:cNvSpPr/>
          <p:nvPr/>
        </p:nvSpPr>
        <p:spPr>
          <a:xfrm>
            <a:off x="2522538" y="2775226"/>
            <a:ext cx="106362" cy="119062"/>
          </a:xfrm>
          <a:prstGeom prst="ellipse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rgbClr val="0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629" name="Google Shape;629;p18"/>
          <p:cNvSpPr/>
          <p:nvPr/>
        </p:nvSpPr>
        <p:spPr>
          <a:xfrm>
            <a:off x="1657350" y="1181376"/>
            <a:ext cx="106363" cy="119062"/>
          </a:xfrm>
          <a:prstGeom prst="ellipse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rgbClr val="0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630" name="Google Shape;630;p18"/>
          <p:cNvSpPr txBox="1"/>
          <p:nvPr/>
        </p:nvSpPr>
        <p:spPr>
          <a:xfrm>
            <a:off x="382588" y="593752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ookman Old Style"/>
              <a:buNone/>
            </a:pP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ε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"/>
                            </p:stCondLst>
                            <p:childTnLst>
                              <p:par>
                                <p:cTn id="28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"/>
                            </p:stCondLst>
                            <p:childTnLst>
                              <p:par>
                                <p:cTn id="45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"/>
                            </p:stCondLst>
                            <p:childTnLst>
                              <p:par>
                                <p:cTn id="62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"/>
                            </p:stCondLst>
                            <p:childTnLst>
                              <p:par>
                                <p:cTn id="85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"/>
                            </p:stCondLst>
                            <p:childTnLst>
                              <p:par>
                                <p:cTn id="108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9"/>
          <p:cNvSpPr txBox="1"/>
          <p:nvPr/>
        </p:nvSpPr>
        <p:spPr>
          <a:xfrm>
            <a:off x="264282" y="559213"/>
            <a:ext cx="4373635" cy="493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DFA Design Example </a:t>
            </a:r>
            <a:endParaRPr/>
          </a:p>
        </p:txBody>
      </p:sp>
      <p:sp>
        <p:nvSpPr>
          <p:cNvPr id="637" name="Google Shape;637;p19"/>
          <p:cNvSpPr txBox="1"/>
          <p:nvPr/>
        </p:nvSpPr>
        <p:spPr>
          <a:xfrm>
            <a:off x="3108325" y="1260964"/>
            <a:ext cx="5883275" cy="561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1313" marR="0" lvl="0" indent="-34131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Alphabet Σ={0,1,2}.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1313" marR="0" lvl="0" indent="-341313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Language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0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{</a:t>
            </a:r>
            <a:r>
              <a:rPr lang="en-US" sz="2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the sum of all the symbols in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an even number }.</a:t>
            </a:r>
            <a:endParaRPr/>
          </a:p>
          <a:p>
            <a:pPr marL="804863" marR="0" lvl="1" indent="-349250" algn="l" rtl="0">
              <a:lnSpc>
                <a:spcPct val="80000"/>
              </a:lnSpc>
              <a:spcBef>
                <a:spcPts val="95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Symbols"/>
              <a:buChar char="•"/>
            </a:pPr>
            <a:r>
              <a:rPr lang="en-U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be represented as follows – </a:t>
            </a:r>
            <a:endParaRPr/>
          </a:p>
          <a:p>
            <a:pPr marL="1255713" marR="0" lvl="2" indent="-336550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•"/>
            </a:pP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the sum of all the symbols in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1255713" marR="0" lvl="2" indent="-336550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modulo 2 = 0 then the sum is even.</a:t>
            </a:r>
            <a:endParaRPr/>
          </a:p>
          <a:p>
            <a:pPr marL="1255713" marR="0" lvl="2" indent="-336550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modeled as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modulo 2 =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341313" marR="0" lvl="0" indent="-341313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finite state machine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0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(</a:t>
            </a:r>
            <a:r>
              <a:rPr lang="en-US" sz="2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200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Σ,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lang="en-US" sz="200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20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00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where – </a:t>
            </a:r>
            <a:endParaRPr/>
          </a:p>
          <a:p>
            <a:pPr marL="804863" marR="0" lvl="1" indent="-349250" algn="l" rtl="0">
              <a:lnSpc>
                <a:spcPct val="80000"/>
              </a:lnSpc>
              <a:spcBef>
                <a:spcPts val="95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Symbols"/>
              <a:buChar char="•"/>
            </a:pPr>
            <a:r>
              <a:rPr lang="en-US" sz="19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190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9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{</a:t>
            </a:r>
            <a:r>
              <a:rPr lang="en-US" sz="19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9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19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9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},</a:t>
            </a:r>
            <a:endParaRPr/>
          </a:p>
          <a:p>
            <a:pPr marL="804863" marR="0" lvl="1" indent="-349250" algn="l" rtl="0">
              <a:lnSpc>
                <a:spcPct val="80000"/>
              </a:lnSpc>
              <a:spcBef>
                <a:spcPts val="95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Symbols"/>
              <a:buChar char="•"/>
            </a:pPr>
            <a:r>
              <a:rPr lang="en-US" sz="19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19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19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9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marL="804863" marR="0" lvl="1" indent="-349250" algn="l" rtl="0">
              <a:lnSpc>
                <a:spcPct val="80000"/>
              </a:lnSpc>
              <a:spcBef>
                <a:spcPts val="95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Symbols"/>
              <a:buChar char="•"/>
            </a:pPr>
            <a:r>
              <a:rPr lang="en-US" sz="19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190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{</a:t>
            </a:r>
            <a:r>
              <a:rPr lang="en-US" sz="19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9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},</a:t>
            </a:r>
            <a:endParaRPr/>
          </a:p>
          <a:p>
            <a:pPr marL="804863" marR="0" lvl="1" indent="-349250" algn="l" rtl="0">
              <a:lnSpc>
                <a:spcPct val="80000"/>
              </a:lnSpc>
              <a:spcBef>
                <a:spcPts val="125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Symbols"/>
              <a:buChar char="•"/>
            </a:pPr>
            <a:r>
              <a:rPr lang="en-US" sz="19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lang="en-US" sz="1900" b="0" i="1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900" b="0" i="1" u="sng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br>
              <a:rPr lang="en-US" sz="1900" b="0" i="1" u="sng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900" b="0" i="1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    </a:t>
            </a:r>
            <a:r>
              <a:rPr lang="en-US" sz="2500" b="0" i="1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1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      </a:t>
            </a:r>
            <a:r>
              <a:rPr lang="en-US" sz="19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	1	2  </a:t>
            </a:r>
            <a:r>
              <a:rPr lang="en-US" sz="1900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9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9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      </a:t>
            </a:r>
            <a:r>
              <a:rPr lang="en-U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en-US" sz="19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9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9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9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9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	</a:t>
            </a:r>
            <a:r>
              <a:rPr lang="en-US" sz="19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9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br>
              <a:rPr lang="en-U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9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9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      </a:t>
            </a:r>
            <a:r>
              <a:rPr lang="en-U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	</a:t>
            </a:r>
            <a:r>
              <a:rPr lang="en-US" sz="19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9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9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9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9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9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38" name="Google Shape;638;p19"/>
          <p:cNvSpPr/>
          <p:nvPr/>
        </p:nvSpPr>
        <p:spPr>
          <a:xfrm>
            <a:off x="-12700" y="4196251"/>
            <a:ext cx="3381375" cy="25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1313" marR="0" lvl="0" indent="-34131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example: 01120101</a:t>
            </a:r>
            <a:endParaRPr/>
          </a:p>
          <a:p>
            <a:pPr marL="341313" marR="0" lvl="0" indent="-341313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 State:</a:t>
            </a:r>
            <a:endParaRPr/>
          </a:p>
          <a:p>
            <a:pPr marL="341313" marR="0" lvl="0" indent="-227013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1313" marR="0" lvl="0" indent="-265113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1313" marR="0" lvl="0" indent="-341313" algn="l" rtl="0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symbol:</a:t>
            </a:r>
            <a:endParaRPr/>
          </a:p>
          <a:p>
            <a:pPr marL="341313" marR="0" lvl="0" indent="-188913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1313" marR="0" lvl="0" indent="-341313"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Accepted</a:t>
            </a:r>
            <a:endParaRPr/>
          </a:p>
        </p:txBody>
      </p:sp>
      <p:sp>
        <p:nvSpPr>
          <p:cNvPr id="639" name="Google Shape;639;p19"/>
          <p:cNvSpPr txBox="1"/>
          <p:nvPr/>
        </p:nvSpPr>
        <p:spPr>
          <a:xfrm>
            <a:off x="777875" y="4866176"/>
            <a:ext cx="555625" cy="457200"/>
          </a:xfrm>
          <a:prstGeom prst="rect">
            <a:avLst/>
          </a:prstGeom>
          <a:solidFill>
            <a:srgbClr val="66FF3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ookman Old Style"/>
              <a:buNone/>
            </a:pPr>
            <a:r>
              <a:rPr lang="en-US" sz="2400" i="1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</a:t>
            </a:r>
            <a:r>
              <a:rPr lang="en-US" sz="2400" baseline="-25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/>
          </a:p>
        </p:txBody>
      </p:sp>
      <p:sp>
        <p:nvSpPr>
          <p:cNvPr id="640" name="Google Shape;640;p19"/>
          <p:cNvSpPr txBox="1"/>
          <p:nvPr/>
        </p:nvSpPr>
        <p:spPr>
          <a:xfrm>
            <a:off x="776288" y="4867764"/>
            <a:ext cx="555625" cy="457200"/>
          </a:xfrm>
          <a:prstGeom prst="rect">
            <a:avLst/>
          </a:prstGeom>
          <a:solidFill>
            <a:srgbClr val="66FF3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ookman Old Style"/>
              <a:buNone/>
            </a:pPr>
            <a:r>
              <a:rPr lang="en-US" sz="2400" i="1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</a:t>
            </a:r>
            <a:r>
              <a:rPr lang="en-US" sz="2400" baseline="-25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/>
          </a:p>
        </p:txBody>
      </p:sp>
      <p:sp>
        <p:nvSpPr>
          <p:cNvPr id="641" name="Google Shape;641;p19"/>
          <p:cNvSpPr txBox="1"/>
          <p:nvPr/>
        </p:nvSpPr>
        <p:spPr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Bookman Old Style"/>
              <a:buNone/>
            </a:pPr>
            <a:r>
              <a:rPr lang="en-US" sz="1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1120101</a:t>
            </a:r>
            <a:endParaRPr/>
          </a:p>
        </p:txBody>
      </p:sp>
      <p:sp>
        <p:nvSpPr>
          <p:cNvPr id="642" name="Google Shape;642;p19"/>
          <p:cNvSpPr txBox="1"/>
          <p:nvPr/>
        </p:nvSpPr>
        <p:spPr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ookman Old Style"/>
              <a:buNone/>
            </a:pP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r>
              <a:rPr lang="en-US" sz="1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120101</a:t>
            </a:r>
            <a:endParaRPr/>
          </a:p>
        </p:txBody>
      </p:sp>
      <p:sp>
        <p:nvSpPr>
          <p:cNvPr id="643" name="Google Shape;643;p19"/>
          <p:cNvSpPr txBox="1"/>
          <p:nvPr/>
        </p:nvSpPr>
        <p:spPr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ookman Old Style"/>
              <a:buNone/>
            </a:pP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01</a:t>
            </a:r>
            <a:r>
              <a:rPr lang="en-US" sz="1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20101</a:t>
            </a:r>
            <a:endParaRPr/>
          </a:p>
        </p:txBody>
      </p:sp>
      <p:sp>
        <p:nvSpPr>
          <p:cNvPr id="644" name="Google Shape;644;p19"/>
          <p:cNvSpPr txBox="1"/>
          <p:nvPr/>
        </p:nvSpPr>
        <p:spPr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ookman Old Style"/>
              <a:buNone/>
            </a:pP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011</a:t>
            </a:r>
            <a:r>
              <a:rPr lang="en-US" sz="1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0101</a:t>
            </a:r>
            <a:endParaRPr/>
          </a:p>
        </p:txBody>
      </p:sp>
      <p:sp>
        <p:nvSpPr>
          <p:cNvPr id="645" name="Google Shape;645;p19"/>
          <p:cNvSpPr txBox="1"/>
          <p:nvPr/>
        </p:nvSpPr>
        <p:spPr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ookman Old Style"/>
              <a:buNone/>
            </a:pP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0112</a:t>
            </a:r>
            <a:r>
              <a:rPr lang="en-US" sz="1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101</a:t>
            </a:r>
            <a:endParaRPr/>
          </a:p>
        </p:txBody>
      </p:sp>
      <p:sp>
        <p:nvSpPr>
          <p:cNvPr id="646" name="Google Shape;646;p19"/>
          <p:cNvSpPr txBox="1"/>
          <p:nvPr/>
        </p:nvSpPr>
        <p:spPr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ookman Old Style"/>
              <a:buNone/>
            </a:pP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01120</a:t>
            </a:r>
            <a:r>
              <a:rPr lang="en-US" sz="1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01</a:t>
            </a:r>
            <a:endParaRPr/>
          </a:p>
        </p:txBody>
      </p:sp>
      <p:sp>
        <p:nvSpPr>
          <p:cNvPr id="647" name="Google Shape;647;p19"/>
          <p:cNvSpPr txBox="1"/>
          <p:nvPr/>
        </p:nvSpPr>
        <p:spPr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ookman Old Style"/>
              <a:buNone/>
            </a:pP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011201</a:t>
            </a:r>
            <a:r>
              <a:rPr lang="en-US" sz="1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/>
          </a:p>
        </p:txBody>
      </p:sp>
      <p:sp>
        <p:nvSpPr>
          <p:cNvPr id="648" name="Google Shape;648;p19"/>
          <p:cNvSpPr txBox="1"/>
          <p:nvPr/>
        </p:nvSpPr>
        <p:spPr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ookman Old Style"/>
              <a:buNone/>
            </a:pP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0112010</a:t>
            </a:r>
            <a:r>
              <a:rPr lang="en-US" sz="1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/>
          </a:p>
        </p:txBody>
      </p:sp>
      <p:cxnSp>
        <p:nvCxnSpPr>
          <p:cNvPr id="649" name="Google Shape;649;p19"/>
          <p:cNvCxnSpPr/>
          <p:nvPr/>
        </p:nvCxnSpPr>
        <p:spPr>
          <a:xfrm rot="10800000">
            <a:off x="1117600" y="2324589"/>
            <a:ext cx="0" cy="542925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650" name="Google Shape;650;p19"/>
          <p:cNvSpPr/>
          <p:nvPr/>
        </p:nvSpPr>
        <p:spPr>
          <a:xfrm>
            <a:off x="666750" y="1457814"/>
            <a:ext cx="847725" cy="847725"/>
          </a:xfrm>
          <a:prstGeom prst="ellipse">
            <a:avLst/>
          </a:prstGeom>
          <a:noFill/>
          <a:ln w="88900" cap="flat" cmpd="dbl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1313" marR="0" lvl="0" indent="-34131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Bookman Old Style"/>
              <a:buNone/>
            </a:pPr>
            <a:r>
              <a:rPr lang="en-US" sz="3200" b="0" i="1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</a:t>
            </a:r>
            <a:r>
              <a:rPr lang="en-US" sz="3200" b="0" i="0" u="none" strike="noStrike" cap="none" baseline="-25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/>
          </a:p>
        </p:txBody>
      </p:sp>
      <p:sp>
        <p:nvSpPr>
          <p:cNvPr id="651" name="Google Shape;651;p19"/>
          <p:cNvSpPr/>
          <p:nvPr/>
        </p:nvSpPr>
        <p:spPr>
          <a:xfrm>
            <a:off x="2327275" y="1422889"/>
            <a:ext cx="847725" cy="847725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1313" marR="0" lvl="0" indent="-34131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Bookman Old Style"/>
              <a:buNone/>
            </a:pPr>
            <a:r>
              <a:rPr lang="en-US" sz="3200" b="0" i="1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</a:t>
            </a:r>
            <a:r>
              <a:rPr lang="en-US" sz="3200" b="0" i="0" u="none" strike="noStrike" cap="none" baseline="-25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/>
          </a:p>
        </p:txBody>
      </p:sp>
      <p:cxnSp>
        <p:nvCxnSpPr>
          <p:cNvPr id="652" name="Google Shape;652;p19"/>
          <p:cNvCxnSpPr>
            <a:stCxn id="650" idx="7"/>
            <a:endCxn id="651" idx="1"/>
          </p:cNvCxnSpPr>
          <p:nvPr/>
        </p:nvCxnSpPr>
        <p:spPr>
          <a:xfrm rot="10800000" flipH="1">
            <a:off x="1390329" y="1547160"/>
            <a:ext cx="1061100" cy="34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653" name="Google Shape;653;p19"/>
          <p:cNvCxnSpPr>
            <a:stCxn id="651" idx="3"/>
            <a:endCxn id="650" idx="5"/>
          </p:cNvCxnSpPr>
          <p:nvPr/>
        </p:nvCxnSpPr>
        <p:spPr>
          <a:xfrm rot="5400000">
            <a:off x="1903471" y="1633318"/>
            <a:ext cx="34800" cy="1061100"/>
          </a:xfrm>
          <a:prstGeom prst="curvedConnector3">
            <a:avLst>
              <a:gd name="adj1" fmla="val 1114006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654" name="Google Shape;654;p19"/>
          <p:cNvCxnSpPr>
            <a:stCxn id="650" idx="2"/>
            <a:endCxn id="650" idx="3"/>
          </p:cNvCxnSpPr>
          <p:nvPr/>
        </p:nvCxnSpPr>
        <p:spPr>
          <a:xfrm>
            <a:off x="666750" y="1881677"/>
            <a:ext cx="124200" cy="299700"/>
          </a:xfrm>
          <a:prstGeom prst="curvedConnector4">
            <a:avLst>
              <a:gd name="adj1" fmla="val -366842"/>
              <a:gd name="adj2" fmla="val 217708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655" name="Google Shape;655;p19"/>
          <p:cNvCxnSpPr>
            <a:stCxn id="651" idx="4"/>
            <a:endCxn id="651" idx="5"/>
          </p:cNvCxnSpPr>
          <p:nvPr/>
        </p:nvCxnSpPr>
        <p:spPr>
          <a:xfrm rot="-5400000">
            <a:off x="2838888" y="2058664"/>
            <a:ext cx="124200" cy="299700"/>
          </a:xfrm>
          <a:prstGeom prst="curvedConnector3">
            <a:avLst>
              <a:gd name="adj1" fmla="val -292708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656" name="Google Shape;656;p19"/>
          <p:cNvSpPr txBox="1"/>
          <p:nvPr/>
        </p:nvSpPr>
        <p:spPr>
          <a:xfrm>
            <a:off x="76200" y="1570526"/>
            <a:ext cx="5984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Bookman Old Style"/>
              <a:buNone/>
            </a:pPr>
            <a:r>
              <a:rPr lang="en-US" sz="2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0,2</a:t>
            </a:r>
            <a:endParaRPr/>
          </a:p>
        </p:txBody>
      </p:sp>
      <p:sp>
        <p:nvSpPr>
          <p:cNvPr id="657" name="Google Shape;657;p19"/>
          <p:cNvSpPr txBox="1"/>
          <p:nvPr/>
        </p:nvSpPr>
        <p:spPr>
          <a:xfrm>
            <a:off x="2613025" y="2521439"/>
            <a:ext cx="6508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Bookman Old Style"/>
              <a:buNone/>
            </a:pPr>
            <a:r>
              <a:rPr lang="en-US" sz="2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0,2</a:t>
            </a:r>
            <a:endParaRPr/>
          </a:p>
        </p:txBody>
      </p:sp>
      <p:sp>
        <p:nvSpPr>
          <p:cNvPr id="658" name="Google Shape;658;p19"/>
          <p:cNvSpPr txBox="1"/>
          <p:nvPr/>
        </p:nvSpPr>
        <p:spPr>
          <a:xfrm>
            <a:off x="2051050" y="2099164"/>
            <a:ext cx="3317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Bookman Old Style"/>
              <a:buNone/>
            </a:pPr>
            <a:r>
              <a:rPr lang="en-US" sz="2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/>
          </a:p>
        </p:txBody>
      </p:sp>
      <p:sp>
        <p:nvSpPr>
          <p:cNvPr id="659" name="Google Shape;659;p19"/>
          <p:cNvSpPr txBox="1"/>
          <p:nvPr/>
        </p:nvSpPr>
        <p:spPr>
          <a:xfrm>
            <a:off x="1474788" y="1468926"/>
            <a:ext cx="3317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Bookman Old Style"/>
              <a:buNone/>
            </a:pPr>
            <a:r>
              <a:rPr lang="en-US" sz="20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/>
          </a:p>
        </p:txBody>
      </p:sp>
      <p:sp>
        <p:nvSpPr>
          <p:cNvPr id="660" name="Google Shape;660;p19"/>
          <p:cNvSpPr/>
          <p:nvPr/>
        </p:nvSpPr>
        <p:spPr>
          <a:xfrm>
            <a:off x="1066800" y="2761151"/>
            <a:ext cx="106363" cy="119063"/>
          </a:xfrm>
          <a:prstGeom prst="ellipse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rgbClr val="0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661" name="Google Shape;661;p19"/>
          <p:cNvSpPr/>
          <p:nvPr/>
        </p:nvSpPr>
        <p:spPr>
          <a:xfrm>
            <a:off x="1068388" y="1602276"/>
            <a:ext cx="106362" cy="119063"/>
          </a:xfrm>
          <a:prstGeom prst="ellipse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rgbClr val="0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662" name="Google Shape;662;p19"/>
          <p:cNvSpPr/>
          <p:nvPr/>
        </p:nvSpPr>
        <p:spPr>
          <a:xfrm>
            <a:off x="2713038" y="1448289"/>
            <a:ext cx="106362" cy="119062"/>
          </a:xfrm>
          <a:prstGeom prst="ellipse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rgbClr val="0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663" name="Google Shape;663;p19"/>
          <p:cNvSpPr txBox="1"/>
          <p:nvPr/>
        </p:nvSpPr>
        <p:spPr>
          <a:xfrm>
            <a:off x="912813" y="5882176"/>
            <a:ext cx="1497012" cy="336550"/>
          </a:xfrm>
          <a:prstGeom prst="rect">
            <a:avLst/>
          </a:prstGeom>
          <a:solidFill>
            <a:srgbClr val="F62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3" marR="0" lvl="0" indent="-34131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ookman Old Style"/>
              <a:buNone/>
            </a:pPr>
            <a:r>
              <a:rPr lang="en-US" sz="1600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ε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"/>
                            </p:stCondLst>
                            <p:childTnLst>
                              <p:par>
                                <p:cTn id="2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"/>
                            </p:stCondLst>
                            <p:childTnLst>
                              <p:par>
                                <p:cTn id="4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"/>
                            </p:stCondLst>
                            <p:childTnLst>
                              <p:par>
                                <p:cTn id="7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"/>
                            </p:stCondLst>
                            <p:childTnLst>
                              <p:par>
                                <p:cTn id="9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0"/>
          <p:cNvSpPr txBox="1"/>
          <p:nvPr/>
        </p:nvSpPr>
        <p:spPr>
          <a:xfrm>
            <a:off x="264282" y="559213"/>
            <a:ext cx="4373635" cy="493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DFA Design Example (Type 1) </a:t>
            </a:r>
            <a:endParaRPr/>
          </a:p>
        </p:txBody>
      </p:sp>
      <p:sp>
        <p:nvSpPr>
          <p:cNvPr id="670" name="Google Shape;670;p20"/>
          <p:cNvSpPr/>
          <p:nvPr/>
        </p:nvSpPr>
        <p:spPr>
          <a:xfrm>
            <a:off x="475297" y="1318022"/>
            <a:ext cx="8668703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construction of DFA for languages consisting of strings ending with a particular substring.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 the minimum number of states required in the DFA.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the length of substring.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strings ending with ‘n’ length substring will always require minimum (n+1) states in the DFA.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 those states.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Decide the strings for which DFA will be constructed.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 a DFA for the decided strings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constructing a DFA, Always prefer to use the existing path. Create a new path only when there exists no path to go with.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 all the left possible combinations to the starting state.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not send the left possible combinations over the dead state.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1"/>
          <p:cNvSpPr txBox="1"/>
          <p:nvPr/>
        </p:nvSpPr>
        <p:spPr>
          <a:xfrm>
            <a:off x="264282" y="559212"/>
            <a:ext cx="7261933" cy="622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DFA Design Example and Exercise </a:t>
            </a:r>
            <a:endParaRPr/>
          </a:p>
        </p:txBody>
      </p:sp>
      <p:sp>
        <p:nvSpPr>
          <p:cNvPr id="677" name="Google Shape;677;p21"/>
          <p:cNvSpPr/>
          <p:nvPr/>
        </p:nvSpPr>
        <p:spPr>
          <a:xfrm>
            <a:off x="533821" y="1486835"/>
            <a:ext cx="8076358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 a DFA for the language accepting strings ending with ‘abb’ over input alphabets ∑ = {a, b}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 a DFA for the language accepting strings starting with ‘ab’ over input alphabets ∑ = {a, b}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 a DFA for the language accepting strings ‘ab’ in the middle (sub string) over input alphabets ∑ = {a, b}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22"/>
          <p:cNvSpPr txBox="1"/>
          <p:nvPr/>
        </p:nvSpPr>
        <p:spPr>
          <a:xfrm>
            <a:off x="335494" y="595100"/>
            <a:ext cx="3232896" cy="493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 References</a:t>
            </a:r>
            <a:endParaRPr/>
          </a:p>
        </p:txBody>
      </p:sp>
      <p:sp>
        <p:nvSpPr>
          <p:cNvPr id="684" name="Google Shape;684;p22"/>
          <p:cNvSpPr txBox="1"/>
          <p:nvPr/>
        </p:nvSpPr>
        <p:spPr>
          <a:xfrm>
            <a:off x="783772" y="1762205"/>
            <a:ext cx="735323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Portland State University Lectures (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set Construction Wikipedia (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Maynooth University Lectures (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23"/>
          <p:cNvSpPr txBox="1"/>
          <p:nvPr/>
        </p:nvSpPr>
        <p:spPr>
          <a:xfrm>
            <a:off x="335494" y="595100"/>
            <a:ext cx="3232896" cy="493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340"/>
              <a:buFont typeface="Noto Sans Symbols"/>
              <a:buNone/>
            </a:pPr>
            <a:r>
              <a:rPr lang="en-US" sz="2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References/Books</a:t>
            </a:r>
            <a:endParaRPr/>
          </a:p>
        </p:txBody>
      </p:sp>
      <p:sp>
        <p:nvSpPr>
          <p:cNvPr id="690" name="Google Shape;690;p23"/>
          <p:cNvSpPr txBox="1"/>
          <p:nvPr/>
        </p:nvSpPr>
        <p:spPr>
          <a:xfrm>
            <a:off x="335494" y="1718266"/>
            <a:ext cx="833604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Compilers-Principles, techniques and tools (2nd Edition) V. Aho, Sethi and D. Ullman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Principles of Compiler Design (2nd Revised Edition 2009) A. A. Puntambekar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Basics of Compiler Design Torben Mogensen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2071</Words>
  <Application>Microsoft Office PowerPoint</Application>
  <PresentationFormat>On-screen Show (4:3)</PresentationFormat>
  <Paragraphs>470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Noto Sans Symbols</vt:lpstr>
      <vt:lpstr>Arial</vt:lpstr>
      <vt:lpstr>Calibri</vt:lpstr>
      <vt:lpstr>Bookman Old Style</vt:lpstr>
      <vt:lpstr>Corbel</vt:lpstr>
      <vt:lpstr>Rockwell</vt:lpstr>
      <vt:lpstr>Courier New</vt:lpstr>
      <vt:lpstr>Spectrum</vt:lpstr>
      <vt:lpstr>NFA to DFA Conversion  (Subset Construction Method)</vt:lpstr>
      <vt:lpstr>Lecture Outline</vt:lpstr>
      <vt:lpstr>Objective and Outcome</vt:lpstr>
      <vt:lpstr>NFA to DFA Conversion </vt:lpstr>
      <vt:lpstr>NFA to DFA Conversion </vt:lpstr>
      <vt:lpstr>NFA to DFA Conversion </vt:lpstr>
      <vt:lpstr>Subset Construction Algorithm</vt:lpstr>
      <vt:lpstr>Subset Construction Algorithm</vt:lpstr>
      <vt:lpstr>Subset Construction Algorithm</vt:lpstr>
      <vt:lpstr>NFA to DFA Conversion </vt:lpstr>
      <vt:lpstr>PowerPoint Presentation</vt:lpstr>
      <vt:lpstr>PowerPoint Presentation</vt:lpstr>
      <vt:lpstr>NFA to DFA Conversion </vt:lpstr>
      <vt:lpstr>NFA to DFA Conversion </vt:lpstr>
      <vt:lpstr>PowerPoint Presentation</vt:lpstr>
      <vt:lpstr>Deterministic Finite Machine</vt:lpstr>
      <vt:lpstr>Deterministic Finite Machine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Mahbubul Syeed</dc:creator>
  <cp:lastModifiedBy>AFNAN BIN ISLAM NAHIN</cp:lastModifiedBy>
  <cp:revision>2</cp:revision>
  <dcterms:created xsi:type="dcterms:W3CDTF">2018-12-10T17:20:29Z</dcterms:created>
  <dcterms:modified xsi:type="dcterms:W3CDTF">2025-05-27T07:42:58Z</dcterms:modified>
</cp:coreProperties>
</file>
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6858000" cy="9144000"/>
  <p:embeddedFontLst>
    <p:embeddedFont>
      <p:font typeface="Corbel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Y3jchhg6MJfshIT8mEdi0yRiK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0E084C-7F5F-4701-8E44-0E884B41C0D2}">
  <a:tblStyle styleId="{210E084C-7F5F-4701-8E44-0E884B41C0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6E6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6E6E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orbel-bold.fntdata"/><Relationship Id="rId25" Type="http://schemas.openxmlformats.org/officeDocument/2006/relationships/font" Target="fonts/Corbel-regular.fntdata"/><Relationship Id="rId28" Type="http://schemas.openxmlformats.org/officeDocument/2006/relationships/font" Target="fonts/Corbel-boldItalic.fntdata"/><Relationship Id="rId27" Type="http://schemas.openxmlformats.org/officeDocument/2006/relationships/font" Target="fonts/Corbel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0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6" name="Google Shape;16;p20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7" name="Google Shape;17;p2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20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sz="4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IUB logo" id="23" name="Google Shape;2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8596" y="459899"/>
            <a:ext cx="1419654" cy="1428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" name="Google Shape;27;p21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28" name="Google Shape;28;p2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1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Image result for AIUB logo" id="31" name="Google Shape;3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9374" y="55844"/>
            <a:ext cx="1279161" cy="1287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22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35" name="Google Shape;35;p22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2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22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🡽"/>
              <a:defRPr/>
            </a:lvl1pPr>
            <a:lvl2pPr indent="-331469" lvl="1" marL="914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>
  <p:cSld name="Title Slide with Pictur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3"/>
          <p:cNvSpPr/>
          <p:nvPr>
            <p:ph idx="2" type="pic"/>
          </p:nvPr>
        </p:nvSpPr>
        <p:spPr>
          <a:xfrm>
            <a:off x="284162" y="2017058"/>
            <a:ext cx="8574087" cy="4377391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3"/>
          <p:cNvSpPr txBox="1"/>
          <p:nvPr>
            <p:ph idx="1" type="subTitle"/>
          </p:nvPr>
        </p:nvSpPr>
        <p:spPr>
          <a:xfrm>
            <a:off x="472420" y="1532965"/>
            <a:ext cx="7754284" cy="484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50" name="Google Shape;50;p23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51" name="Google Shape;51;p23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3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3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23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3"/>
          <p:cNvSpPr txBox="1"/>
          <p:nvPr>
            <p:ph type="ctrTitle"/>
          </p:nvPr>
        </p:nvSpPr>
        <p:spPr>
          <a:xfrm>
            <a:off x="418633" y="444728"/>
            <a:ext cx="7810967" cy="1088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58" name="Google Shape;58;p24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59" name="Google Shape;59;p24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4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4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24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4"/>
          <p:cNvSpPr txBox="1"/>
          <p:nvPr>
            <p:ph type="title"/>
          </p:nvPr>
        </p:nvSpPr>
        <p:spPr>
          <a:xfrm>
            <a:off x="429768" y="4814125"/>
            <a:ext cx="7772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475488" y="5861304"/>
            <a:ext cx="77358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with Picture">
  <p:cSld name="Section with Pictur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/>
          <p:nvPr>
            <p:ph idx="2" type="pic"/>
          </p:nvPr>
        </p:nvSpPr>
        <p:spPr>
          <a:xfrm>
            <a:off x="284162" y="443754"/>
            <a:ext cx="8574087" cy="4370293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5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5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74" name="Google Shape;74;p25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75" name="Google Shape;75;p2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5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5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25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5"/>
          <p:cNvSpPr txBox="1"/>
          <p:nvPr>
            <p:ph type="title"/>
          </p:nvPr>
        </p:nvSpPr>
        <p:spPr>
          <a:xfrm>
            <a:off x="430306" y="4814047"/>
            <a:ext cx="7772400" cy="10488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>
            <a:off x="470647" y="5862918"/>
            <a:ext cx="7732059" cy="40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2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4" name="Google Shape;84;p26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6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26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" type="body"/>
          </p:nvPr>
        </p:nvSpPr>
        <p:spPr>
          <a:xfrm>
            <a:off x="403412" y="2151063"/>
            <a:ext cx="393192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/>
        </p:txBody>
      </p:sp>
      <p:sp>
        <p:nvSpPr>
          <p:cNvPr id="89" name="Google Shape;89;p26"/>
          <p:cNvSpPr txBox="1"/>
          <p:nvPr>
            <p:ph idx="2" type="body"/>
          </p:nvPr>
        </p:nvSpPr>
        <p:spPr>
          <a:xfrm>
            <a:off x="4778188" y="2151063"/>
            <a:ext cx="393192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/>
        </p:txBody>
      </p:sp>
      <p:sp>
        <p:nvSpPr>
          <p:cNvPr id="90" name="Google Shape;90;p26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6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2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6" name="Google Shape;96;p2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7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27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" type="body"/>
          </p:nvPr>
        </p:nvSpPr>
        <p:spPr>
          <a:xfrm>
            <a:off x="403412" y="1735138"/>
            <a:ext cx="3931920" cy="833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b="0" sz="26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9pPr>
          </a:lstStyle>
          <a:p/>
        </p:txBody>
      </p:sp>
      <p:sp>
        <p:nvSpPr>
          <p:cNvPr id="101" name="Google Shape;101;p27"/>
          <p:cNvSpPr txBox="1"/>
          <p:nvPr>
            <p:ph idx="2" type="body"/>
          </p:nvPr>
        </p:nvSpPr>
        <p:spPr>
          <a:xfrm>
            <a:off x="403412" y="2590800"/>
            <a:ext cx="3931920" cy="353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8pPr>
            <a:lvl9pPr indent="-320040" lvl="8" marL="41148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9pPr>
          </a:lstStyle>
          <a:p/>
        </p:txBody>
      </p:sp>
      <p:sp>
        <p:nvSpPr>
          <p:cNvPr id="102" name="Google Shape;102;p27"/>
          <p:cNvSpPr txBox="1"/>
          <p:nvPr>
            <p:ph idx="3" type="body"/>
          </p:nvPr>
        </p:nvSpPr>
        <p:spPr>
          <a:xfrm>
            <a:off x="4779495" y="1735138"/>
            <a:ext cx="3931920" cy="833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b="0" sz="26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9pPr>
          </a:lstStyle>
          <a:p/>
        </p:txBody>
      </p:sp>
      <p:sp>
        <p:nvSpPr>
          <p:cNvPr id="103" name="Google Shape;103;p27"/>
          <p:cNvSpPr txBox="1"/>
          <p:nvPr>
            <p:ph idx="4" type="body"/>
          </p:nvPr>
        </p:nvSpPr>
        <p:spPr>
          <a:xfrm>
            <a:off x="4779495" y="2590800"/>
            <a:ext cx="3931920" cy="353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20039" lvl="5" marL="27432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6pPr>
            <a:lvl7pPr indent="-320039" lvl="6" marL="32004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7pPr>
            <a:lvl8pPr indent="-320040" lvl="7" marL="36576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8pPr>
            <a:lvl9pPr indent="-320040" lvl="8" marL="411480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9pPr>
          </a:lstStyle>
          <a:p/>
        </p:txBody>
      </p:sp>
      <p:sp>
        <p:nvSpPr>
          <p:cNvPr id="104" name="Google Shape;104;p27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2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10" name="Google Shape;110;p2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8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28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>
            <p:ph type="title"/>
          </p:nvPr>
        </p:nvSpPr>
        <p:spPr>
          <a:xfrm>
            <a:off x="268941" y="1298762"/>
            <a:ext cx="406908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rbel"/>
              <a:buNone/>
              <a:defRPr b="1" sz="3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9"/>
          <p:cNvSpPr txBox="1"/>
          <p:nvPr>
            <p:ph idx="1" type="body"/>
          </p:nvPr>
        </p:nvSpPr>
        <p:spPr>
          <a:xfrm>
            <a:off x="4783567" y="914400"/>
            <a:ext cx="406908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/>
        </p:txBody>
      </p:sp>
      <p:sp>
        <p:nvSpPr>
          <p:cNvPr id="120" name="Google Shape;120;p29"/>
          <p:cNvSpPr txBox="1"/>
          <p:nvPr>
            <p:ph idx="2" type="body"/>
          </p:nvPr>
        </p:nvSpPr>
        <p:spPr>
          <a:xfrm>
            <a:off x="268941" y="2456329"/>
            <a:ext cx="4069080" cy="31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162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21" name="Google Shape;121;p29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4" name="Google Shape;124;p29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125" name="Google Shape;125;p2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30" name="Google Shape;130;p30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31" name="Google Shape;131;p3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30"/>
          <p:cNvSpPr txBox="1"/>
          <p:nvPr>
            <p:ph type="title"/>
          </p:nvPr>
        </p:nvSpPr>
        <p:spPr>
          <a:xfrm>
            <a:off x="363071" y="4800600"/>
            <a:ext cx="836024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b="0" i="0" sz="28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0"/>
          <p:cNvSpPr/>
          <p:nvPr>
            <p:ph idx="2" type="pic"/>
          </p:nvPr>
        </p:nvSpPr>
        <p:spPr>
          <a:xfrm>
            <a:off x="284163" y="457199"/>
            <a:ext cx="8577072" cy="4352544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419099" y="5367338"/>
            <a:ext cx="8304213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37" name="Google Shape;137;p30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, Alt.">
  <p:cSld name="Picture with Caption, Alt.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31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42" name="Google Shape;142;p31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31"/>
          <p:cNvSpPr txBox="1"/>
          <p:nvPr>
            <p:ph type="title"/>
          </p:nvPr>
        </p:nvSpPr>
        <p:spPr>
          <a:xfrm>
            <a:off x="363071" y="4778189"/>
            <a:ext cx="836024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rbel"/>
              <a:buNone/>
              <a:defRPr b="0" sz="2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1"/>
          <p:cNvSpPr/>
          <p:nvPr>
            <p:ph idx="2" type="pic"/>
          </p:nvPr>
        </p:nvSpPr>
        <p:spPr>
          <a:xfrm>
            <a:off x="284163" y="457200"/>
            <a:ext cx="8577072" cy="3822192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1"/>
          <p:cNvSpPr txBox="1"/>
          <p:nvPr>
            <p:ph idx="1" type="body"/>
          </p:nvPr>
        </p:nvSpPr>
        <p:spPr>
          <a:xfrm>
            <a:off x="419099" y="5344927"/>
            <a:ext cx="8304213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262626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48" name="Google Shape;148;p31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, Picture, and Caption">
  <p:cSld name="Content, Picture, and Captio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idx="1" type="body"/>
          </p:nvPr>
        </p:nvSpPr>
        <p:spPr>
          <a:xfrm>
            <a:off x="3657600" y="914400"/>
            <a:ext cx="5195047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/>
        </p:txBody>
      </p:sp>
      <p:sp>
        <p:nvSpPr>
          <p:cNvPr id="153" name="Google Shape;153;p32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32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7" name="Google Shape;157;p32"/>
          <p:cNvSpPr txBox="1"/>
          <p:nvPr>
            <p:ph idx="2" type="body"/>
          </p:nvPr>
        </p:nvSpPr>
        <p:spPr>
          <a:xfrm>
            <a:off x="419101" y="4953001"/>
            <a:ext cx="2472017" cy="1246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58" name="Google Shape;158;p32"/>
          <p:cNvSpPr txBox="1"/>
          <p:nvPr>
            <p:ph type="title"/>
          </p:nvPr>
        </p:nvSpPr>
        <p:spPr>
          <a:xfrm>
            <a:off x="410764" y="4419600"/>
            <a:ext cx="2475395" cy="5109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rbel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2"/>
          <p:cNvSpPr/>
          <p:nvPr>
            <p:ph idx="3" type="pic"/>
          </p:nvPr>
        </p:nvSpPr>
        <p:spPr>
          <a:xfrm>
            <a:off x="284164" y="594360"/>
            <a:ext cx="2743200" cy="367588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0" name="Google Shape;160;p32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1" name="Google Shape;161;p32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2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">
  <p:cSld name="3 Pictures with Caption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anchorCtr="0" anchor="b" bIns="365750" lIns="91425" spcFirstLastPara="1" rIns="18287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t/>
            </a: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66" name="Google Shape;166;p33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67" name="Google Shape;167;p33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3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3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33"/>
          <p:cNvSpPr txBox="1"/>
          <p:nvPr>
            <p:ph type="title"/>
          </p:nvPr>
        </p:nvSpPr>
        <p:spPr>
          <a:xfrm>
            <a:off x="3031661" y="4800600"/>
            <a:ext cx="569165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b="0" i="0" sz="280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3"/>
          <p:cNvSpPr/>
          <p:nvPr>
            <p:ph idx="2" type="pic"/>
          </p:nvPr>
        </p:nvSpPr>
        <p:spPr>
          <a:xfrm>
            <a:off x="3021014" y="457199"/>
            <a:ext cx="5833872" cy="4352544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3"/>
          <p:cNvSpPr txBox="1"/>
          <p:nvPr>
            <p:ph idx="1" type="body"/>
          </p:nvPr>
        </p:nvSpPr>
        <p:spPr>
          <a:xfrm>
            <a:off x="3069805" y="5367338"/>
            <a:ext cx="5653507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/>
        </p:txBody>
      </p:sp>
      <p:sp>
        <p:nvSpPr>
          <p:cNvPr id="173" name="Google Shape;173;p33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3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3"/>
          <p:cNvSpPr/>
          <p:nvPr>
            <p:ph idx="3" type="pic"/>
          </p:nvPr>
        </p:nvSpPr>
        <p:spPr>
          <a:xfrm>
            <a:off x="284164" y="457200"/>
            <a:ext cx="2736850" cy="2907792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3"/>
          <p:cNvSpPr/>
          <p:nvPr>
            <p:ph idx="4" type="pic"/>
          </p:nvPr>
        </p:nvSpPr>
        <p:spPr>
          <a:xfrm>
            <a:off x="284164" y="3364992"/>
            <a:ext cx="2736850" cy="289864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34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81" name="Google Shape;181;p34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4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4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34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 rot="5400000">
            <a:off x="2564607" y="-146843"/>
            <a:ext cx="4013200" cy="857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🡽"/>
              <a:defRPr/>
            </a:lvl1pPr>
            <a:lvl2pPr indent="-331469" lvl="1" marL="914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4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5"/>
          <p:cNvSpPr txBox="1"/>
          <p:nvPr>
            <p:ph type="title"/>
          </p:nvPr>
        </p:nvSpPr>
        <p:spPr>
          <a:xfrm rot="5400000">
            <a:off x="5219069" y="2949131"/>
            <a:ext cx="5921375" cy="969264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orbel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 rot="5400000">
            <a:off x="564357" y="177007"/>
            <a:ext cx="5937250" cy="649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🡽"/>
              <a:defRPr/>
            </a:lvl1pPr>
            <a:lvl2pPr indent="-331469" lvl="1" marL="914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2pPr>
            <a:lvl3pPr indent="-331469" lvl="2" marL="1371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3pPr>
            <a:lvl4pPr indent="-331469" lvl="3" marL="1828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4pPr>
            <a:lvl5pPr indent="-331470" lvl="4" marL="22860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5pPr>
            <a:lvl6pPr indent="-331470" lvl="5" marL="27432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6pPr>
            <a:lvl7pPr indent="-331470" lvl="6" marL="32004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7pPr>
            <a:lvl8pPr indent="-331470" lvl="7" marL="36576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8pPr>
            <a:lvl9pPr indent="-331470" lvl="8" marL="411480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5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6" name="Google Shape;196;p35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197" name="Google Shape;197;p3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5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35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idx="1" type="body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5760" lvl="0" marL="457200" marR="0" rtl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Char char="🡽"/>
              <a:defRPr b="0" i="0" sz="2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433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980"/>
              <a:buFont typeface="Noto Sans Symbols"/>
              <a:buChar char="🡽"/>
              <a:defRPr b="0" i="0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🡽"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146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147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1470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1470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1470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1470" lvl="8" marL="4114800" marR="0" rtl="0" algn="l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0" type="dt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1" type="ftr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2" type="sldNum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19"/>
          <p:cNvSpPr txBox="1"/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b="0" i="0" sz="4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billah.masumcu@aiub.edu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Regular Expression</a:t>
            </a:r>
            <a:endParaRPr/>
          </a:p>
        </p:txBody>
      </p:sp>
      <p:sp>
        <p:nvSpPr>
          <p:cNvPr id="205" name="Google Shape;205;p1"/>
          <p:cNvSpPr txBox="1"/>
          <p:nvPr>
            <p:ph idx="1" type="subTitle"/>
          </p:nvPr>
        </p:nvSpPr>
        <p:spPr>
          <a:xfrm>
            <a:off x="476205" y="1532427"/>
            <a:ext cx="2789509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Course Code:CSC3220</a:t>
            </a:r>
            <a:endParaRPr/>
          </a:p>
        </p:txBody>
      </p:sp>
      <p:sp>
        <p:nvSpPr>
          <p:cNvPr id="206" name="Google Shape;206;p1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Dept. of Computer Science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Faculty of Science and Technology</a:t>
            </a:r>
            <a:endParaRPr b="1" i="0" sz="2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7" name="Google Shape;207;p1"/>
          <p:cNvGraphicFramePr/>
          <p:nvPr/>
        </p:nvGraphicFramePr>
        <p:xfrm>
          <a:off x="476205" y="51860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{210E084C-7F5F-4701-8E44-0E884B41C0D2}</a:tableStyleId>
              </a:tblPr>
              <a:tblGrid>
                <a:gridCol w="1483225"/>
                <a:gridCol w="1397725"/>
                <a:gridCol w="1227900"/>
                <a:gridCol w="1541425"/>
                <a:gridCol w="1240975"/>
                <a:gridCol w="1444550"/>
              </a:tblGrid>
              <a:tr h="37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Lecturer No: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Week No: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Semester: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Lecturer:</a:t>
                      </a:r>
                      <a:endParaRPr/>
                    </a:p>
                  </a:txBody>
                  <a:tcPr marT="45725" marB="45725" marR="91450" marL="91450"/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/>
                        <a:t>K. M. Imtiaz-Ud-Din </a:t>
                      </a:r>
                      <a:r>
                        <a:rPr i="1" lang="en-US" sz="1800"/>
                        <a:t>,k.m.imtiaz</a:t>
                      </a:r>
                      <a:r>
                        <a:rPr i="1" lang="en-US" sz="1800" u="sng">
                          <a:solidFill>
                            <a:schemeClr val="hlink"/>
                          </a:solidFill>
                          <a:hlinkClick r:id="rId3"/>
                        </a:rPr>
                        <a:t>@aiub.edu</a:t>
                      </a:r>
                      <a:endParaRPr i="1" sz="1800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208" name="Google Shape;208;p1"/>
          <p:cNvSpPr txBox="1"/>
          <p:nvPr/>
        </p:nvSpPr>
        <p:spPr>
          <a:xfrm>
            <a:off x="3320578" y="1538380"/>
            <a:ext cx="4164439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Course Title: Compiler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Lecture Outline</a:t>
            </a:r>
            <a:endParaRPr/>
          </a:p>
        </p:txBody>
      </p:sp>
      <p:sp>
        <p:nvSpPr>
          <p:cNvPr id="214" name="Google Shape;214;p2"/>
          <p:cNvSpPr txBox="1"/>
          <p:nvPr>
            <p:ph idx="1" type="subTitle"/>
          </p:nvPr>
        </p:nvSpPr>
        <p:spPr>
          <a:xfrm>
            <a:off x="486697" y="2363928"/>
            <a:ext cx="7754112" cy="3009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Definition of a Regular Expression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Rules of a Regular Expression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Examples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Exercises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Objectives and Outcomes</a:t>
            </a:r>
            <a:endParaRPr/>
          </a:p>
        </p:txBody>
      </p:sp>
      <p:sp>
        <p:nvSpPr>
          <p:cNvPr id="220" name="Google Shape;220;p3"/>
          <p:cNvSpPr txBox="1"/>
          <p:nvPr/>
        </p:nvSpPr>
        <p:spPr>
          <a:xfrm>
            <a:off x="421341" y="2112340"/>
            <a:ext cx="8525711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the basic concept of Regular expression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the regular expression algorithm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Outcome: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should be able to design the nondeterministic finite automate from regular expression.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should be able to know the applications of a regular expression. 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Regular Expression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 txBox="1"/>
          <p:nvPr/>
        </p:nvSpPr>
        <p:spPr>
          <a:xfrm>
            <a:off x="421341" y="2112340"/>
            <a:ext cx="8525711" cy="5386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sequence of  symbols and characters expressing a string or pattern to be searched for within a longer piece of text.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words to say a  regular expression is a method used in programming for pattern matching. Regular expressions provide a flexible and concise means to match strings of text.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regular expressions are built recursively out of smaller regular expressions, using some rules.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regular expression r denotes a language L(r), which is also defined recursively from the languages denoted by r ' s subexpressions.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Regular Expression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421341" y="2112340"/>
            <a:ext cx="8525711" cy="3016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regular expressions are built recursively out of smaller regular expressions, using some rules.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regular expression r denotes a language L(r), which is also defined recursively from the languages denoted by r ' s subexpressions.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of Regular Expression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365761" y="1795817"/>
            <a:ext cx="813382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the rules that define the regular expressions over some alphabet £ and the languages that those expressions denote.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Basis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Induction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Precedence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of Regular Expression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365761" y="1795817"/>
            <a:ext cx="813382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BASIS: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 rules that form the basis: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is a regular expression,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L(E)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{E}, that is, the language whose sole member is the empty string.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symbol in E, then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regular expression, and L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{a},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is, the language with one string, of length one, with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its one position. Here italics is used for symbols, and boldface for their corresponding regular expression.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of Regular Expression</a:t>
            </a:r>
            <a:endParaRPr/>
          </a:p>
        </p:txBody>
      </p:sp>
      <p:sp>
        <p:nvSpPr>
          <p:cNvPr id="250" name="Google Shape;250;p8"/>
          <p:cNvSpPr txBox="1"/>
          <p:nvPr/>
        </p:nvSpPr>
        <p:spPr>
          <a:xfrm>
            <a:off x="365761" y="1795817"/>
            <a:ext cx="8133823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INDUCTION: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four parts to the induction. Suppose r and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regular expressions denoting languages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L(r)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L(s),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respectively.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(r)|(s) is a regular expression denoting the language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L(r)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L(s).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(r)(s) is a regular expression denoting the language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L(r)L(s).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(r)* is a regular expression denoting (L(r))*.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(r) is a regular expression denoting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L(r).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last rule says that we can add additional pairs of parentheses around expressions without changing the language they denote.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a Regular expression </a:t>
            </a:r>
            <a:endParaRPr/>
          </a:p>
        </p:txBody>
      </p:sp>
      <p:sp>
        <p:nvSpPr>
          <p:cNvPr id="256" name="Google Shape;256;p9"/>
          <p:cNvSpPr txBox="1"/>
          <p:nvPr/>
        </p:nvSpPr>
        <p:spPr>
          <a:xfrm>
            <a:off x="365761" y="1795817"/>
            <a:ext cx="813382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 E = {a, b}.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The regular expression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a|b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denotes the language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{a, b}.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(a|b)(a|b)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{aa, ab, ba, bb},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language of all strings of length two over the alphabet E.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Another regular expression for the same language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aa|ab|ba|bb.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a*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denotes the language consisting of all strings of zero or more a's, that is, { E,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, a a , a a a , . . . }.</a:t>
            </a:r>
            <a:endParaRPr/>
          </a:p>
          <a:p>
            <a:pPr indent="-1714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a Regular expression 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365761" y="1795817"/>
            <a:ext cx="81339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 E = {a, b}.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(a|b)*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denotes the set of all strings consisting of zero or more instances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is, all strings of a's and b's: {E ,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b,aa, ab, ba, bb,aaa,...}.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regular expression for the same language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(a*b*)*.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a|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a*b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denotes the language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{a, b, ab, aab, aaab,...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}, that is, the string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all strings consisting of zero or more a's and ending 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/>
          <p:nvPr/>
        </p:nvSpPr>
        <p:spPr>
          <a:xfrm>
            <a:off x="335494" y="731162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 of a Regular expression 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365761" y="1795817"/>
            <a:ext cx="813382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various operations on languages are: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Union of two languages L and M is written as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	 L U M = {s | s is in L or s is in M}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Concatenation of two languages L and M is written as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	LM = {st | s is in L and t is in M}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Kleene Closure of a language L is written as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	L* = Zero or more occurrence of language 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/>
          <p:nvPr/>
        </p:nvSpPr>
        <p:spPr>
          <a:xfrm>
            <a:off x="335494" y="716873"/>
            <a:ext cx="6543608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Nondeterministic Finite Automata(NFA)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365761" y="1913805"/>
            <a:ext cx="813382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NFA can be represented by a 5-tuple (Q, ∑, δ, q0, F) where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is a finite set of states.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∑ is a finite set of symbols called the alphabets.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is the transition function where δ: Q × ∑ → 2^Q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q0 is the initial state from where any input is processed (q0 ∈ Q).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is a set of final state/states of Q (F ⊆ Q).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Regular Expression To NFA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421341" y="2112340"/>
            <a:ext cx="8525711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Outline the NFA generated by the construction of Thompson relevant to the following regular expression: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((a | b)*c)*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812" y="3555536"/>
            <a:ext cx="68103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Regular Expression To NFA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421341" y="2112340"/>
            <a:ext cx="852571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means of the construction of Thompson, outline the NFA relevant to the following regular expression: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(b | c)*d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" y="3493919"/>
            <a:ext cx="6762750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/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Regular Expression To NFA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421341" y="2112340"/>
            <a:ext cx="852571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means of the construction of Thompson, outline the NFA relevant to the following regular expression: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(b | c)*d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/>
        </p:nvSpPr>
        <p:spPr>
          <a:xfrm>
            <a:off x="335494" y="595100"/>
            <a:ext cx="3232896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Exercises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783772" y="2435897"/>
            <a:ext cx="212109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(aUb)*abc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(abUbc(abUc)*)*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/>
        </p:nvSpPr>
        <p:spPr>
          <a:xfrm>
            <a:off x="335494" y="595100"/>
            <a:ext cx="3232896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 References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783772" y="2435897"/>
            <a:ext cx="715195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Aho, R. Sethi and J. Ullman, </a:t>
            </a: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Compilers: Principles, Techniques and Tools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Dragon Book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 [ Second Edition]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/>
          <p:nvPr/>
        </p:nvSpPr>
        <p:spPr>
          <a:xfrm>
            <a:off x="335494" y="595100"/>
            <a:ext cx="3232896" cy="49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783772" y="2435897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783771" y="2235816"/>
            <a:ext cx="692532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Aho, R. Sethi and J. Ullman, </a:t>
            </a: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Compilers: Principles, Techniques and Tools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Dragon Book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 [ Second Edition]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Compiler Design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(2nd Revised Edition 2009) A. A. Puntambekar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rbel"/>
              <a:buAutoNum type="arabicPeriod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Basics of Compiler Design Torben Mogensen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ctrum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2018-12-10T17:20:29Z</dcterms:created>
  <dc:creator>Mahbubul Syeed</dc:creator>
</cp:coreProperties>
</file>
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2470A-3771-4A9B-A77F-0EAFEB229CF9}" type="datetimeFigureOut">
              <a:rPr lang="en-US" smtClean="0"/>
              <a:pPr/>
              <a:t>3/22/2018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0C117-6924-4FB4-981C-1595DAF96E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Phases Of Compiler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Phases Of Compiler</a:t>
            </a:r>
            <a:endParaRPr lang="en-US" dirty="0"/>
          </a:p>
        </p:txBody>
      </p:sp>
      <p:pic>
        <p:nvPicPr>
          <p:cNvPr id="3075" name="Picture 3" descr="C:\Users\User\Desktop\oiughkplujk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219200"/>
            <a:ext cx="6553200" cy="5410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Lexical Analyzer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Lexical Analyzer reads the source program character by character </a:t>
            </a:r>
            <a:r>
              <a:rPr lang="en-US" dirty="0" smtClean="0"/>
              <a:t>and returns </a:t>
            </a:r>
            <a:r>
              <a:rPr lang="en-US" dirty="0"/>
              <a:t>the </a:t>
            </a:r>
            <a:r>
              <a:rPr lang="en-US" i="1" dirty="0"/>
              <a:t>tokens of the source program</a:t>
            </a:r>
            <a:r>
              <a:rPr lang="en-US" i="1" dirty="0" smtClean="0"/>
              <a:t>.</a:t>
            </a:r>
          </a:p>
          <a:p>
            <a:r>
              <a:rPr lang="en-US" dirty="0"/>
              <a:t>Groups the characters into </a:t>
            </a:r>
            <a:r>
              <a:rPr lang="en-US" dirty="0" smtClean="0"/>
              <a:t>meaningful sequences </a:t>
            </a:r>
            <a:r>
              <a:rPr lang="en-US" dirty="0"/>
              <a:t>called </a:t>
            </a:r>
            <a:r>
              <a:rPr lang="en-US" dirty="0" smtClean="0"/>
              <a:t>lexemes</a:t>
            </a:r>
          </a:p>
          <a:p>
            <a:r>
              <a:rPr lang="en-US" dirty="0"/>
              <a:t>The output will be in the form of tokens.</a:t>
            </a:r>
            <a:endParaRPr lang="en-US" i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Example of Lexical Analysis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400" i="1" dirty="0" smtClean="0"/>
              <a:t>     position </a:t>
            </a:r>
            <a:r>
              <a:rPr lang="en-US" sz="3400" i="1" dirty="0"/>
              <a:t>= initial + rate * 60</a:t>
            </a:r>
          </a:p>
          <a:p>
            <a:pPr>
              <a:buNone/>
            </a:pPr>
            <a:r>
              <a:rPr lang="en-US" sz="3400" dirty="0" smtClean="0"/>
              <a:t>    &lt;</a:t>
            </a:r>
            <a:r>
              <a:rPr lang="en-US" sz="3400" dirty="0"/>
              <a:t>id,1&gt;&lt;=&gt; &lt;id,2&gt;&lt;+&gt;&lt;id,3&gt;&lt;*&gt;&lt;60</a:t>
            </a:r>
            <a:r>
              <a:rPr lang="en-US" sz="3400" dirty="0" smtClean="0"/>
              <a:t>&gt;</a:t>
            </a:r>
          </a:p>
          <a:p>
            <a:pPr>
              <a:buNone/>
            </a:pPr>
            <a:r>
              <a:rPr lang="en-US" sz="3400" dirty="0" smtClean="0"/>
              <a:t>    </a:t>
            </a:r>
          </a:p>
          <a:p>
            <a:r>
              <a:rPr lang="en-US" sz="3400" dirty="0" smtClean="0"/>
              <a:t> position is a lexeme that would be mapped into a token &lt;id,1&gt;. where id is an abstract symbol standing for identifier and 1 points to the symbol able entry for position.</a:t>
            </a:r>
          </a:p>
          <a:p>
            <a:r>
              <a:rPr lang="en-US" sz="3400" dirty="0" smtClean="0"/>
              <a:t>The assignment symbol = is a lexeme that is mapped into the token &lt;=&gt;.</a:t>
            </a:r>
          </a:p>
          <a:p>
            <a:r>
              <a:rPr lang="en-US" sz="3400" dirty="0" smtClean="0"/>
              <a:t>initial is a lexeme that is mapped into the token &lt;id, 2&gt;.</a:t>
            </a:r>
          </a:p>
          <a:p>
            <a:r>
              <a:rPr lang="en-US" sz="3400" dirty="0" smtClean="0"/>
              <a:t>+ </a:t>
            </a:r>
            <a:r>
              <a:rPr lang="en-US" sz="3400" dirty="0"/>
              <a:t>is a lexeme that is mapped into the token &lt;+&gt;.</a:t>
            </a:r>
          </a:p>
          <a:p>
            <a:r>
              <a:rPr lang="en-US" sz="3400" dirty="0"/>
              <a:t>R</a:t>
            </a:r>
            <a:r>
              <a:rPr lang="en-US" sz="3400" dirty="0" smtClean="0"/>
              <a:t>ate </a:t>
            </a:r>
            <a:r>
              <a:rPr lang="en-US" sz="3400" dirty="0"/>
              <a:t>is a lexeme that is mapped into the token &lt;id, 3&gt;.</a:t>
            </a:r>
          </a:p>
          <a:p>
            <a:r>
              <a:rPr lang="en-US" sz="3400" dirty="0" smtClean="0"/>
              <a:t>* </a:t>
            </a:r>
            <a:r>
              <a:rPr lang="en-US" sz="3400" dirty="0"/>
              <a:t>is a lexeme that is mapped into the token &lt;*&gt;.</a:t>
            </a:r>
          </a:p>
          <a:p>
            <a:r>
              <a:rPr lang="en-US" sz="3400" dirty="0" smtClean="0"/>
              <a:t>60 is </a:t>
            </a:r>
            <a:r>
              <a:rPr lang="en-US" sz="3400" dirty="0"/>
              <a:t>a lexeme that is mapped into the token &lt;60</a:t>
            </a:r>
            <a:r>
              <a:rPr lang="en-US" sz="3400" dirty="0" smtClean="0"/>
              <a:t>&gt;.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Syntax Analyzer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Syntax Analyzer creates the syntactic structure (generally a </a:t>
            </a:r>
            <a:r>
              <a:rPr lang="en-US" dirty="0" smtClean="0"/>
              <a:t>parse tree</a:t>
            </a:r>
            <a:r>
              <a:rPr lang="en-US" dirty="0"/>
              <a:t>) of the given program.</a:t>
            </a:r>
          </a:p>
          <a:p>
            <a:r>
              <a:rPr lang="en-US" dirty="0" smtClean="0"/>
              <a:t> </a:t>
            </a:r>
            <a:r>
              <a:rPr lang="en-US" dirty="0"/>
              <a:t>A syntax analyzer is also called as a parser.</a:t>
            </a:r>
          </a:p>
          <a:p>
            <a:r>
              <a:rPr lang="en-US" dirty="0" smtClean="0"/>
              <a:t>A </a:t>
            </a:r>
            <a:r>
              <a:rPr lang="en-US" dirty="0"/>
              <a:t>parse tree describes a syntactic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of Syntax Analyzer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  position </a:t>
            </a:r>
            <a:r>
              <a:rPr lang="en-US" dirty="0"/>
              <a:t>= initial + rate * 60</a:t>
            </a:r>
          </a:p>
        </p:txBody>
      </p:sp>
      <p:pic>
        <p:nvPicPr>
          <p:cNvPr id="1026" name="Picture 2" descr="C:\Users\User\Desktop\compile_translation1.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514600"/>
            <a:ext cx="6654800" cy="2546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</a:t>
            </a:r>
            <a:r>
              <a:rPr lang="en-US" b="1" dirty="0" smtClean="0"/>
              <a:t>emantic </a:t>
            </a:r>
            <a:r>
              <a:rPr lang="en-US" b="1" dirty="0"/>
              <a:t>A</a:t>
            </a:r>
            <a:r>
              <a:rPr lang="en-US" b="1" dirty="0" smtClean="0"/>
              <a:t>nalyzer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semantic analyzer checks the source program for semantic errors </a:t>
            </a:r>
            <a:r>
              <a:rPr lang="en-US" dirty="0" smtClean="0"/>
              <a:t>and collects </a:t>
            </a:r>
            <a:r>
              <a:rPr lang="en-US" dirty="0"/>
              <a:t>the type information for the code generation</a:t>
            </a:r>
            <a:r>
              <a:rPr lang="en-US" dirty="0" smtClean="0"/>
              <a:t>.</a:t>
            </a:r>
          </a:p>
          <a:p>
            <a:r>
              <a:rPr lang="en-US" dirty="0"/>
              <a:t>It ensures the correctness of the program, matching of the parenthesis is also done in </a:t>
            </a:r>
            <a:r>
              <a:rPr lang="en-US" dirty="0" smtClean="0"/>
              <a:t>this phase</a:t>
            </a:r>
            <a:r>
              <a:rPr lang="en-US" dirty="0"/>
              <a:t>.</a:t>
            </a:r>
          </a:p>
          <a:p>
            <a:r>
              <a:rPr lang="en-US" dirty="0" smtClean="0"/>
              <a:t>Type-checking is an important part of semantic analyzer.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Of Semantic Analyzer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            </a:t>
            </a:r>
            <a:r>
              <a:rPr lang="en-US" dirty="0"/>
              <a:t>position=initial + </a:t>
            </a:r>
            <a:r>
              <a:rPr lang="en-US" dirty="0" smtClean="0"/>
              <a:t>rate*60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050" name="Picture 2" descr="C:\Users\User\Desktop\kjhkjk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819400"/>
            <a:ext cx="5410200" cy="2362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Intermediate Code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compiler may produce an </a:t>
            </a:r>
            <a:r>
              <a:rPr lang="en-US" sz="2800" dirty="0" smtClean="0"/>
              <a:t>explicit intermediate </a:t>
            </a:r>
            <a:r>
              <a:rPr lang="en-US" sz="2800" dirty="0"/>
              <a:t>codes </a:t>
            </a:r>
            <a:r>
              <a:rPr lang="en-US" sz="2800" dirty="0" smtClean="0"/>
              <a:t>representing the source program.</a:t>
            </a:r>
          </a:p>
          <a:p>
            <a:r>
              <a:rPr lang="en-US" sz="2800" dirty="0"/>
              <a:t>The output -&gt; three-address code sequence.</a:t>
            </a:r>
          </a:p>
          <a:p>
            <a:r>
              <a:rPr lang="en-US" sz="2800" i="1" dirty="0" smtClean="0"/>
              <a:t>Example</a:t>
            </a:r>
            <a:r>
              <a:rPr lang="en-US" sz="2800" i="1" dirty="0"/>
              <a:t>:</a:t>
            </a:r>
          </a:p>
          <a:p>
            <a:pPr>
              <a:buNone/>
            </a:pPr>
            <a:r>
              <a:rPr lang="en-US" sz="2800" dirty="0" smtClean="0">
                <a:latin typeface="Arial Narrow" pitchFamily="34" charset="0"/>
              </a:rPr>
              <a:t>     </a:t>
            </a:r>
            <a:r>
              <a:rPr lang="en-US" sz="2800" i="1" dirty="0" smtClean="0">
                <a:latin typeface="Arial Narrow" pitchFamily="34" charset="0"/>
              </a:rPr>
              <a:t>t1 </a:t>
            </a:r>
            <a:r>
              <a:rPr lang="en-US" sz="2800" i="1" dirty="0">
                <a:latin typeface="Arial Narrow" pitchFamily="34" charset="0"/>
              </a:rPr>
              <a:t>= </a:t>
            </a:r>
            <a:r>
              <a:rPr lang="en-US" sz="2800" i="1" dirty="0" err="1">
                <a:latin typeface="Arial Narrow" pitchFamily="34" charset="0"/>
              </a:rPr>
              <a:t>inttofloat</a:t>
            </a:r>
            <a:r>
              <a:rPr lang="en-US" sz="2800" i="1" dirty="0">
                <a:latin typeface="Arial Narrow" pitchFamily="34" charset="0"/>
              </a:rPr>
              <a:t> (60)</a:t>
            </a:r>
          </a:p>
          <a:p>
            <a:pPr>
              <a:buNone/>
            </a:pPr>
            <a:r>
              <a:rPr lang="en-US" sz="2800" dirty="0" smtClean="0">
                <a:latin typeface="Arial Narrow" pitchFamily="34" charset="0"/>
              </a:rPr>
              <a:t>     </a:t>
            </a:r>
            <a:r>
              <a:rPr lang="en-US" sz="2800" i="1" dirty="0">
                <a:latin typeface="Arial Narrow" pitchFamily="34" charset="0"/>
              </a:rPr>
              <a:t>t2 = id3 * </a:t>
            </a:r>
            <a:r>
              <a:rPr lang="en-US" sz="2800" i="1" dirty="0" smtClean="0">
                <a:latin typeface="Arial Narrow" pitchFamily="34" charset="0"/>
              </a:rPr>
              <a:t>t1</a:t>
            </a:r>
            <a:endParaRPr lang="en-US" sz="2800" i="1" dirty="0">
              <a:latin typeface="Arial Narrow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Arial Narrow" pitchFamily="34" charset="0"/>
              </a:rPr>
              <a:t>     </a:t>
            </a:r>
            <a:r>
              <a:rPr lang="en-US" sz="2800" i="1" dirty="0">
                <a:latin typeface="Arial Narrow" pitchFamily="34" charset="0"/>
              </a:rPr>
              <a:t>t3 = id2 + t2</a:t>
            </a:r>
          </a:p>
          <a:p>
            <a:pPr>
              <a:buNone/>
            </a:pPr>
            <a:r>
              <a:rPr lang="en-US" sz="2800" dirty="0" smtClean="0">
                <a:latin typeface="Arial Narrow" pitchFamily="34" charset="0"/>
              </a:rPr>
              <a:t>     </a:t>
            </a:r>
            <a:r>
              <a:rPr lang="en-US" sz="2800" i="1" dirty="0" smtClean="0">
                <a:latin typeface="Arial Narrow" pitchFamily="34" charset="0"/>
              </a:rPr>
              <a:t>id1 </a:t>
            </a:r>
            <a:r>
              <a:rPr lang="en-US" sz="2800" i="1" dirty="0">
                <a:latin typeface="Arial Narrow" pitchFamily="34" charset="0"/>
              </a:rPr>
              <a:t>= t3</a:t>
            </a: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</a:t>
            </a:r>
            <a:r>
              <a:rPr lang="en-US" b="1" dirty="0" smtClean="0"/>
              <a:t>Optimizer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code optimizer optimizes the code produced by the </a:t>
            </a:r>
            <a:r>
              <a:rPr lang="en-US" sz="2800" dirty="0" smtClean="0"/>
              <a:t>intermediate code </a:t>
            </a:r>
            <a:r>
              <a:rPr lang="en-US" sz="2800" dirty="0"/>
              <a:t>generator in the terms of time and space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Improve </a:t>
            </a:r>
            <a:r>
              <a:rPr lang="en-US" sz="2800" dirty="0"/>
              <a:t>the efficiency of code so that the target program running </a:t>
            </a:r>
            <a:r>
              <a:rPr lang="en-US" sz="2800" dirty="0" smtClean="0"/>
              <a:t>time and </a:t>
            </a:r>
            <a:r>
              <a:rPr lang="en-US" sz="2800" dirty="0"/>
              <a:t>consumption of memory can be </a:t>
            </a:r>
            <a:r>
              <a:rPr lang="en-US" sz="2800" dirty="0" smtClean="0"/>
              <a:t>reduced</a:t>
            </a:r>
          </a:p>
          <a:p>
            <a:r>
              <a:rPr lang="en-US" sz="2800" dirty="0" smtClean="0"/>
              <a:t>Example</a:t>
            </a:r>
          </a:p>
          <a:p>
            <a:pPr>
              <a:buNone/>
            </a:pPr>
            <a:r>
              <a:rPr lang="en-US" sz="2800" dirty="0" smtClean="0"/>
              <a:t>       t1 </a:t>
            </a:r>
            <a:r>
              <a:rPr lang="en-US" sz="2800" dirty="0"/>
              <a:t>= id3 * </a:t>
            </a:r>
            <a:r>
              <a:rPr lang="en-US" sz="2800" dirty="0" smtClean="0"/>
              <a:t>60.0</a:t>
            </a:r>
          </a:p>
          <a:p>
            <a:pPr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id1 </a:t>
            </a:r>
            <a:r>
              <a:rPr lang="en-US" sz="2800" dirty="0"/>
              <a:t>= id2 + t1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 </a:t>
            </a:r>
            <a:r>
              <a:rPr lang="en-US" b="1" dirty="0" smtClean="0"/>
              <a:t>Generator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code generator takes as input an intermediate representation of the source program </a:t>
            </a:r>
            <a:r>
              <a:rPr lang="en-US" sz="2800" dirty="0" smtClean="0"/>
              <a:t>and maps </a:t>
            </a:r>
            <a:r>
              <a:rPr lang="en-US" sz="2800" dirty="0"/>
              <a:t>it into the </a:t>
            </a:r>
            <a:r>
              <a:rPr lang="en-US" sz="2800" dirty="0" smtClean="0"/>
              <a:t>target </a:t>
            </a:r>
            <a:r>
              <a:rPr lang="en-US" sz="2800" dirty="0"/>
              <a:t>language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Target language is machine code, registers or </a:t>
            </a:r>
            <a:r>
              <a:rPr lang="en-US" sz="2800" dirty="0" smtClean="0"/>
              <a:t>memory locations </a:t>
            </a:r>
            <a:r>
              <a:rPr lang="en-US" sz="2800" dirty="0"/>
              <a:t>are selected for each of the variables used by </a:t>
            </a:r>
            <a:r>
              <a:rPr lang="en-US" sz="2800" dirty="0" smtClean="0"/>
              <a:t>the program</a:t>
            </a:r>
          </a:p>
          <a:p>
            <a:pPr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/>
              <a:t>Example Of Code Generator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Registers R1 and R2, the intermediate translated into </a:t>
            </a:r>
            <a:r>
              <a:rPr lang="en-US" dirty="0" smtClean="0"/>
              <a:t>the machine </a:t>
            </a:r>
            <a:r>
              <a:rPr lang="en-US" dirty="0"/>
              <a:t>code</a:t>
            </a:r>
          </a:p>
          <a:p>
            <a:r>
              <a:rPr lang="en-US" i="1" dirty="0" smtClean="0"/>
              <a:t>LDF </a:t>
            </a:r>
            <a:r>
              <a:rPr lang="en-US" i="1" dirty="0"/>
              <a:t>R2, id3</a:t>
            </a:r>
          </a:p>
          <a:p>
            <a:r>
              <a:rPr lang="en-US" i="1" dirty="0" smtClean="0"/>
              <a:t>MULF </a:t>
            </a:r>
            <a:r>
              <a:rPr lang="en-US" i="1" dirty="0"/>
              <a:t>R2, R2, #60.0</a:t>
            </a:r>
          </a:p>
          <a:p>
            <a:r>
              <a:rPr lang="en-US" i="1" dirty="0" smtClean="0"/>
              <a:t>LDF R1, </a:t>
            </a:r>
            <a:r>
              <a:rPr lang="en-US" i="1" dirty="0"/>
              <a:t>id2</a:t>
            </a:r>
          </a:p>
          <a:p>
            <a:r>
              <a:rPr lang="en-US" i="1" dirty="0" smtClean="0"/>
              <a:t>ADDF R1, R1, </a:t>
            </a:r>
            <a:r>
              <a:rPr lang="en-US" i="1" dirty="0"/>
              <a:t>R2</a:t>
            </a:r>
          </a:p>
          <a:p>
            <a:r>
              <a:rPr lang="en-US" i="1" dirty="0" smtClean="0"/>
              <a:t>STF </a:t>
            </a:r>
            <a:r>
              <a:rPr lang="en-US" i="1" dirty="0" err="1"/>
              <a:t>idl</a:t>
            </a:r>
            <a:r>
              <a:rPr lang="en-US" i="1" dirty="0"/>
              <a:t>, </a:t>
            </a:r>
            <a:r>
              <a:rPr lang="en-US" i="1" dirty="0" smtClean="0"/>
              <a:t>R1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481</Words>
  <Application>Microsoft Office PowerPoint</Application>
  <PresentationFormat>On-screen Show (4:3)</PresentationFormat>
  <Paragraphs>53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Phases Of Compiler</vt:lpstr>
      <vt:lpstr>Steps For Phases Of Compiler</vt:lpstr>
      <vt:lpstr>Lexical Analyzer</vt:lpstr>
      <vt:lpstr>Example of Lexical Analysis </vt:lpstr>
      <vt:lpstr>Syntax Analyzer</vt:lpstr>
      <vt:lpstr>Example of Syntax Analyzer</vt:lpstr>
      <vt:lpstr>Semantic Analyzer</vt:lpstr>
      <vt:lpstr>Example Of Semantic Analyzer</vt:lpstr>
      <vt:lpstr>Intermediate Code Generation</vt:lpstr>
      <vt:lpstr>Code Optimizer</vt:lpstr>
      <vt:lpstr>Code Generator</vt:lpstr>
      <vt:lpstr> Example Of Code Generator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Phases Of Compiler</dc:title>
  <dc:creator>User</dc:creator>
  <cp:lastModifiedBy>User</cp:lastModifiedBy>
  <cp:revision>8</cp:revision>
  <dcterms:created xsi:type="dcterms:W3CDTF">2018-03-22T13:44:08Z</dcterms:created>
  <dcterms:modified xsi:type="dcterms:W3CDTF">2018-03-22T14:51:51Z</dcterms:modified>
</cp:coreProperties>
</file>
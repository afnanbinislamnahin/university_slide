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6" r:id="rId4"/>
    <p:sldId id="277" r:id="rId5"/>
    <p:sldId id="308" r:id="rId6"/>
    <p:sldId id="278" r:id="rId7"/>
    <p:sldId id="299" r:id="rId8"/>
    <p:sldId id="272" r:id="rId9"/>
    <p:sldId id="300" r:id="rId10"/>
    <p:sldId id="273" r:id="rId11"/>
    <p:sldId id="268" r:id="rId12"/>
    <p:sldId id="301" r:id="rId13"/>
    <p:sldId id="264" r:id="rId14"/>
    <p:sldId id="302" r:id="rId15"/>
    <p:sldId id="309" r:id="rId16"/>
    <p:sldId id="310" r:id="rId17"/>
    <p:sldId id="311" r:id="rId18"/>
    <p:sldId id="265" r:id="rId19"/>
    <p:sldId id="30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7" autoAdjust="0"/>
    <p:restoredTop sz="94751"/>
  </p:normalViewPr>
  <p:slideViewPr>
    <p:cSldViewPr snapToGrid="0" snapToObjects="1">
      <p:cViewPr varScale="1">
        <p:scale>
          <a:sx n="106" d="100"/>
          <a:sy n="106" d="100"/>
        </p:scale>
        <p:origin x="10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MOHAMMAD MAHMODUL KABIR RATUL" userId="bc5204c6b735792d" providerId="LiveId" clId="{ABB3343F-D58D-443B-A0D8-467FAEB9DF2F}"/>
    <pc:docChg chg="modSld">
      <pc:chgData name="MOHAMMAD MAHMODUL KABIR RATUL" userId="bc5204c6b735792d" providerId="LiveId" clId="{ABB3343F-D58D-443B-A0D8-467FAEB9DF2F}" dt="2021-04-26T04:12:48.241" v="5" actId="1076"/>
      <pc:docMkLst>
        <pc:docMk/>
      </pc:docMkLst>
      <pc:sldChg chg="modSp mod">
        <pc:chgData name="MOHAMMAD MAHMODUL KABIR RATUL" userId="bc5204c6b735792d" providerId="LiveId" clId="{ABB3343F-D58D-443B-A0D8-467FAEB9DF2F}" dt="2021-04-26T04:05:24.304" v="4" actId="14100"/>
        <pc:sldMkLst>
          <pc:docMk/>
          <pc:sldMk cId="1907437134" sldId="272"/>
        </pc:sldMkLst>
        <pc:spChg chg="mod">
          <ac:chgData name="MOHAMMAD MAHMODUL KABIR RATUL" userId="bc5204c6b735792d" providerId="LiveId" clId="{ABB3343F-D58D-443B-A0D8-467FAEB9DF2F}" dt="2021-04-26T04:05:24.304" v="4" actId="14100"/>
          <ac:spMkLst>
            <pc:docMk/>
            <pc:sldMk cId="1907437134" sldId="272"/>
            <ac:spMk id="7" creationId="{2C4849EC-EEF7-4228-BAD2-8070F89D87B4}"/>
          </ac:spMkLst>
        </pc:spChg>
      </pc:sldChg>
      <pc:sldChg chg="modSp mod">
        <pc:chgData name="MOHAMMAD MAHMODUL KABIR RATUL" userId="bc5204c6b735792d" providerId="LiveId" clId="{ABB3343F-D58D-443B-A0D8-467FAEB9DF2F}" dt="2021-04-26T04:04:37.881" v="2" actId="1076"/>
        <pc:sldMkLst>
          <pc:docMk/>
          <pc:sldMk cId="1078727919" sldId="278"/>
        </pc:sldMkLst>
        <pc:picChg chg="mod">
          <ac:chgData name="MOHAMMAD MAHMODUL KABIR RATUL" userId="bc5204c6b735792d" providerId="LiveId" clId="{ABB3343F-D58D-443B-A0D8-467FAEB9DF2F}" dt="2021-04-26T04:04:37.881" v="2" actId="1076"/>
          <ac:picMkLst>
            <pc:docMk/>
            <pc:sldMk cId="1078727919" sldId="278"/>
            <ac:picMk id="4" creationId="{E5D09BAB-F557-4F31-BA03-955523E62CD0}"/>
          </ac:picMkLst>
        </pc:picChg>
      </pc:sldChg>
      <pc:sldChg chg="modSp mod">
        <pc:chgData name="MOHAMMAD MAHMODUL KABIR RATUL" userId="bc5204c6b735792d" providerId="LiveId" clId="{ABB3343F-D58D-443B-A0D8-467FAEB9DF2F}" dt="2021-04-26T04:05:16.784" v="3" actId="14100"/>
        <pc:sldMkLst>
          <pc:docMk/>
          <pc:sldMk cId="2594734071" sldId="299"/>
        </pc:sldMkLst>
        <pc:spChg chg="mod">
          <ac:chgData name="MOHAMMAD MAHMODUL KABIR RATUL" userId="bc5204c6b735792d" providerId="LiveId" clId="{ABB3343F-D58D-443B-A0D8-467FAEB9DF2F}" dt="2021-04-26T04:05:16.784" v="3" actId="14100"/>
          <ac:spMkLst>
            <pc:docMk/>
            <pc:sldMk cId="2594734071" sldId="299"/>
            <ac:spMk id="6" creationId="{36D84728-EEE8-4B79-94FB-025E97FEB87D}"/>
          </ac:spMkLst>
        </pc:spChg>
      </pc:sldChg>
      <pc:sldChg chg="modSp mod">
        <pc:chgData name="MOHAMMAD MAHMODUL KABIR RATUL" userId="bc5204c6b735792d" providerId="LiveId" clId="{ABB3343F-D58D-443B-A0D8-467FAEB9DF2F}" dt="2021-04-26T03:52:32.100" v="0" actId="20577"/>
        <pc:sldMkLst>
          <pc:docMk/>
          <pc:sldMk cId="758070837" sldId="300"/>
        </pc:sldMkLst>
        <pc:spChg chg="mod">
          <ac:chgData name="MOHAMMAD MAHMODUL KABIR RATUL" userId="bc5204c6b735792d" providerId="LiveId" clId="{ABB3343F-D58D-443B-A0D8-467FAEB9DF2F}" dt="2021-04-26T03:52:32.100" v="0" actId="20577"/>
          <ac:spMkLst>
            <pc:docMk/>
            <pc:sldMk cId="758070837" sldId="300"/>
            <ac:spMk id="7" creationId="{2C4849EC-EEF7-4228-BAD2-8070F89D87B4}"/>
          </ac:spMkLst>
        </pc:spChg>
      </pc:sldChg>
      <pc:sldChg chg="modSp mod">
        <pc:chgData name="MOHAMMAD MAHMODUL KABIR RATUL" userId="bc5204c6b735792d" providerId="LiveId" clId="{ABB3343F-D58D-443B-A0D8-467FAEB9DF2F}" dt="2021-04-26T04:03:47.226" v="1" actId="14100"/>
        <pc:sldMkLst>
          <pc:docMk/>
          <pc:sldMk cId="3335615261" sldId="308"/>
        </pc:sldMkLst>
        <pc:spChg chg="mod">
          <ac:chgData name="MOHAMMAD MAHMODUL KABIR RATUL" userId="bc5204c6b735792d" providerId="LiveId" clId="{ABB3343F-D58D-443B-A0D8-467FAEB9DF2F}" dt="2021-04-26T04:03:47.226" v="1" actId="14100"/>
          <ac:spMkLst>
            <pc:docMk/>
            <pc:sldMk cId="3335615261" sldId="308"/>
            <ac:spMk id="8" creationId="{F2BF6542-134F-41C0-BDC4-A8DFF737D228}"/>
          </ac:spMkLst>
        </pc:spChg>
      </pc:sldChg>
      <pc:sldChg chg="modSp mod">
        <pc:chgData name="MOHAMMAD MAHMODUL KABIR RATUL" userId="bc5204c6b735792d" providerId="LiveId" clId="{ABB3343F-D58D-443B-A0D8-467FAEB9DF2F}" dt="2021-04-26T04:12:48.241" v="5" actId="1076"/>
        <pc:sldMkLst>
          <pc:docMk/>
          <pc:sldMk cId="1907542054" sldId="309"/>
        </pc:sldMkLst>
        <pc:picChg chg="mod">
          <ac:chgData name="MOHAMMAD MAHMODUL KABIR RATUL" userId="bc5204c6b735792d" providerId="LiveId" clId="{ABB3343F-D58D-443B-A0D8-467FAEB9DF2F}" dt="2021-04-26T04:12:48.241" v="5" actId="1076"/>
          <ac:picMkLst>
            <pc:docMk/>
            <pc:sldMk cId="1907542054" sldId="309"/>
            <ac:picMk id="7" creationId="{39358DD2-EECC-4194-9D0E-DEAE14B470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1.cs.columbia.edu/~aho/cs4115/lectures/13-02-20.htm" TargetMode="External"/><Relationship Id="rId2" Type="http://schemas.openxmlformats.org/officeDocument/2006/relationships/hyperlink" Target="https://www.cs.cmu.edu/~fp/courses/15411-f09/lectures/08-predictive.pdf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tutorialspoint.com/compiler_design/compiler_design_top_down_parser.htm" TargetMode="External"/><Relationship Id="rId4" Type="http://schemas.openxmlformats.org/officeDocument/2006/relationships/hyperlink" Target="https://www.ques10.com/p/8960/construct-predictive-passing-table-for-following-2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Parsing and Parsing 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CSC3220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98203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 Masum </a:t>
                      </a:r>
                      <a:r>
                        <a:rPr lang="en-US" i="1" dirty="0" err="1"/>
                        <a:t>Billah</a:t>
                      </a:r>
                      <a:r>
                        <a:rPr lang="en-US" i="1" dirty="0"/>
                        <a:t>; </a:t>
                      </a:r>
                      <a:r>
                        <a:rPr lang="en-US" i="1" dirty="0" err="1"/>
                        <a:t>billah.masumcu@</a:t>
                      </a:r>
                      <a:r>
                        <a:rPr lang="en-US" i="1" err="1"/>
                        <a:t>aiub</a:t>
                      </a:r>
                      <a:r>
                        <a:rPr lang="en-US" i="1"/>
                        <a:t>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fr-FR" sz="2400" dirty="0">
                <a:solidFill>
                  <a:schemeClr val="tx1"/>
                </a:solidFill>
              </a:rPr>
              <a:t>Quiz </a:t>
            </a:r>
          </a:p>
          <a:p>
            <a:pPr marL="342900" indent="-342900">
              <a:buAutoNum type="arabicPeriod"/>
            </a:pPr>
            <a:r>
              <a:rPr lang="fr-FR" sz="2400" dirty="0" err="1">
                <a:solidFill>
                  <a:schemeClr val="tx1"/>
                </a:solidFill>
              </a:rPr>
              <a:t>Parsing</a:t>
            </a: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Wingdings" pitchFamily="2" charset="2"/>
              <a:buAutoNum type="arabicPeriod"/>
            </a:pPr>
            <a:r>
              <a:rPr lang="fr-FR" sz="2400" dirty="0" err="1">
                <a:solidFill>
                  <a:schemeClr val="tx1"/>
                </a:solidFill>
              </a:rPr>
              <a:t>Parsing</a:t>
            </a:r>
            <a:r>
              <a:rPr lang="fr-FR" sz="2400" dirty="0">
                <a:solidFill>
                  <a:schemeClr val="tx1"/>
                </a:solidFill>
              </a:rPr>
              <a:t> Technique(LL1 Grammar) 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fr-FR" sz="2400" dirty="0" err="1">
                <a:solidFill>
                  <a:schemeClr val="tx1"/>
                </a:solidFill>
              </a:rPr>
              <a:t>Parsing</a:t>
            </a:r>
            <a:r>
              <a:rPr lang="fr-FR" sz="2400" dirty="0">
                <a:solidFill>
                  <a:schemeClr val="tx1"/>
                </a:solidFill>
              </a:rPr>
              <a:t> Table Construction Technique </a:t>
            </a:r>
          </a:p>
          <a:p>
            <a:pPr marL="342900" indent="-342900">
              <a:buAutoNum type="arabicPeriod"/>
            </a:pPr>
            <a:r>
              <a:rPr lang="fr-FR" sz="2400" dirty="0" err="1">
                <a:solidFill>
                  <a:schemeClr val="tx1"/>
                </a:solidFill>
              </a:rPr>
              <a:t>Examples</a:t>
            </a: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fr-FR" sz="2400" dirty="0" err="1">
                <a:solidFill>
                  <a:schemeClr val="tx1"/>
                </a:solidFill>
              </a:rPr>
              <a:t>Exercises</a:t>
            </a: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 and Outcome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Objective: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provide an overview of parsing and parsing types.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give an overview of predictive parser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demonstrate the predictive parsing table construction for predictive / LL(1) parser from a given CFG</a:t>
            </a:r>
          </a:p>
          <a:p>
            <a:r>
              <a:rPr lang="en-US" sz="2400" dirty="0">
                <a:solidFill>
                  <a:srgbClr val="FF0000"/>
                </a:solidFill>
              </a:rPr>
              <a:t>Outcome: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this lecture the students will be able to understand basics of predictive and LL (1) parser.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students will be capable of constructing a predictive parsing table from given CFG</a:t>
            </a:r>
          </a:p>
        </p:txBody>
      </p:sp>
    </p:spTree>
    <p:extLst>
      <p:ext uri="{BB962C8B-B14F-4D97-AF65-F5344CB8AC3E}">
        <p14:creationId xmlns:p14="http://schemas.microsoft.com/office/powerpoint/2010/main" val="2701784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2BF6542-134F-41C0-BDC4-A8DFF737D228}"/>
              </a:ext>
            </a:extLst>
          </p:cNvPr>
          <p:cNvSpPr txBox="1">
            <a:spLocks noChangeArrowheads="1"/>
          </p:cNvSpPr>
          <p:nvPr/>
        </p:nvSpPr>
        <p:spPr>
          <a:xfrm>
            <a:off x="216131" y="2177936"/>
            <a:ext cx="8695113" cy="3823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D34817">
                  <a:lumMod val="75000"/>
                </a:srgbClr>
              </a:buClr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Quiz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73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Parsing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2BF6542-134F-41C0-BDC4-A8DFF737D228}"/>
              </a:ext>
            </a:extLst>
          </p:cNvPr>
          <p:cNvSpPr txBox="1">
            <a:spLocks noChangeArrowheads="1"/>
          </p:cNvSpPr>
          <p:nvPr/>
        </p:nvSpPr>
        <p:spPr>
          <a:xfrm>
            <a:off x="216131" y="2177936"/>
            <a:ext cx="8695113" cy="3389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marR="0" lvl="0" indent="-182880" algn="just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The process of determining if a string of terminals (tokens) can be generated by a grammar.</a:t>
            </a:r>
          </a:p>
          <a:p>
            <a:pPr marL="182880" marR="0" lvl="0" indent="-182880" algn="just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Time complexity:</a:t>
            </a:r>
          </a:p>
          <a:p>
            <a:pPr marL="457200" marR="0" lvl="1" indent="-182880" algn="just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D34817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For any CFG there is a parser that takes at most </a:t>
            </a:r>
            <a:r>
              <a:rPr kumimoji="0" lang="en-US" altLang="zh-TW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O</a:t>
            </a: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(</a:t>
            </a:r>
            <a:r>
              <a:rPr kumimoji="0" lang="en-US" altLang="zh-TW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n</a:t>
            </a:r>
            <a:r>
              <a:rPr kumimoji="0" lang="en-US" altLang="zh-TW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3</a:t>
            </a: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) time to parse a string of </a:t>
            </a:r>
            <a:r>
              <a:rPr kumimoji="0" lang="en-US" altLang="zh-TW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n</a:t>
            </a: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 terminals.</a:t>
            </a:r>
          </a:p>
          <a:p>
            <a:pPr marL="457200" marR="0" lvl="1" indent="-182880" algn="just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D34817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Linear algorithms suffice to parse essentially all languages that arise in practice.</a:t>
            </a:r>
          </a:p>
          <a:p>
            <a:pPr marL="182880" marR="0" lvl="0" indent="-182880" algn="just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Two kinds of methods:</a:t>
            </a:r>
          </a:p>
          <a:p>
            <a:pPr marL="457200" marR="0" lvl="1" indent="-182880" algn="just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D34817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Top-down: constructs a parse tree </a:t>
            </a: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cs"/>
              </a:rPr>
              <a:t>from root to leaves</a:t>
            </a:r>
          </a:p>
          <a:p>
            <a:pPr marL="457200" marR="0" lvl="1" indent="-182880" algn="just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D34817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Bottom-up: constructs a parse tree </a:t>
            </a: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+mn-cs"/>
              </a:rPr>
              <a:t>from leaves to root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561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 of Parsing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09BAB-F557-4F31-BA03-955523E62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35" y="2091953"/>
            <a:ext cx="8637130" cy="395686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5BB4B97-A8E1-4C4C-93C2-554C196E756C}"/>
              </a:ext>
            </a:extLst>
          </p:cNvPr>
          <p:cNvSpPr/>
          <p:nvPr/>
        </p:nvSpPr>
        <p:spPr>
          <a:xfrm>
            <a:off x="4726745" y="4628271"/>
            <a:ext cx="4037427" cy="7315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BF73AE-E801-48FA-862A-D08DCE3D28BE}"/>
              </a:ext>
            </a:extLst>
          </p:cNvPr>
          <p:cNvSpPr/>
          <p:nvPr/>
        </p:nvSpPr>
        <p:spPr>
          <a:xfrm>
            <a:off x="4726745" y="5359791"/>
            <a:ext cx="4037427" cy="7315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72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Parsing Table Overview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D84728-EEE8-4B79-94FB-025E97FEB87D}"/>
              </a:ext>
            </a:extLst>
          </p:cNvPr>
          <p:cNvSpPr txBox="1">
            <a:spLocks/>
          </p:cNvSpPr>
          <p:nvPr/>
        </p:nvSpPr>
        <p:spPr>
          <a:xfrm>
            <a:off x="191344" y="2310938"/>
            <a:ext cx="8653398" cy="3175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marR="0" lvl="0" indent="-182880" algn="just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 Parsing table collects information from FIRST and FOLLOW set.</a:t>
            </a:r>
          </a:p>
          <a:p>
            <a:pPr marL="182880" marR="0" lvl="0" indent="-182880" algn="just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lang="en-US" sz="1800" dirty="0">
                <a:solidFill>
                  <a:sysClr val="windowText" lastClr="000000"/>
                </a:solidFill>
              </a:rPr>
              <a:t>A Parsing table provides a direction/predictive guideline for generating a parse tree from a grammar. </a:t>
            </a:r>
          </a:p>
          <a:p>
            <a:pPr marL="182880" marR="0" lvl="0" indent="-182880" algn="just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 Parsing table provide information to create moves made by a predictive parser on a specific input. </a:t>
            </a:r>
          </a:p>
        </p:txBody>
      </p:sp>
    </p:spTree>
    <p:extLst>
      <p:ext uri="{BB962C8B-B14F-4D97-AF65-F5344CB8AC3E}">
        <p14:creationId xmlns:p14="http://schemas.microsoft.com/office/powerpoint/2010/main" val="2594734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5422" y="576774"/>
            <a:ext cx="7934895" cy="1083213"/>
          </a:xfrm>
        </p:spPr>
        <p:txBody>
          <a:bodyPr>
            <a:normAutofit fontScale="90000"/>
          </a:bodyPr>
          <a:lstStyle/>
          <a:p>
            <a:r>
              <a:rPr lang="en-US" dirty="0"/>
              <a:t>LL(k) LL(1) Parser Design </a:t>
            </a:r>
            <a:br>
              <a:rPr lang="en-US" dirty="0"/>
            </a:br>
            <a:r>
              <a:rPr lang="en-US" dirty="0"/>
              <a:t>Prerequisite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4849EC-EEF7-4228-BAD2-8070F89D87B4}"/>
              </a:ext>
            </a:extLst>
          </p:cNvPr>
          <p:cNvSpPr txBox="1">
            <a:spLocks/>
          </p:cNvSpPr>
          <p:nvPr/>
        </p:nvSpPr>
        <p:spPr>
          <a:xfrm>
            <a:off x="295422" y="2053883"/>
            <a:ext cx="7934895" cy="3142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800" dirty="0">
                <a:solidFill>
                  <a:sysClr val="windowText" lastClr="000000"/>
                </a:solidFill>
              </a:rPr>
              <a:t>Make the grammar suitable for top-down parser. By performing the elimination of left recursion. And by performing left factoring.</a:t>
            </a:r>
          </a:p>
          <a:p>
            <a:pPr lvl="0">
              <a:defRPr/>
            </a:pPr>
            <a:r>
              <a:rPr lang="en-US" sz="1800" dirty="0">
                <a:solidFill>
                  <a:sysClr val="windowText" lastClr="000000"/>
                </a:solidFill>
              </a:rPr>
              <a:t>Find the FIRST and FOLLOW of the variables.</a:t>
            </a: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Create </a:t>
            </a:r>
            <a:r>
              <a:rPr lang="en-US" sz="1800" dirty="0">
                <a:solidFill>
                  <a:sysClr val="windowText" lastClr="000000"/>
                </a:solidFill>
              </a:rPr>
              <a:t>Parsing table based on the information from FIRST and FOLLOW sets.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437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5422" y="449005"/>
            <a:ext cx="7934895" cy="1239118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Predictive (LL1) Parsing Table </a:t>
            </a:r>
            <a:br>
              <a:rPr lang="en-US" dirty="0"/>
            </a:br>
            <a:r>
              <a:rPr lang="en-US" dirty="0"/>
              <a:t>Construction Rule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4849EC-EEF7-4228-BAD2-8070F89D87B4}"/>
              </a:ext>
            </a:extLst>
          </p:cNvPr>
          <p:cNvSpPr txBox="1">
            <a:spLocks/>
          </p:cNvSpPr>
          <p:nvPr/>
        </p:nvSpPr>
        <p:spPr>
          <a:xfrm>
            <a:off x="295422" y="2222695"/>
            <a:ext cx="8581292" cy="3954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Collect information from FIRST and FOLLOW sets into a predictive parsing Table M[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A,a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]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sysClr val="windowText" lastClr="000000"/>
                </a:solidFill>
              </a:rPr>
              <a:t>M [</a:t>
            </a:r>
            <a:r>
              <a:rPr lang="en-US" sz="1800" dirty="0" err="1">
                <a:solidFill>
                  <a:sysClr val="windowText" lastClr="000000"/>
                </a:solidFill>
              </a:rPr>
              <a:t>A,a</a:t>
            </a:r>
            <a:r>
              <a:rPr lang="en-US" sz="1800" dirty="0">
                <a:solidFill>
                  <a:sysClr val="windowText" lastClr="000000"/>
                </a:solidFill>
              </a:rPr>
              <a:t>] is a 2D array where </a:t>
            </a:r>
          </a:p>
          <a:p>
            <a:pPr lvl="1">
              <a:spcBef>
                <a:spcPts val="1000"/>
              </a:spcBef>
              <a:defRPr/>
            </a:pPr>
            <a:r>
              <a:rPr lang="en-US" sz="1800" dirty="0">
                <a:solidFill>
                  <a:sysClr val="windowText" lastClr="000000"/>
                </a:solidFill>
              </a:rPr>
              <a:t>A nonterminal </a:t>
            </a:r>
          </a:p>
          <a:p>
            <a:pPr lvl="1">
              <a:spcBef>
                <a:spcPts val="1000"/>
              </a:spcBef>
              <a:defRPr/>
            </a:pPr>
            <a:r>
              <a:rPr lang="en-US" sz="1800" dirty="0">
                <a:solidFill>
                  <a:sysClr val="windowText" lastClr="000000"/>
                </a:solidFill>
              </a:rPr>
              <a:t>A is a terminal or the symbol $, the input </a:t>
            </a:r>
            <a:r>
              <a:rPr lang="en-US" sz="1800" dirty="0" err="1">
                <a:solidFill>
                  <a:sysClr val="windowText" lastClr="000000"/>
                </a:solidFill>
              </a:rPr>
              <a:t>endmarker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The Production </a:t>
            </a:r>
            <a:r>
              <a:rPr lang="en-US" sz="1800" dirty="0">
                <a:solidFill>
                  <a:sysClr val="windowText" lastClr="000000"/>
                </a:solidFill>
              </a:rPr>
              <a:t>A -&gt; a is chosen if the next input symbol a is in First (a). </a:t>
            </a:r>
          </a:p>
          <a:p>
            <a:pPr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If a = </a:t>
            </a:r>
            <a:r>
              <a:rPr lang="el-GR" sz="1800" dirty="0"/>
              <a:t>ε</a:t>
            </a:r>
            <a:r>
              <a:rPr lang="en-US" sz="1800" dirty="0"/>
              <a:t>, we should again choose A-&gt; a, if the current input symbol is in FOLLOW (A) or if the $ on the input has been reached and $ is in the FOLLOW(A)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070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5422" y="449004"/>
            <a:ext cx="7934895" cy="1210983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Predictive (LL1) Parsing Table </a:t>
            </a:r>
            <a:br>
              <a:rPr lang="en-US" dirty="0"/>
            </a:br>
            <a:r>
              <a:rPr lang="en-US" dirty="0"/>
              <a:t>Construction Rule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4849EC-EEF7-4228-BAD2-8070F89D87B4}"/>
              </a:ext>
            </a:extLst>
          </p:cNvPr>
          <p:cNvSpPr txBox="1">
            <a:spLocks/>
          </p:cNvSpPr>
          <p:nvPr/>
        </p:nvSpPr>
        <p:spPr>
          <a:xfrm>
            <a:off x="295422" y="2222695"/>
            <a:ext cx="7934895" cy="3954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From </a:t>
            </a:r>
            <a:r>
              <a:rPr lang="en-US" sz="1800" dirty="0">
                <a:solidFill>
                  <a:sysClr val="windowText" lastClr="000000"/>
                </a:solidFill>
              </a:rPr>
              <a:t>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Grammar Find out First and Follow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Take a production; Row should be left hand side and column should be first of right and side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If we see epsilon in first of right hand side, place the production in follow also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If first of right hand side terminal, directly place in table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If the first of right hand side is epsilon, directly place in follow of left hand side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0624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Parsing Table Construction (Example)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B42829-AA65-4484-8104-C0C87D9BB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50" y="1538887"/>
            <a:ext cx="3143899" cy="24103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F42A1E-01A8-4A2C-8B66-FCE634977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200910"/>
            <a:ext cx="9144000" cy="172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6895300" cy="49341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Predictive parsing table for the grammar (Example 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3688F5-F0BB-44BA-B902-84FFEFCEE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907" y="1579373"/>
            <a:ext cx="6513210" cy="294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96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6895300" cy="49341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Predictive parsing table for the grammar (Example 2)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F2DB43-9A2D-4E4B-8662-CBD19B74C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21" y="2023276"/>
            <a:ext cx="7356199" cy="372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6895300" cy="49341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Predictive parsing table for the grammar (Example  3)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C23AC0-7922-4450-8C35-570891BCF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99" y="2051411"/>
            <a:ext cx="5196772" cy="272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07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Parsing Table Construction (Problem)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93265E-FE18-49A9-884C-A4DE3C9DCAEF}"/>
              </a:ext>
            </a:extLst>
          </p:cNvPr>
          <p:cNvSpPr/>
          <p:nvPr/>
        </p:nvSpPr>
        <p:spPr>
          <a:xfrm>
            <a:off x="647114" y="1529091"/>
            <a:ext cx="74558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Consider the following LL(1) grammar, which has the set of terminals </a:t>
            </a:r>
            <a:r>
              <a:rPr lang="en-US" i="1" dirty="0">
                <a:solidFill>
                  <a:srgbClr val="000000"/>
                </a:solidFill>
              </a:rPr>
              <a:t>T </a:t>
            </a:r>
            <a:r>
              <a:rPr lang="en-US" dirty="0">
                <a:solidFill>
                  <a:srgbClr val="000000"/>
                </a:solidFill>
              </a:rPr>
              <a:t>= </a:t>
            </a:r>
            <a:r>
              <a:rPr lang="en-US" i="1" dirty="0">
                <a:solidFill>
                  <a:srgbClr val="000000"/>
                </a:solidFill>
              </a:rPr>
              <a:t>f</a:t>
            </a:r>
            <a:r>
              <a:rPr lang="en-US" b="1" dirty="0">
                <a:solidFill>
                  <a:srgbClr val="000000"/>
                </a:solidFill>
              </a:rPr>
              <a:t>a</a:t>
            </a:r>
            <a:r>
              <a:rPr lang="en-US" i="1" dirty="0">
                <a:solidFill>
                  <a:srgbClr val="000000"/>
                </a:solidFill>
              </a:rPr>
              <a:t>; </a:t>
            </a:r>
            <a:r>
              <a:rPr lang="en-US" b="1" dirty="0">
                <a:solidFill>
                  <a:srgbClr val="000000"/>
                </a:solidFill>
              </a:rPr>
              <a:t>b</a:t>
            </a:r>
            <a:r>
              <a:rPr lang="en-US" i="1" dirty="0">
                <a:solidFill>
                  <a:srgbClr val="000000"/>
                </a:solidFill>
              </a:rPr>
              <a:t>; </a:t>
            </a:r>
            <a:r>
              <a:rPr lang="en-US" b="1" dirty="0">
                <a:solidFill>
                  <a:srgbClr val="000000"/>
                </a:solidFill>
              </a:rPr>
              <a:t>ep</a:t>
            </a:r>
            <a:r>
              <a:rPr lang="en-US" i="1" dirty="0">
                <a:solidFill>
                  <a:srgbClr val="000000"/>
                </a:solidFill>
              </a:rPr>
              <a:t>; </a:t>
            </a:r>
            <a:r>
              <a:rPr lang="en-US" b="1" dirty="0">
                <a:solidFill>
                  <a:srgbClr val="000000"/>
                </a:solidFill>
              </a:rPr>
              <a:t>+</a:t>
            </a:r>
            <a:r>
              <a:rPr lang="en-US" i="1" dirty="0">
                <a:solidFill>
                  <a:srgbClr val="000000"/>
                </a:solidFill>
              </a:rPr>
              <a:t>; </a:t>
            </a:r>
            <a:r>
              <a:rPr lang="en-US" b="1" dirty="0">
                <a:solidFill>
                  <a:srgbClr val="000000"/>
                </a:solidFill>
              </a:rPr>
              <a:t>*</a:t>
            </a:r>
            <a:r>
              <a:rPr lang="en-US" i="1" dirty="0">
                <a:solidFill>
                  <a:srgbClr val="000000"/>
                </a:solidFill>
              </a:rPr>
              <a:t>; </a:t>
            </a:r>
            <a:r>
              <a:rPr lang="en-US" b="1" dirty="0">
                <a:solidFill>
                  <a:srgbClr val="000000"/>
                </a:solidFill>
              </a:rPr>
              <a:t>(</a:t>
            </a:r>
            <a:r>
              <a:rPr lang="en-US" i="1" dirty="0">
                <a:solidFill>
                  <a:srgbClr val="000000"/>
                </a:solidFill>
              </a:rPr>
              <a:t>; </a:t>
            </a:r>
            <a:r>
              <a:rPr lang="en-US" b="1" dirty="0">
                <a:solidFill>
                  <a:srgbClr val="000000"/>
                </a:solidFill>
              </a:rPr>
              <a:t>)</a:t>
            </a:r>
            <a:r>
              <a:rPr lang="en-US" i="1" dirty="0">
                <a:solidFill>
                  <a:srgbClr val="000000"/>
                </a:solidFill>
              </a:rPr>
              <a:t>g</a:t>
            </a:r>
            <a:r>
              <a:rPr lang="en-US" dirty="0">
                <a:solidFill>
                  <a:srgbClr val="000000"/>
                </a:solidFill>
              </a:rPr>
              <a:t>. This grammar generates regular expressions over </a:t>
            </a:r>
            <a:r>
              <a:rPr lang="en-US" i="1" dirty="0">
                <a:solidFill>
                  <a:srgbClr val="000000"/>
                </a:solidFill>
              </a:rPr>
              <a:t>f</a:t>
            </a:r>
            <a:r>
              <a:rPr lang="en-US" dirty="0">
                <a:solidFill>
                  <a:srgbClr val="000000"/>
                </a:solidFill>
              </a:rPr>
              <a:t>a, </a:t>
            </a:r>
            <a:r>
              <a:rPr lang="en-US" dirty="0" err="1">
                <a:solidFill>
                  <a:srgbClr val="000000"/>
                </a:solidFill>
              </a:rPr>
              <a:t>b</a:t>
            </a:r>
            <a:r>
              <a:rPr lang="en-US" i="1" dirty="0" err="1">
                <a:solidFill>
                  <a:srgbClr val="000000"/>
                </a:solidFill>
              </a:rPr>
              <a:t>g</a:t>
            </a:r>
            <a:r>
              <a:rPr lang="en-US" dirty="0">
                <a:solidFill>
                  <a:srgbClr val="000000"/>
                </a:solidFill>
              </a:rPr>
              <a:t>, with </a:t>
            </a:r>
            <a:r>
              <a:rPr lang="en-US" b="1" dirty="0">
                <a:solidFill>
                  <a:srgbClr val="000000"/>
                </a:solidFill>
              </a:rPr>
              <a:t>+ </a:t>
            </a:r>
            <a:r>
              <a:rPr lang="en-US" dirty="0">
                <a:solidFill>
                  <a:srgbClr val="000000"/>
                </a:solidFill>
              </a:rPr>
              <a:t>meaning the </a:t>
            </a:r>
            <a:r>
              <a:rPr lang="en-US" dirty="0" err="1">
                <a:solidFill>
                  <a:srgbClr val="000000"/>
                </a:solidFill>
              </a:rPr>
              <a:t>RegExp</a:t>
            </a:r>
            <a:r>
              <a:rPr lang="en-US" dirty="0">
                <a:solidFill>
                  <a:srgbClr val="000000"/>
                </a:solidFill>
              </a:rPr>
              <a:t> OR operator, and </a:t>
            </a:r>
            <a:r>
              <a:rPr lang="en-US" b="1" dirty="0">
                <a:solidFill>
                  <a:srgbClr val="000000"/>
                </a:solidFill>
              </a:rPr>
              <a:t>ep </a:t>
            </a:r>
            <a:r>
              <a:rPr lang="en-US" dirty="0">
                <a:solidFill>
                  <a:srgbClr val="000000"/>
                </a:solidFill>
              </a:rPr>
              <a:t>meaning the </a:t>
            </a:r>
            <a:r>
              <a:rPr lang="el-GR" dirty="0">
                <a:solidFill>
                  <a:sysClr val="windowText" lastClr="000000"/>
                </a:solidFill>
              </a:rPr>
              <a:t>ε</a:t>
            </a:r>
            <a:r>
              <a:rPr lang="en-US" i="1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symbol. (Yes, this is a context free grammar for generating regular expressions!)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358DD2-EECC-4194-9D0E-DEAE14B47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825" y="3119645"/>
            <a:ext cx="28003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42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289195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Parsing Table Construction (Solution)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896B67-269B-4D2A-90CE-01D0EB4AD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02" y="2407472"/>
            <a:ext cx="5611595" cy="2043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1A000B-335F-4005-807A-BAA33BF9B536}"/>
              </a:ext>
            </a:extLst>
          </p:cNvPr>
          <p:cNvSpPr txBox="1"/>
          <p:nvPr/>
        </p:nvSpPr>
        <p:spPr>
          <a:xfrm>
            <a:off x="1885071" y="1955409"/>
            <a:ext cx="4529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FIRST and FOLLOW sets</a:t>
            </a:r>
          </a:p>
        </p:txBody>
      </p:sp>
    </p:spTree>
    <p:extLst>
      <p:ext uri="{BB962C8B-B14F-4D97-AF65-F5344CB8AC3E}">
        <p14:creationId xmlns:p14="http://schemas.microsoft.com/office/powerpoint/2010/main" val="2709730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289195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Parsing Table Construction (Solution)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A000B-335F-4005-807A-BAA33BF9B536}"/>
              </a:ext>
            </a:extLst>
          </p:cNvPr>
          <p:cNvSpPr txBox="1"/>
          <p:nvPr/>
        </p:nvSpPr>
        <p:spPr>
          <a:xfrm>
            <a:off x="2307101" y="1955409"/>
            <a:ext cx="4529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 (1) Parsing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28E1E-E4B2-46CD-A723-9EC9B0165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363" y="2521002"/>
            <a:ext cx="6033274" cy="307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33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Lecture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2249" y="2435897"/>
            <a:ext cx="865493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Carnegie Mellon University Material </a:t>
            </a:r>
          </a:p>
          <a:p>
            <a:r>
              <a:rPr lang="en-US" dirty="0">
                <a:hlinkClick r:id="rId2"/>
              </a:rPr>
              <a:t>https://www.cs.cmu.edu/~fp/courses/15411-f09/lectures/08-predictive.pdf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Columbia University Material</a:t>
            </a:r>
          </a:p>
          <a:p>
            <a:r>
              <a:rPr lang="en-US" dirty="0">
                <a:hlinkClick r:id="rId3"/>
              </a:rPr>
              <a:t>http://www1.cs.columbia.edu/~aho/cs4115/lectures/13-02-20.htm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Online Material </a:t>
            </a:r>
          </a:p>
          <a:p>
            <a:r>
              <a:rPr lang="en-US" dirty="0">
                <a:hlinkClick r:id="rId4"/>
              </a:rPr>
              <a:t>https://www.ques10.com/p/8960/construct-predictive-passing-table-for-following-2/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Online Tutorial </a:t>
            </a:r>
          </a:p>
          <a:p>
            <a:r>
              <a:rPr lang="en-US" dirty="0">
                <a:hlinkClick r:id="rId5"/>
              </a:rPr>
              <a:t>https://www.tutorialspoint.com/compiler_design/compiler_design_top_down_parser.htm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References/ 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718266"/>
            <a:ext cx="8336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1. Compilers-Principles, techniques and tools (2nd Edition) V.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Sethi</a:t>
            </a:r>
            <a:r>
              <a:rPr lang="en-US" dirty="0"/>
              <a:t> and D. Ullman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2. Principles of Compiler Design (2nd Revised Edition 2009) A. A. Puntambekar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3. Basics of Compiler Design Torben </a:t>
            </a:r>
            <a:r>
              <a:rPr lang="en-US" dirty="0" err="1"/>
              <a:t>Mogensen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02644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573</TotalTime>
  <Words>803</Words>
  <Application>Microsoft Office PowerPoint</Application>
  <PresentationFormat>On-screen Show (4:3)</PresentationFormat>
  <Paragraphs>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Corbel</vt:lpstr>
      <vt:lpstr>Wingdings</vt:lpstr>
      <vt:lpstr>Spectrum</vt:lpstr>
      <vt:lpstr>Parsing and Parsing Table</vt:lpstr>
      <vt:lpstr>Lecture Outline</vt:lpstr>
      <vt:lpstr>Objective and Outcome</vt:lpstr>
      <vt:lpstr>Quiz</vt:lpstr>
      <vt:lpstr>Parsing</vt:lpstr>
      <vt:lpstr>Types of Parsing</vt:lpstr>
      <vt:lpstr>Parsing Table Overview</vt:lpstr>
      <vt:lpstr>LL(k) LL(1) Parser Design  Prerequisite </vt:lpstr>
      <vt:lpstr>Predictive (LL1) Parsing Table  Construction Rule</vt:lpstr>
      <vt:lpstr>Predictive (LL1) Parsing Table  Construction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MOHAMMAD MAHMODUL KABIR RATUL</cp:lastModifiedBy>
  <cp:revision>120</cp:revision>
  <dcterms:created xsi:type="dcterms:W3CDTF">2018-12-10T17:20:29Z</dcterms:created>
  <dcterms:modified xsi:type="dcterms:W3CDTF">2021-04-26T04:12:49Z</dcterms:modified>
</cp:coreProperties>
</file>
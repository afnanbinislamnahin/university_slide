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301" r:id="rId2"/>
    <p:sldId id="257" r:id="rId3"/>
    <p:sldId id="266" r:id="rId4"/>
    <p:sldId id="268" r:id="rId5"/>
    <p:sldId id="271" r:id="rId6"/>
    <p:sldId id="284" r:id="rId7"/>
    <p:sldId id="286" r:id="rId8"/>
    <p:sldId id="287" r:id="rId9"/>
    <p:sldId id="289" r:id="rId10"/>
    <p:sldId id="285" r:id="rId11"/>
    <p:sldId id="282" r:id="rId12"/>
    <p:sldId id="281" r:id="rId13"/>
    <p:sldId id="280" r:id="rId14"/>
    <p:sldId id="279" r:id="rId15"/>
    <p:sldId id="303" r:id="rId16"/>
    <p:sldId id="305" r:id="rId17"/>
    <p:sldId id="304" r:id="rId18"/>
    <p:sldId id="307" r:id="rId19"/>
    <p:sldId id="308" r:id="rId20"/>
    <p:sldId id="309" r:id="rId21"/>
    <p:sldId id="300" r:id="rId22"/>
    <p:sldId id="30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2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E9B7-AA9D-41BB-B7B9-0AE7F0589838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60A16-1C54-4A2D-920F-47E6ED130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4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1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Variable Length Subnet Mask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83F79A-768F-45DD-BCFB-B565FE97F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28762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dirty="0"/>
                        <a:t>Fall 24-25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06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FLSM</a:t>
            </a:r>
          </a:p>
          <a:p>
            <a:pPr marL="342900" indent="-34290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Steps of 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Example 1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Example 2</a:t>
            </a:r>
          </a:p>
          <a:p>
            <a:r>
              <a:rPr lang="en-US" sz="2800" dirty="0">
                <a:solidFill>
                  <a:schemeClr val="tx1"/>
                </a:solidFill>
                <a:latin typeface="Perpetua" panose="02020502060401020303" pitchFamily="18" charset="0"/>
              </a:rPr>
              <a:t>3.   Homework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3023335"/>
            <a:ext cx="814647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A large network is difficult to manage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Less security as each host of the network can reach all other hosts.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Huge broadcast domain, thereby large bandwidth consumption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Waste of unused IP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8326B-CE85-460E-86CF-026CB5FFDE44}"/>
              </a:ext>
            </a:extLst>
          </p:cNvPr>
          <p:cNvSpPr txBox="1"/>
          <p:nvPr/>
        </p:nvSpPr>
        <p:spPr>
          <a:xfrm>
            <a:off x="500743" y="2561670"/>
            <a:ext cx="3577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Problems of Large Network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/>
              <a:t>Introduction….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199" y="3258280"/>
            <a:ext cx="68144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Perpetua" panose="02020502060401020303" pitchFamily="18" charset="0"/>
              </a:rPr>
              <a:t>Dividing a large network into several smaller networks, called subdivided networks or subnets.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FCA95-371A-4D09-8A80-717ED0E61AE1}"/>
              </a:ext>
            </a:extLst>
          </p:cNvPr>
          <p:cNvSpPr/>
          <p:nvPr/>
        </p:nvSpPr>
        <p:spPr>
          <a:xfrm>
            <a:off x="487333" y="2602077"/>
            <a:ext cx="46956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>
                <a:solidFill>
                  <a:srgbClr val="C00000"/>
                </a:solidFill>
              </a:rPr>
              <a:t>How to overcome the  problems?</a:t>
            </a:r>
          </a:p>
        </p:txBody>
      </p:sp>
    </p:spTree>
    <p:extLst>
      <p:ext uri="{BB962C8B-B14F-4D97-AF65-F5344CB8AC3E}">
        <p14:creationId xmlns:p14="http://schemas.microsoft.com/office/powerpoint/2010/main" val="396110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CE62B-B0DB-4CB0-A02C-499547A82F28}"/>
              </a:ext>
            </a:extLst>
          </p:cNvPr>
          <p:cNvSpPr txBox="1"/>
          <p:nvPr/>
        </p:nvSpPr>
        <p:spPr>
          <a:xfrm>
            <a:off x="5889792" y="2104950"/>
            <a:ext cx="3140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Perpetua" panose="02020502060401020303" pitchFamily="18" charset="0"/>
              </a:rPr>
              <a:t>For classful  addressing</a:t>
            </a:r>
          </a:p>
        </p:txBody>
      </p:sp>
      <p:graphicFrame>
        <p:nvGraphicFramePr>
          <p:cNvPr id="6" name="Table 17">
            <a:extLst>
              <a:ext uri="{FF2B5EF4-FFF2-40B4-BE49-F238E27FC236}">
                <a16:creationId xmlns:a16="http://schemas.microsoft.com/office/drawing/2014/main" id="{09D77A9D-E5AC-4CE6-8489-92DF94EA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69299"/>
              </p:ext>
            </p:extLst>
          </p:nvPr>
        </p:nvGraphicFramePr>
        <p:xfrm>
          <a:off x="6056738" y="2675902"/>
          <a:ext cx="2973850" cy="3474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6925">
                  <a:extLst>
                    <a:ext uri="{9D8B030D-6E8A-4147-A177-3AD203B41FA5}">
                      <a16:colId xmlns:a16="http://schemas.microsoft.com/office/drawing/2014/main" val="2614695856"/>
                    </a:ext>
                  </a:extLst>
                </a:gridCol>
                <a:gridCol w="1486925">
                  <a:extLst>
                    <a:ext uri="{9D8B030D-6E8A-4147-A177-3AD203B41FA5}">
                      <a16:colId xmlns:a16="http://schemas.microsoft.com/office/drawing/2014/main" val="754840342"/>
                    </a:ext>
                  </a:extLst>
                </a:gridCol>
              </a:tblGrid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 of IP addresses 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3910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88701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60945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00172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0855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63838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58199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5478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12C5337-0CBB-4257-8A0A-B5174C50B699}"/>
              </a:ext>
            </a:extLst>
          </p:cNvPr>
          <p:cNvGrpSpPr/>
          <p:nvPr/>
        </p:nvGrpSpPr>
        <p:grpSpPr>
          <a:xfrm>
            <a:off x="232309" y="2570797"/>
            <a:ext cx="5983088" cy="2627243"/>
            <a:chOff x="964763" y="2637182"/>
            <a:chExt cx="5983088" cy="26272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C584DD-9D17-4EFF-BD70-1884E260C1FB}"/>
                </a:ext>
              </a:extLst>
            </p:cNvPr>
            <p:cNvGrpSpPr/>
            <p:nvPr/>
          </p:nvGrpSpPr>
          <p:grpSpPr>
            <a:xfrm>
              <a:off x="964763" y="2637182"/>
              <a:ext cx="4879446" cy="2627243"/>
              <a:chOff x="1037758" y="2580861"/>
              <a:chExt cx="5922532" cy="291465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FEC3183-D3D7-4CF2-B991-EA1047E976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755"/>
              <a:stretch/>
            </p:blipFill>
            <p:spPr>
              <a:xfrm>
                <a:off x="1037758" y="2580861"/>
                <a:ext cx="5922532" cy="291465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E6B939-067B-4AC0-A18B-8AC3D5CC1AD7}"/>
                  </a:ext>
                </a:extLst>
              </p:cNvPr>
              <p:cNvSpPr/>
              <p:nvPr/>
            </p:nvSpPr>
            <p:spPr>
              <a:xfrm>
                <a:off x="1037758" y="4038187"/>
                <a:ext cx="181442" cy="5052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0E6F277-C889-435F-B896-3DAFD7B0E86F}"/>
                  </a:ext>
                </a:extLst>
              </p:cNvPr>
              <p:cNvSpPr/>
              <p:nvPr/>
            </p:nvSpPr>
            <p:spPr>
              <a:xfrm>
                <a:off x="6003235" y="2987952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934F4A-8A40-4824-96B4-46E38F7163B0}"/>
                  </a:ext>
                </a:extLst>
              </p:cNvPr>
              <p:cNvSpPr/>
              <p:nvPr/>
            </p:nvSpPr>
            <p:spPr>
              <a:xfrm>
                <a:off x="6003235" y="3940037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8865A0-26FE-4B2C-B2CB-FA45ADE271B4}"/>
                  </a:ext>
                </a:extLst>
              </p:cNvPr>
              <p:cNvSpPr/>
              <p:nvPr/>
            </p:nvSpPr>
            <p:spPr>
              <a:xfrm>
                <a:off x="6003235" y="4830210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C62D66-EED1-4503-B0AF-BB395BA43003}"/>
                </a:ext>
              </a:extLst>
            </p:cNvPr>
            <p:cNvSpPr txBox="1"/>
            <p:nvPr/>
          </p:nvSpPr>
          <p:spPr>
            <a:xfrm>
              <a:off x="5055711" y="2975113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E</a:t>
              </a:r>
            </a:p>
            <a:p>
              <a:r>
                <a:rPr lang="en-US"/>
                <a:t>Required IP: 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E8EC2B-E37C-4882-A15B-4FEB27FC0AE4}"/>
                </a:ext>
              </a:extLst>
            </p:cNvPr>
            <p:cNvSpPr txBox="1"/>
            <p:nvPr/>
          </p:nvSpPr>
          <p:spPr>
            <a:xfrm>
              <a:off x="964763" y="3154392"/>
              <a:ext cx="1816303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/>
                <a:t>Network: A</a:t>
              </a:r>
            </a:p>
            <a:p>
              <a:r>
                <a:rPr lang="en-US"/>
                <a:t>Required IP: 56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E22469-62D5-4EF4-8B64-B04B8BDE3E8A}"/>
                </a:ext>
              </a:extLst>
            </p:cNvPr>
            <p:cNvSpPr txBox="1"/>
            <p:nvPr/>
          </p:nvSpPr>
          <p:spPr>
            <a:xfrm>
              <a:off x="5205198" y="3727454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F</a:t>
              </a:r>
            </a:p>
            <a:p>
              <a:r>
                <a:rPr lang="en-US"/>
                <a:t>Required IP: 21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81EE8E-9F2B-4B10-AD42-FFD812039994}"/>
                </a:ext>
              </a:extLst>
            </p:cNvPr>
            <p:cNvSpPr txBox="1"/>
            <p:nvPr/>
          </p:nvSpPr>
          <p:spPr>
            <a:xfrm>
              <a:off x="5138535" y="4601529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G</a:t>
              </a:r>
            </a:p>
            <a:p>
              <a:r>
                <a:rPr lang="en-US"/>
                <a:t>Required IP: 26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D419F2-01E6-4E4B-BFBF-39470F04661A}"/>
                </a:ext>
              </a:extLst>
            </p:cNvPr>
            <p:cNvSpPr txBox="1"/>
            <p:nvPr/>
          </p:nvSpPr>
          <p:spPr>
            <a:xfrm>
              <a:off x="2707416" y="3340095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768E0D-8631-4B18-87C3-B138BCB15D17}"/>
                </a:ext>
              </a:extLst>
            </p:cNvPr>
            <p:cNvSpPr txBox="1"/>
            <p:nvPr/>
          </p:nvSpPr>
          <p:spPr>
            <a:xfrm>
              <a:off x="3066880" y="3673264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C41D29-BF2F-47BA-8353-A01842207231}"/>
                </a:ext>
              </a:extLst>
            </p:cNvPr>
            <p:cNvSpPr txBox="1"/>
            <p:nvPr/>
          </p:nvSpPr>
          <p:spPr>
            <a:xfrm>
              <a:off x="2536929" y="4305853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ADF34B-A235-4343-8AB5-27EB957227D4}"/>
                </a:ext>
              </a:extLst>
            </p:cNvPr>
            <p:cNvSpPr/>
            <p:nvPr/>
          </p:nvSpPr>
          <p:spPr>
            <a:xfrm>
              <a:off x="3935896" y="2637182"/>
              <a:ext cx="2076879" cy="2935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/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Required IPs: 56+5+21+26+4+4+4=120</a:t>
                </a:r>
              </a:p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Classful address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No. o allocated IPs: 256×7=1792 IP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(1792−120)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1792</m:t>
                        </m:r>
                      </m:den>
                    </m:f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93%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  <a:blipFill>
                <a:blip r:embed="rId2"/>
                <a:stretch>
                  <a:fillRect l="-1339" t="-4984" b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573AA-C7D3-4541-9F5F-D84123DEAEE8}"/>
              </a:ext>
            </a:extLst>
          </p:cNvPr>
          <p:cNvSpPr/>
          <p:nvPr/>
        </p:nvSpPr>
        <p:spPr>
          <a:xfrm>
            <a:off x="1234286" y="2478782"/>
            <a:ext cx="6026485" cy="99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Is there any way to further reduce the  unused IP addresses?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B7A09-A440-47F1-B93A-311F6094CB48}"/>
              </a:ext>
            </a:extLst>
          </p:cNvPr>
          <p:cNvSpPr txBox="1"/>
          <p:nvPr/>
        </p:nvSpPr>
        <p:spPr>
          <a:xfrm>
            <a:off x="768631" y="4160989"/>
            <a:ext cx="7353743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00B050"/>
                </a:solidFill>
                <a:latin typeface="Perpetua" panose="02020502060401020303" pitchFamily="18" charset="0"/>
              </a:rPr>
              <a:t>Yup!</a:t>
            </a:r>
          </a:p>
          <a:p>
            <a:pPr algn="ctr"/>
            <a:r>
              <a:rPr lang="en-US" sz="2400">
                <a:latin typeface="Perpetua" panose="02020502060401020303" pitchFamily="18" charset="0"/>
              </a:rPr>
              <a:t>Instead of giving the same number of IP addresses to all subnets, </a:t>
            </a:r>
          </a:p>
          <a:p>
            <a:pPr algn="ctr"/>
            <a:r>
              <a:rPr lang="en-US" sz="2400">
                <a:latin typeface="Perpetua" panose="02020502060401020303" pitchFamily="18" charset="0"/>
              </a:rPr>
              <a:t>allocate different number of IP addresses depending</a:t>
            </a:r>
          </a:p>
          <a:p>
            <a:pPr algn="ctr"/>
            <a:r>
              <a:rPr lang="en-US" sz="2400">
                <a:latin typeface="Perpetua"/>
              </a:rPr>
              <a:t> on each subnet’s needs.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32231-8A64-4D19-A1CE-07228932AE7F}"/>
              </a:ext>
            </a:extLst>
          </p:cNvPr>
          <p:cNvSpPr/>
          <p:nvPr/>
        </p:nvSpPr>
        <p:spPr>
          <a:xfrm>
            <a:off x="366477" y="2620563"/>
            <a:ext cx="8301318" cy="20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Variable Length Subnet Mask (VLSM)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Instead of allocating the same number of IP addresses to all networks, the number of IP addresses allocated to network depends on the network’s need.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Different network is provided with different number of IPs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Steps of VLSM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715D0-CF21-4439-B9FA-2FEF3EC2A37F}"/>
              </a:ext>
            </a:extLst>
          </p:cNvPr>
          <p:cNvSpPr/>
          <p:nvPr/>
        </p:nvSpPr>
        <p:spPr>
          <a:xfrm>
            <a:off x="302033" y="2243984"/>
            <a:ext cx="8330338" cy="392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1: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Write the networks’ names and IP requirements in descending 	order of IP requirements.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	A (56), G(26), F(21), E(5), B(4), C(4), D(4) 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2: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Find the number of host bits needed to satisfy the IP 		requirement of each subnet?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3: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Based on the number of host bits, find the subnet mask for 	each subnet.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4: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Allocate IPs to each subnet starting from the beginning of the 	IP block. Allocate IPs to subnet sequentially according to the 	sorted network sequence found in Step 1.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11070"/>
            <a:ext cx="7808976" cy="1088136"/>
          </a:xfrm>
        </p:spPr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18050"/>
            <a:ext cx="7754112" cy="484632"/>
          </a:xfrm>
        </p:spPr>
        <p:txBody>
          <a:bodyPr/>
          <a:lstStyle/>
          <a:p>
            <a:r>
              <a:rPr lang="en-US"/>
              <a:t>Example 1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9875778"/>
                  </p:ext>
                </p:extLst>
              </p:nvPr>
            </p:nvGraphicFramePr>
            <p:xfrm>
              <a:off x="353045" y="2859742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IPs</a:t>
                          </a:r>
                        </a:p>
                        <a:p>
                          <a:r>
                            <a:rPr lang="en-US" sz="140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host bits</a:t>
                          </a:r>
                        </a:p>
                        <a:p>
                          <a:r>
                            <a:rPr lang="en-US" sz="140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&gt;21&gt;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255.255.255.224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=32−3=29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9875778"/>
                  </p:ext>
                </p:extLst>
              </p:nvPr>
            </p:nvGraphicFramePr>
            <p:xfrm>
              <a:off x="353045" y="2859742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IPs</a:t>
                          </a:r>
                        </a:p>
                        <a:p>
                          <a:r>
                            <a:rPr lang="en-US" sz="140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host bits</a:t>
                          </a:r>
                        </a:p>
                        <a:p>
                          <a:r>
                            <a:rPr lang="en-US" sz="140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103659" r="-363745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103659" r="-188933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206173" r="-363745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206173" r="-188933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302439" r="-363745" b="-409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302439" r="-188933" b="-409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255.255.255.224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407407" r="-36374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407407" r="-188933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507407" r="-363745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507407" r="-188933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600000" r="-363745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600000" r="-188933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708642" r="-363745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708642" r="-188933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BE50965-C02B-4F27-AAE7-10E82285C8D0}"/>
              </a:ext>
            </a:extLst>
          </p:cNvPr>
          <p:cNvGrpSpPr/>
          <p:nvPr/>
        </p:nvGrpSpPr>
        <p:grpSpPr>
          <a:xfrm>
            <a:off x="1975749" y="1997264"/>
            <a:ext cx="4305307" cy="1444334"/>
            <a:chOff x="2888971" y="128309"/>
            <a:chExt cx="5592420" cy="192577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5E7D00-FA82-4B0F-826C-77DCCB67BEBA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61" y="587554"/>
              <a:ext cx="2014330" cy="1466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0211A5-6A46-4B8E-8A7B-37911C8E2A68}"/>
                </a:ext>
              </a:extLst>
            </p:cNvPr>
            <p:cNvGrpSpPr/>
            <p:nvPr/>
          </p:nvGrpSpPr>
          <p:grpSpPr>
            <a:xfrm>
              <a:off x="2888971" y="128309"/>
              <a:ext cx="5592420" cy="1194303"/>
              <a:chOff x="2888971" y="128309"/>
              <a:chExt cx="5592420" cy="119430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03EF41-EE8C-4F95-B443-7AE873E128BE}"/>
                  </a:ext>
                </a:extLst>
              </p:cNvPr>
              <p:cNvSpPr txBox="1"/>
              <p:nvPr/>
            </p:nvSpPr>
            <p:spPr>
              <a:xfrm>
                <a:off x="2888972" y="128309"/>
                <a:ext cx="5592419" cy="861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11111111. 11111111. 11111111. 11000000</a:t>
                </a:r>
              </a:p>
            </p:txBody>
          </p:sp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052926EE-72D3-4E46-8EEE-D0536057AE17}"/>
                  </a:ext>
                </a:extLst>
              </p:cNvPr>
              <p:cNvSpPr/>
              <p:nvPr/>
            </p:nvSpPr>
            <p:spPr>
              <a:xfrm rot="16200000">
                <a:off x="5029214" y="-1477602"/>
                <a:ext cx="251759" cy="4532245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0C9AB082-2BEC-458F-A4A6-98A1ADC9A579}"/>
                  </a:ext>
                </a:extLst>
              </p:cNvPr>
              <p:cNvSpPr/>
              <p:nvPr/>
            </p:nvSpPr>
            <p:spPr>
              <a:xfrm rot="16200000">
                <a:off x="7795609" y="317234"/>
                <a:ext cx="251759" cy="894525"/>
              </a:xfrm>
              <a:prstGeom prst="leftBrac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EE994-805C-4BAA-9DF6-C735A2A4594A}"/>
                  </a:ext>
                </a:extLst>
              </p:cNvPr>
              <p:cNvSpPr txBox="1"/>
              <p:nvPr/>
            </p:nvSpPr>
            <p:spPr>
              <a:xfrm>
                <a:off x="4945742" y="922503"/>
                <a:ext cx="48132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26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840A90-DDA9-4DA8-89B3-572E3DD8D29A}"/>
                  </a:ext>
                </a:extLst>
              </p:cNvPr>
              <p:cNvSpPr txBox="1"/>
              <p:nvPr/>
            </p:nvSpPr>
            <p:spPr>
              <a:xfrm>
                <a:off x="7720730" y="890376"/>
                <a:ext cx="36377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718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Example 1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/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VLSM</a:t>
                </a:r>
              </a:p>
              <a:p>
                <a:pPr lvl="1"/>
                <a:r>
                  <a:rPr lang="en-US">
                    <a:latin typeface="Perpetua" panose="02020502060401020303" pitchFamily="18" charset="0"/>
                  </a:rPr>
                  <a:t>No. of allocated IPs: 64+32+32+8+4+4+4=148 IP</a:t>
                </a:r>
              </a:p>
              <a:p>
                <a:pPr lvl="1"/>
                <a:r>
                  <a:rPr lang="en-US"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(148−120)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>
                    <a:latin typeface="Perpetua" panose="02020502060401020303" pitchFamily="18" charset="0"/>
                  </a:rPr>
                  <a:t>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  <a:blipFill>
                <a:blip r:embed="rId2"/>
                <a:stretch>
                  <a:fillRect l="-1543" t="-4545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CD52C7B3-FC49-4120-A396-B1F6A7E0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37952"/>
              </p:ext>
            </p:extLst>
          </p:nvPr>
        </p:nvGraphicFramePr>
        <p:xfrm>
          <a:off x="1418772" y="4305771"/>
          <a:ext cx="541866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575248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546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Classful 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VLSM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3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81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D5A471-4D80-4C4D-ABE8-8AC761405A22}"/>
              </a:ext>
            </a:extLst>
          </p:cNvPr>
          <p:cNvSpPr txBox="1"/>
          <p:nvPr/>
        </p:nvSpPr>
        <p:spPr>
          <a:xfrm>
            <a:off x="686653" y="3757580"/>
            <a:ext cx="743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Perpetua" panose="02020502060401020303" pitchFamily="18" charset="0"/>
              </a:rPr>
              <a:t>Percentage of unused IP address (for the given network)</a:t>
            </a:r>
          </a:p>
        </p:txBody>
      </p:sp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0E791-FD3B-4568-AF67-EA6A9C30D260}"/>
              </a:ext>
            </a:extLst>
          </p:cNvPr>
          <p:cNvSpPr txBox="1">
            <a:spLocks/>
          </p:cNvSpPr>
          <p:nvPr/>
        </p:nvSpPr>
        <p:spPr>
          <a:xfrm>
            <a:off x="160682" y="2288977"/>
            <a:ext cx="8822635" cy="135421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>
              <a:latin typeface="Perpetua" panose="02020502060401020303" pitchFamily="18" charset="0"/>
            </a:endParaRPr>
          </a:p>
          <a:p>
            <a:endParaRPr lang="en-US">
              <a:latin typeface="Perpetua" panose="02020502060401020303" pitchFamily="18" charset="0"/>
            </a:endParaRPr>
          </a:p>
          <a:p>
            <a:pPr algn="ctr"/>
            <a:r>
              <a:rPr lang="en-US" sz="3600">
                <a:solidFill>
                  <a:srgbClr val="FF000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Is it possible to further reduce the unused IP?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85AA8-E769-4CE8-8435-FEA19E2C0149}"/>
              </a:ext>
            </a:extLst>
          </p:cNvPr>
          <p:cNvSpPr txBox="1"/>
          <p:nvPr/>
        </p:nvSpPr>
        <p:spPr>
          <a:xfrm>
            <a:off x="1298240" y="3722238"/>
            <a:ext cx="6462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00B050"/>
                </a:solidFill>
                <a:latin typeface="Perpetua" panose="02020502060401020303" pitchFamily="18" charset="0"/>
              </a:rPr>
              <a:t>Spend your time to propose a new subnetting technique.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Example 2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94104-C254-41E6-9FD6-BB62EC9CE3B5}"/>
              </a:ext>
            </a:extLst>
          </p:cNvPr>
          <p:cNvSpPr/>
          <p:nvPr/>
        </p:nvSpPr>
        <p:spPr>
          <a:xfrm>
            <a:off x="421341" y="2219438"/>
            <a:ext cx="8319888" cy="109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50, 4 and 28. If You are given an IP block 130.3.0.0, allocate IPs performing subnetting.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236556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288558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47710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45051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/>
                            <a:t>required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How many bits to borrow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allocated IPs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/>
                            <a:t>No. of net bits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 mask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Allocated IP range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50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&gt;50&gt;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130.3.0.0-130.3.0.63/26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28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&gt;28&gt;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130.3.0.64-130.3.0.95/27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236556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288558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47710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45051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/>
                            <a:t>required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How many bits to borrow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allocated IPs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/>
                            <a:t>No. of net bits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 mask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Allocated IP range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50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106173" r="-430332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106173" r="-187243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130.3.0.0-130.3.0.63/26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28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203659" r="-430332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203659" r="-187243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130.3.0.64-130.3.0.95/27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307407" r="-430332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307407" r="-187243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853146-6F38-4267-9158-057280E2E0F3}"/>
              </a:ext>
            </a:extLst>
          </p:cNvPr>
          <p:cNvSpPr/>
          <p:nvPr/>
        </p:nvSpPr>
        <p:spPr>
          <a:xfrm>
            <a:off x="373956" y="2233422"/>
            <a:ext cx="8396088" cy="368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100,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3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00 and 2008, respectively. If You are given an IP block 130.3.0.0, allocate IPs performing subnetting.</a:t>
            </a: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six networks: A, B, C, D, E and F with IP requirements 120, 400, 9, 40, 32, and 7, respectively. If You are given an IP block 210.3.0.0, allocate IPs performing subnetting.</a:t>
            </a: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Consider your ID: AB-CDEFG-H. Now, suppose that we have four networks: P,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Q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, and 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with IP requirements D*100, E*100, F*100, and G*100, respectively. If You are given an IP block 172.16.0.0/16, allocate IPs performing subnetting.</a:t>
            </a:r>
          </a:p>
        </p:txBody>
      </p:sp>
    </p:spTree>
    <p:extLst>
      <p:ext uri="{BB962C8B-B14F-4D97-AF65-F5344CB8AC3E}">
        <p14:creationId xmlns:p14="http://schemas.microsoft.com/office/powerpoint/2010/main" val="2899998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3A0F-9E5F-14FA-1522-800F74CC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 to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7182C-02C4-4B7C-9FA5-3C4850C5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29" y="1969212"/>
            <a:ext cx="7076747" cy="3992563"/>
          </a:xfrm>
        </p:spPr>
        <p:txBody>
          <a:bodyPr/>
          <a:lstStyle/>
          <a:p>
            <a:r>
              <a:rPr lang="en-US" dirty="0"/>
              <a:t>255 .  255.  128 . 0</a:t>
            </a:r>
          </a:p>
          <a:p>
            <a:pPr marL="0" indent="0">
              <a:buNone/>
            </a:pPr>
            <a:r>
              <a:rPr lang="en-US" dirty="0"/>
              <a:t>Ans:  255=11111111     255=11111111</a:t>
            </a:r>
          </a:p>
          <a:p>
            <a:pPr marL="0" indent="0">
              <a:buNone/>
            </a:pPr>
            <a:r>
              <a:rPr lang="en-US" dirty="0"/>
              <a:t>          128 =10000000     0=00000000</a:t>
            </a:r>
          </a:p>
          <a:p>
            <a:pPr marL="0" indent="0">
              <a:buNone/>
            </a:pPr>
            <a:r>
              <a:rPr lang="en-US" dirty="0"/>
              <a:t>Total = 17 ones.  Prefix: /17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681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C9D2-F650-56B7-FD91-6C457D8E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98E7-30AF-9104-AAC8-654D0831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 to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0724-280F-E3E3-5233-BF5F961D9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29" y="1969212"/>
            <a:ext cx="7076747" cy="3992563"/>
          </a:xfrm>
        </p:spPr>
        <p:txBody>
          <a:bodyPr/>
          <a:lstStyle/>
          <a:p>
            <a:r>
              <a:rPr lang="en-US" dirty="0"/>
              <a:t>1.  255.255.255.254</a:t>
            </a:r>
          </a:p>
          <a:p>
            <a:pPr marL="0" indent="0">
              <a:buNone/>
            </a:pPr>
            <a:r>
              <a:rPr lang="en-US" dirty="0"/>
              <a:t>Ans:  255=11111111     255=11111111</a:t>
            </a:r>
          </a:p>
          <a:p>
            <a:pPr marL="0" indent="0">
              <a:buNone/>
            </a:pPr>
            <a:r>
              <a:rPr lang="en-US" dirty="0"/>
              <a:t>          255=11111111      252=11111100</a:t>
            </a:r>
          </a:p>
          <a:p>
            <a:pPr marL="0" indent="0">
              <a:buNone/>
            </a:pPr>
            <a:r>
              <a:rPr lang="en-US" dirty="0"/>
              <a:t>Total = 30 ones.  Prefix: /30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21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3CF0E-33DA-42DE-3E90-BABE4818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1D8D-B34B-66D7-50C9-E8F98DC1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 to Subnet Mask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4FCAB-F2EC-C64B-67DA-A68937F1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29" y="1969212"/>
            <a:ext cx="7076747" cy="3992563"/>
          </a:xfrm>
        </p:spPr>
        <p:txBody>
          <a:bodyPr>
            <a:normAutofit/>
          </a:bodyPr>
          <a:lstStyle/>
          <a:p>
            <a:r>
              <a:rPr lang="en-US" dirty="0"/>
              <a:t> /17</a:t>
            </a:r>
          </a:p>
          <a:p>
            <a:pPr marL="0" indent="0">
              <a:buNone/>
            </a:pPr>
            <a:r>
              <a:rPr lang="en-US" dirty="0"/>
              <a:t>Ans:  Total = 17 ones.  </a:t>
            </a:r>
          </a:p>
          <a:p>
            <a:pPr marL="0" indent="0">
              <a:buNone/>
            </a:pPr>
            <a:r>
              <a:rPr lang="en-US" dirty="0"/>
              <a:t>              11111111 . 11111111 .  10000000 .00000000</a:t>
            </a:r>
          </a:p>
          <a:p>
            <a:pPr marL="0" indent="0">
              <a:buNone/>
            </a:pPr>
            <a:r>
              <a:rPr lang="en-US" dirty="0"/>
              <a:t>                    255      .      255       .         128    .         0</a:t>
            </a:r>
          </a:p>
          <a:p>
            <a:pPr marL="0" indent="0">
              <a:buNone/>
            </a:pPr>
            <a:r>
              <a:rPr lang="en-US" dirty="0"/>
              <a:t>Subnet Mask: 255.255.128.0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52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B663-2A18-F84F-8797-CA9FCD20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BE5D-6C3E-120E-B9C3-299307A7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 to Subnet Mask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35C1-AD16-A07A-AE53-4B77F92E3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439" y="2010309"/>
            <a:ext cx="7076747" cy="3992563"/>
          </a:xfrm>
        </p:spPr>
        <p:txBody>
          <a:bodyPr>
            <a:normAutofit/>
          </a:bodyPr>
          <a:lstStyle/>
          <a:p>
            <a:r>
              <a:rPr lang="en-US" dirty="0"/>
              <a:t> /30</a:t>
            </a:r>
          </a:p>
          <a:p>
            <a:pPr marL="0" indent="0">
              <a:buNone/>
            </a:pPr>
            <a:r>
              <a:rPr lang="en-US" dirty="0"/>
              <a:t>Ans:  Total = 30 ones.  </a:t>
            </a:r>
          </a:p>
          <a:p>
            <a:pPr marL="0" indent="0">
              <a:buNone/>
            </a:pPr>
            <a:r>
              <a:rPr lang="en-US" dirty="0"/>
              <a:t>              11111111 . 11111111 .  11111111 .11111100</a:t>
            </a:r>
          </a:p>
          <a:p>
            <a:pPr marL="0" indent="0">
              <a:buNone/>
            </a:pPr>
            <a:r>
              <a:rPr lang="en-US" dirty="0"/>
              <a:t>                    255      .      255       .        255   .         252</a:t>
            </a:r>
          </a:p>
          <a:p>
            <a:pPr marL="0" indent="0">
              <a:buNone/>
            </a:pPr>
            <a:r>
              <a:rPr lang="en-US" dirty="0"/>
              <a:t>Subnet Mask: 255.255.255.252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24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B447C-3C7A-0024-3820-BC4CBE03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66CE-938D-C7C1-7A47-DD96334E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Network Address, Broadcast Address, Valid  IP Range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AE7A-9853-EA2D-6CF8-70928126E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7" y="1875556"/>
            <a:ext cx="8574086" cy="4650372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 172.16.5.34 /26</a:t>
            </a:r>
          </a:p>
          <a:p>
            <a:pPr marL="0" indent="0">
              <a:buNone/>
            </a:pPr>
            <a:r>
              <a:rPr lang="en-US" sz="9600" dirty="0"/>
              <a:t>Ans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:                    172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16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5</a:t>
            </a:r>
            <a:r>
              <a:rPr lang="en-US" sz="9600" dirty="0"/>
              <a:t>.            </a:t>
            </a:r>
            <a:r>
              <a:rPr lang="en-US" sz="9600" dirty="0">
                <a:solidFill>
                  <a:srgbClr val="7030A0"/>
                </a:solidFill>
              </a:rPr>
              <a:t>34</a:t>
            </a:r>
          </a:p>
          <a:p>
            <a:pPr marL="0" indent="0">
              <a:buNone/>
            </a:pPr>
            <a:r>
              <a:rPr lang="en-US" sz="9600" dirty="0"/>
              <a:t>                        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10101100 </a:t>
            </a:r>
            <a:r>
              <a:rPr lang="en-US" sz="9600" dirty="0">
                <a:solidFill>
                  <a:schemeClr val="tx1"/>
                </a:solidFill>
              </a:rPr>
              <a:t>. </a:t>
            </a:r>
            <a:r>
              <a:rPr lang="en-US" sz="9600" dirty="0">
                <a:solidFill>
                  <a:srgbClr val="FF0000"/>
                </a:solidFill>
              </a:rPr>
              <a:t>00010000</a:t>
            </a:r>
            <a:r>
              <a:rPr lang="en-US" sz="9600" dirty="0">
                <a:solidFill>
                  <a:schemeClr val="tx1"/>
                </a:solidFill>
              </a:rPr>
              <a:t> . </a:t>
            </a:r>
            <a:r>
              <a:rPr lang="en-US" sz="9600" dirty="0">
                <a:solidFill>
                  <a:srgbClr val="00B050"/>
                </a:solidFill>
              </a:rPr>
              <a:t>00000101</a:t>
            </a:r>
            <a:r>
              <a:rPr lang="en-US" sz="9600" dirty="0">
                <a:solidFill>
                  <a:schemeClr val="tx1"/>
                </a:solidFill>
              </a:rPr>
              <a:t>  . </a:t>
            </a:r>
            <a:r>
              <a:rPr lang="en-US" sz="9600" dirty="0">
                <a:solidFill>
                  <a:srgbClr val="7030A0"/>
                </a:solidFill>
              </a:rPr>
              <a:t>00 100010</a:t>
            </a:r>
          </a:p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</a:rPr>
              <a:t>Network Address :  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10101100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00010000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00000101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00 000000</a:t>
            </a:r>
          </a:p>
          <a:p>
            <a:pPr marL="0" indent="0">
              <a:buNone/>
            </a:pPr>
            <a:r>
              <a:rPr lang="en-US" sz="9600" dirty="0">
                <a:solidFill>
                  <a:srgbClr val="7030A0"/>
                </a:solidFill>
                <a:latin typeface="Calibri"/>
              </a:rPr>
              <a:t>                               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172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16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5</a:t>
            </a:r>
            <a:r>
              <a:rPr lang="en-US" sz="9600" dirty="0"/>
              <a:t>.                     .</a:t>
            </a:r>
            <a:r>
              <a:rPr lang="en-US" sz="9600" dirty="0">
                <a:solidFill>
                  <a:srgbClr val="7030A0"/>
                </a:solidFill>
              </a:rPr>
              <a:t>0</a:t>
            </a:r>
          </a:p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</a:rPr>
              <a:t>Broadcast Address :   </a:t>
            </a:r>
            <a:r>
              <a:rPr lang="en-US" sz="9600" dirty="0">
                <a:solidFill>
                  <a:srgbClr val="ACCBF9">
                    <a:lumMod val="50000"/>
                  </a:srgbClr>
                </a:solidFill>
              </a:rPr>
              <a:t>10101100 </a:t>
            </a:r>
            <a:r>
              <a:rPr lang="en-US" sz="9600" dirty="0">
                <a:solidFill>
                  <a:prstClr val="black"/>
                </a:solidFill>
              </a:rPr>
              <a:t>. </a:t>
            </a:r>
            <a:r>
              <a:rPr lang="en-US" sz="9600" dirty="0">
                <a:solidFill>
                  <a:srgbClr val="FF0000"/>
                </a:solidFill>
              </a:rPr>
              <a:t>00010000</a:t>
            </a:r>
            <a:r>
              <a:rPr lang="en-US" sz="9600" dirty="0">
                <a:solidFill>
                  <a:prstClr val="black"/>
                </a:solidFill>
              </a:rPr>
              <a:t> . </a:t>
            </a:r>
            <a:r>
              <a:rPr lang="en-US" sz="9600" dirty="0">
                <a:solidFill>
                  <a:srgbClr val="00B050"/>
                </a:solidFill>
              </a:rPr>
              <a:t>00000101</a:t>
            </a:r>
            <a:r>
              <a:rPr lang="en-US" sz="9600" dirty="0">
                <a:solidFill>
                  <a:prstClr val="black"/>
                </a:solidFill>
              </a:rPr>
              <a:t>  .</a:t>
            </a:r>
            <a:r>
              <a:rPr lang="en-US" sz="9600" dirty="0">
                <a:solidFill>
                  <a:srgbClr val="7030A0"/>
                </a:solidFill>
              </a:rPr>
              <a:t>00 111111</a:t>
            </a:r>
          </a:p>
          <a:p>
            <a:pPr marL="0" indent="0">
              <a:buNone/>
            </a:pPr>
            <a:r>
              <a:rPr lang="en-US" sz="9600" dirty="0">
                <a:solidFill>
                  <a:srgbClr val="7030A0"/>
                </a:solidFill>
              </a:rPr>
              <a:t>                                 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172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16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5</a:t>
            </a:r>
            <a:r>
              <a:rPr lang="en-US" sz="9600" dirty="0"/>
              <a:t>.                     .</a:t>
            </a:r>
            <a:r>
              <a:rPr lang="en-US" sz="9600" dirty="0">
                <a:solidFill>
                  <a:srgbClr val="7030A0"/>
                </a:solidFill>
              </a:rPr>
              <a:t>63</a:t>
            </a:r>
          </a:p>
          <a:p>
            <a:pPr marL="0" indent="0">
              <a:buNone/>
            </a:pPr>
            <a:r>
              <a:rPr lang="en-US" sz="6400" dirty="0"/>
              <a:t>Network Address: 172.16.5.0         Broadcast Address : 172.16.5.63   Subnet Mask: 255.255.255.192</a:t>
            </a:r>
          </a:p>
          <a:p>
            <a:pPr marL="0" indent="0">
              <a:buNone/>
            </a:pPr>
            <a:r>
              <a:rPr lang="en-US" sz="6400" dirty="0"/>
              <a:t>Valid  IP Range : 172.16.5.1 - 172.16.5.62</a:t>
            </a:r>
            <a:endParaRPr lang="en-US" sz="6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9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Calibri"/>
              </a:rPr>
              <a:t>                                            </a:t>
            </a:r>
            <a:endParaRPr lang="en-US" sz="1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A58FFE-D635-94A0-3811-3E9701937213}"/>
              </a:ext>
            </a:extLst>
          </p:cNvPr>
          <p:cNvCxnSpPr>
            <a:cxnSpLocks/>
          </p:cNvCxnSpPr>
          <p:nvPr/>
        </p:nvCxnSpPr>
        <p:spPr>
          <a:xfrm>
            <a:off x="6747309" y="2762451"/>
            <a:ext cx="144379" cy="2637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013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FB38-DBE8-2681-5E47-209D13F1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F148-04F1-D048-54B6-B44C7AD2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Network Address, Broadcast Address, Valid  IP Range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3144-F05B-49E8-67A1-7EB74785F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7" y="1875556"/>
            <a:ext cx="8574086" cy="4650372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 110.32.5.115 /22</a:t>
            </a:r>
          </a:p>
          <a:p>
            <a:pPr marL="0" indent="0">
              <a:buNone/>
            </a:pPr>
            <a:r>
              <a:rPr lang="en-US" sz="9600" dirty="0"/>
              <a:t>Ans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:                    110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32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5</a:t>
            </a:r>
            <a:r>
              <a:rPr lang="en-US" sz="9600" dirty="0"/>
              <a:t>.              </a:t>
            </a:r>
            <a:r>
              <a:rPr lang="en-US" sz="9600" dirty="0">
                <a:solidFill>
                  <a:srgbClr val="7030A0"/>
                </a:solidFill>
              </a:rPr>
              <a:t>115</a:t>
            </a:r>
          </a:p>
          <a:p>
            <a:pPr marL="0" indent="0">
              <a:buNone/>
            </a:pPr>
            <a:r>
              <a:rPr lang="en-US" sz="9600" dirty="0"/>
              <a:t>                        </a:t>
            </a:r>
            <a:r>
              <a:rPr lang="en-US" sz="9600" dirty="0">
                <a:solidFill>
                  <a:srgbClr val="0070C0"/>
                </a:solidFill>
              </a:rPr>
              <a:t>01101110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9600" dirty="0">
                <a:solidFill>
                  <a:schemeClr val="tx1"/>
                </a:solidFill>
              </a:rPr>
              <a:t>. </a:t>
            </a:r>
            <a:r>
              <a:rPr lang="en-US" sz="9600" dirty="0">
                <a:solidFill>
                  <a:srgbClr val="FF0000"/>
                </a:solidFill>
              </a:rPr>
              <a:t>00100000</a:t>
            </a:r>
            <a:r>
              <a:rPr lang="en-US" sz="9600" dirty="0">
                <a:solidFill>
                  <a:schemeClr val="tx1"/>
                </a:solidFill>
              </a:rPr>
              <a:t> . </a:t>
            </a:r>
            <a:r>
              <a:rPr lang="en-US" sz="9600" dirty="0">
                <a:solidFill>
                  <a:srgbClr val="00B050"/>
                </a:solidFill>
              </a:rPr>
              <a:t>000001  01</a:t>
            </a:r>
            <a:r>
              <a:rPr lang="en-US" sz="9600" dirty="0">
                <a:solidFill>
                  <a:schemeClr val="tx1"/>
                </a:solidFill>
              </a:rPr>
              <a:t>  . </a:t>
            </a:r>
            <a:r>
              <a:rPr lang="en-US" sz="9600" dirty="0">
                <a:solidFill>
                  <a:srgbClr val="7030A0"/>
                </a:solidFill>
              </a:rPr>
              <a:t>01110011</a:t>
            </a:r>
          </a:p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</a:rPr>
              <a:t>Network Address :  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10101100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00100000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000001 00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. 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00 000000</a:t>
            </a:r>
          </a:p>
          <a:p>
            <a:pPr marL="0" indent="0">
              <a:buNone/>
            </a:pPr>
            <a:r>
              <a:rPr lang="en-US" sz="9600" dirty="0">
                <a:solidFill>
                  <a:srgbClr val="7030A0"/>
                </a:solidFill>
                <a:latin typeface="Calibri"/>
              </a:rPr>
              <a:t>                               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110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32  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4           </a:t>
            </a:r>
            <a:r>
              <a:rPr lang="en-US" sz="9600" dirty="0"/>
              <a:t>.        </a:t>
            </a:r>
            <a:r>
              <a:rPr lang="en-US" sz="9600" dirty="0">
                <a:solidFill>
                  <a:srgbClr val="7030A0"/>
                </a:solidFill>
              </a:rPr>
              <a:t>0</a:t>
            </a:r>
          </a:p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</a:rPr>
              <a:t>Broadcast Address :   </a:t>
            </a:r>
            <a:r>
              <a:rPr lang="en-US" sz="9600" dirty="0">
                <a:solidFill>
                  <a:srgbClr val="ACCBF9">
                    <a:lumMod val="50000"/>
                  </a:srgbClr>
                </a:solidFill>
              </a:rPr>
              <a:t>10101100 </a:t>
            </a:r>
            <a:r>
              <a:rPr lang="en-US" sz="9600" dirty="0">
                <a:solidFill>
                  <a:prstClr val="black"/>
                </a:solidFill>
              </a:rPr>
              <a:t>. </a:t>
            </a:r>
            <a:r>
              <a:rPr lang="en-US" sz="9600" dirty="0">
                <a:solidFill>
                  <a:srgbClr val="FF0000"/>
                </a:solidFill>
              </a:rPr>
              <a:t>00100000</a:t>
            </a:r>
            <a:r>
              <a:rPr lang="en-US" sz="9600" dirty="0">
                <a:solidFill>
                  <a:prstClr val="black"/>
                </a:solidFill>
              </a:rPr>
              <a:t> . </a:t>
            </a:r>
            <a:r>
              <a:rPr lang="en-US" sz="9600" dirty="0">
                <a:solidFill>
                  <a:srgbClr val="00B050"/>
                </a:solidFill>
              </a:rPr>
              <a:t>000001 11</a:t>
            </a:r>
            <a:r>
              <a:rPr lang="en-US" sz="9600" dirty="0">
                <a:solidFill>
                  <a:prstClr val="black"/>
                </a:solidFill>
              </a:rPr>
              <a:t>  .</a:t>
            </a:r>
            <a:r>
              <a:rPr lang="en-US" sz="9600" dirty="0">
                <a:solidFill>
                  <a:srgbClr val="7030A0"/>
                </a:solidFill>
              </a:rPr>
              <a:t>11 111111</a:t>
            </a:r>
          </a:p>
          <a:p>
            <a:pPr marL="0" indent="0">
              <a:buNone/>
            </a:pPr>
            <a:r>
              <a:rPr lang="en-US" sz="9600" dirty="0">
                <a:solidFill>
                  <a:srgbClr val="7030A0"/>
                </a:solidFill>
              </a:rPr>
              <a:t>                                 </a:t>
            </a:r>
            <a:r>
              <a:rPr lang="en-US" sz="9600" dirty="0">
                <a:solidFill>
                  <a:schemeClr val="bg2">
                    <a:lumMod val="50000"/>
                  </a:schemeClr>
                </a:solidFill>
              </a:rPr>
              <a:t>110            </a:t>
            </a:r>
            <a:r>
              <a:rPr lang="en-US" sz="9600" dirty="0"/>
              <a:t>.     </a:t>
            </a:r>
            <a:r>
              <a:rPr lang="en-US" sz="9600" dirty="0">
                <a:solidFill>
                  <a:srgbClr val="FF0000"/>
                </a:solidFill>
              </a:rPr>
              <a:t>32</a:t>
            </a:r>
            <a:r>
              <a:rPr lang="en-US" sz="9600" dirty="0"/>
              <a:t> .          </a:t>
            </a:r>
            <a:r>
              <a:rPr lang="en-US" sz="9600" dirty="0">
                <a:solidFill>
                  <a:srgbClr val="00B050"/>
                </a:solidFill>
              </a:rPr>
              <a:t>   7      </a:t>
            </a:r>
            <a:r>
              <a:rPr lang="en-US" sz="9600" dirty="0"/>
              <a:t>. </a:t>
            </a:r>
            <a:r>
              <a:rPr lang="en-US" sz="9600" dirty="0">
                <a:solidFill>
                  <a:srgbClr val="7030A0"/>
                </a:solidFill>
              </a:rPr>
              <a:t>        255</a:t>
            </a:r>
            <a:r>
              <a:rPr lang="en-US" sz="9600" dirty="0"/>
              <a:t>     </a:t>
            </a:r>
            <a:endParaRPr lang="en-US" sz="96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6400" dirty="0"/>
              <a:t>Network Address: 110.32.4.0         Broadcast Address : 110.32.7.255    Subnet Mask: 255.255.252.0    </a:t>
            </a:r>
          </a:p>
          <a:p>
            <a:pPr marL="0" indent="0">
              <a:buNone/>
            </a:pPr>
            <a:r>
              <a:rPr lang="en-US" sz="6400" dirty="0"/>
              <a:t>Valid  IP Range : 110.32.4.1  - 110.32.7.254</a:t>
            </a:r>
            <a:endParaRPr lang="en-US" sz="64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9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Calibri"/>
              </a:rPr>
              <a:t>                                            </a:t>
            </a:r>
            <a:endParaRPr lang="en-US" sz="1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7FBA76-7557-0507-881C-01AB2EAD8305}"/>
              </a:ext>
            </a:extLst>
          </p:cNvPr>
          <p:cNvCxnSpPr>
            <a:cxnSpLocks/>
          </p:cNvCxnSpPr>
          <p:nvPr/>
        </p:nvCxnSpPr>
        <p:spPr>
          <a:xfrm>
            <a:off x="5873750" y="2901950"/>
            <a:ext cx="154338" cy="25105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80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00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DE74-728E-91EC-FAD9-B5906231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5E20BCC-364D-DD31-C9A2-2A28268B17C4}"/>
              </a:ext>
            </a:extLst>
          </p:cNvPr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E683-BBD4-3EC0-3771-676B2C8BE273}"/>
              </a:ext>
            </a:extLst>
          </p:cNvPr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14276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24941</TotalTime>
  <Words>1333</Words>
  <Application>Microsoft Office PowerPoint</Application>
  <PresentationFormat>On-screen Show (4:3)</PresentationFormat>
  <Paragraphs>274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Variable Length Subnet Mask</vt:lpstr>
      <vt:lpstr>Lecture Outline</vt:lpstr>
      <vt:lpstr>Introduction</vt:lpstr>
      <vt:lpstr>Introduction….</vt:lpstr>
      <vt:lpstr>Introduction….</vt:lpstr>
      <vt:lpstr>Introduction</vt:lpstr>
      <vt:lpstr>Introduction</vt:lpstr>
      <vt:lpstr>VLSM</vt:lpstr>
      <vt:lpstr>VLSM</vt:lpstr>
      <vt:lpstr>VLSM….</vt:lpstr>
      <vt:lpstr>VLSM….</vt:lpstr>
      <vt:lpstr>VLSM….</vt:lpstr>
      <vt:lpstr>VLSM….</vt:lpstr>
      <vt:lpstr>Lab Task</vt:lpstr>
      <vt:lpstr>Subnet Mask to Prefix</vt:lpstr>
      <vt:lpstr>Subnet Mask to Prefix</vt:lpstr>
      <vt:lpstr>Prefix  to Subnet Mask </vt:lpstr>
      <vt:lpstr>Prefix  to Subnet Mask </vt:lpstr>
      <vt:lpstr>Network Address, Broadcast Address, Valid  IP Range </vt:lpstr>
      <vt:lpstr>Network Address, Broadcast Address, Valid  IP Range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FAHAD KHANDOKER</cp:lastModifiedBy>
  <cp:revision>15</cp:revision>
  <dcterms:created xsi:type="dcterms:W3CDTF">2018-12-10T17:20:29Z</dcterms:created>
  <dcterms:modified xsi:type="dcterms:W3CDTF">2025-08-07T08:07:04Z</dcterms:modified>
</cp:coreProperties>
</file>
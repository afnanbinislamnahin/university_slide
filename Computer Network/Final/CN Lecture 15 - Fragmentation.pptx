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 id="257" r:id="rId3"/>
    <p:sldId id="285" r:id="rId4"/>
    <p:sldId id="282" r:id="rId5"/>
    <p:sldId id="302" r:id="rId6"/>
    <p:sldId id="281" r:id="rId7"/>
    <p:sldId id="299" r:id="rId8"/>
    <p:sldId id="280" r:id="rId9"/>
    <p:sldId id="300" r:id="rId10"/>
    <p:sldId id="279" r:id="rId11"/>
    <p:sldId id="303" r:id="rId12"/>
    <p:sldId id="278" r:id="rId13"/>
    <p:sldId id="265" r:id="rId14"/>
    <p:sldId id="270"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990BDC-9BFA-4925-93DB-AC4EDBE87C24}" v="3" dt="2025-09-04T08:40:33.757"/>
    <p1510:client id="{6C898107-7395-48FE-9759-D7A63DC41241}" v="2" dt="2025-09-04T08:44:58.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d Mehedi Hasan" userId="239fb861-385a-4bac-bb29-9c26fc54d0ba" providerId="ADAL" clId="{6C898107-7395-48FE-9759-D7A63DC41241}"/>
    <pc:docChg chg="addSld delSld modSld">
      <pc:chgData name="Dr. Md Mehedi Hasan" userId="239fb861-385a-4bac-bb29-9c26fc54d0ba" providerId="ADAL" clId="{6C898107-7395-48FE-9759-D7A63DC41241}" dt="2025-09-04T08:45:35.500" v="3" actId="47"/>
      <pc:docMkLst>
        <pc:docMk/>
      </pc:docMkLst>
      <pc:sldChg chg="modSp del mod">
        <pc:chgData name="Dr. Md Mehedi Hasan" userId="239fb861-385a-4bac-bb29-9c26fc54d0ba" providerId="ADAL" clId="{6C898107-7395-48FE-9759-D7A63DC41241}" dt="2025-09-04T08:45:35.500" v="3" actId="47"/>
        <pc:sldMkLst>
          <pc:docMk/>
          <pc:sldMk cId="700707328" sldId="256"/>
        </pc:sldMkLst>
        <pc:spChg chg="mod">
          <ac:chgData name="Dr. Md Mehedi Hasan" userId="239fb861-385a-4bac-bb29-9c26fc54d0ba" providerId="ADAL" clId="{6C898107-7395-48FE-9759-D7A63DC41241}" dt="2025-09-04T08:44:54.449" v="1" actId="21"/>
          <ac:spMkLst>
            <pc:docMk/>
            <pc:sldMk cId="700707328" sldId="256"/>
            <ac:spMk id="2" creationId="{00000000-0000-0000-0000-000000000000}"/>
          </ac:spMkLst>
        </pc:spChg>
      </pc:sldChg>
      <pc:sldChg chg="modSp add">
        <pc:chgData name="Dr. Md Mehedi Hasan" userId="239fb861-385a-4bac-bb29-9c26fc54d0ba" providerId="ADAL" clId="{6C898107-7395-48FE-9759-D7A63DC41241}" dt="2025-09-04T08:44:58.561" v="2"/>
        <pc:sldMkLst>
          <pc:docMk/>
          <pc:sldMk cId="1364228296" sldId="268"/>
        </pc:sldMkLst>
        <pc:spChg chg="mod">
          <ac:chgData name="Dr. Md Mehedi Hasan" userId="239fb861-385a-4bac-bb29-9c26fc54d0ba" providerId="ADAL" clId="{6C898107-7395-48FE-9759-D7A63DC41241}" dt="2025-09-04T08:44:58.561" v="2"/>
          <ac:spMkLst>
            <pc:docMk/>
            <pc:sldMk cId="1364228296" sldId="26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9/4/2025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9/4/2025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mhasan@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tools.ietf.org/html/rfc791" TargetMode="External"/><Relationship Id="rId2" Type="http://schemas.openxmlformats.org/officeDocument/2006/relationships/hyperlink" Target="https://packetpushers.net/ip-fragmentation-in-detail" TargetMode="External"/><Relationship Id="rId1" Type="http://schemas.openxmlformats.org/officeDocument/2006/relationships/slideLayout" Target="../slideLayouts/slideLayout9.xml"/><Relationship Id="rId4" Type="http://schemas.openxmlformats.org/officeDocument/2006/relationships/hyperlink" Target="https://www.gatevidyalay.com/ipv4-ipv4-header-ipv4-header-forma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Fragmentation</a:t>
            </a:r>
          </a:p>
        </p:txBody>
      </p:sp>
      <p:sp>
        <p:nvSpPr>
          <p:cNvPr id="3" name="Subtitle 2"/>
          <p:cNvSpPr>
            <a:spLocks noGrp="1"/>
          </p:cNvSpPr>
          <p:nvPr>
            <p:ph type="subTitle" idx="1"/>
          </p:nvPr>
        </p:nvSpPr>
        <p:spPr>
          <a:xfrm>
            <a:off x="476205" y="1532427"/>
            <a:ext cx="2789509" cy="484632"/>
          </a:xfrm>
        </p:spPr>
        <p:txBody>
          <a:bodyPr/>
          <a:lstStyle/>
          <a:p>
            <a:r>
              <a:rPr lang="en-US" dirty="0"/>
              <a:t>Course Code</a:t>
            </a:r>
            <a:r>
              <a:rPr lang="en-US"/>
              <a:t>: COE 3206</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9E2C66DC-BA9D-4CC8-A6A8-FF82266F0466}"/>
              </a:ext>
            </a:extLst>
          </p:cNvPr>
          <p:cNvGraphicFramePr>
            <a:graphicFrameLocks noGrp="1"/>
          </p:cNvGraphicFramePr>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990600">
                  <a:extLst>
                    <a:ext uri="{9D8B030D-6E8A-4147-A177-3AD203B41FA5}">
                      <a16:colId xmlns:a16="http://schemas.microsoft.com/office/drawing/2014/main" val="2889894460"/>
                    </a:ext>
                  </a:extLst>
                </a:gridCol>
                <a:gridCol w="1208314">
                  <a:extLst>
                    <a:ext uri="{9D8B030D-6E8A-4147-A177-3AD203B41FA5}">
                      <a16:colId xmlns:a16="http://schemas.microsoft.com/office/drawing/2014/main" val="3023211198"/>
                    </a:ext>
                  </a:extLst>
                </a:gridCol>
                <a:gridCol w="1110343">
                  <a:extLst>
                    <a:ext uri="{9D8B030D-6E8A-4147-A177-3AD203B41FA5}">
                      <a16:colId xmlns:a16="http://schemas.microsoft.com/office/drawing/2014/main" val="1762131981"/>
                    </a:ext>
                  </a:extLst>
                </a:gridCol>
                <a:gridCol w="1208314">
                  <a:extLst>
                    <a:ext uri="{9D8B030D-6E8A-4147-A177-3AD203B41FA5}">
                      <a16:colId xmlns:a16="http://schemas.microsoft.com/office/drawing/2014/main" val="445458238"/>
                    </a:ext>
                  </a:extLst>
                </a:gridCol>
                <a:gridCol w="23350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pPr algn="ctr"/>
                      <a:endParaRPr lang="en-US" b="0" dirty="0"/>
                    </a:p>
                  </a:txBody>
                  <a:tcPr/>
                </a:tc>
                <a:tc>
                  <a:txBody>
                    <a:bodyPr/>
                    <a:lstStyle/>
                    <a:p>
                      <a:r>
                        <a:rPr lang="en-US" dirty="0"/>
                        <a:t>Week No:</a:t>
                      </a:r>
                    </a:p>
                  </a:txBody>
                  <a:tcPr/>
                </a:tc>
                <a:tc>
                  <a:txBody>
                    <a:bodyPr/>
                    <a:lstStyle/>
                    <a:p>
                      <a:pPr algn="ctr"/>
                      <a:endParaRPr lang="en-US" b="0" dirty="0"/>
                    </a:p>
                  </a:txBody>
                  <a:tcPr/>
                </a:tc>
                <a:tc>
                  <a:txBody>
                    <a:bodyPr/>
                    <a:lstStyle/>
                    <a:p>
                      <a:r>
                        <a:rPr lang="en-US" dirty="0"/>
                        <a:t>Semester:</a:t>
                      </a:r>
                    </a:p>
                  </a:txBody>
                  <a:tcPr/>
                </a:tc>
                <a:tc>
                  <a:txBody>
                    <a:bodyPr/>
                    <a:lstStyle/>
                    <a:p>
                      <a:endParaRPr lang="en-US" b="0"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Dr. Md Mehedi Hasan; </a:t>
                      </a:r>
                      <a:r>
                        <a:rPr lang="en-US" i="1" dirty="0">
                          <a:hlinkClick r:id="rId2"/>
                        </a:rPr>
                        <a:t>mmhasan@aiub.edu</a:t>
                      </a:r>
                      <a:r>
                        <a:rPr lang="en-US" i="1" dirty="0"/>
                        <a:t> </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Tree>
    <p:extLst>
      <p:ext uri="{BB962C8B-B14F-4D97-AF65-F5344CB8AC3E}">
        <p14:creationId xmlns:p14="http://schemas.microsoft.com/office/powerpoint/2010/main" val="136422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514350" indent="-514350">
              <a:buAutoNum type="arabicPeriod"/>
            </a:pPr>
            <a:r>
              <a:rPr lang="en-US" sz="2800" dirty="0">
                <a:solidFill>
                  <a:schemeClr val="tx1"/>
                </a:solidFill>
              </a:rPr>
              <a:t>Introduction</a:t>
            </a:r>
          </a:p>
          <a:p>
            <a:pPr marL="514350" indent="-514350">
              <a:buAutoNum type="arabicPeriod"/>
            </a:pPr>
            <a:r>
              <a:rPr lang="en-US" sz="2800" dirty="0">
                <a:solidFill>
                  <a:schemeClr val="tx1"/>
                </a:solidFill>
              </a:rPr>
              <a:t>Classification</a:t>
            </a:r>
          </a:p>
          <a:p>
            <a:pPr marL="514350" indent="-514350">
              <a:buAutoNum type="arabicPeriod"/>
            </a:pPr>
            <a:r>
              <a:rPr lang="en-US" sz="2800" dirty="0">
                <a:solidFill>
                  <a:schemeClr val="tx1"/>
                </a:solidFill>
              </a:rPr>
              <a:t>Fragmentation parameters</a:t>
            </a:r>
          </a:p>
          <a:p>
            <a:pPr marL="514350" indent="-514350">
              <a:buAutoNum type="arabicPeriod"/>
            </a:pPr>
            <a:endParaRPr lang="en-US" sz="2800" dirty="0">
              <a:solidFill>
                <a:schemeClr val="tx1"/>
              </a:solidFill>
            </a:endParaRPr>
          </a:p>
          <a:p>
            <a:pPr marL="514350" indent="-514350">
              <a:buAutoNum type="arabicPeriod"/>
            </a:pPr>
            <a:endParaRPr lang="en-FI" sz="28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3" name="TextBox 2">
            <a:extLst>
              <a:ext uri="{FF2B5EF4-FFF2-40B4-BE49-F238E27FC236}">
                <a16:creationId xmlns:a16="http://schemas.microsoft.com/office/drawing/2014/main" id="{F28E9368-80A0-4459-ACCE-4E0086158A3A}"/>
              </a:ext>
            </a:extLst>
          </p:cNvPr>
          <p:cNvSpPr txBox="1"/>
          <p:nvPr/>
        </p:nvSpPr>
        <p:spPr>
          <a:xfrm>
            <a:off x="133367" y="2419017"/>
            <a:ext cx="5306187" cy="3847207"/>
          </a:xfrm>
          <a:prstGeom prst="rect">
            <a:avLst/>
          </a:prstGeom>
          <a:noFill/>
        </p:spPr>
        <p:txBody>
          <a:bodyPr wrap="square" rtlCol="0">
            <a:spAutoFit/>
          </a:bodyPr>
          <a:lstStyle/>
          <a:p>
            <a:r>
              <a:rPr lang="en-US" sz="2200" dirty="0">
                <a:solidFill>
                  <a:srgbClr val="C00000"/>
                </a:solidFill>
                <a:latin typeface="Perpetua" panose="02020502060401020303" pitchFamily="18" charset="0"/>
              </a:rPr>
              <a:t>Not all networks supports the same packet size.</a:t>
            </a:r>
          </a:p>
          <a:p>
            <a:r>
              <a:rPr lang="en-US" sz="2200" dirty="0">
                <a:latin typeface="Perpetua" panose="02020502060401020303" pitchFamily="18" charset="0"/>
              </a:rPr>
              <a:t>The reason can be one or more of the following:</a:t>
            </a:r>
          </a:p>
          <a:p>
            <a:r>
              <a:rPr lang="en-US" sz="2000" dirty="0">
                <a:solidFill>
                  <a:srgbClr val="000000"/>
                </a:solidFill>
                <a:latin typeface="Perpetua" panose="02020502060401020303" pitchFamily="18" charset="0"/>
              </a:rPr>
              <a:t>1. Hardware (e.g., the size of an Ethernet frame).</a:t>
            </a:r>
            <a:br>
              <a:rPr lang="en-US" sz="2000" dirty="0">
                <a:solidFill>
                  <a:srgbClr val="000000"/>
                </a:solidFill>
                <a:latin typeface="Perpetua" panose="02020502060401020303" pitchFamily="18" charset="0"/>
              </a:rPr>
            </a:br>
            <a:r>
              <a:rPr lang="en-US" sz="2000" dirty="0">
                <a:solidFill>
                  <a:srgbClr val="000000"/>
                </a:solidFill>
                <a:latin typeface="Perpetua" panose="02020502060401020303" pitchFamily="18" charset="0"/>
              </a:rPr>
              <a:t>2. Operating system (e.g., all buffers are 512 bytes).</a:t>
            </a:r>
            <a:br>
              <a:rPr lang="en-US" sz="2000" dirty="0">
                <a:solidFill>
                  <a:srgbClr val="000000"/>
                </a:solidFill>
                <a:latin typeface="Perpetua" panose="02020502060401020303" pitchFamily="18" charset="0"/>
              </a:rPr>
            </a:br>
            <a:r>
              <a:rPr lang="en-US" sz="2000" dirty="0">
                <a:solidFill>
                  <a:srgbClr val="000000"/>
                </a:solidFill>
                <a:latin typeface="Perpetua" panose="02020502060401020303" pitchFamily="18" charset="0"/>
              </a:rPr>
              <a:t>3. Protocols (e.g., the number of bits in the packet </a:t>
            </a:r>
          </a:p>
          <a:p>
            <a:r>
              <a:rPr lang="en-US" sz="2000" dirty="0">
                <a:solidFill>
                  <a:srgbClr val="000000"/>
                </a:solidFill>
                <a:latin typeface="Perpetua" panose="02020502060401020303" pitchFamily="18" charset="0"/>
              </a:rPr>
              <a:t>     length field).</a:t>
            </a:r>
            <a:br>
              <a:rPr lang="en-US" sz="2000" dirty="0">
                <a:solidFill>
                  <a:srgbClr val="000000"/>
                </a:solidFill>
                <a:latin typeface="Perpetua" panose="02020502060401020303" pitchFamily="18" charset="0"/>
              </a:rPr>
            </a:br>
            <a:r>
              <a:rPr lang="en-US" sz="2000" dirty="0">
                <a:solidFill>
                  <a:srgbClr val="000000"/>
                </a:solidFill>
                <a:latin typeface="Perpetua" panose="02020502060401020303" pitchFamily="18" charset="0"/>
              </a:rPr>
              <a:t>4. Compliance with some (inter)national standard.</a:t>
            </a:r>
            <a:br>
              <a:rPr lang="en-US" sz="2000" dirty="0">
                <a:solidFill>
                  <a:srgbClr val="000000"/>
                </a:solidFill>
                <a:latin typeface="Perpetua" panose="02020502060401020303" pitchFamily="18" charset="0"/>
              </a:rPr>
            </a:br>
            <a:r>
              <a:rPr lang="en-US" sz="2000" dirty="0">
                <a:solidFill>
                  <a:srgbClr val="000000"/>
                </a:solidFill>
                <a:latin typeface="Perpetua" panose="02020502060401020303" pitchFamily="18" charset="0"/>
              </a:rPr>
              <a:t>5. Desire to reduce error-induced retransmissions to    </a:t>
            </a:r>
          </a:p>
          <a:p>
            <a:r>
              <a:rPr lang="en-US" sz="2000" dirty="0">
                <a:solidFill>
                  <a:srgbClr val="000000"/>
                </a:solidFill>
                <a:latin typeface="Perpetua" panose="02020502060401020303" pitchFamily="18" charset="0"/>
              </a:rPr>
              <a:t>     some level.</a:t>
            </a:r>
            <a:br>
              <a:rPr lang="en-US" sz="2000" dirty="0">
                <a:solidFill>
                  <a:srgbClr val="000000"/>
                </a:solidFill>
                <a:latin typeface="Perpetua" panose="02020502060401020303" pitchFamily="18" charset="0"/>
              </a:rPr>
            </a:br>
            <a:r>
              <a:rPr lang="en-US" sz="2000" dirty="0">
                <a:solidFill>
                  <a:srgbClr val="000000"/>
                </a:solidFill>
                <a:latin typeface="Perpetua" panose="02020502060401020303" pitchFamily="18" charset="0"/>
              </a:rPr>
              <a:t>6. Desire to prevent one packet from occupying the    </a:t>
            </a:r>
          </a:p>
          <a:p>
            <a:r>
              <a:rPr lang="en-US" sz="2000" dirty="0">
                <a:solidFill>
                  <a:srgbClr val="000000"/>
                </a:solidFill>
                <a:latin typeface="Perpetua" panose="02020502060401020303" pitchFamily="18" charset="0"/>
              </a:rPr>
              <a:t>    channel too long [3].</a:t>
            </a:r>
            <a:r>
              <a:rPr lang="en-US" sz="2000" dirty="0">
                <a:latin typeface="Perpetua" panose="02020502060401020303" pitchFamily="18" charset="0"/>
              </a:rPr>
              <a:t> </a:t>
            </a:r>
            <a:br>
              <a:rPr lang="en-US" sz="2000" dirty="0">
                <a:latin typeface="Perpetua" panose="02020502060401020303" pitchFamily="18" charset="0"/>
              </a:rPr>
            </a:br>
            <a:endParaRPr lang="en-US" sz="2000" dirty="0">
              <a:latin typeface="Perpetua" panose="02020502060401020303" pitchFamily="18" charset="0"/>
            </a:endParaRPr>
          </a:p>
        </p:txBody>
      </p:sp>
      <p:grpSp>
        <p:nvGrpSpPr>
          <p:cNvPr id="7" name="Group 6">
            <a:extLst>
              <a:ext uri="{FF2B5EF4-FFF2-40B4-BE49-F238E27FC236}">
                <a16:creationId xmlns:a16="http://schemas.microsoft.com/office/drawing/2014/main" id="{410AD7BE-8B7E-4419-BBBD-4BFA76922A51}"/>
              </a:ext>
            </a:extLst>
          </p:cNvPr>
          <p:cNvGrpSpPr/>
          <p:nvPr/>
        </p:nvGrpSpPr>
        <p:grpSpPr>
          <a:xfrm>
            <a:off x="5493745" y="2592720"/>
            <a:ext cx="3625476" cy="2884248"/>
            <a:chOff x="4325829" y="3202454"/>
            <a:chExt cx="3625476" cy="2884248"/>
          </a:xfrm>
        </p:grpSpPr>
        <p:pic>
          <p:nvPicPr>
            <p:cNvPr id="1028" name="Picture 4" descr="Routers are not learning routes when using RIP - Network ...">
              <a:extLst>
                <a:ext uri="{FF2B5EF4-FFF2-40B4-BE49-F238E27FC236}">
                  <a16:creationId xmlns:a16="http://schemas.microsoft.com/office/drawing/2014/main" id="{FADC704D-4E2E-49D8-9C7A-00D418E8356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572000" y="3202454"/>
              <a:ext cx="3052762" cy="27673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36F28C0-FF81-4C14-9504-92BE0B58FDC7}"/>
                </a:ext>
              </a:extLst>
            </p:cNvPr>
            <p:cNvSpPr txBox="1"/>
            <p:nvPr/>
          </p:nvSpPr>
          <p:spPr>
            <a:xfrm>
              <a:off x="4572000" y="5717370"/>
              <a:ext cx="753732" cy="369332"/>
            </a:xfrm>
            <a:prstGeom prst="rect">
              <a:avLst/>
            </a:prstGeom>
            <a:noFill/>
          </p:spPr>
          <p:txBody>
            <a:bodyPr wrap="none" rtlCol="0">
              <a:spAutoFit/>
            </a:bodyPr>
            <a:lstStyle/>
            <a:p>
              <a:r>
                <a:rPr lang="en-US" dirty="0">
                  <a:latin typeface="Perpetua" panose="02020502060401020303" pitchFamily="18" charset="0"/>
                </a:rPr>
                <a:t>Source</a:t>
              </a:r>
            </a:p>
          </p:txBody>
        </p:sp>
        <p:sp>
          <p:nvSpPr>
            <p:cNvPr id="8" name="TextBox 7">
              <a:extLst>
                <a:ext uri="{FF2B5EF4-FFF2-40B4-BE49-F238E27FC236}">
                  <a16:creationId xmlns:a16="http://schemas.microsoft.com/office/drawing/2014/main" id="{1A6CF60E-0227-44FD-B883-5353C7817B4E}"/>
                </a:ext>
              </a:extLst>
            </p:cNvPr>
            <p:cNvSpPr txBox="1"/>
            <p:nvPr/>
          </p:nvSpPr>
          <p:spPr>
            <a:xfrm>
              <a:off x="6534728" y="5717370"/>
              <a:ext cx="1144224" cy="369332"/>
            </a:xfrm>
            <a:prstGeom prst="rect">
              <a:avLst/>
            </a:prstGeom>
            <a:noFill/>
          </p:spPr>
          <p:txBody>
            <a:bodyPr wrap="none" rtlCol="0">
              <a:spAutoFit/>
            </a:bodyPr>
            <a:lstStyle/>
            <a:p>
              <a:r>
                <a:rPr lang="en-US" dirty="0">
                  <a:latin typeface="Perpetua" panose="02020502060401020303" pitchFamily="18" charset="0"/>
                </a:rPr>
                <a:t>Destination</a:t>
              </a:r>
            </a:p>
          </p:txBody>
        </p:sp>
        <p:sp>
          <p:nvSpPr>
            <p:cNvPr id="9" name="TextBox 8">
              <a:extLst>
                <a:ext uri="{FF2B5EF4-FFF2-40B4-BE49-F238E27FC236}">
                  <a16:creationId xmlns:a16="http://schemas.microsoft.com/office/drawing/2014/main" id="{9519E95B-9BF1-4D54-A1EA-FA63925D578A}"/>
                </a:ext>
              </a:extLst>
            </p:cNvPr>
            <p:cNvSpPr txBox="1"/>
            <p:nvPr/>
          </p:nvSpPr>
          <p:spPr>
            <a:xfrm>
              <a:off x="4325829" y="3761576"/>
              <a:ext cx="1221616" cy="338554"/>
            </a:xfrm>
            <a:prstGeom prst="rect">
              <a:avLst/>
            </a:prstGeom>
            <a:noFill/>
          </p:spPr>
          <p:txBody>
            <a:bodyPr wrap="none" rtlCol="0">
              <a:spAutoFit/>
            </a:bodyPr>
            <a:lstStyle/>
            <a:p>
              <a:r>
                <a:rPr lang="en-US" sz="1600" dirty="0">
                  <a:latin typeface="Perpetua" panose="02020502060401020303" pitchFamily="18" charset="0"/>
                </a:rPr>
                <a:t>MTU: 1500 B</a:t>
              </a:r>
            </a:p>
          </p:txBody>
        </p:sp>
        <p:sp>
          <p:nvSpPr>
            <p:cNvPr id="10" name="TextBox 9">
              <a:extLst>
                <a:ext uri="{FF2B5EF4-FFF2-40B4-BE49-F238E27FC236}">
                  <a16:creationId xmlns:a16="http://schemas.microsoft.com/office/drawing/2014/main" id="{B2B05412-A0C7-43B8-8F18-125C04F12342}"/>
                </a:ext>
              </a:extLst>
            </p:cNvPr>
            <p:cNvSpPr txBox="1"/>
            <p:nvPr/>
          </p:nvSpPr>
          <p:spPr>
            <a:xfrm>
              <a:off x="6824265" y="3744699"/>
              <a:ext cx="1127040" cy="338554"/>
            </a:xfrm>
            <a:prstGeom prst="rect">
              <a:avLst/>
            </a:prstGeom>
            <a:noFill/>
          </p:spPr>
          <p:txBody>
            <a:bodyPr wrap="none" rtlCol="0">
              <a:spAutoFit/>
            </a:bodyPr>
            <a:lstStyle/>
            <a:p>
              <a:r>
                <a:rPr lang="en-US" sz="1600" dirty="0">
                  <a:latin typeface="Perpetua" panose="02020502060401020303" pitchFamily="18" charset="0"/>
                </a:rPr>
                <a:t>MTU: 750 B</a:t>
              </a:r>
            </a:p>
          </p:txBody>
        </p:sp>
      </p:grpSp>
      <p:sp>
        <p:nvSpPr>
          <p:cNvPr id="12" name="TextBox 11">
            <a:extLst>
              <a:ext uri="{FF2B5EF4-FFF2-40B4-BE49-F238E27FC236}">
                <a16:creationId xmlns:a16="http://schemas.microsoft.com/office/drawing/2014/main" id="{9431DFA5-777C-4ACE-A133-CAF805AF0087}"/>
              </a:ext>
            </a:extLst>
          </p:cNvPr>
          <p:cNvSpPr txBox="1"/>
          <p:nvPr/>
        </p:nvSpPr>
        <p:spPr>
          <a:xfrm>
            <a:off x="341745" y="3592945"/>
            <a:ext cx="237566" cy="646331"/>
          </a:xfrm>
          <a:prstGeom prst="rect">
            <a:avLst/>
          </a:prstGeom>
          <a:noFill/>
        </p:spPr>
        <p:txBody>
          <a:bodyPr wrap="none" rtlCol="0">
            <a:spAutoFit/>
          </a:bodyPr>
          <a:lstStyle/>
          <a:p>
            <a:r>
              <a:rPr lang="en-US" dirty="0"/>
              <a:t> </a:t>
            </a:r>
          </a:p>
          <a:p>
            <a:endParaRPr lang="en-US" dirty="0"/>
          </a:p>
        </p:txBody>
      </p:sp>
      <p:sp>
        <p:nvSpPr>
          <p:cNvPr id="13" name="TextBox 12">
            <a:extLst>
              <a:ext uri="{FF2B5EF4-FFF2-40B4-BE49-F238E27FC236}">
                <a16:creationId xmlns:a16="http://schemas.microsoft.com/office/drawing/2014/main" id="{A972D891-3B75-4CB6-ACB1-7E70A9D0A2AC}"/>
              </a:ext>
            </a:extLst>
          </p:cNvPr>
          <p:cNvSpPr txBox="1"/>
          <p:nvPr/>
        </p:nvSpPr>
        <p:spPr>
          <a:xfrm>
            <a:off x="6201556" y="5476968"/>
            <a:ext cx="2237151" cy="369332"/>
          </a:xfrm>
          <a:prstGeom prst="rect">
            <a:avLst/>
          </a:prstGeom>
          <a:noFill/>
        </p:spPr>
        <p:txBody>
          <a:bodyPr wrap="none" rtlCol="0">
            <a:spAutoFit/>
          </a:bodyPr>
          <a:lstStyle/>
          <a:p>
            <a:r>
              <a:rPr lang="en-US" dirty="0">
                <a:latin typeface="Perpetua" panose="02020502060401020303" pitchFamily="18" charset="0"/>
              </a:rPr>
              <a:t>Fig.  9 A sample network</a:t>
            </a:r>
          </a:p>
        </p:txBody>
      </p:sp>
    </p:spTree>
    <p:extLst>
      <p:ext uri="{BB962C8B-B14F-4D97-AF65-F5344CB8AC3E}">
        <p14:creationId xmlns:p14="http://schemas.microsoft.com/office/powerpoint/2010/main" val="4007180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grpSp>
        <p:nvGrpSpPr>
          <p:cNvPr id="4" name="Group 3">
            <a:extLst>
              <a:ext uri="{FF2B5EF4-FFF2-40B4-BE49-F238E27FC236}">
                <a16:creationId xmlns:a16="http://schemas.microsoft.com/office/drawing/2014/main" id="{19B653E1-A881-485C-A9DE-A4C7E8E9A26F}"/>
              </a:ext>
            </a:extLst>
          </p:cNvPr>
          <p:cNvGrpSpPr/>
          <p:nvPr/>
        </p:nvGrpSpPr>
        <p:grpSpPr>
          <a:xfrm>
            <a:off x="5401381" y="2592720"/>
            <a:ext cx="3625476" cy="2884248"/>
            <a:chOff x="4325829" y="3202454"/>
            <a:chExt cx="3625476" cy="2884248"/>
          </a:xfrm>
        </p:grpSpPr>
        <p:pic>
          <p:nvPicPr>
            <p:cNvPr id="6" name="Picture 4" descr="Routers are not learning routes when using RIP - Network ...">
              <a:extLst>
                <a:ext uri="{FF2B5EF4-FFF2-40B4-BE49-F238E27FC236}">
                  <a16:creationId xmlns:a16="http://schemas.microsoft.com/office/drawing/2014/main" id="{81B622C7-5FB9-4B35-9B23-D07BE0FA001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572000" y="3202454"/>
              <a:ext cx="3052762" cy="27673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01187C0-C61F-47DC-9C4D-6B2905259DE2}"/>
                </a:ext>
              </a:extLst>
            </p:cNvPr>
            <p:cNvSpPr txBox="1"/>
            <p:nvPr/>
          </p:nvSpPr>
          <p:spPr>
            <a:xfrm>
              <a:off x="4572000" y="5717370"/>
              <a:ext cx="753732" cy="369332"/>
            </a:xfrm>
            <a:prstGeom prst="rect">
              <a:avLst/>
            </a:prstGeom>
            <a:noFill/>
          </p:spPr>
          <p:txBody>
            <a:bodyPr wrap="none" rtlCol="0">
              <a:spAutoFit/>
            </a:bodyPr>
            <a:lstStyle/>
            <a:p>
              <a:r>
                <a:rPr lang="en-US" dirty="0">
                  <a:latin typeface="Perpetua" panose="02020502060401020303" pitchFamily="18" charset="0"/>
                </a:rPr>
                <a:t>Source</a:t>
              </a:r>
            </a:p>
          </p:txBody>
        </p:sp>
        <p:sp>
          <p:nvSpPr>
            <p:cNvPr id="8" name="TextBox 7">
              <a:extLst>
                <a:ext uri="{FF2B5EF4-FFF2-40B4-BE49-F238E27FC236}">
                  <a16:creationId xmlns:a16="http://schemas.microsoft.com/office/drawing/2014/main" id="{AEE04494-8B3F-4EB4-8C8A-3C91BAE3A0AC}"/>
                </a:ext>
              </a:extLst>
            </p:cNvPr>
            <p:cNvSpPr txBox="1"/>
            <p:nvPr/>
          </p:nvSpPr>
          <p:spPr>
            <a:xfrm>
              <a:off x="6534728" y="5717370"/>
              <a:ext cx="1144224" cy="369332"/>
            </a:xfrm>
            <a:prstGeom prst="rect">
              <a:avLst/>
            </a:prstGeom>
            <a:noFill/>
          </p:spPr>
          <p:txBody>
            <a:bodyPr wrap="none" rtlCol="0">
              <a:spAutoFit/>
            </a:bodyPr>
            <a:lstStyle/>
            <a:p>
              <a:r>
                <a:rPr lang="en-US" dirty="0">
                  <a:latin typeface="Perpetua" panose="02020502060401020303" pitchFamily="18" charset="0"/>
                </a:rPr>
                <a:t>Destination</a:t>
              </a:r>
            </a:p>
          </p:txBody>
        </p:sp>
        <p:sp>
          <p:nvSpPr>
            <p:cNvPr id="9" name="TextBox 8">
              <a:extLst>
                <a:ext uri="{FF2B5EF4-FFF2-40B4-BE49-F238E27FC236}">
                  <a16:creationId xmlns:a16="http://schemas.microsoft.com/office/drawing/2014/main" id="{215340EF-6820-413E-AFB3-576BDF602CA8}"/>
                </a:ext>
              </a:extLst>
            </p:cNvPr>
            <p:cNvSpPr txBox="1"/>
            <p:nvPr/>
          </p:nvSpPr>
          <p:spPr>
            <a:xfrm>
              <a:off x="4325829" y="3761576"/>
              <a:ext cx="1221616" cy="338554"/>
            </a:xfrm>
            <a:prstGeom prst="rect">
              <a:avLst/>
            </a:prstGeom>
            <a:noFill/>
          </p:spPr>
          <p:txBody>
            <a:bodyPr wrap="none" rtlCol="0">
              <a:spAutoFit/>
            </a:bodyPr>
            <a:lstStyle/>
            <a:p>
              <a:r>
                <a:rPr lang="en-US" sz="1600" dirty="0">
                  <a:latin typeface="Perpetua" panose="02020502060401020303" pitchFamily="18" charset="0"/>
                </a:rPr>
                <a:t>MTU: 1500 B</a:t>
              </a:r>
            </a:p>
          </p:txBody>
        </p:sp>
        <p:sp>
          <p:nvSpPr>
            <p:cNvPr id="10" name="TextBox 9">
              <a:extLst>
                <a:ext uri="{FF2B5EF4-FFF2-40B4-BE49-F238E27FC236}">
                  <a16:creationId xmlns:a16="http://schemas.microsoft.com/office/drawing/2014/main" id="{81DEC1AF-AF72-4196-9634-583BF8780F1D}"/>
                </a:ext>
              </a:extLst>
            </p:cNvPr>
            <p:cNvSpPr txBox="1"/>
            <p:nvPr/>
          </p:nvSpPr>
          <p:spPr>
            <a:xfrm>
              <a:off x="6824265" y="3744699"/>
              <a:ext cx="1127040" cy="338554"/>
            </a:xfrm>
            <a:prstGeom prst="rect">
              <a:avLst/>
            </a:prstGeom>
            <a:noFill/>
          </p:spPr>
          <p:txBody>
            <a:bodyPr wrap="none" rtlCol="0">
              <a:spAutoFit/>
            </a:bodyPr>
            <a:lstStyle/>
            <a:p>
              <a:r>
                <a:rPr lang="en-US" sz="1600" dirty="0">
                  <a:latin typeface="Perpetua" panose="02020502060401020303" pitchFamily="18" charset="0"/>
                </a:rPr>
                <a:t>MTU: 750 B</a:t>
              </a:r>
            </a:p>
          </p:txBody>
        </p:sp>
      </p:grpSp>
      <p:sp>
        <p:nvSpPr>
          <p:cNvPr id="3" name="TextBox 2">
            <a:extLst>
              <a:ext uri="{FF2B5EF4-FFF2-40B4-BE49-F238E27FC236}">
                <a16:creationId xmlns:a16="http://schemas.microsoft.com/office/drawing/2014/main" id="{C869A98C-259A-48DD-A5D8-ABFF31AF11BA}"/>
              </a:ext>
            </a:extLst>
          </p:cNvPr>
          <p:cNvSpPr txBox="1"/>
          <p:nvPr/>
        </p:nvSpPr>
        <p:spPr>
          <a:xfrm>
            <a:off x="443686" y="2266620"/>
            <a:ext cx="4090287" cy="707886"/>
          </a:xfrm>
          <a:prstGeom prst="rect">
            <a:avLst/>
          </a:prstGeom>
          <a:noFill/>
        </p:spPr>
        <p:txBody>
          <a:bodyPr wrap="none" rtlCol="0">
            <a:spAutoFit/>
          </a:bodyPr>
          <a:lstStyle/>
          <a:p>
            <a:r>
              <a:rPr lang="en-US" sz="2000" dirty="0">
                <a:solidFill>
                  <a:srgbClr val="C00000"/>
                </a:solidFill>
                <a:latin typeface="Perpetua" panose="02020502060401020303" pitchFamily="18" charset="0"/>
              </a:rPr>
              <a:t>What will R2 do when it receives a packet</a:t>
            </a:r>
          </a:p>
          <a:p>
            <a:r>
              <a:rPr lang="en-US" sz="2000" dirty="0">
                <a:solidFill>
                  <a:srgbClr val="C00000"/>
                </a:solidFill>
                <a:latin typeface="Perpetua" panose="02020502060401020303" pitchFamily="18" charset="0"/>
              </a:rPr>
              <a:t>having length 1500 B?</a:t>
            </a:r>
          </a:p>
        </p:txBody>
      </p:sp>
      <p:sp>
        <p:nvSpPr>
          <p:cNvPr id="11" name="Rectangle 10">
            <a:extLst>
              <a:ext uri="{FF2B5EF4-FFF2-40B4-BE49-F238E27FC236}">
                <a16:creationId xmlns:a16="http://schemas.microsoft.com/office/drawing/2014/main" id="{68C38EF6-7F01-43F0-9B6B-81EC6AC0385A}"/>
              </a:ext>
            </a:extLst>
          </p:cNvPr>
          <p:cNvSpPr/>
          <p:nvPr/>
        </p:nvSpPr>
        <p:spPr>
          <a:xfrm>
            <a:off x="403407" y="3134965"/>
            <a:ext cx="4572000" cy="2462213"/>
          </a:xfrm>
          <a:prstGeom prst="rect">
            <a:avLst/>
          </a:prstGeom>
        </p:spPr>
        <p:txBody>
          <a:bodyPr>
            <a:spAutoFit/>
          </a:bodyPr>
          <a:lstStyle/>
          <a:p>
            <a:pPr algn="just"/>
            <a:r>
              <a:rPr lang="en-US" sz="2200" dirty="0">
                <a:solidFill>
                  <a:srgbClr val="0070C0"/>
                </a:solidFill>
                <a:latin typeface="Perpetua" panose="02020502060401020303" pitchFamily="18" charset="0"/>
              </a:rPr>
              <a:t>Fragmentation</a:t>
            </a:r>
            <a:r>
              <a:rPr lang="en-US" sz="2200" dirty="0">
                <a:latin typeface="Perpetua" panose="02020502060401020303" pitchFamily="18" charset="0"/>
              </a:rPr>
              <a:t> is a process of breaking a packet into a number of  smaller packets, called fragments, to  enable the original packet to be sent to destination through a network that supports  a lower packet size than the original packet.</a:t>
            </a:r>
          </a:p>
          <a:p>
            <a:pPr algn="just"/>
            <a:endParaRPr lang="en-US" sz="2200" dirty="0">
              <a:latin typeface="Perpetua" panose="02020502060401020303" pitchFamily="18" charset="0"/>
            </a:endParaRPr>
          </a:p>
        </p:txBody>
      </p:sp>
      <p:sp>
        <p:nvSpPr>
          <p:cNvPr id="12" name="Rectangle 11">
            <a:extLst>
              <a:ext uri="{FF2B5EF4-FFF2-40B4-BE49-F238E27FC236}">
                <a16:creationId xmlns:a16="http://schemas.microsoft.com/office/drawing/2014/main" id="{B11C688D-F442-4FFA-B183-FAAE69DD5C91}"/>
              </a:ext>
            </a:extLst>
          </p:cNvPr>
          <p:cNvSpPr/>
          <p:nvPr/>
        </p:nvSpPr>
        <p:spPr>
          <a:xfrm>
            <a:off x="389496" y="5325573"/>
            <a:ext cx="4737914" cy="769441"/>
          </a:xfrm>
          <a:prstGeom prst="rect">
            <a:avLst/>
          </a:prstGeom>
        </p:spPr>
        <p:txBody>
          <a:bodyPr wrap="square">
            <a:spAutoFit/>
          </a:bodyPr>
          <a:lstStyle/>
          <a:p>
            <a:pPr>
              <a:spcBef>
                <a:spcPts val="600"/>
              </a:spcBef>
            </a:pPr>
            <a:r>
              <a:rPr lang="en-US" sz="2200" dirty="0">
                <a:solidFill>
                  <a:srgbClr val="000000"/>
                </a:solidFill>
                <a:latin typeface="Perpetua" panose="02020502060401020303" pitchFamily="18" charset="0"/>
              </a:rPr>
              <a:t>The fragments are then typically reassembled when they reach their destination.</a:t>
            </a:r>
            <a:endParaRPr lang="en-US" sz="2200" dirty="0">
              <a:latin typeface="Perpetua" panose="02020502060401020303" pitchFamily="18" charset="0"/>
            </a:endParaRPr>
          </a:p>
        </p:txBody>
      </p:sp>
      <p:sp>
        <p:nvSpPr>
          <p:cNvPr id="13" name="TextBox 12">
            <a:extLst>
              <a:ext uri="{FF2B5EF4-FFF2-40B4-BE49-F238E27FC236}">
                <a16:creationId xmlns:a16="http://schemas.microsoft.com/office/drawing/2014/main" id="{D17137FE-1FD1-4935-8D96-71BB55FE3214}"/>
              </a:ext>
            </a:extLst>
          </p:cNvPr>
          <p:cNvSpPr txBox="1"/>
          <p:nvPr/>
        </p:nvSpPr>
        <p:spPr>
          <a:xfrm>
            <a:off x="6201556" y="5476968"/>
            <a:ext cx="2237151" cy="369332"/>
          </a:xfrm>
          <a:prstGeom prst="rect">
            <a:avLst/>
          </a:prstGeom>
          <a:noFill/>
        </p:spPr>
        <p:txBody>
          <a:bodyPr wrap="none" rtlCol="0">
            <a:spAutoFit/>
          </a:bodyPr>
          <a:lstStyle/>
          <a:p>
            <a:r>
              <a:rPr lang="en-US" dirty="0">
                <a:latin typeface="Perpetua" panose="02020502060401020303" pitchFamily="18" charset="0"/>
              </a:rPr>
              <a:t>Fig.  9 A sample network</a:t>
            </a:r>
          </a:p>
        </p:txBody>
      </p:sp>
    </p:spTree>
    <p:extLst>
      <p:ext uri="{BB962C8B-B14F-4D97-AF65-F5344CB8AC3E}">
        <p14:creationId xmlns:p14="http://schemas.microsoft.com/office/powerpoint/2010/main" val="30529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Classification</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14" name="TextBox 13">
            <a:extLst>
              <a:ext uri="{FF2B5EF4-FFF2-40B4-BE49-F238E27FC236}">
                <a16:creationId xmlns:a16="http://schemas.microsoft.com/office/drawing/2014/main" id="{0102C7B8-DC23-4609-B254-82583A5EA08E}"/>
              </a:ext>
            </a:extLst>
          </p:cNvPr>
          <p:cNvSpPr txBox="1"/>
          <p:nvPr/>
        </p:nvSpPr>
        <p:spPr>
          <a:xfrm>
            <a:off x="421341" y="2048503"/>
            <a:ext cx="3640990" cy="3554819"/>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solidFill>
                  <a:srgbClr val="C00000"/>
                </a:solidFill>
                <a:latin typeface="Perpetua" panose="02020502060401020303" pitchFamily="18" charset="0"/>
              </a:rPr>
              <a:t>Transparent fragmentation</a:t>
            </a:r>
          </a:p>
          <a:p>
            <a:pPr algn="just"/>
            <a:r>
              <a:rPr lang="en-US" sz="2000" dirty="0">
                <a:latin typeface="Perpetua" panose="02020502060401020303" pitchFamily="18" charset="0"/>
              </a:rPr>
              <a:t>Each router reassembles all fragments</a:t>
            </a:r>
          </a:p>
          <a:p>
            <a:pPr algn="just"/>
            <a:r>
              <a:rPr lang="en-US" sz="2000" dirty="0">
                <a:latin typeface="Perpetua" panose="02020502060401020303" pitchFamily="18" charset="0"/>
              </a:rPr>
              <a:t>and does fragmentation again to fit the data to the next network.</a:t>
            </a:r>
          </a:p>
          <a:p>
            <a:pPr algn="just"/>
            <a:endParaRPr lang="en-US" sz="2000" dirty="0">
              <a:latin typeface="Perpetua" panose="02020502060401020303" pitchFamily="18" charset="0"/>
            </a:endParaRPr>
          </a:p>
          <a:p>
            <a:pPr marL="285750" indent="-285750" algn="just">
              <a:buFont typeface="Wingdings" panose="05000000000000000000" pitchFamily="2" charset="2"/>
              <a:buChar char="§"/>
            </a:pPr>
            <a:r>
              <a:rPr lang="en-US" sz="2000" dirty="0">
                <a:solidFill>
                  <a:srgbClr val="C00000"/>
                </a:solidFill>
                <a:latin typeface="Perpetua" panose="02020502060401020303" pitchFamily="18" charset="0"/>
              </a:rPr>
              <a:t>Nontransparent fragmentation</a:t>
            </a:r>
          </a:p>
          <a:p>
            <a:pPr algn="just"/>
            <a:r>
              <a:rPr lang="en-US" sz="2000" dirty="0">
                <a:latin typeface="Perpetua" panose="02020502060401020303" pitchFamily="18" charset="0"/>
              </a:rPr>
              <a:t>Each router receives all the fragments</a:t>
            </a:r>
          </a:p>
          <a:p>
            <a:pPr algn="just"/>
            <a:r>
              <a:rPr lang="en-US" sz="2000" dirty="0">
                <a:latin typeface="Perpetua" panose="02020502060401020303" pitchFamily="18" charset="0"/>
              </a:rPr>
              <a:t>and forward the fragments to the next  network.</a:t>
            </a:r>
          </a:p>
          <a:p>
            <a:pPr algn="just">
              <a:spcBef>
                <a:spcPts val="600"/>
              </a:spcBef>
            </a:pPr>
            <a:r>
              <a:rPr lang="en-US" sz="2000" dirty="0">
                <a:latin typeface="Perpetua" panose="02020502060401020303" pitchFamily="18" charset="0"/>
              </a:rPr>
              <a:t>Reassembling is done only in the destination [3].</a:t>
            </a:r>
          </a:p>
        </p:txBody>
      </p:sp>
      <p:sp>
        <p:nvSpPr>
          <p:cNvPr id="15" name="TextBox 14">
            <a:extLst>
              <a:ext uri="{FF2B5EF4-FFF2-40B4-BE49-F238E27FC236}">
                <a16:creationId xmlns:a16="http://schemas.microsoft.com/office/drawing/2014/main" id="{B0CCFA58-A887-4F71-8512-3E4F45A81AB2}"/>
              </a:ext>
            </a:extLst>
          </p:cNvPr>
          <p:cNvSpPr txBox="1"/>
          <p:nvPr/>
        </p:nvSpPr>
        <p:spPr>
          <a:xfrm>
            <a:off x="421341" y="5837382"/>
            <a:ext cx="4090543" cy="400110"/>
          </a:xfrm>
          <a:prstGeom prst="rect">
            <a:avLst/>
          </a:prstGeom>
          <a:noFill/>
        </p:spPr>
        <p:txBody>
          <a:bodyPr wrap="none" rtlCol="0">
            <a:spAutoFit/>
          </a:bodyPr>
          <a:lstStyle/>
          <a:p>
            <a:r>
              <a:rPr lang="en-US" sz="2000" dirty="0">
                <a:solidFill>
                  <a:srgbClr val="0070C0"/>
                </a:solidFill>
                <a:latin typeface="Perpetua" panose="02020502060401020303" pitchFamily="18" charset="0"/>
              </a:rPr>
              <a:t>Find merits &amp; demerits of each technique.</a:t>
            </a:r>
          </a:p>
        </p:txBody>
      </p:sp>
      <p:grpSp>
        <p:nvGrpSpPr>
          <p:cNvPr id="17" name="Group 16">
            <a:extLst>
              <a:ext uri="{FF2B5EF4-FFF2-40B4-BE49-F238E27FC236}">
                <a16:creationId xmlns:a16="http://schemas.microsoft.com/office/drawing/2014/main" id="{86AB9FC3-49F4-42B0-A3F7-3AC539222CDF}"/>
              </a:ext>
            </a:extLst>
          </p:cNvPr>
          <p:cNvGrpSpPr/>
          <p:nvPr/>
        </p:nvGrpSpPr>
        <p:grpSpPr>
          <a:xfrm>
            <a:off x="4387273" y="2495243"/>
            <a:ext cx="4617355" cy="3267960"/>
            <a:chOff x="4387273" y="2486007"/>
            <a:chExt cx="4617355" cy="3267960"/>
          </a:xfrm>
        </p:grpSpPr>
        <p:pic>
          <p:nvPicPr>
            <p:cNvPr id="13" name="Picture 12">
              <a:extLst>
                <a:ext uri="{FF2B5EF4-FFF2-40B4-BE49-F238E27FC236}">
                  <a16:creationId xmlns:a16="http://schemas.microsoft.com/office/drawing/2014/main" id="{9A2152DF-047B-4B4E-AD0C-E3C316FEA9D3}"/>
                </a:ext>
              </a:extLst>
            </p:cNvPr>
            <p:cNvPicPr>
              <a:picLocks noChangeAspect="1"/>
            </p:cNvPicPr>
            <p:nvPr/>
          </p:nvPicPr>
          <p:blipFill>
            <a:blip r:embed="rId2"/>
            <a:stretch>
              <a:fillRect/>
            </a:stretch>
          </p:blipFill>
          <p:spPr>
            <a:xfrm>
              <a:off x="4387273" y="2486007"/>
              <a:ext cx="4535141" cy="2557048"/>
            </a:xfrm>
            <a:prstGeom prst="rect">
              <a:avLst/>
            </a:prstGeom>
          </p:spPr>
        </p:pic>
        <p:sp>
          <p:nvSpPr>
            <p:cNvPr id="16" name="TextBox 15">
              <a:extLst>
                <a:ext uri="{FF2B5EF4-FFF2-40B4-BE49-F238E27FC236}">
                  <a16:creationId xmlns:a16="http://schemas.microsoft.com/office/drawing/2014/main" id="{AEB6DDE5-A3B2-489E-A5A0-23F4DF2B8ECC}"/>
                </a:ext>
              </a:extLst>
            </p:cNvPr>
            <p:cNvSpPr txBox="1"/>
            <p:nvPr/>
          </p:nvSpPr>
          <p:spPr>
            <a:xfrm>
              <a:off x="5222502" y="5107636"/>
              <a:ext cx="3782126" cy="646331"/>
            </a:xfrm>
            <a:prstGeom prst="rect">
              <a:avLst/>
            </a:prstGeom>
            <a:noFill/>
          </p:spPr>
          <p:txBody>
            <a:bodyPr wrap="none" rtlCol="0">
              <a:spAutoFit/>
            </a:bodyPr>
            <a:lstStyle/>
            <a:p>
              <a:r>
                <a:rPr lang="en-US" dirty="0">
                  <a:latin typeface="Perpetua" panose="02020502060401020303" pitchFamily="18" charset="0"/>
                </a:rPr>
                <a:t>Fig.  10   (a)Transparent fragmentation</a:t>
              </a:r>
            </a:p>
            <a:p>
              <a:r>
                <a:rPr lang="en-US" dirty="0">
                  <a:latin typeface="Perpetua" panose="02020502060401020303" pitchFamily="18" charset="0"/>
                </a:rPr>
                <a:t>               (b) Nontransparent fragmentation</a:t>
              </a:r>
            </a:p>
          </p:txBody>
        </p:sp>
      </p:grpSp>
    </p:spTree>
    <p:extLst>
      <p:ext uri="{BB962C8B-B14F-4D97-AF65-F5344CB8AC3E}">
        <p14:creationId xmlns:p14="http://schemas.microsoft.com/office/powerpoint/2010/main" val="4167362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Fragmentation parameters</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grpSp>
        <p:nvGrpSpPr>
          <p:cNvPr id="4" name="Group 3">
            <a:extLst>
              <a:ext uri="{FF2B5EF4-FFF2-40B4-BE49-F238E27FC236}">
                <a16:creationId xmlns:a16="http://schemas.microsoft.com/office/drawing/2014/main" id="{835F9F9D-1531-420B-B0B8-814E0BE64D45}"/>
              </a:ext>
            </a:extLst>
          </p:cNvPr>
          <p:cNvGrpSpPr/>
          <p:nvPr/>
        </p:nvGrpSpPr>
        <p:grpSpPr>
          <a:xfrm>
            <a:off x="3851564" y="2187978"/>
            <a:ext cx="5070763" cy="3492386"/>
            <a:chOff x="1314738" y="2187978"/>
            <a:chExt cx="5732607" cy="3785412"/>
          </a:xfrm>
        </p:grpSpPr>
        <p:pic>
          <p:nvPicPr>
            <p:cNvPr id="2050" name="Picture 2" descr="IPv4 | IPv4 Header | IPv4 Header Format | Gate Vidyalay">
              <a:extLst>
                <a:ext uri="{FF2B5EF4-FFF2-40B4-BE49-F238E27FC236}">
                  <a16:creationId xmlns:a16="http://schemas.microsoft.com/office/drawing/2014/main" id="{4E1E54FB-5FAB-4832-9CA4-DFB11F286B8B}"/>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b="6704"/>
            <a:stretch/>
          </p:blipFill>
          <p:spPr bwMode="auto">
            <a:xfrm>
              <a:off x="1314738" y="2187978"/>
              <a:ext cx="5732607" cy="378541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BC54A4C-EB73-44E9-AF49-11E927AC22AF}"/>
                </a:ext>
              </a:extLst>
            </p:cNvPr>
            <p:cNvSpPr/>
            <p:nvPr/>
          </p:nvSpPr>
          <p:spPr>
            <a:xfrm>
              <a:off x="1413164" y="3158836"/>
              <a:ext cx="5541818" cy="637309"/>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404509DB-70DF-4EF0-8228-2BFD6D544952}"/>
              </a:ext>
            </a:extLst>
          </p:cNvPr>
          <p:cNvSpPr txBox="1"/>
          <p:nvPr/>
        </p:nvSpPr>
        <p:spPr>
          <a:xfrm>
            <a:off x="254534" y="2355273"/>
            <a:ext cx="3266087" cy="2123658"/>
          </a:xfrm>
          <a:prstGeom prst="rect">
            <a:avLst/>
          </a:prstGeom>
          <a:noFill/>
        </p:spPr>
        <p:txBody>
          <a:bodyPr wrap="none" rtlCol="0">
            <a:spAutoFit/>
          </a:bodyPr>
          <a:lstStyle/>
          <a:p>
            <a:pPr algn="just"/>
            <a:r>
              <a:rPr lang="en-US" sz="2200" dirty="0">
                <a:solidFill>
                  <a:srgbClr val="C00000"/>
                </a:solidFill>
                <a:latin typeface="Perpetua" panose="02020502060401020303" pitchFamily="18" charset="0"/>
              </a:rPr>
              <a:t>The fields of the IP header to</a:t>
            </a:r>
          </a:p>
          <a:p>
            <a:pPr algn="just"/>
            <a:r>
              <a:rPr lang="en-US" sz="2200" dirty="0">
                <a:solidFill>
                  <a:srgbClr val="C00000"/>
                </a:solidFill>
                <a:latin typeface="Perpetua" panose="02020502060401020303" pitchFamily="18" charset="0"/>
              </a:rPr>
              <a:t>accomplish the fragmentation</a:t>
            </a:r>
            <a:r>
              <a:rPr lang="en-US" sz="2200" dirty="0">
                <a:latin typeface="Perpetua" panose="02020502060401020303" pitchFamily="18" charset="0"/>
              </a:rPr>
              <a:t>:</a:t>
            </a:r>
          </a:p>
          <a:p>
            <a:pPr marL="342900" indent="-342900" algn="just">
              <a:buAutoNum type="arabicPeriod"/>
            </a:pPr>
            <a:r>
              <a:rPr lang="en-US" sz="2200" dirty="0">
                <a:latin typeface="Perpetua" panose="02020502060401020303" pitchFamily="18" charset="0"/>
              </a:rPr>
              <a:t>Identification</a:t>
            </a:r>
          </a:p>
          <a:p>
            <a:pPr marL="342900" indent="-342900" algn="just">
              <a:buAutoNum type="arabicPeriod"/>
            </a:pPr>
            <a:r>
              <a:rPr lang="en-US" sz="2200" dirty="0">
                <a:latin typeface="Perpetua" panose="02020502060401020303" pitchFamily="18" charset="0"/>
              </a:rPr>
              <a:t>Do not fragments (DF)</a:t>
            </a:r>
          </a:p>
          <a:p>
            <a:pPr marL="342900" indent="-342900" algn="just">
              <a:buAutoNum type="arabicPeriod"/>
            </a:pPr>
            <a:r>
              <a:rPr lang="en-US" sz="2200" dirty="0">
                <a:latin typeface="Perpetua" panose="02020502060401020303" pitchFamily="18" charset="0"/>
              </a:rPr>
              <a:t>More fragment (MF)</a:t>
            </a:r>
          </a:p>
          <a:p>
            <a:pPr marL="342900" indent="-342900" algn="just">
              <a:buAutoNum type="arabicPeriod"/>
            </a:pPr>
            <a:r>
              <a:rPr lang="en-US" sz="2200" dirty="0">
                <a:latin typeface="Perpetua" panose="02020502060401020303" pitchFamily="18" charset="0"/>
              </a:rPr>
              <a:t>Fragment offset [4]</a:t>
            </a:r>
          </a:p>
        </p:txBody>
      </p:sp>
      <p:sp>
        <p:nvSpPr>
          <p:cNvPr id="10" name="TextBox 9">
            <a:extLst>
              <a:ext uri="{FF2B5EF4-FFF2-40B4-BE49-F238E27FC236}">
                <a16:creationId xmlns:a16="http://schemas.microsoft.com/office/drawing/2014/main" id="{E2F4D322-CDE4-462E-83E5-F722E5BD7785}"/>
              </a:ext>
            </a:extLst>
          </p:cNvPr>
          <p:cNvSpPr txBox="1"/>
          <p:nvPr/>
        </p:nvSpPr>
        <p:spPr>
          <a:xfrm>
            <a:off x="5425702" y="5790778"/>
            <a:ext cx="2477986" cy="369332"/>
          </a:xfrm>
          <a:prstGeom prst="rect">
            <a:avLst/>
          </a:prstGeom>
          <a:noFill/>
        </p:spPr>
        <p:txBody>
          <a:bodyPr wrap="none" rtlCol="0">
            <a:spAutoFit/>
          </a:bodyPr>
          <a:lstStyle/>
          <a:p>
            <a:r>
              <a:rPr lang="en-US" dirty="0">
                <a:latin typeface="Perpetua" panose="02020502060401020303" pitchFamily="18" charset="0"/>
              </a:rPr>
              <a:t>Fig.  11 Packet structure [6]</a:t>
            </a:r>
          </a:p>
        </p:txBody>
      </p:sp>
    </p:spTree>
    <p:extLst>
      <p:ext uri="{BB962C8B-B14F-4D97-AF65-F5344CB8AC3E}">
        <p14:creationId xmlns:p14="http://schemas.microsoft.com/office/powerpoint/2010/main" val="633354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Fragmentation parameters</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3" name="TextBox 2">
            <a:extLst>
              <a:ext uri="{FF2B5EF4-FFF2-40B4-BE49-F238E27FC236}">
                <a16:creationId xmlns:a16="http://schemas.microsoft.com/office/drawing/2014/main" id="{8CEB7AD5-A7BE-4401-B1C9-7B154FACFC7C}"/>
              </a:ext>
            </a:extLst>
          </p:cNvPr>
          <p:cNvSpPr txBox="1"/>
          <p:nvPr/>
        </p:nvSpPr>
        <p:spPr>
          <a:xfrm>
            <a:off x="178667" y="2272145"/>
            <a:ext cx="8281842" cy="3477875"/>
          </a:xfrm>
          <a:prstGeom prst="rect">
            <a:avLst/>
          </a:prstGeom>
          <a:noFill/>
        </p:spPr>
        <p:txBody>
          <a:bodyPr wrap="square" rtlCol="0">
            <a:spAutoFit/>
          </a:bodyPr>
          <a:lstStyle/>
          <a:p>
            <a:pPr marL="342900" indent="-342900" algn="just">
              <a:buFont typeface="Wingdings" panose="05000000000000000000" pitchFamily="2" charset="2"/>
              <a:buChar char="§"/>
            </a:pPr>
            <a:r>
              <a:rPr lang="en-US" sz="2000" b="1" dirty="0">
                <a:solidFill>
                  <a:srgbClr val="C00000"/>
                </a:solidFill>
                <a:latin typeface="Perpetua" panose="02020502060401020303" pitchFamily="18" charset="0"/>
              </a:rPr>
              <a:t>Identification: </a:t>
            </a:r>
          </a:p>
          <a:p>
            <a:pPr marL="800100" lvl="1" indent="-342900" algn="just">
              <a:buFont typeface="Arial" panose="020B0604020202020204" pitchFamily="34" charset="0"/>
              <a:buChar char="•"/>
            </a:pPr>
            <a:r>
              <a:rPr lang="en-US" sz="2000" dirty="0">
                <a:latin typeface="Perpetua" panose="02020502060401020303" pitchFamily="18" charset="0"/>
              </a:rPr>
              <a:t>All fragments of a packet use a unique identifier. </a:t>
            </a:r>
          </a:p>
          <a:p>
            <a:pPr marL="800100" lvl="1" indent="-342900" algn="just">
              <a:buFont typeface="Arial" panose="020B0604020202020204" pitchFamily="34" charset="0"/>
              <a:buChar char="•"/>
            </a:pPr>
            <a:r>
              <a:rPr lang="en-US" sz="2000" dirty="0">
                <a:latin typeface="Perpetua" panose="02020502060401020303" pitchFamily="18" charset="0"/>
              </a:rPr>
              <a:t>Fragments of different packets have different identifier. </a:t>
            </a:r>
          </a:p>
          <a:p>
            <a:pPr marL="800100" lvl="1" indent="-342900" algn="just">
              <a:buFont typeface="Arial" panose="020B0604020202020204" pitchFamily="34" charset="0"/>
              <a:buChar char="•"/>
            </a:pPr>
            <a:r>
              <a:rPr lang="en-US" sz="2000" dirty="0">
                <a:latin typeface="Perpetua" panose="02020502060401020303" pitchFamily="18" charset="0"/>
              </a:rPr>
              <a:t>It is a combination of source &amp; destination addresses and </a:t>
            </a:r>
            <a:r>
              <a:rPr lang="en-US" sz="2000" b="1" dirty="0">
                <a:latin typeface="Perpetua" panose="02020502060401020303" pitchFamily="18" charset="0"/>
              </a:rPr>
              <a:t>Protocol</a:t>
            </a:r>
            <a:r>
              <a:rPr lang="en-US" sz="2000" dirty="0">
                <a:latin typeface="Perpetua" panose="02020502060401020303" pitchFamily="18" charset="0"/>
              </a:rPr>
              <a:t> field value of the original packet, allowing the destination to distinguish between the fragments of different packets (from the same source)</a:t>
            </a:r>
          </a:p>
          <a:p>
            <a:pPr marL="342900" indent="-342900" algn="just">
              <a:buFont typeface="Wingdings" panose="05000000000000000000" pitchFamily="2" charset="2"/>
              <a:buChar char="§"/>
            </a:pPr>
            <a:r>
              <a:rPr lang="en-US" sz="2000" b="1" dirty="0">
                <a:solidFill>
                  <a:srgbClr val="C00000"/>
                </a:solidFill>
                <a:latin typeface="Perpetua" panose="02020502060401020303" pitchFamily="18" charset="0"/>
              </a:rPr>
              <a:t>Don’t Fragment (DF): </a:t>
            </a:r>
          </a:p>
          <a:p>
            <a:pPr marL="800100" lvl="1" indent="-342900" algn="just">
              <a:buFont typeface="Arial" panose="020B0604020202020204" pitchFamily="34" charset="0"/>
              <a:buChar char="•"/>
            </a:pPr>
            <a:r>
              <a:rPr lang="en-US" sz="2000" dirty="0">
                <a:latin typeface="Perpetua" panose="02020502060401020303" pitchFamily="18" charset="0"/>
              </a:rPr>
              <a:t>0 indicates fragmentation is allowed, whereas 1 indicates the prohibition of fragmentation</a:t>
            </a:r>
          </a:p>
          <a:p>
            <a:endParaRPr lang="en-US" sz="2000" dirty="0">
              <a:latin typeface="Perpetua" panose="02020502060401020303" pitchFamily="18" charset="0"/>
            </a:endParaRPr>
          </a:p>
          <a:p>
            <a:endParaRPr lang="en-US" sz="2000" dirty="0">
              <a:latin typeface="Perpetua" panose="02020502060401020303" pitchFamily="18" charset="0"/>
            </a:endParaRPr>
          </a:p>
        </p:txBody>
      </p:sp>
    </p:spTree>
    <p:extLst>
      <p:ext uri="{BB962C8B-B14F-4D97-AF65-F5344CB8AC3E}">
        <p14:creationId xmlns:p14="http://schemas.microsoft.com/office/powerpoint/2010/main" val="1868477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Fragmentation parameters</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3" name="Rectangle 2">
            <a:extLst>
              <a:ext uri="{FF2B5EF4-FFF2-40B4-BE49-F238E27FC236}">
                <a16:creationId xmlns:a16="http://schemas.microsoft.com/office/drawing/2014/main" id="{2A35477A-24B1-4519-A52C-1093AD0201BE}"/>
              </a:ext>
            </a:extLst>
          </p:cNvPr>
          <p:cNvSpPr/>
          <p:nvPr/>
        </p:nvSpPr>
        <p:spPr>
          <a:xfrm>
            <a:off x="421341" y="2293449"/>
            <a:ext cx="8150004" cy="3477875"/>
          </a:xfrm>
          <a:prstGeom prst="rect">
            <a:avLst/>
          </a:prstGeom>
        </p:spPr>
        <p:txBody>
          <a:bodyPr wrap="square">
            <a:spAutoFit/>
          </a:bodyPr>
          <a:lstStyle/>
          <a:p>
            <a:pPr marL="342900" lvl="0" indent="-342900" algn="just">
              <a:buFont typeface="Wingdings" panose="05000000000000000000" pitchFamily="2" charset="2"/>
              <a:buChar char="§"/>
            </a:pPr>
            <a:r>
              <a:rPr lang="en-US" sz="2000" b="1" dirty="0">
                <a:solidFill>
                  <a:srgbClr val="C00000"/>
                </a:solidFill>
                <a:latin typeface="Perpetua" panose="02020502060401020303" pitchFamily="18" charset="0"/>
              </a:rPr>
              <a:t>More Fragment (MF): </a:t>
            </a:r>
          </a:p>
          <a:p>
            <a:pPr marL="800100" lvl="1" indent="-342900" algn="just">
              <a:buFont typeface="Arial" panose="020B0604020202020204" pitchFamily="34" charset="0"/>
              <a:buChar char="•"/>
            </a:pPr>
            <a:r>
              <a:rPr lang="en-US" sz="2000" dirty="0">
                <a:solidFill>
                  <a:prstClr val="black"/>
                </a:solidFill>
                <a:latin typeface="Perpetua" panose="02020502060401020303" pitchFamily="18" charset="0"/>
              </a:rPr>
              <a:t>1 if no fragmentation is done.  </a:t>
            </a:r>
          </a:p>
          <a:p>
            <a:pPr marL="800100" lvl="1" indent="-342900" algn="just">
              <a:buFont typeface="Arial" panose="020B0604020202020204" pitchFamily="34" charset="0"/>
              <a:buChar char="•"/>
            </a:pPr>
            <a:r>
              <a:rPr lang="en-US" sz="2000" dirty="0">
                <a:solidFill>
                  <a:prstClr val="black"/>
                </a:solidFill>
                <a:latin typeface="Perpetua" panose="02020502060401020303" pitchFamily="18" charset="0"/>
              </a:rPr>
              <a:t>If fragmentation is done, all fragments except the last one has 1 in this field.</a:t>
            </a:r>
          </a:p>
          <a:p>
            <a:pPr marL="342900" lvl="0" indent="-342900" algn="just">
              <a:buFont typeface="Wingdings" panose="05000000000000000000" pitchFamily="2" charset="2"/>
              <a:buChar char="§"/>
            </a:pPr>
            <a:r>
              <a:rPr lang="en-US" sz="2000" b="1" dirty="0">
                <a:solidFill>
                  <a:srgbClr val="C00000"/>
                </a:solidFill>
                <a:latin typeface="Perpetua" panose="02020502060401020303" pitchFamily="18" charset="0"/>
              </a:rPr>
              <a:t>Fragmentation offset: </a:t>
            </a:r>
          </a:p>
          <a:p>
            <a:pPr marL="800100" lvl="1" indent="-342900" algn="just">
              <a:buFont typeface="Arial" panose="020B0604020202020204" pitchFamily="34" charset="0"/>
              <a:buChar char="•"/>
            </a:pPr>
            <a:r>
              <a:rPr lang="en-US" sz="2000" dirty="0">
                <a:solidFill>
                  <a:prstClr val="black"/>
                </a:solidFill>
                <a:latin typeface="Perpetua" panose="02020502060401020303" pitchFamily="18" charset="0"/>
              </a:rPr>
              <a:t>Indicates the starting position of the data in the fragment in relation to the start of the data in the original packet. </a:t>
            </a:r>
          </a:p>
          <a:p>
            <a:pPr marL="800100" lvl="1" indent="-342900" algn="just">
              <a:buFont typeface="Arial" panose="020B0604020202020204" pitchFamily="34" charset="0"/>
              <a:buChar char="•"/>
            </a:pPr>
            <a:r>
              <a:rPr lang="en-US" sz="2000" dirty="0">
                <a:solidFill>
                  <a:prstClr val="black"/>
                </a:solidFill>
                <a:latin typeface="Perpetua" panose="02020502060401020303" pitchFamily="18" charset="0"/>
              </a:rPr>
              <a:t>If a packet containing 800 bytes of data is split into two equal fragments carrying 400 bytes of data, the fragment offset of the first fragment is 0, of the second fragment 50 (400/8). </a:t>
            </a:r>
          </a:p>
          <a:p>
            <a:pPr marL="800100" lvl="1" indent="-342900" algn="just">
              <a:buFont typeface="Arial" panose="020B0604020202020204" pitchFamily="34" charset="0"/>
              <a:buChar char="•"/>
            </a:pPr>
            <a:r>
              <a:rPr lang="en-US" sz="2000" dirty="0">
                <a:solidFill>
                  <a:prstClr val="black"/>
                </a:solidFill>
                <a:latin typeface="Perpetua" panose="02020502060401020303" pitchFamily="18" charset="0"/>
              </a:rPr>
              <a:t>The offset value must be the number of 8-byte blocks of data.  For example,16 bytes data means two 8 byte blocks. Hence, offset is 2 [4].</a:t>
            </a:r>
          </a:p>
        </p:txBody>
      </p:sp>
    </p:spTree>
    <p:extLst>
      <p:ext uri="{BB962C8B-B14F-4D97-AF65-F5344CB8AC3E}">
        <p14:creationId xmlns:p14="http://schemas.microsoft.com/office/powerpoint/2010/main" val="2909440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0AA97872-709D-4F2C-98CB-B779659D43BD}"/>
              </a:ext>
            </a:extLst>
          </p:cNvPr>
          <p:cNvSpPr txBox="1"/>
          <p:nvPr/>
        </p:nvSpPr>
        <p:spPr>
          <a:xfrm>
            <a:off x="332509" y="2290618"/>
            <a:ext cx="8757975" cy="769441"/>
          </a:xfrm>
          <a:prstGeom prst="rect">
            <a:avLst/>
          </a:prstGeom>
          <a:noFill/>
        </p:spPr>
        <p:txBody>
          <a:bodyPr wrap="none" rtlCol="0">
            <a:spAutoFit/>
          </a:bodyPr>
          <a:lstStyle/>
          <a:p>
            <a:r>
              <a:rPr lang="en-US" sz="2200" dirty="0">
                <a:solidFill>
                  <a:srgbClr val="C00000"/>
                </a:solidFill>
                <a:latin typeface="Perpetua" panose="02020502060401020303" pitchFamily="18" charset="0"/>
              </a:rPr>
              <a:t>Suppose that a router receives a packet of size 1440 bytes including 20 bytes header. </a:t>
            </a:r>
          </a:p>
          <a:p>
            <a:r>
              <a:rPr lang="en-US" sz="2200" dirty="0">
                <a:solidFill>
                  <a:srgbClr val="C00000"/>
                </a:solidFill>
                <a:latin typeface="Perpetua" panose="02020502060401020303" pitchFamily="18" charset="0"/>
              </a:rPr>
              <a:t>Packet has to be forwarded through a network which supports MTU of 576 bytes.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EF689F-C8DC-48F8-A5CD-9AFF67E83229}"/>
                  </a:ext>
                </a:extLst>
              </p:cNvPr>
              <p:cNvSpPr txBox="1"/>
              <p:nvPr/>
            </p:nvSpPr>
            <p:spPr>
              <a:xfrm>
                <a:off x="476205" y="3177309"/>
                <a:ext cx="8460008" cy="2554545"/>
              </a:xfrm>
              <a:prstGeom prst="rect">
                <a:avLst/>
              </a:prstGeom>
              <a:noFill/>
            </p:spPr>
            <p:txBody>
              <a:bodyPr wrap="none" rtlCol="0">
                <a:spAutoFit/>
              </a:bodyPr>
              <a:lstStyle/>
              <a:p>
                <a:pPr marL="285750" indent="-285750">
                  <a:buFont typeface="Wingdings" panose="05000000000000000000" pitchFamily="2" charset="2"/>
                  <a:buChar char="§"/>
                </a:pPr>
                <a:r>
                  <a:rPr lang="en-US" sz="2000" dirty="0">
                    <a:latin typeface="Perpetua" panose="02020502060401020303" pitchFamily="18" charset="0"/>
                  </a:rPr>
                  <a:t>Data size: 1440-20 = 1420 bytes</a:t>
                </a:r>
              </a:p>
              <a:p>
                <a:pPr marL="285750" indent="-285750">
                  <a:buFont typeface="Wingdings" panose="05000000000000000000" pitchFamily="2" charset="2"/>
                  <a:buChar char="§"/>
                </a:pPr>
                <a:r>
                  <a:rPr lang="en-US" sz="2000" dirty="0">
                    <a:latin typeface="Perpetua" panose="02020502060401020303" pitchFamily="18" charset="0"/>
                  </a:rPr>
                  <a:t>20 bytes out of 576 bytes of MTU belong to header, the rest 556 bytes are data.</a:t>
                </a:r>
              </a:p>
              <a:p>
                <a:pPr marL="285750" indent="-285750">
                  <a:buFont typeface="Wingdings" panose="05000000000000000000" pitchFamily="2" charset="2"/>
                  <a:buChar char="§"/>
                </a:pPr>
                <a:r>
                  <a:rPr lang="en-US" sz="2000" dirty="0">
                    <a:latin typeface="Perpetua" panose="02020502060401020303" pitchFamily="18" charset="0"/>
                  </a:rPr>
                  <a:t>Convert 556 bytes in terms of integer number of blocks  with each block consisting </a:t>
                </a:r>
              </a:p>
              <a:p>
                <a:r>
                  <a:rPr lang="en-US" sz="2000" dirty="0">
                    <a:latin typeface="Perpetua" panose="02020502060401020303" pitchFamily="18" charset="0"/>
                  </a:rPr>
                  <a:t>      of 8 bytes size.</a:t>
                </a:r>
              </a:p>
              <a:p>
                <a:pPr marL="285750" indent="-285750">
                  <a:buFont typeface="Wingdings" panose="05000000000000000000" pitchFamily="2" charset="2"/>
                  <a:buChar char="§"/>
                </a:pPr>
                <a:r>
                  <a:rPr lang="en-US" sz="2000" dirty="0">
                    <a:latin typeface="Perpetua" panose="02020502060401020303" pitchFamily="18" charset="0"/>
                  </a:rPr>
                  <a:t>556/8=69.5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latin typeface="Perpetua" panose="02020502060401020303" pitchFamily="18" charset="0"/>
                  </a:rPr>
                  <a:t> integer</a:t>
                </a:r>
              </a:p>
              <a:p>
                <a:pPr marL="285750" indent="-285750">
                  <a:buFont typeface="Wingdings" panose="05000000000000000000" pitchFamily="2" charset="2"/>
                  <a:buChar char="§"/>
                </a:pPr>
                <a:r>
                  <a:rPr lang="en-US" sz="2000" dirty="0">
                    <a:latin typeface="Perpetua" panose="02020502060401020303" pitchFamily="18" charset="0"/>
                  </a:rPr>
                  <a:t>552/8=69. Thus, instead of sending  556 bytes data per packet, 552 bytes will be sent.</a:t>
                </a:r>
              </a:p>
              <a:p>
                <a:pPr marL="285750" indent="-285750">
                  <a:buFont typeface="Wingdings" panose="05000000000000000000" pitchFamily="2" charset="2"/>
                  <a:buChar char="§"/>
                </a:pPr>
                <a:r>
                  <a:rPr lang="en-US" sz="2000" dirty="0">
                    <a:latin typeface="Perpetua" panose="02020502060401020303" pitchFamily="18" charset="0"/>
                  </a:rPr>
                  <a:t>Thus, the new packet size is 20 (header)+552 (bytes) = 572 bytes.</a:t>
                </a:r>
              </a:p>
              <a:p>
                <a:pPr marL="285750" indent="-285750">
                  <a:buFont typeface="Wingdings" panose="05000000000000000000" pitchFamily="2" charset="2"/>
                  <a:buChar char="§"/>
                </a:pPr>
                <a14:m>
                  <m:oMath xmlns:m="http://schemas.openxmlformats.org/officeDocument/2006/math">
                    <m:r>
                      <a:rPr lang="en-US" b="0" i="1" smtClean="0">
                        <a:latin typeface="Cambria Math" panose="02040503050406030204" pitchFamily="18" charset="0"/>
                      </a:rPr>
                      <m:t>69</m:t>
                    </m:r>
                    <m:r>
                      <a:rPr lang="en-US" b="0" i="1" smtClean="0">
                        <a:latin typeface="Cambria Math" panose="02040503050406030204" pitchFamily="18" charset="0"/>
                        <a:ea typeface="Cambria Math" panose="02040503050406030204" pitchFamily="18" charset="0"/>
                      </a:rPr>
                      <m:t>×8+69×8+316=1420</m:t>
                    </m:r>
                  </m:oMath>
                </a14:m>
                <a:r>
                  <a:rPr lang="en-US" sz="2000" dirty="0">
                    <a:latin typeface="Perpetua" panose="02020502060401020303" pitchFamily="18" charset="0"/>
                  </a:rPr>
                  <a:t>, </a:t>
                </a:r>
              </a:p>
            </p:txBody>
          </p:sp>
        </mc:Choice>
        <mc:Fallback xmlns="">
          <p:sp>
            <p:nvSpPr>
              <p:cNvPr id="6" name="TextBox 5">
                <a:extLst>
                  <a:ext uri="{FF2B5EF4-FFF2-40B4-BE49-F238E27FC236}">
                    <a16:creationId xmlns:a16="http://schemas.microsoft.com/office/drawing/2014/main" id="{A9EF689F-C8DC-48F8-A5CD-9AFF67E83229}"/>
                  </a:ext>
                </a:extLst>
              </p:cNvPr>
              <p:cNvSpPr txBox="1">
                <a:spLocks noRot="1" noChangeAspect="1" noMove="1" noResize="1" noEditPoints="1" noAdjustHandles="1" noChangeArrowheads="1" noChangeShapeType="1" noTextEdit="1"/>
              </p:cNvSpPr>
              <p:nvPr/>
            </p:nvSpPr>
            <p:spPr>
              <a:xfrm>
                <a:off x="476205" y="3177309"/>
                <a:ext cx="8460008" cy="2554545"/>
              </a:xfrm>
              <a:prstGeom prst="rect">
                <a:avLst/>
              </a:prstGeom>
              <a:blipFill>
                <a:blip r:embed="rId2"/>
                <a:stretch>
                  <a:fillRect l="-648" t="-1671" b="-3580"/>
                </a:stretch>
              </a:blipFill>
            </p:spPr>
            <p:txBody>
              <a:bodyPr/>
              <a:lstStyle/>
              <a:p>
                <a:r>
                  <a:rPr lang="en-US">
                    <a:noFill/>
                  </a:rPr>
                  <a:t> </a:t>
                </a:r>
              </a:p>
            </p:txBody>
          </p:sp>
        </mc:Fallback>
      </mc:AlternateContent>
    </p:spTree>
    <p:extLst>
      <p:ext uri="{BB962C8B-B14F-4D97-AF65-F5344CB8AC3E}">
        <p14:creationId xmlns:p14="http://schemas.microsoft.com/office/powerpoint/2010/main" val="2725839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Example</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A426BC1-BB46-4CE6-B171-096CD04F3048}"/>
                  </a:ext>
                </a:extLst>
              </p:cNvPr>
              <p:cNvSpPr/>
              <p:nvPr/>
            </p:nvSpPr>
            <p:spPr>
              <a:xfrm>
                <a:off x="334095" y="2420508"/>
                <a:ext cx="8414419" cy="1015663"/>
              </a:xfrm>
              <a:prstGeom prst="rect">
                <a:avLst/>
              </a:prstGeom>
            </p:spPr>
            <p:txBody>
              <a:bodyPr wrap="none">
                <a:spAutoFit/>
              </a:bodyPr>
              <a:lstStyle/>
              <a:p>
                <a:pPr marL="285750" lvl="0" indent="-285750">
                  <a:buFont typeface="Wingdings" panose="05000000000000000000" pitchFamily="2" charset="2"/>
                  <a:buChar char="§"/>
                </a:pPr>
                <a14:m>
                  <m:oMath xmlns:m="http://schemas.openxmlformats.org/officeDocument/2006/math">
                    <m:r>
                      <a:rPr lang="en-US" sz="2000" b="0" i="1" smtClean="0">
                        <a:solidFill>
                          <a:prstClr val="black"/>
                        </a:solidFill>
                        <a:latin typeface="Cambria Math" panose="02040503050406030204" pitchFamily="18" charset="0"/>
                      </a:rPr>
                      <m:t>1420=</m:t>
                    </m:r>
                    <m:r>
                      <a:rPr lang="en-US" sz="2000" i="1">
                        <a:solidFill>
                          <a:prstClr val="black"/>
                        </a:solidFill>
                        <a:latin typeface="Cambria Math" panose="02040503050406030204" pitchFamily="18" charset="0"/>
                      </a:rPr>
                      <m:t>69</m:t>
                    </m:r>
                    <m:r>
                      <a:rPr lang="en-US" sz="2000" i="1">
                        <a:solidFill>
                          <a:prstClr val="black"/>
                        </a:solidFill>
                        <a:latin typeface="Cambria Math" panose="02040503050406030204" pitchFamily="18" charset="0"/>
                        <a:ea typeface="Cambria Math" panose="02040503050406030204" pitchFamily="18" charset="0"/>
                      </a:rPr>
                      <m:t>×8+69×8+316=</m:t>
                    </m:r>
                    <m:r>
                      <a:rPr lang="en-US" sz="2000" b="0" i="1" smtClean="0">
                        <a:solidFill>
                          <a:prstClr val="black"/>
                        </a:solidFill>
                        <a:latin typeface="Cambria Math" panose="02040503050406030204" pitchFamily="18" charset="0"/>
                        <a:ea typeface="Cambria Math" panose="02040503050406030204" pitchFamily="18" charset="0"/>
                      </a:rPr>
                      <m:t>552+552+316</m:t>
                    </m:r>
                  </m:oMath>
                </a14:m>
                <a:r>
                  <a:rPr lang="en-US" sz="2000" dirty="0">
                    <a:solidFill>
                      <a:prstClr val="black"/>
                    </a:solidFill>
                    <a:latin typeface="Perpetua" panose="02020502060401020303" pitchFamily="18" charset="0"/>
                  </a:rPr>
                  <a:t> Bytes</a:t>
                </a:r>
              </a:p>
              <a:p>
                <a:pPr marL="285750" lvl="0" indent="-285750">
                  <a:buFont typeface="Wingdings" panose="05000000000000000000" pitchFamily="2" charset="2"/>
                  <a:buChar char="§"/>
                </a:pPr>
                <a:r>
                  <a:rPr lang="en-US" sz="2000" dirty="0">
                    <a:solidFill>
                      <a:prstClr val="black"/>
                    </a:solidFill>
                    <a:latin typeface="Perpetua" panose="02020502060401020303" pitchFamily="18" charset="0"/>
                  </a:rPr>
                  <a:t>Packet of 1420 bytes data are fragmented into three smaller packets where the first</a:t>
                </a:r>
              </a:p>
              <a:p>
                <a:pPr lvl="0"/>
                <a:r>
                  <a:rPr lang="en-US" sz="2000" dirty="0">
                    <a:solidFill>
                      <a:prstClr val="black"/>
                    </a:solidFill>
                    <a:latin typeface="Perpetua" panose="02020502060401020303" pitchFamily="18" charset="0"/>
                  </a:rPr>
                  <a:t>     two packets carry 552 bytes data each and the last one carries the remaining 316 bytes</a:t>
                </a:r>
              </a:p>
            </p:txBody>
          </p:sp>
        </mc:Choice>
        <mc:Fallback xmlns="">
          <p:sp>
            <p:nvSpPr>
              <p:cNvPr id="3" name="Rectangle 2">
                <a:extLst>
                  <a:ext uri="{FF2B5EF4-FFF2-40B4-BE49-F238E27FC236}">
                    <a16:creationId xmlns:a16="http://schemas.microsoft.com/office/drawing/2014/main" id="{FA426BC1-BB46-4CE6-B171-096CD04F3048}"/>
                  </a:ext>
                </a:extLst>
              </p:cNvPr>
              <p:cNvSpPr>
                <a:spLocks noRot="1" noChangeAspect="1" noMove="1" noResize="1" noEditPoints="1" noAdjustHandles="1" noChangeArrowheads="1" noChangeShapeType="1" noTextEdit="1"/>
              </p:cNvSpPr>
              <p:nvPr/>
            </p:nvSpPr>
            <p:spPr>
              <a:xfrm>
                <a:off x="334095" y="2420508"/>
                <a:ext cx="8414419" cy="1015663"/>
              </a:xfrm>
              <a:prstGeom prst="rect">
                <a:avLst/>
              </a:prstGeom>
              <a:blipFill>
                <a:blip r:embed="rId2"/>
                <a:stretch>
                  <a:fillRect l="-652" t="-3593" b="-10180"/>
                </a:stretch>
              </a:blipFill>
            </p:spPr>
            <p:txBody>
              <a:bodyPr/>
              <a:lstStyle/>
              <a:p>
                <a:r>
                  <a:rPr lang="en-US">
                    <a:noFill/>
                  </a:rPr>
                  <a:t> </a:t>
                </a:r>
              </a:p>
            </p:txBody>
          </p:sp>
        </mc:Fallback>
      </mc:AlternateContent>
      <p:graphicFrame>
        <p:nvGraphicFramePr>
          <p:cNvPr id="6" name="Table 6">
            <a:extLst>
              <a:ext uri="{FF2B5EF4-FFF2-40B4-BE49-F238E27FC236}">
                <a16:creationId xmlns:a16="http://schemas.microsoft.com/office/drawing/2014/main" id="{04AD0502-0250-4686-B7E7-6EBE1AF5D572}"/>
              </a:ext>
            </a:extLst>
          </p:cNvPr>
          <p:cNvGraphicFramePr>
            <a:graphicFrameLocks noGrp="1"/>
          </p:cNvGraphicFramePr>
          <p:nvPr>
            <p:extLst>
              <p:ext uri="{D42A27DB-BD31-4B8C-83A1-F6EECF244321}">
                <p14:modId xmlns:p14="http://schemas.microsoft.com/office/powerpoint/2010/main" val="3649685974"/>
              </p:ext>
            </p:extLst>
          </p:nvPr>
        </p:nvGraphicFramePr>
        <p:xfrm>
          <a:off x="334095" y="4223327"/>
          <a:ext cx="8329614" cy="1513840"/>
        </p:xfrm>
        <a:graphic>
          <a:graphicData uri="http://schemas.openxmlformats.org/drawingml/2006/table">
            <a:tbl>
              <a:tblPr firstRow="1" bandRow="1">
                <a:tableStyleId>{5940675A-B579-460E-94D1-54222C63F5DA}</a:tableStyleId>
              </a:tblPr>
              <a:tblGrid>
                <a:gridCol w="1513178">
                  <a:extLst>
                    <a:ext uri="{9D8B030D-6E8A-4147-A177-3AD203B41FA5}">
                      <a16:colId xmlns:a16="http://schemas.microsoft.com/office/drawing/2014/main" val="3969130795"/>
                    </a:ext>
                  </a:extLst>
                </a:gridCol>
                <a:gridCol w="1537227">
                  <a:extLst>
                    <a:ext uri="{9D8B030D-6E8A-4147-A177-3AD203B41FA5}">
                      <a16:colId xmlns:a16="http://schemas.microsoft.com/office/drawing/2014/main" val="1618708636"/>
                    </a:ext>
                  </a:extLst>
                </a:gridCol>
                <a:gridCol w="477506">
                  <a:extLst>
                    <a:ext uri="{9D8B030D-6E8A-4147-A177-3AD203B41FA5}">
                      <a16:colId xmlns:a16="http://schemas.microsoft.com/office/drawing/2014/main" val="856096663"/>
                    </a:ext>
                  </a:extLst>
                </a:gridCol>
                <a:gridCol w="1052428">
                  <a:extLst>
                    <a:ext uri="{9D8B030D-6E8A-4147-A177-3AD203B41FA5}">
                      <a16:colId xmlns:a16="http://schemas.microsoft.com/office/drawing/2014/main" val="4044909931"/>
                    </a:ext>
                  </a:extLst>
                </a:gridCol>
                <a:gridCol w="2020286">
                  <a:extLst>
                    <a:ext uri="{9D8B030D-6E8A-4147-A177-3AD203B41FA5}">
                      <a16:colId xmlns:a16="http://schemas.microsoft.com/office/drawing/2014/main" val="2625392982"/>
                    </a:ext>
                  </a:extLst>
                </a:gridCol>
                <a:gridCol w="1728989">
                  <a:extLst>
                    <a:ext uri="{9D8B030D-6E8A-4147-A177-3AD203B41FA5}">
                      <a16:colId xmlns:a16="http://schemas.microsoft.com/office/drawing/2014/main" val="3972050711"/>
                    </a:ext>
                  </a:extLst>
                </a:gridCol>
              </a:tblGrid>
              <a:tr h="370840">
                <a:tc>
                  <a:txBody>
                    <a:bodyPr/>
                    <a:lstStyle/>
                    <a:p>
                      <a:pPr algn="ctr"/>
                      <a:r>
                        <a:rPr lang="en-US" sz="1800" b="1" dirty="0">
                          <a:latin typeface="Perpetua" panose="02020502060401020303" pitchFamily="18" charset="0"/>
                        </a:rPr>
                        <a:t>Fragment no.</a:t>
                      </a:r>
                    </a:p>
                  </a:txBody>
                  <a:tcPr/>
                </a:tc>
                <a:tc>
                  <a:txBody>
                    <a:bodyPr/>
                    <a:lstStyle/>
                    <a:p>
                      <a:pPr algn="ctr"/>
                      <a:r>
                        <a:rPr lang="en-US" sz="1800" b="1" dirty="0">
                          <a:latin typeface="Perpetua" panose="02020502060401020303" pitchFamily="18" charset="0"/>
                        </a:rPr>
                        <a:t>Identification</a:t>
                      </a:r>
                    </a:p>
                  </a:txBody>
                  <a:tcPr/>
                </a:tc>
                <a:tc>
                  <a:txBody>
                    <a:bodyPr/>
                    <a:lstStyle/>
                    <a:p>
                      <a:pPr algn="ctr"/>
                      <a:r>
                        <a:rPr lang="en-US" sz="1800" b="1" dirty="0">
                          <a:latin typeface="Perpetua" panose="02020502060401020303" pitchFamily="18" charset="0"/>
                        </a:rPr>
                        <a:t>DF</a:t>
                      </a:r>
                    </a:p>
                  </a:txBody>
                  <a:tcPr/>
                </a:tc>
                <a:tc>
                  <a:txBody>
                    <a:bodyPr/>
                    <a:lstStyle/>
                    <a:p>
                      <a:pPr algn="ctr"/>
                      <a:r>
                        <a:rPr lang="en-US" sz="1800" b="1" dirty="0">
                          <a:latin typeface="Perpetua" panose="02020502060401020303" pitchFamily="18" charset="0"/>
                        </a:rPr>
                        <a:t>MF</a:t>
                      </a:r>
                    </a:p>
                  </a:txBody>
                  <a:tcPr/>
                </a:tc>
                <a:tc>
                  <a:txBody>
                    <a:bodyPr/>
                    <a:lstStyle/>
                    <a:p>
                      <a:pPr algn="ctr"/>
                      <a:r>
                        <a:rPr lang="en-US" sz="1800" b="1" dirty="0">
                          <a:latin typeface="Perpetua" panose="02020502060401020303" pitchFamily="18" charset="0"/>
                        </a:rPr>
                        <a:t>Fragment offset</a:t>
                      </a:r>
                    </a:p>
                  </a:txBody>
                  <a:tcPr/>
                </a:tc>
                <a:tc>
                  <a:txBody>
                    <a:bodyPr/>
                    <a:lstStyle/>
                    <a:p>
                      <a:pPr algn="ctr"/>
                      <a:r>
                        <a:rPr lang="en-US" sz="1800" b="1" dirty="0">
                          <a:latin typeface="Perpetua" panose="02020502060401020303" pitchFamily="18" charset="0"/>
                        </a:rPr>
                        <a:t>Packet size</a:t>
                      </a:r>
                    </a:p>
                  </a:txBody>
                  <a:tcPr/>
                </a:tc>
                <a:extLst>
                  <a:ext uri="{0D108BD9-81ED-4DB2-BD59-A6C34878D82A}">
                    <a16:rowId xmlns:a16="http://schemas.microsoft.com/office/drawing/2014/main" val="2947234576"/>
                  </a:ext>
                </a:extLst>
              </a:tr>
              <a:tr h="370840">
                <a:tc>
                  <a:txBody>
                    <a:bodyPr/>
                    <a:lstStyle/>
                    <a:p>
                      <a:pPr algn="ctr"/>
                      <a:r>
                        <a:rPr lang="en-US" sz="1900" dirty="0">
                          <a:latin typeface="Perpetua" panose="02020502060401020303" pitchFamily="18" charset="0"/>
                        </a:rPr>
                        <a:t>1</a:t>
                      </a:r>
                    </a:p>
                  </a:txBody>
                  <a:tcPr/>
                </a:tc>
                <a:tc>
                  <a:txBody>
                    <a:bodyPr/>
                    <a:lstStyle/>
                    <a:p>
                      <a:pPr algn="ctr"/>
                      <a:r>
                        <a:rPr lang="en-US" sz="1900" dirty="0">
                          <a:latin typeface="Perpetua" panose="02020502060401020303" pitchFamily="18" charset="0"/>
                        </a:rPr>
                        <a:t>9712 (let)</a:t>
                      </a:r>
                    </a:p>
                  </a:txBody>
                  <a:tcPr/>
                </a:tc>
                <a:tc>
                  <a:txBody>
                    <a:bodyPr/>
                    <a:lstStyle/>
                    <a:p>
                      <a:pPr algn="ctr"/>
                      <a:r>
                        <a:rPr lang="en-US" sz="1900" dirty="0">
                          <a:latin typeface="Perpetua" panose="02020502060401020303" pitchFamily="18" charset="0"/>
                        </a:rPr>
                        <a:t>0</a:t>
                      </a:r>
                    </a:p>
                  </a:txBody>
                  <a:tcPr/>
                </a:tc>
                <a:tc>
                  <a:txBody>
                    <a:bodyPr/>
                    <a:lstStyle/>
                    <a:p>
                      <a:pPr algn="ctr"/>
                      <a:r>
                        <a:rPr lang="en-US" sz="1900" dirty="0">
                          <a:latin typeface="Perpetua" panose="02020502060401020303" pitchFamily="18" charset="0"/>
                        </a:rPr>
                        <a:t>1</a:t>
                      </a:r>
                    </a:p>
                  </a:txBody>
                  <a:tcPr/>
                </a:tc>
                <a:tc>
                  <a:txBody>
                    <a:bodyPr/>
                    <a:lstStyle/>
                    <a:p>
                      <a:pPr algn="ctr"/>
                      <a:r>
                        <a:rPr lang="en-US" sz="1900" dirty="0">
                          <a:latin typeface="Perpetua" panose="02020502060401020303" pitchFamily="18" charset="0"/>
                        </a:rPr>
                        <a:t>0</a:t>
                      </a:r>
                    </a:p>
                  </a:txBody>
                  <a:tcPr/>
                </a:tc>
                <a:tc>
                  <a:txBody>
                    <a:bodyPr/>
                    <a:lstStyle/>
                    <a:p>
                      <a:pPr algn="ctr"/>
                      <a:r>
                        <a:rPr lang="en-US" sz="1900" dirty="0">
                          <a:latin typeface="Perpetua" panose="02020502060401020303" pitchFamily="18" charset="0"/>
                        </a:rPr>
                        <a:t>572  (20+552)</a:t>
                      </a:r>
                    </a:p>
                  </a:txBody>
                  <a:tcPr/>
                </a:tc>
                <a:extLst>
                  <a:ext uri="{0D108BD9-81ED-4DB2-BD59-A6C34878D82A}">
                    <a16:rowId xmlns:a16="http://schemas.microsoft.com/office/drawing/2014/main" val="2420320972"/>
                  </a:ext>
                </a:extLst>
              </a:tr>
              <a:tr h="370840">
                <a:tc>
                  <a:txBody>
                    <a:bodyPr/>
                    <a:lstStyle/>
                    <a:p>
                      <a:pPr algn="ctr"/>
                      <a:r>
                        <a:rPr lang="en-US" sz="1900" dirty="0">
                          <a:latin typeface="Perpetua" panose="02020502060401020303" pitchFamily="18" charset="0"/>
                        </a:rPr>
                        <a:t>2</a:t>
                      </a:r>
                    </a:p>
                  </a:txBody>
                  <a:tcPr/>
                </a:tc>
                <a:tc>
                  <a:txBody>
                    <a:bodyPr/>
                    <a:lstStyle/>
                    <a:p>
                      <a:pPr algn="ctr"/>
                      <a:r>
                        <a:rPr lang="en-US" sz="1900" dirty="0">
                          <a:latin typeface="Perpetua" panose="02020502060401020303" pitchFamily="18" charset="0"/>
                        </a:rPr>
                        <a:t>9712</a:t>
                      </a:r>
                    </a:p>
                  </a:txBody>
                  <a:tcPr/>
                </a:tc>
                <a:tc>
                  <a:txBody>
                    <a:bodyPr/>
                    <a:lstStyle/>
                    <a:p>
                      <a:pPr algn="ctr"/>
                      <a:r>
                        <a:rPr lang="en-US" sz="1900" dirty="0">
                          <a:latin typeface="Perpetua" panose="02020502060401020303" pitchFamily="18" charset="0"/>
                        </a:rPr>
                        <a:t>0</a:t>
                      </a:r>
                    </a:p>
                  </a:txBody>
                  <a:tcPr/>
                </a:tc>
                <a:tc>
                  <a:txBody>
                    <a:bodyPr/>
                    <a:lstStyle/>
                    <a:p>
                      <a:pPr algn="ctr"/>
                      <a:r>
                        <a:rPr lang="en-US" sz="1900" dirty="0">
                          <a:latin typeface="Perpetua" panose="02020502060401020303" pitchFamily="18" charset="0"/>
                        </a:rPr>
                        <a:t>1</a:t>
                      </a:r>
                    </a:p>
                  </a:txBody>
                  <a:tcPr/>
                </a:tc>
                <a:tc>
                  <a:txBody>
                    <a:bodyPr/>
                    <a:lstStyle/>
                    <a:p>
                      <a:pPr algn="ctr"/>
                      <a:r>
                        <a:rPr lang="en-US" sz="1900" dirty="0">
                          <a:latin typeface="Perpetua" panose="02020502060401020303" pitchFamily="18" charset="0"/>
                        </a:rPr>
                        <a:t>69</a:t>
                      </a:r>
                    </a:p>
                  </a:txBody>
                  <a:tcPr/>
                </a:tc>
                <a:tc>
                  <a:txBody>
                    <a:bodyPr/>
                    <a:lstStyle/>
                    <a:p>
                      <a:pPr algn="ctr"/>
                      <a:r>
                        <a:rPr lang="en-US" sz="1900" dirty="0">
                          <a:latin typeface="Perpetua" panose="02020502060401020303" pitchFamily="18" charset="0"/>
                        </a:rPr>
                        <a:t>572 (20+552)</a:t>
                      </a:r>
                    </a:p>
                  </a:txBody>
                  <a:tcPr/>
                </a:tc>
                <a:extLst>
                  <a:ext uri="{0D108BD9-81ED-4DB2-BD59-A6C34878D82A}">
                    <a16:rowId xmlns:a16="http://schemas.microsoft.com/office/drawing/2014/main" val="2467042214"/>
                  </a:ext>
                </a:extLst>
              </a:tr>
              <a:tr h="370840">
                <a:tc>
                  <a:txBody>
                    <a:bodyPr/>
                    <a:lstStyle/>
                    <a:p>
                      <a:pPr algn="ctr"/>
                      <a:r>
                        <a:rPr lang="en-US" sz="1900" dirty="0">
                          <a:latin typeface="Perpetua" panose="02020502060401020303" pitchFamily="18" charset="0"/>
                        </a:rPr>
                        <a:t>3</a:t>
                      </a:r>
                    </a:p>
                  </a:txBody>
                  <a:tcPr/>
                </a:tc>
                <a:tc>
                  <a:txBody>
                    <a:bodyPr/>
                    <a:lstStyle/>
                    <a:p>
                      <a:pPr algn="ctr"/>
                      <a:r>
                        <a:rPr lang="en-US" sz="1900" dirty="0">
                          <a:latin typeface="Perpetua" panose="02020502060401020303" pitchFamily="18" charset="0"/>
                        </a:rPr>
                        <a:t>9712</a:t>
                      </a:r>
                    </a:p>
                  </a:txBody>
                  <a:tcPr/>
                </a:tc>
                <a:tc>
                  <a:txBody>
                    <a:bodyPr/>
                    <a:lstStyle/>
                    <a:p>
                      <a:pPr algn="ctr"/>
                      <a:r>
                        <a:rPr lang="en-US" sz="1900" dirty="0">
                          <a:latin typeface="Perpetua" panose="02020502060401020303" pitchFamily="18" charset="0"/>
                        </a:rPr>
                        <a:t>0</a:t>
                      </a:r>
                    </a:p>
                  </a:txBody>
                  <a:tcPr/>
                </a:tc>
                <a:tc>
                  <a:txBody>
                    <a:bodyPr/>
                    <a:lstStyle/>
                    <a:p>
                      <a:pPr algn="ctr"/>
                      <a:r>
                        <a:rPr lang="en-US" sz="1900" dirty="0">
                          <a:latin typeface="Perpetua" panose="02020502060401020303" pitchFamily="18" charset="0"/>
                        </a:rPr>
                        <a:t>0</a:t>
                      </a:r>
                    </a:p>
                  </a:txBody>
                  <a:tcPr/>
                </a:tc>
                <a:tc>
                  <a:txBody>
                    <a:bodyPr/>
                    <a:lstStyle/>
                    <a:p>
                      <a:pPr algn="ctr"/>
                      <a:r>
                        <a:rPr lang="en-US" sz="1900" dirty="0">
                          <a:latin typeface="Perpetua" panose="02020502060401020303" pitchFamily="18" charset="0"/>
                        </a:rPr>
                        <a:t>138 (69*2)</a:t>
                      </a:r>
                    </a:p>
                  </a:txBody>
                  <a:tcPr/>
                </a:tc>
                <a:tc>
                  <a:txBody>
                    <a:bodyPr/>
                    <a:lstStyle/>
                    <a:p>
                      <a:pPr algn="ctr"/>
                      <a:r>
                        <a:rPr lang="en-US" sz="1900" dirty="0">
                          <a:latin typeface="Perpetua" panose="02020502060401020303" pitchFamily="18" charset="0"/>
                        </a:rPr>
                        <a:t>336 (20+316)</a:t>
                      </a:r>
                    </a:p>
                  </a:txBody>
                  <a:tcPr/>
                </a:tc>
                <a:extLst>
                  <a:ext uri="{0D108BD9-81ED-4DB2-BD59-A6C34878D82A}">
                    <a16:rowId xmlns:a16="http://schemas.microsoft.com/office/drawing/2014/main" val="4133758952"/>
                  </a:ext>
                </a:extLst>
              </a:tr>
            </a:tbl>
          </a:graphicData>
        </a:graphic>
      </p:graphicFrame>
      <p:sp>
        <p:nvSpPr>
          <p:cNvPr id="8" name="TextBox 7">
            <a:extLst>
              <a:ext uri="{FF2B5EF4-FFF2-40B4-BE49-F238E27FC236}">
                <a16:creationId xmlns:a16="http://schemas.microsoft.com/office/drawing/2014/main" id="{03917DBA-A027-4D2B-814E-7C5A993E4BFF}"/>
              </a:ext>
            </a:extLst>
          </p:cNvPr>
          <p:cNvSpPr txBox="1"/>
          <p:nvPr/>
        </p:nvSpPr>
        <p:spPr>
          <a:xfrm>
            <a:off x="1173018" y="3755886"/>
            <a:ext cx="5084725" cy="430887"/>
          </a:xfrm>
          <a:prstGeom prst="rect">
            <a:avLst/>
          </a:prstGeom>
          <a:noFill/>
        </p:spPr>
        <p:txBody>
          <a:bodyPr wrap="none" rtlCol="0">
            <a:spAutoFit/>
          </a:bodyPr>
          <a:lstStyle/>
          <a:p>
            <a:pPr algn="ctr"/>
            <a:r>
              <a:rPr lang="en-US" sz="2200" dirty="0">
                <a:solidFill>
                  <a:srgbClr val="C00000"/>
                </a:solidFill>
                <a:latin typeface="Perpetua" panose="02020502060401020303" pitchFamily="18" charset="0"/>
              </a:rPr>
              <a:t>Table I	Information about different fragments</a:t>
            </a:r>
          </a:p>
        </p:txBody>
      </p:sp>
    </p:spTree>
    <p:extLst>
      <p:ext uri="{BB962C8B-B14F-4D97-AF65-F5344CB8AC3E}">
        <p14:creationId xmlns:p14="http://schemas.microsoft.com/office/powerpoint/2010/main" val="289999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77162-7576-F7C1-90D1-922F7F865927}"/>
              </a:ext>
            </a:extLst>
          </p:cNvPr>
          <p:cNvSpPr>
            <a:spLocks noGrp="1"/>
          </p:cNvSpPr>
          <p:nvPr>
            <p:ph type="title"/>
          </p:nvPr>
        </p:nvSpPr>
        <p:spPr/>
        <p:txBody>
          <a:bodyPr/>
          <a:lstStyle/>
          <a:p>
            <a:r>
              <a:rPr lang="en-US" dirty="0"/>
              <a:t>Class Test</a:t>
            </a:r>
          </a:p>
        </p:txBody>
      </p:sp>
      <p:sp>
        <p:nvSpPr>
          <p:cNvPr id="3" name="Content Placeholder 2">
            <a:extLst>
              <a:ext uri="{FF2B5EF4-FFF2-40B4-BE49-F238E27FC236}">
                <a16:creationId xmlns:a16="http://schemas.microsoft.com/office/drawing/2014/main" id="{B8932FBB-2D07-0308-0119-0034D2864576}"/>
              </a:ext>
            </a:extLst>
          </p:cNvPr>
          <p:cNvSpPr>
            <a:spLocks noGrp="1"/>
          </p:cNvSpPr>
          <p:nvPr>
            <p:ph idx="1"/>
          </p:nvPr>
        </p:nvSpPr>
        <p:spPr/>
        <p:txBody>
          <a:bodyPr/>
          <a:lstStyle/>
          <a:p>
            <a:r>
              <a:rPr lang="en-US" dirty="0">
                <a:solidFill>
                  <a:schemeClr val="tx1"/>
                </a:solidFill>
                <a:latin typeface="Perpetua" panose="02020502060401020303" pitchFamily="18" charset="0"/>
              </a:rPr>
              <a:t>Suppose that a router receives a packet of size 1200 bytes including 60 bytes header. Packet has to be forwarded through a network which supports MTU of 656 bytes.</a:t>
            </a:r>
          </a:p>
          <a:p>
            <a:r>
              <a:rPr lang="en-US" dirty="0">
                <a:solidFill>
                  <a:schemeClr val="tx1"/>
                </a:solidFill>
                <a:latin typeface="Perpetua" panose="02020502060401020303" pitchFamily="18" charset="0"/>
              </a:rPr>
              <a:t>Suppose that a router receives a packet of size 1500 bytes including 40 bytes header. Packet has to be forwarded through a network which supports MTU of 700 bytes.</a:t>
            </a:r>
            <a:endParaRPr lang="en-US" dirty="0">
              <a:solidFill>
                <a:schemeClr val="tx1"/>
              </a:solidFill>
            </a:endParaRPr>
          </a:p>
          <a:p>
            <a:r>
              <a:rPr lang="en-US" dirty="0">
                <a:solidFill>
                  <a:schemeClr val="tx1"/>
                </a:solidFill>
                <a:latin typeface="Perpetua" panose="02020502060401020303" pitchFamily="18" charset="0"/>
              </a:rPr>
              <a:t>Suppose that a router receives a packet of size 1120 bytes including 20 bytes header. Packet has to be forwarded through a network which supports MTU </a:t>
            </a:r>
            <a:r>
              <a:rPr lang="en-US">
                <a:solidFill>
                  <a:schemeClr val="tx1"/>
                </a:solidFill>
                <a:latin typeface="Perpetua" panose="02020502060401020303" pitchFamily="18" charset="0"/>
              </a:rPr>
              <a:t>of 760 </a:t>
            </a:r>
            <a:r>
              <a:rPr lang="en-US" dirty="0">
                <a:solidFill>
                  <a:schemeClr val="tx1"/>
                </a:solidFill>
                <a:latin typeface="Perpetua" panose="02020502060401020303" pitchFamily="18" charset="0"/>
              </a:rPr>
              <a:t>bytes.</a:t>
            </a:r>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3704603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Reassembling</a:t>
            </a:r>
            <a:endParaRPr lang="en-FI"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Rectangle 3">
            <a:extLst>
              <a:ext uri="{FF2B5EF4-FFF2-40B4-BE49-F238E27FC236}">
                <a16:creationId xmlns:a16="http://schemas.microsoft.com/office/drawing/2014/main" id="{53061C9E-B46E-4B05-814C-0BD07B136A69}"/>
              </a:ext>
            </a:extLst>
          </p:cNvPr>
          <p:cNvSpPr/>
          <p:nvPr/>
        </p:nvSpPr>
        <p:spPr>
          <a:xfrm>
            <a:off x="421341" y="2197893"/>
            <a:ext cx="8445568" cy="2462213"/>
          </a:xfrm>
          <a:prstGeom prst="rect">
            <a:avLst/>
          </a:prstGeom>
        </p:spPr>
        <p:txBody>
          <a:bodyPr wrap="square">
            <a:spAutoFit/>
          </a:bodyPr>
          <a:lstStyle/>
          <a:p>
            <a:pPr marL="342900" indent="-342900" algn="just">
              <a:buFont typeface="Wingdings" panose="05000000000000000000" pitchFamily="2" charset="2"/>
              <a:buChar char="§"/>
            </a:pPr>
            <a:r>
              <a:rPr lang="en-US" sz="2200" dirty="0">
                <a:solidFill>
                  <a:srgbClr val="C00000"/>
                </a:solidFill>
                <a:latin typeface="Perpetua" panose="02020502060401020303" pitchFamily="18" charset="0"/>
              </a:rPr>
              <a:t>Fragments grouping</a:t>
            </a:r>
          </a:p>
          <a:p>
            <a:pPr algn="just"/>
            <a:r>
              <a:rPr lang="en-US" sz="2200" dirty="0">
                <a:latin typeface="Perpetua" panose="02020502060401020303" pitchFamily="18" charset="0"/>
              </a:rPr>
              <a:t>	All fragments having same values for the following fields belong to the 	same original packet:</a:t>
            </a:r>
          </a:p>
          <a:p>
            <a:pPr algn="just"/>
            <a:r>
              <a:rPr lang="en-US" sz="2200" dirty="0">
                <a:latin typeface="Perpetua" panose="02020502060401020303" pitchFamily="18" charset="0"/>
              </a:rPr>
              <a:t>		identification, source, destination, and protocol. </a:t>
            </a:r>
          </a:p>
          <a:p>
            <a:pPr marL="342900" indent="-342900" algn="just">
              <a:buFont typeface="Wingdings" panose="05000000000000000000" pitchFamily="2" charset="2"/>
              <a:buChar char="§"/>
            </a:pPr>
            <a:r>
              <a:rPr lang="en-US" sz="2200" dirty="0">
                <a:solidFill>
                  <a:srgbClr val="C00000"/>
                </a:solidFill>
                <a:latin typeface="Perpetua" panose="02020502060401020303" pitchFamily="18" charset="0"/>
              </a:rPr>
              <a:t>Original data recovery</a:t>
            </a:r>
          </a:p>
          <a:p>
            <a:pPr algn="just"/>
            <a:r>
              <a:rPr lang="en-US" sz="2200" dirty="0">
                <a:latin typeface="Perpetua" panose="02020502060401020303" pitchFamily="18" charset="0"/>
              </a:rPr>
              <a:t>	Data portion of different fragments are reordered to get the original 	data order based on the  fragment offset in that fragment’s IP header [5]. </a:t>
            </a:r>
          </a:p>
        </p:txBody>
      </p:sp>
    </p:spTree>
    <p:extLst>
      <p:ext uri="{BB962C8B-B14F-4D97-AF65-F5344CB8AC3E}">
        <p14:creationId xmlns:p14="http://schemas.microsoft.com/office/powerpoint/2010/main" val="1586905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638175" y="1697095"/>
            <a:ext cx="7867650" cy="4093428"/>
          </a:xfrm>
          <a:prstGeom prst="rect">
            <a:avLst/>
          </a:prstGeom>
          <a:noFill/>
        </p:spPr>
        <p:txBody>
          <a:bodyPr wrap="square" rtlCol="0">
            <a:spAutoFit/>
          </a:bodyPr>
          <a:lstStyle/>
          <a:p>
            <a:r>
              <a:rPr lang="en-US" sz="2000" dirty="0">
                <a:latin typeface="Perpetua" panose="02020502060401020303" pitchFamily="18" charset="0"/>
              </a:rPr>
              <a:t>[1] D. Liu, </a:t>
            </a:r>
            <a:r>
              <a:rPr lang="en-US" sz="2000" i="1" dirty="0">
                <a:latin typeface="Perpetua" panose="02020502060401020303" pitchFamily="18" charset="0"/>
              </a:rPr>
              <a:t>Cisco CCNA/CCENT Exam 640-802, 640-822, 640-816 Preparation    </a:t>
            </a:r>
          </a:p>
          <a:p>
            <a:r>
              <a:rPr lang="en-US" sz="2000" i="1" dirty="0">
                <a:latin typeface="Perpetua" panose="02020502060401020303" pitchFamily="18" charset="0"/>
              </a:rPr>
              <a:t>      Kit</a:t>
            </a:r>
            <a:r>
              <a:rPr lang="en-US" sz="2000" dirty="0">
                <a:latin typeface="Perpetua" panose="02020502060401020303" pitchFamily="18" charset="0"/>
              </a:rPr>
              <a:t>, </a:t>
            </a:r>
            <a:r>
              <a:rPr lang="en-US" sz="2000" dirty="0" err="1">
                <a:latin typeface="Perpetua" panose="02020502060401020303" pitchFamily="18" charset="0"/>
              </a:rPr>
              <a:t>Syngress</a:t>
            </a:r>
            <a:r>
              <a:rPr lang="en-US" sz="2000" dirty="0">
                <a:latin typeface="Perpetua" panose="02020502060401020303" pitchFamily="18" charset="0"/>
              </a:rPr>
              <a:t> Publishing, Inc., 2009, pp.  607-609.</a:t>
            </a:r>
          </a:p>
          <a:p>
            <a:r>
              <a:rPr lang="en-US" sz="2000" dirty="0">
                <a:latin typeface="Perpetua" panose="02020502060401020303" pitchFamily="18" charset="0"/>
              </a:rPr>
              <a:t>[2] W. Odom, </a:t>
            </a:r>
            <a:r>
              <a:rPr lang="en-US" sz="2000" i="1" dirty="0">
                <a:latin typeface="Perpetua" panose="02020502060401020303" pitchFamily="18" charset="0"/>
              </a:rPr>
              <a:t>Official Cert Guide CCNA 200-301 Volume 1</a:t>
            </a:r>
            <a:r>
              <a:rPr lang="en-US" sz="2000" dirty="0">
                <a:latin typeface="Perpetua" panose="02020502060401020303" pitchFamily="18" charset="0"/>
              </a:rPr>
              <a:t>, Pearson Education,  </a:t>
            </a:r>
          </a:p>
          <a:p>
            <a:r>
              <a:rPr lang="en-US" sz="2000" dirty="0">
                <a:latin typeface="Perpetua" panose="02020502060401020303" pitchFamily="18" charset="0"/>
              </a:rPr>
              <a:t>      Inc., USA, 2019, pp. 63-65.</a:t>
            </a:r>
          </a:p>
          <a:p>
            <a:r>
              <a:rPr lang="en-US" sz="2000" dirty="0">
                <a:latin typeface="Perpetua" panose="02020502060401020303" pitchFamily="18" charset="0"/>
              </a:rPr>
              <a:t>[3] A. S. Tanenbaum and D. J. </a:t>
            </a:r>
            <a:r>
              <a:rPr lang="en-US" sz="2000" dirty="0" err="1">
                <a:latin typeface="Perpetua" panose="02020502060401020303" pitchFamily="18" charset="0"/>
              </a:rPr>
              <a:t>Wetherall</a:t>
            </a:r>
            <a:r>
              <a:rPr lang="en-US" sz="2000" dirty="0">
                <a:latin typeface="Perpetua" panose="02020502060401020303" pitchFamily="18" charset="0"/>
              </a:rPr>
              <a:t>, Computer Networks, 5</a:t>
            </a:r>
            <a:r>
              <a:rPr lang="en-US" sz="2000" baseline="30000" dirty="0">
                <a:latin typeface="Perpetua" panose="02020502060401020303" pitchFamily="18" charset="0"/>
              </a:rPr>
              <a:t>th</a:t>
            </a:r>
            <a:r>
              <a:rPr lang="en-US" sz="2000" dirty="0">
                <a:latin typeface="Perpetua" panose="02020502060401020303" pitchFamily="18" charset="0"/>
              </a:rPr>
              <a:t> ed., Pearson  </a:t>
            </a:r>
          </a:p>
          <a:p>
            <a:r>
              <a:rPr lang="en-US" sz="2000" dirty="0">
                <a:latin typeface="Perpetua" panose="02020502060401020303" pitchFamily="18" charset="0"/>
              </a:rPr>
              <a:t>     Education, Inc., USA, 2010, pp. 432-436.</a:t>
            </a:r>
          </a:p>
          <a:p>
            <a:r>
              <a:rPr lang="en-US" sz="2000" dirty="0">
                <a:latin typeface="Perpetua" panose="02020502060401020303" pitchFamily="18" charset="0"/>
              </a:rPr>
              <a:t>[4] Packet Pusher, </a:t>
            </a:r>
            <a:r>
              <a:rPr lang="en-US" sz="2000" dirty="0">
                <a:latin typeface="Perpetua" panose="02020502060401020303" pitchFamily="18" charset="0"/>
                <a:hlinkClick r:id="rId2"/>
              </a:rPr>
              <a:t>https://packetpushers.net/ip-fragmentation-in-detail</a:t>
            </a:r>
            <a:r>
              <a:rPr lang="en-US" sz="2000" dirty="0">
                <a:latin typeface="Perpetua" panose="02020502060401020303" pitchFamily="18" charset="0"/>
              </a:rPr>
              <a:t>, </a:t>
            </a:r>
          </a:p>
          <a:p>
            <a:r>
              <a:rPr lang="en-US" sz="2000" dirty="0">
                <a:latin typeface="Perpetua" panose="02020502060401020303" pitchFamily="18" charset="0"/>
              </a:rPr>
              <a:t>     [Accessed: April. 29, 2020]. </a:t>
            </a:r>
          </a:p>
          <a:p>
            <a:r>
              <a:rPr lang="en-US" sz="2000" dirty="0">
                <a:latin typeface="Perpetua" panose="02020502060401020303" pitchFamily="18" charset="0"/>
              </a:rPr>
              <a:t>[5] RFC, </a:t>
            </a:r>
            <a:r>
              <a:rPr lang="en-US" sz="2000" dirty="0">
                <a:latin typeface="Perpetua" panose="02020502060401020303" pitchFamily="18" charset="0"/>
                <a:hlinkClick r:id="rId3"/>
              </a:rPr>
              <a:t>https://tools.ietf.org/html/rfc791</a:t>
            </a:r>
            <a:r>
              <a:rPr lang="en-US" sz="2000" dirty="0">
                <a:latin typeface="Perpetua" panose="02020502060401020303" pitchFamily="18" charset="0"/>
              </a:rPr>
              <a:t>, [Accessed: April. 29, 2020].</a:t>
            </a:r>
          </a:p>
          <a:p>
            <a:r>
              <a:rPr lang="en-US" sz="2000" dirty="0">
                <a:latin typeface="Perpetua" panose="02020502060401020303" pitchFamily="18" charset="0"/>
              </a:rPr>
              <a:t>[6] </a:t>
            </a:r>
            <a:r>
              <a:rPr lang="en-US" sz="2000" dirty="0" err="1">
                <a:latin typeface="Perpetua" panose="02020502060401020303" pitchFamily="18" charset="0"/>
              </a:rPr>
              <a:t>Gatevidyalay</a:t>
            </a:r>
            <a:r>
              <a:rPr lang="en-US" sz="2000" dirty="0">
                <a:latin typeface="Perpetua" panose="02020502060401020303" pitchFamily="18" charset="0"/>
              </a:rPr>
              <a:t>, </a:t>
            </a:r>
            <a:r>
              <a:rPr lang="en-US" sz="2000" dirty="0">
                <a:latin typeface="Perpetua" panose="02020502060401020303" pitchFamily="18" charset="0"/>
                <a:hlinkClick r:id="rId4"/>
              </a:rPr>
              <a:t>https://www.gatevidyalay.com/ipv4-ipv4-header-ipv4-header-</a:t>
            </a:r>
          </a:p>
          <a:p>
            <a:r>
              <a:rPr lang="en-US" sz="2000" dirty="0">
                <a:latin typeface="Perpetua" panose="02020502060401020303" pitchFamily="18" charset="0"/>
                <a:hlinkClick r:id="rId4"/>
              </a:rPr>
              <a:t>      format/</a:t>
            </a:r>
            <a:r>
              <a:rPr lang="en-US" sz="2000" dirty="0">
                <a:latin typeface="Perpetua" panose="02020502060401020303" pitchFamily="18" charset="0"/>
              </a:rPr>
              <a:t>, [Accessed: April. 29, 2020]. </a:t>
            </a:r>
          </a:p>
          <a:p>
            <a:endParaRPr lang="en-US" sz="2000" dirty="0">
              <a:latin typeface="Perpetua" panose="02020502060401020303" pitchFamily="18" charset="0"/>
            </a:endParaRPr>
          </a:p>
          <a:p>
            <a:endParaRPr lang="en-FI" sz="2000" dirty="0">
              <a:latin typeface="Perpetua" panose="02020502060401020303"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Recommended Books</a:t>
            </a:r>
          </a:p>
        </p:txBody>
      </p:sp>
      <p:sp>
        <p:nvSpPr>
          <p:cNvPr id="6" name="Content Placeholder 2">
            <a:extLst>
              <a:ext uri="{FF2B5EF4-FFF2-40B4-BE49-F238E27FC236}">
                <a16:creationId xmlns:a16="http://schemas.microsoft.com/office/drawing/2014/main" id="{2BD90A38-0417-4618-AF01-2FABAEE89A54}"/>
              </a:ext>
            </a:extLst>
          </p:cNvPr>
          <p:cNvSpPr txBox="1">
            <a:spLocks/>
          </p:cNvSpPr>
          <p:nvPr/>
        </p:nvSpPr>
        <p:spPr>
          <a:xfrm>
            <a:off x="234014" y="1373238"/>
            <a:ext cx="7886700" cy="4351338"/>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Communications and Networking</a:t>
            </a:r>
            <a:r>
              <a:rPr lang="en-US" sz="15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2007,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Computer Networking: A Top-Down Approach</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J. F., Kurose, K. W. Ross</a:t>
            </a:r>
            <a:r>
              <a:rPr lang="en-US" sz="1500" dirty="0">
                <a:latin typeface="Times New Roman" panose="02020603050405020304" pitchFamily="18" charset="0"/>
                <a:cs typeface="Times New Roman" panose="02020603050405020304" pitchFamily="18" charset="0"/>
              </a:rPr>
              <a:t>, Pearson Education, Inc., Sixth Edition,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Official Cert Guide CCNA 200-301 , vol. 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Odom</a:t>
            </a:r>
            <a:r>
              <a:rPr lang="en-US" sz="1500" dirty="0">
                <a:latin typeface="Times New Roman" panose="02020603050405020304" pitchFamily="18" charset="0"/>
                <a:cs typeface="Times New Roman" panose="02020603050405020304" pitchFamily="18" charset="0"/>
              </a:rPr>
              <a:t>, Cisco Press, First Edition, 2019,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CCNA Routing and Switching</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T. </a:t>
            </a:r>
            <a:r>
              <a:rPr lang="en-US" sz="1500" i="1" dirty="0" err="1">
                <a:latin typeface="Times New Roman" panose="02020603050405020304" pitchFamily="18" charset="0"/>
                <a:cs typeface="Times New Roman" panose="02020603050405020304" pitchFamily="18" charset="0"/>
              </a:rPr>
              <a:t>Lammle</a:t>
            </a:r>
            <a:r>
              <a:rPr lang="en-US" sz="1500" dirty="0">
                <a:latin typeface="Times New Roman" panose="02020603050405020304" pitchFamily="18" charset="0"/>
                <a:cs typeface="Times New Roman" panose="02020603050405020304" pitchFamily="18" charset="0"/>
              </a:rPr>
              <a:t>, John Wily &amp; Sons, Second Edition, 2016,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TCP/IP Protocol Suite</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2009, USA. </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and Computer Communication</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Stallings</a:t>
            </a:r>
            <a:r>
              <a:rPr lang="en-US" sz="1500" dirty="0">
                <a:latin typeface="Times New Roman" panose="02020603050405020304" pitchFamily="18" charset="0"/>
                <a:cs typeface="Times New Roman" panose="02020603050405020304" pitchFamily="18" charset="0"/>
              </a:rPr>
              <a:t>, Pearson Education, Inc., Tenth Education, 2013, USA.</a:t>
            </a:r>
          </a:p>
        </p:txBody>
      </p:sp>
    </p:spTree>
    <p:extLst>
      <p:ext uri="{BB962C8B-B14F-4D97-AF65-F5344CB8AC3E}">
        <p14:creationId xmlns:p14="http://schemas.microsoft.com/office/powerpoint/2010/main" val="324693386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3539</TotalTime>
  <Words>1255</Words>
  <Application>Microsoft Office PowerPoint</Application>
  <PresentationFormat>On-screen Show (4:3)</PresentationFormat>
  <Paragraphs>142</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Cambria Math</vt:lpstr>
      <vt:lpstr>Corbel</vt:lpstr>
      <vt:lpstr>Perpetua</vt:lpstr>
      <vt:lpstr>Times New Roman</vt:lpstr>
      <vt:lpstr>Wingdings</vt:lpstr>
      <vt:lpstr>Spectrum</vt:lpstr>
      <vt:lpstr>Fragmentation</vt:lpstr>
      <vt:lpstr>Lecture Outline</vt:lpstr>
      <vt:lpstr>Introduction</vt:lpstr>
      <vt:lpstr>Introduction</vt:lpstr>
      <vt:lpstr>Classification</vt:lpstr>
      <vt:lpstr>Fragmentation parameters</vt:lpstr>
      <vt:lpstr>Fragmentation parameters</vt:lpstr>
      <vt:lpstr>Fragmentation parameters</vt:lpstr>
      <vt:lpstr>Example</vt:lpstr>
      <vt:lpstr>Example</vt:lpstr>
      <vt:lpstr>Class Test</vt:lpstr>
      <vt:lpstr>Reassembling</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Md Mehedi Hasan</cp:lastModifiedBy>
  <cp:revision>69</cp:revision>
  <dcterms:created xsi:type="dcterms:W3CDTF">2018-12-10T17:20:29Z</dcterms:created>
  <dcterms:modified xsi:type="dcterms:W3CDTF">2025-09-04T08:45:37Z</dcterms:modified>
</cp:coreProperties>
</file>
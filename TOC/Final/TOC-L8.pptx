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36" r:id="rId4"/>
  </p:sldMasterIdLst>
  <p:notesMasterIdLst>
    <p:notesMasterId r:id="rId25"/>
  </p:notesMasterIdLst>
  <p:sldIdLst>
    <p:sldId id="256" r:id="rId5"/>
    <p:sldId id="257" r:id="rId6"/>
    <p:sldId id="258" r:id="rId7"/>
    <p:sldId id="259" r:id="rId8"/>
    <p:sldId id="281" r:id="rId9"/>
    <p:sldId id="282" r:id="rId10"/>
    <p:sldId id="278" r:id="rId11"/>
    <p:sldId id="283" r:id="rId12"/>
    <p:sldId id="284" r:id="rId13"/>
    <p:sldId id="300" r:id="rId14"/>
    <p:sldId id="301" r:id="rId15"/>
    <p:sldId id="302" r:id="rId16"/>
    <p:sldId id="298" r:id="rId17"/>
    <p:sldId id="303" r:id="rId18"/>
    <p:sldId id="280" r:id="rId19"/>
    <p:sldId id="285" r:id="rId20"/>
    <p:sldId id="286" r:id="rId21"/>
    <p:sldId id="287" r:id="rId22"/>
    <p:sldId id="288" r:id="rId23"/>
    <p:sldId id="277"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68900"/>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884" autoAdjust="0"/>
    <p:restoredTop sz="92393" autoAdjust="0"/>
  </p:normalViewPr>
  <p:slideViewPr>
    <p:cSldViewPr snapToGrid="0">
      <p:cViewPr varScale="1">
        <p:scale>
          <a:sx n="58" d="100"/>
          <a:sy n="58" d="100"/>
        </p:scale>
        <p:origin x="124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notesMaster" Target="notesMasters/notes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99A39D8-0474-40FB-AC79-249CE7F1A8F9}" type="datetimeFigureOut">
              <a:rPr lang="en-US" smtClean="0"/>
              <a:t>12/9/2024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E4C86B-1BB3-4916-A0FA-B8BD37E7C293}" type="slidenum">
              <a:rPr lang="en-US" smtClean="0"/>
              <a:t>‹#›</a:t>
            </a:fld>
            <a:endParaRPr lang="en-US"/>
          </a:p>
        </p:txBody>
      </p:sp>
    </p:spTree>
    <p:extLst>
      <p:ext uri="{BB962C8B-B14F-4D97-AF65-F5344CB8AC3E}">
        <p14:creationId xmlns:p14="http://schemas.microsoft.com/office/powerpoint/2010/main" val="17502844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graphicFrame>
        <p:nvGraphicFramePr>
          <p:cNvPr id="28" name="Table 27">
            <a:extLst>
              <a:ext uri="{FF2B5EF4-FFF2-40B4-BE49-F238E27FC236}">
                <a16:creationId xmlns:a16="http://schemas.microsoft.com/office/drawing/2014/main" id="{B7713156-D27E-4AF4-94F2-64DA84439B87}"/>
              </a:ext>
            </a:extLst>
          </p:cNvPr>
          <p:cNvGraphicFramePr>
            <a:graphicFrameLocks noGrp="1"/>
          </p:cNvGraphicFramePr>
          <p:nvPr>
            <p:extLst>
              <p:ext uri="{D42A27DB-BD31-4B8C-83A1-F6EECF244321}">
                <p14:modId xmlns:p14="http://schemas.microsoft.com/office/powerpoint/2010/main" val="2362297352"/>
              </p:ext>
            </p:extLst>
          </p:nvPr>
        </p:nvGraphicFramePr>
        <p:xfrm>
          <a:off x="404103" y="5723590"/>
          <a:ext cx="8335798" cy="1026114"/>
        </p:xfrm>
        <a:graphic>
          <a:graphicData uri="http://schemas.openxmlformats.org/drawingml/2006/table">
            <a:tbl>
              <a:tblPr firstRow="1" bandRow="1">
                <a:tableStyleId>{D7AC3CCA-C797-4891-BE02-D94E43425B78}</a:tableStyleId>
              </a:tblPr>
              <a:tblGrid>
                <a:gridCol w="1349748">
                  <a:extLst>
                    <a:ext uri="{9D8B030D-6E8A-4147-A177-3AD203B41FA5}">
                      <a16:colId xmlns:a16="http://schemas.microsoft.com/office/drawing/2014/main" val="704821588"/>
                    </a:ext>
                  </a:extLst>
                </a:gridCol>
                <a:gridCol w="6986050">
                  <a:extLst>
                    <a:ext uri="{9D8B030D-6E8A-4147-A177-3AD203B41FA5}">
                      <a16:colId xmlns:a16="http://schemas.microsoft.com/office/drawing/2014/main" val="2999519864"/>
                    </a:ext>
                  </a:extLst>
                </a:gridCol>
              </a:tblGrid>
              <a:tr h="1026114">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chemeClr val="bg2">
                              <a:lumMod val="50000"/>
                            </a:schemeClr>
                          </a:solidFill>
                          <a:effectLst/>
                          <a:uLnTx/>
                          <a:uFillTx/>
                          <a:latin typeface="+mn-lt"/>
                          <a:ea typeface="+mn-ea"/>
                          <a:cs typeface="+mn-cs"/>
                        </a:rPr>
                        <a:t>Instructor:</a:t>
                      </a: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tc>
                  <a:txBody>
                    <a:bodyPr/>
                    <a:lstStyle/>
                    <a:p>
                      <a:endParaRPr lang="en-US" i="1" dirty="0">
                        <a:solidFill>
                          <a:schemeClr val="bg2">
                            <a:lumMod val="50000"/>
                          </a:schemeClr>
                        </a:solidFill>
                      </a:endParaRPr>
                    </a:p>
                  </a:txBody>
                  <a:tcPr>
                    <a:lnL w="28575" cap="flat" cmpd="sng" algn="ctr">
                      <a:noFill/>
                      <a:prstDash val="solid"/>
                      <a:round/>
                      <a:headEnd type="none" w="med" len="med"/>
                      <a:tailEnd type="none" w="med" len="med"/>
                    </a:lnL>
                    <a:lnR w="28575" cap="flat" cmpd="sng" algn="ctr">
                      <a:noFill/>
                      <a:prstDash val="solid"/>
                      <a:round/>
                      <a:headEnd type="none" w="med" len="med"/>
                      <a:tailEnd type="none" w="med" len="med"/>
                    </a:lnR>
                    <a:lnT w="28575" cap="flat" cmpd="sng" algn="ctr">
                      <a:noFill/>
                      <a:prstDash val="solid"/>
                      <a:round/>
                      <a:headEnd type="none" w="med" len="med"/>
                      <a:tailEnd type="none" w="med" len="med"/>
                    </a:lnT>
                    <a:lnB w="28575" cap="flat" cmpd="sng" algn="ctr">
                      <a:noFill/>
                      <a:prstDash val="solid"/>
                      <a:round/>
                      <a:headEnd type="none" w="med" len="med"/>
                      <a:tailEnd type="none" w="med" len="med"/>
                    </a:lnB>
                    <a:noFill/>
                  </a:tcPr>
                </a:tc>
                <a:extLst>
                  <a:ext uri="{0D108BD9-81ED-4DB2-BD59-A6C34878D82A}">
                    <a16:rowId xmlns:a16="http://schemas.microsoft.com/office/drawing/2014/main" val="2259501735"/>
                  </a:ext>
                </a:extLst>
              </a:tr>
            </a:tbl>
          </a:graphicData>
        </a:graphic>
      </p:graphicFrame>
      <p:grpSp>
        <p:nvGrpSpPr>
          <p:cNvPr id="8" name="Group 16"/>
          <p:cNvGrpSpPr/>
          <p:nvPr/>
        </p:nvGrpSpPr>
        <p:grpSpPr>
          <a:xfrm>
            <a:off x="132160" y="1891732"/>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2" name="Title 1"/>
          <p:cNvSpPr>
            <a:spLocks noGrp="1"/>
          </p:cNvSpPr>
          <p:nvPr>
            <p:ph type="ctrTitle"/>
          </p:nvPr>
        </p:nvSpPr>
        <p:spPr>
          <a:xfrm>
            <a:off x="754241" y="3323341"/>
            <a:ext cx="7635519" cy="2126836"/>
          </a:xfrm>
          <a:prstGeom prst="rect">
            <a:avLst/>
          </a:prstGeom>
          <a:noFill/>
        </p:spPr>
        <p:txBody>
          <a:bodyPr vert="horz" lIns="91440" tIns="45720" rIns="91440" bIns="45720" rtlCol="0" anchor="ctr" anchorCtr="0">
            <a:normAutofit/>
          </a:bodyPr>
          <a:lstStyle>
            <a:lvl1pPr>
              <a:defRPr sz="3600">
                <a:solidFill>
                  <a:schemeClr val="bg2">
                    <a:lumMod val="50000"/>
                  </a:schemeClr>
                </a:solidFill>
              </a:defRPr>
            </a:lvl1pPr>
          </a:lstStyle>
          <a:p>
            <a:pPr lvl="0">
              <a:lnSpc>
                <a:spcPts val="2588"/>
              </a:lnSpc>
            </a:pPr>
            <a:r>
              <a:rPr lang="en-US"/>
              <a:t>Click to edit Master title style</a:t>
            </a:r>
            <a:endParaRPr dirty="0"/>
          </a:p>
        </p:txBody>
      </p:sp>
      <p:sp>
        <p:nvSpPr>
          <p:cNvPr id="13" name="Rectangle 12"/>
          <p:cNvSpPr/>
          <p:nvPr/>
        </p:nvSpPr>
        <p:spPr>
          <a:xfrm>
            <a:off x="320957" y="5549853"/>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6445010" y="427012"/>
            <a:ext cx="1419654" cy="148492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4" name="Table 13">
            <a:extLst>
              <a:ext uri="{FF2B5EF4-FFF2-40B4-BE49-F238E27FC236}">
                <a16:creationId xmlns:a16="http://schemas.microsoft.com/office/drawing/2014/main" id="{3A100AAA-E928-457A-89C7-E75CA43EBB30}"/>
              </a:ext>
            </a:extLst>
          </p:cNvPr>
          <p:cNvGraphicFramePr>
            <a:graphicFrameLocks noGrp="1"/>
          </p:cNvGraphicFramePr>
          <p:nvPr>
            <p:extLst>
              <p:ext uri="{D42A27DB-BD31-4B8C-83A1-F6EECF244321}">
                <p14:modId xmlns:p14="http://schemas.microsoft.com/office/powerpoint/2010/main" val="1031658958"/>
              </p:ext>
            </p:extLst>
          </p:nvPr>
        </p:nvGraphicFramePr>
        <p:xfrm>
          <a:off x="404102" y="2717512"/>
          <a:ext cx="8335798" cy="444862"/>
        </p:xfrm>
        <a:graphic>
          <a:graphicData uri="http://schemas.openxmlformats.org/drawingml/2006/table">
            <a:tbl>
              <a:tblPr firstRow="1" bandRow="1">
                <a:tableStyleId>{D7AC3CCA-C797-4891-BE02-D94E43425B78}</a:tableStyleId>
              </a:tblPr>
              <a:tblGrid>
                <a:gridCol w="1258444">
                  <a:extLst>
                    <a:ext uri="{9D8B030D-6E8A-4147-A177-3AD203B41FA5}">
                      <a16:colId xmlns:a16="http://schemas.microsoft.com/office/drawing/2014/main" val="3905988420"/>
                    </a:ext>
                  </a:extLst>
                </a:gridCol>
                <a:gridCol w="990714">
                  <a:extLst>
                    <a:ext uri="{9D8B030D-6E8A-4147-A177-3AD203B41FA5}">
                      <a16:colId xmlns:a16="http://schemas.microsoft.com/office/drawing/2014/main" val="2889894460"/>
                    </a:ext>
                  </a:extLst>
                </a:gridCol>
                <a:gridCol w="1514007">
                  <a:extLst>
                    <a:ext uri="{9D8B030D-6E8A-4147-A177-3AD203B41FA5}">
                      <a16:colId xmlns:a16="http://schemas.microsoft.com/office/drawing/2014/main" val="3023211198"/>
                    </a:ext>
                  </a:extLst>
                </a:gridCol>
                <a:gridCol w="944380">
                  <a:extLst>
                    <a:ext uri="{9D8B030D-6E8A-4147-A177-3AD203B41FA5}">
                      <a16:colId xmlns:a16="http://schemas.microsoft.com/office/drawing/2014/main" val="1762131981"/>
                    </a:ext>
                  </a:extLst>
                </a:gridCol>
                <a:gridCol w="1424065">
                  <a:extLst>
                    <a:ext uri="{9D8B030D-6E8A-4147-A177-3AD203B41FA5}">
                      <a16:colId xmlns:a16="http://schemas.microsoft.com/office/drawing/2014/main" val="445458238"/>
                    </a:ext>
                  </a:extLst>
                </a:gridCol>
                <a:gridCol w="2204188">
                  <a:extLst>
                    <a:ext uri="{9D8B030D-6E8A-4147-A177-3AD203B41FA5}">
                      <a16:colId xmlns:a16="http://schemas.microsoft.com/office/drawing/2014/main" val="1508364941"/>
                    </a:ext>
                  </a:extLst>
                </a:gridCol>
              </a:tblGrid>
              <a:tr h="444862">
                <a:tc>
                  <a:txBody>
                    <a:bodyPr/>
                    <a:lstStyle/>
                    <a:p>
                      <a:pPr algn="r"/>
                      <a:r>
                        <a:rPr lang="en-US" sz="1600" dirty="0">
                          <a:solidFill>
                            <a:schemeClr val="bg2">
                              <a:lumMod val="50000"/>
                            </a:schemeClr>
                          </a:solidFill>
                        </a:rPr>
                        <a:t>Lecture: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Week: #</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a:r>
                        <a:rPr lang="en-US" sz="1600" dirty="0">
                          <a:solidFill>
                            <a:schemeClr val="bg2">
                              <a:lumMod val="50000"/>
                            </a:schemeClr>
                          </a:solidFill>
                        </a:rPr>
                        <a:t>Semester:</a:t>
                      </a: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1600" dirty="0">
                        <a:solidFill>
                          <a:schemeClr val="bg2">
                            <a:lumMod val="50000"/>
                          </a:schemeClr>
                        </a:solidFill>
                      </a:endParaRPr>
                    </a:p>
                  </a:txBody>
                  <a:tcPr>
                    <a:lnL w="28575" cap="flat" cmpd="sng" algn="ctr">
                      <a:solidFill>
                        <a:schemeClr val="bg1"/>
                      </a:solidFill>
                      <a:prstDash val="solid"/>
                      <a:round/>
                      <a:headEnd type="none" w="med" len="med"/>
                      <a:tailEnd type="none" w="med" len="med"/>
                    </a:lnL>
                    <a:lnR w="28575" cap="flat" cmpd="sng" algn="ctr">
                      <a:solidFill>
                        <a:schemeClr val="bg1"/>
                      </a:solidFill>
                      <a:prstDash val="solid"/>
                      <a:round/>
                      <a:headEnd type="none" w="med" len="med"/>
                      <a:tailEnd type="none" w="med" len="med"/>
                    </a:lnR>
                    <a:lnT w="28575" cap="flat" cmpd="sng" algn="ctr">
                      <a:solidFill>
                        <a:schemeClr val="bg1"/>
                      </a:solidFill>
                      <a:prstDash val="solid"/>
                      <a:round/>
                      <a:headEnd type="none" w="med" len="med"/>
                      <a:tailEnd type="none" w="med" len="med"/>
                    </a:lnT>
                    <a:lnB w="2857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97040212"/>
                  </a:ext>
                </a:extLst>
              </a:tr>
            </a:tbl>
          </a:graphicData>
        </a:graphic>
      </p:graphicFrame>
      <p:sp>
        <p:nvSpPr>
          <p:cNvPr id="31" name="Content Placeholder 30">
            <a:extLst>
              <a:ext uri="{FF2B5EF4-FFF2-40B4-BE49-F238E27FC236}">
                <a16:creationId xmlns:a16="http://schemas.microsoft.com/office/drawing/2014/main" id="{1AE39945-A5C9-4738-8042-EE14774BD725}"/>
              </a:ext>
            </a:extLst>
          </p:cNvPr>
          <p:cNvSpPr>
            <a:spLocks noGrp="1"/>
          </p:cNvSpPr>
          <p:nvPr>
            <p:ph sz="quarter" idx="10" hasCustomPrompt="1"/>
          </p:nvPr>
        </p:nvSpPr>
        <p:spPr>
          <a:xfrm>
            <a:off x="132160" y="2050473"/>
            <a:ext cx="8951676" cy="585800"/>
          </a:xfrm>
          <a:solidFill>
            <a:schemeClr val="bg2">
              <a:lumMod val="75000"/>
            </a:schemeClr>
          </a:solidFill>
        </p:spPr>
        <p:txBody>
          <a:bodyPr anchor="ctr">
            <a:noAutofit/>
          </a:bodyPr>
          <a:lstStyle>
            <a:lvl1pPr marL="0" indent="0">
              <a:buNone/>
              <a:defRPr sz="2400" b="1" cap="small" baseline="0">
                <a:solidFill>
                  <a:schemeClr val="bg1"/>
                </a:solidFill>
              </a:defRPr>
            </a:lvl1pPr>
          </a:lstStyle>
          <a:p>
            <a:pPr lvl="0"/>
            <a:r>
              <a:rPr lang="en-US" dirty="0"/>
              <a:t>Add Course Code: Course Name</a:t>
            </a:r>
          </a:p>
        </p:txBody>
      </p:sp>
      <p:sp>
        <p:nvSpPr>
          <p:cNvPr id="1025" name="Text Placeholder 1024">
            <a:extLst>
              <a:ext uri="{FF2B5EF4-FFF2-40B4-BE49-F238E27FC236}">
                <a16:creationId xmlns:a16="http://schemas.microsoft.com/office/drawing/2014/main" id="{1D66F559-4E11-46F3-907B-39773623988D}"/>
              </a:ext>
            </a:extLst>
          </p:cNvPr>
          <p:cNvSpPr>
            <a:spLocks noGrp="1"/>
          </p:cNvSpPr>
          <p:nvPr>
            <p:ph type="body" sz="quarter" idx="11" hasCustomPrompt="1"/>
          </p:nvPr>
        </p:nvSpPr>
        <p:spPr>
          <a:xfrm>
            <a:off x="1591400"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5" name="Text Placeholder 1024">
            <a:extLst>
              <a:ext uri="{FF2B5EF4-FFF2-40B4-BE49-F238E27FC236}">
                <a16:creationId xmlns:a16="http://schemas.microsoft.com/office/drawing/2014/main" id="{5FE0D7C2-73EA-4871-ACB3-22D6161B5379}"/>
              </a:ext>
            </a:extLst>
          </p:cNvPr>
          <p:cNvSpPr>
            <a:spLocks noGrp="1"/>
          </p:cNvSpPr>
          <p:nvPr>
            <p:ph type="body" sz="quarter" idx="12" hasCustomPrompt="1"/>
          </p:nvPr>
        </p:nvSpPr>
        <p:spPr>
          <a:xfrm>
            <a:off x="4122414" y="2717513"/>
            <a:ext cx="514493"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NO.</a:t>
            </a:r>
          </a:p>
        </p:txBody>
      </p:sp>
      <p:sp>
        <p:nvSpPr>
          <p:cNvPr id="36" name="Text Placeholder 1024">
            <a:extLst>
              <a:ext uri="{FF2B5EF4-FFF2-40B4-BE49-F238E27FC236}">
                <a16:creationId xmlns:a16="http://schemas.microsoft.com/office/drawing/2014/main" id="{686BCCD1-33DA-4ED5-A212-D0854B67FD05}"/>
              </a:ext>
            </a:extLst>
          </p:cNvPr>
          <p:cNvSpPr>
            <a:spLocks noGrp="1"/>
          </p:cNvSpPr>
          <p:nvPr>
            <p:ph type="body" sz="quarter" idx="13" hasCustomPrompt="1"/>
          </p:nvPr>
        </p:nvSpPr>
        <p:spPr>
          <a:xfrm>
            <a:off x="6445010" y="2735949"/>
            <a:ext cx="2294889" cy="407988"/>
          </a:xfrm>
          <a:solidFill>
            <a:schemeClr val="bg2">
              <a:lumMod val="50000"/>
            </a:schemeClr>
          </a:solidFill>
        </p:spPr>
        <p:txBody>
          <a:bodyPr anchor="t">
            <a:normAutofit/>
          </a:bodyPr>
          <a:lstStyle>
            <a:lvl1pPr marL="0" indent="0" algn="l">
              <a:buNone/>
              <a:defRPr sz="1800" b="1">
                <a:solidFill>
                  <a:schemeClr val="bg1"/>
                </a:solidFill>
              </a:defRPr>
            </a:lvl1pPr>
          </a:lstStyle>
          <a:p>
            <a:pPr lvl="0"/>
            <a:r>
              <a:rPr lang="en-US" dirty="0"/>
              <a:t>Semester Year</a:t>
            </a:r>
          </a:p>
        </p:txBody>
      </p:sp>
      <p:sp>
        <p:nvSpPr>
          <p:cNvPr id="37" name="Text Placeholder 1024">
            <a:extLst>
              <a:ext uri="{FF2B5EF4-FFF2-40B4-BE49-F238E27FC236}">
                <a16:creationId xmlns:a16="http://schemas.microsoft.com/office/drawing/2014/main" id="{8D52C2CD-9D3F-4285-BE56-11CB615F5B57}"/>
              </a:ext>
            </a:extLst>
          </p:cNvPr>
          <p:cNvSpPr>
            <a:spLocks noGrp="1"/>
          </p:cNvSpPr>
          <p:nvPr>
            <p:ph type="body" sz="quarter" idx="14" hasCustomPrompt="1"/>
          </p:nvPr>
        </p:nvSpPr>
        <p:spPr>
          <a:xfrm>
            <a:off x="1713833" y="5723594"/>
            <a:ext cx="7026066" cy="1012257"/>
          </a:xfrm>
          <a:noFill/>
        </p:spPr>
        <p:txBody>
          <a:bodyPr anchor="t">
            <a:normAutofit/>
          </a:bodyPr>
          <a:lstStyle>
            <a:lvl1pPr marL="0" indent="0" algn="l">
              <a:buNone/>
              <a:defRPr sz="1600" b="1">
                <a:solidFill>
                  <a:schemeClr val="bg2">
                    <a:lumMod val="50000"/>
                  </a:schemeClr>
                </a:solidFill>
              </a:defRPr>
            </a:lvl1pPr>
          </a:lstStyle>
          <a:p>
            <a:pPr lvl="0"/>
            <a:r>
              <a:rPr lang="en-US" dirty="0"/>
              <a:t>Instructor Name, Designation &amp; Contact</a:t>
            </a:r>
          </a:p>
        </p:txBody>
      </p:sp>
      <p:pic>
        <p:nvPicPr>
          <p:cNvPr id="1028" name="Picture 1027" descr="A close up of a sign&#10;&#10;Description automatically generated">
            <a:extLst>
              <a:ext uri="{FF2B5EF4-FFF2-40B4-BE49-F238E27FC236}">
                <a16:creationId xmlns:a16="http://schemas.microsoft.com/office/drawing/2014/main" id="{E4EBCEBE-46C0-4E9A-81AE-CFC8FE0F1E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301" y="436096"/>
            <a:ext cx="5091004" cy="1456019"/>
          </a:xfrm>
          <a:prstGeom prst="rect">
            <a:avLst/>
          </a:prstGeom>
        </p:spPr>
      </p:pic>
      <p:sp>
        <p:nvSpPr>
          <p:cNvPr id="26" name="TextBox 25">
            <a:extLst>
              <a:ext uri="{FF2B5EF4-FFF2-40B4-BE49-F238E27FC236}">
                <a16:creationId xmlns:a16="http://schemas.microsoft.com/office/drawing/2014/main" id="{90BFBF0B-56F3-4D8D-AAF0-AA58ACAFC1A1}"/>
              </a:ext>
            </a:extLst>
          </p:cNvPr>
          <p:cNvSpPr txBox="1"/>
          <p:nvPr/>
        </p:nvSpPr>
        <p:spPr>
          <a:xfrm>
            <a:off x="33408" y="105918"/>
            <a:ext cx="9110592" cy="403957"/>
          </a:xfrm>
          <a:prstGeom prst="rect">
            <a:avLst/>
          </a:prstGeom>
          <a:noFill/>
        </p:spPr>
        <p:txBody>
          <a:bodyPr wrap="square" rtlCol="0" anchor="ctr">
            <a:spAutoFit/>
          </a:bodyPr>
          <a:lstStyle/>
          <a:p>
            <a:pPr algn="ctr"/>
            <a:r>
              <a:rPr lang="en-US" sz="2025" b="1" cap="small" baseline="0" dirty="0">
                <a:solidFill>
                  <a:schemeClr val="bg2">
                    <a:lumMod val="50000"/>
                  </a:schemeClr>
                </a:solidFill>
              </a:rPr>
              <a:t>American International University-Bangladesh</a:t>
            </a:r>
          </a:p>
        </p:txBody>
      </p:sp>
    </p:spTree>
    <p:extLst>
      <p:ext uri="{BB962C8B-B14F-4D97-AF65-F5344CB8AC3E}">
        <p14:creationId xmlns:p14="http://schemas.microsoft.com/office/powerpoint/2010/main" val="11495671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dditional Title Slid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a:t>Click to edit Master subtitle style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11">
            <a:extLst>
              <a:ext uri="{FF2B5EF4-FFF2-40B4-BE49-F238E27FC236}">
                <a16:creationId xmlns:a16="http://schemas.microsoft.com/office/drawing/2014/main" id="{DAC86D67-CC72-46EB-BBC7-7910A58504B1}"/>
              </a:ext>
            </a:extLst>
          </p:cNvPr>
          <p:cNvSpPr>
            <a:spLocks noGrp="1"/>
          </p:cNvSpPr>
          <p:nvPr>
            <p:ph type="body" sz="quarter" idx="13"/>
          </p:nvPr>
        </p:nvSpPr>
        <p:spPr>
          <a:xfrm>
            <a:off x="104048" y="124690"/>
            <a:ext cx="7585075" cy="1214438"/>
          </a:xfrm>
          <a:solidFill>
            <a:schemeClr val="bg2">
              <a:lumMod val="50000"/>
            </a:schemeClr>
          </a:solidFill>
        </p:spPr>
        <p:txBody>
          <a:bodyPr anchor="ctr">
            <a:normAutofit/>
          </a:bodyPr>
          <a:lstStyle>
            <a:lvl1pPr marL="0" indent="0">
              <a:buNone/>
              <a:defRPr sz="4000" b="1" i="0" cap="small" baseline="0">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1379622587"/>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ectur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9BC180F2-0FAB-41E7-A4CA-0411023C7A0F}"/>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Lecture Outline</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1344838986"/>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ACD07B3C-B01D-4A6F-ACD5-5054206EC9BF}"/>
              </a:ext>
            </a:extLst>
          </p:cNvPr>
          <p:cNvSpPr txBox="1"/>
          <p:nvPr/>
        </p:nvSpPr>
        <p:spPr>
          <a:xfrm>
            <a:off x="101602" y="145364"/>
            <a:ext cx="7621950" cy="1169551"/>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latin typeface="+mn-lt"/>
                <a:cs typeface="Calibri" panose="020F0502020204030204" pitchFamily="34" charset="0"/>
              </a:rPr>
              <a:t>Learning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30016408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Learning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147BEC90-B43E-4B77-AAB5-B3F4312086AD}"/>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Learning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4620042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References">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99196"/>
            <a:ext cx="7621950" cy="1261884"/>
          </a:xfrm>
          <a:prstGeom prst="rect">
            <a:avLst/>
          </a:prstGeom>
          <a:solidFill>
            <a:schemeClr val="bg2">
              <a:lumMod val="50000"/>
            </a:schemeClr>
          </a:solidFill>
        </p:spPr>
        <p:txBody>
          <a:bodyPr wrap="square" rtlCol="0" anchor="ctr">
            <a:spAutoFit/>
          </a:bodyPr>
          <a:lstStyle/>
          <a:p>
            <a:pPr algn="ctr">
              <a:spcBef>
                <a:spcPts val="0"/>
              </a:spcBef>
              <a:spcAft>
                <a:spcPts val="0"/>
              </a:spcAft>
            </a:pP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References</a:t>
            </a:r>
          </a:p>
          <a:p>
            <a:pPr algn="ctr">
              <a:spcBef>
                <a:spcPts val="600"/>
              </a:spcBef>
              <a:spcAft>
                <a:spcPts val="600"/>
              </a:spcAft>
            </a:pPr>
            <a:endParaRPr lang="en-US" sz="1000" b="1" i="0" cap="small" baseline="0" dirty="0">
              <a:solidFill>
                <a:schemeClr val="bg1"/>
              </a:solidFill>
            </a:endParaRPr>
          </a:p>
        </p:txBody>
      </p:sp>
    </p:spTree>
    <p:extLst>
      <p:ext uri="{BB962C8B-B14F-4D97-AF65-F5344CB8AC3E}">
        <p14:creationId xmlns:p14="http://schemas.microsoft.com/office/powerpoint/2010/main" val="8604512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General 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Tree>
    <p:extLst>
      <p:ext uri="{BB962C8B-B14F-4D97-AF65-F5344CB8AC3E}">
        <p14:creationId xmlns:p14="http://schemas.microsoft.com/office/powerpoint/2010/main" val="619647321"/>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General Lecture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5" name="Group 4"/>
          <p:cNvGrpSpPr/>
          <p:nvPr/>
        </p:nvGrpSpPr>
        <p:grpSpPr>
          <a:xfrm>
            <a:off x="5733" y="693860"/>
            <a:ext cx="8319118" cy="151690"/>
            <a:chOff x="284163" y="1577847"/>
            <a:chExt cx="8576373" cy="137411"/>
          </a:xfrm>
        </p:grpSpPr>
        <p:sp>
          <p:nvSpPr>
            <p:cNvPr id="6" name="Rectangle 5"/>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7" name="Rectangle 6"/>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8" name="Rectangle 7"/>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2050" name="Picture 2" descr="Image result for AIUB logo">
            <a:extLst>
              <a:ext uri="{FF2B5EF4-FFF2-40B4-BE49-F238E27FC236}">
                <a16:creationId xmlns:a16="http://schemas.microsoft.com/office/drawing/2014/main" id="{C28CB252-6044-4564-B6A7-264FC3396E0A}"/>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1288473"/>
            <a:ext cx="9136063" cy="514884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0" name="Text Placeholder 9">
            <a:extLst>
              <a:ext uri="{FF2B5EF4-FFF2-40B4-BE49-F238E27FC236}">
                <a16:creationId xmlns:a16="http://schemas.microsoft.com/office/drawing/2014/main" id="{F1BD4A48-C012-4D53-91CF-62280C25B55A}"/>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3198881326"/>
      </p:ext>
    </p:extLst>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only  with Pictur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5" name="Picture Placeholder 4">
            <a:extLst>
              <a:ext uri="{FF2B5EF4-FFF2-40B4-BE49-F238E27FC236}">
                <a16:creationId xmlns:a16="http://schemas.microsoft.com/office/drawing/2014/main" id="{A56E4875-D77F-4C0B-B5D6-2AD1AB911DAB}"/>
              </a:ext>
            </a:extLst>
          </p:cNvPr>
          <p:cNvSpPr>
            <a:spLocks noGrp="1"/>
          </p:cNvSpPr>
          <p:nvPr>
            <p:ph type="pic" sz="quarter" idx="13"/>
          </p:nvPr>
        </p:nvSpPr>
        <p:spPr>
          <a:xfrm>
            <a:off x="19050" y="846142"/>
            <a:ext cx="9124950" cy="5166731"/>
          </a:xfrm>
        </p:spPr>
        <p:txBody>
          <a:bodyPr/>
          <a:lstStyle/>
          <a:p>
            <a:r>
              <a:rPr lang="en-US"/>
              <a:t>Click icon to add picture</a:t>
            </a:r>
          </a:p>
        </p:txBody>
      </p:sp>
      <p:sp>
        <p:nvSpPr>
          <p:cNvPr id="15" name="Subtitle 2">
            <a:extLst>
              <a:ext uri="{FF2B5EF4-FFF2-40B4-BE49-F238E27FC236}">
                <a16:creationId xmlns:a16="http://schemas.microsoft.com/office/drawing/2014/main" id="{DC25A691-C672-4CCE-9A63-D7B700E436C8}"/>
              </a:ext>
            </a:extLst>
          </p:cNvPr>
          <p:cNvSpPr>
            <a:spLocks noGrp="1"/>
          </p:cNvSpPr>
          <p:nvPr>
            <p:ph type="subTitle" idx="1" hasCustomPrompt="1"/>
          </p:nvPr>
        </p:nvSpPr>
        <p:spPr>
          <a:xfrm>
            <a:off x="19049" y="6027744"/>
            <a:ext cx="9105363" cy="423147"/>
          </a:xfrm>
          <a:prstGeom prst="rect">
            <a:avLst/>
          </a:prstGeom>
        </p:spPr>
        <p:txBody>
          <a:bodyPr vert="horz" lIns="91440" tIns="45720" rIns="91440" bIns="45720" rtlCol="0">
            <a:normAutofit/>
          </a:bodyPr>
          <a:lstStyle>
            <a:lvl1pPr marL="0" indent="0" algn="ctr" defTabSz="514350" rtl="0" eaLnBrk="1" latinLnBrk="0" hangingPunct="1">
              <a:lnSpc>
                <a:spcPct val="100000"/>
              </a:lnSpc>
              <a:spcBef>
                <a:spcPts val="0"/>
              </a:spcBef>
              <a:buClr>
                <a:schemeClr val="bg1">
                  <a:lumMod val="65000"/>
                </a:schemeClr>
              </a:buClr>
              <a:buSzPct val="90000"/>
              <a:buFont typeface="Wingdings" pitchFamily="2" charset="2"/>
              <a:buNone/>
              <a:defRPr sz="2000" b="1" i="1" kern="1200" cap="none" baseline="0">
                <a:solidFill>
                  <a:schemeClr val="bg2">
                    <a:lumMod val="50000"/>
                  </a:schemeClr>
                </a:solidFill>
                <a:latin typeface="+mn-lt"/>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Picture Title</a:t>
            </a:r>
            <a:endParaRPr dirty="0"/>
          </a:p>
        </p:txBody>
      </p:sp>
    </p:spTree>
    <p:extLst>
      <p:ext uri="{BB962C8B-B14F-4D97-AF65-F5344CB8AC3E}">
        <p14:creationId xmlns:p14="http://schemas.microsoft.com/office/powerpoint/2010/main" val="2417407609"/>
      </p:ext>
    </p:extLst>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679846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mplete 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1"/>
            <a:ext cx="8324850" cy="1094509"/>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1621318461"/>
      </p:ext>
    </p:extLst>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with Subtitl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grpSp>
        <p:nvGrpSpPr>
          <p:cNvPr id="9" name="Group 8">
            <a:extLst>
              <a:ext uri="{FF2B5EF4-FFF2-40B4-BE49-F238E27FC236}">
                <a16:creationId xmlns:a16="http://schemas.microsoft.com/office/drawing/2014/main" id="{86F911FE-CC5C-406D-9309-87CC0B57531D}"/>
              </a:ext>
            </a:extLst>
          </p:cNvPr>
          <p:cNvGrpSpPr/>
          <p:nvPr/>
        </p:nvGrpSpPr>
        <p:grpSpPr>
          <a:xfrm>
            <a:off x="5733" y="693860"/>
            <a:ext cx="8319118" cy="151690"/>
            <a:chOff x="284163" y="1577847"/>
            <a:chExt cx="8576373" cy="137411"/>
          </a:xfrm>
        </p:grpSpPr>
        <p:sp>
          <p:nvSpPr>
            <p:cNvPr id="10" name="Rectangle 9">
              <a:extLst>
                <a:ext uri="{FF2B5EF4-FFF2-40B4-BE49-F238E27FC236}">
                  <a16:creationId xmlns:a16="http://schemas.microsoft.com/office/drawing/2014/main" id="{0355DC73-1A4B-4E56-B2C6-F44ECE6E588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a:extLst>
                <a:ext uri="{FF2B5EF4-FFF2-40B4-BE49-F238E27FC236}">
                  <a16:creationId xmlns:a16="http://schemas.microsoft.com/office/drawing/2014/main" id="{7A4771C1-DFA3-4A64-8E62-EF8E5823332F}"/>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a:extLst>
                <a:ext uri="{FF2B5EF4-FFF2-40B4-BE49-F238E27FC236}">
                  <a16:creationId xmlns:a16="http://schemas.microsoft.com/office/drawing/2014/main" id="{5DBDD837-83B3-452C-981D-91CAB7E2574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3" name="Picture 2" descr="Image result for AIUB logo">
            <a:extLst>
              <a:ext uri="{FF2B5EF4-FFF2-40B4-BE49-F238E27FC236}">
                <a16:creationId xmlns:a16="http://schemas.microsoft.com/office/drawing/2014/main" id="{5E84C61F-F79E-4F04-8E91-8F8FAFEA8FB6}"/>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
        <p:nvSpPr>
          <p:cNvPr id="15" name="Text Placeholder 9">
            <a:extLst>
              <a:ext uri="{FF2B5EF4-FFF2-40B4-BE49-F238E27FC236}">
                <a16:creationId xmlns:a16="http://schemas.microsoft.com/office/drawing/2014/main" id="{BF7DB251-A264-46E3-B7B2-E1200825F03F}"/>
              </a:ext>
            </a:extLst>
          </p:cNvPr>
          <p:cNvSpPr>
            <a:spLocks noGrp="1"/>
          </p:cNvSpPr>
          <p:nvPr>
            <p:ph type="body" sz="quarter" idx="14" hasCustomPrompt="1"/>
          </p:nvPr>
        </p:nvSpPr>
        <p:spPr>
          <a:xfrm>
            <a:off x="1552577" y="846138"/>
            <a:ext cx="7591425" cy="442912"/>
          </a:xfrm>
        </p:spPr>
        <p:txBody>
          <a:bodyPr anchor="ctr">
            <a:noAutofit/>
          </a:bodyPr>
          <a:lstStyle>
            <a:lvl1pPr marL="0" indent="0" algn="r">
              <a:buNone/>
              <a:defRPr sz="2400" b="1" i="0" cap="small" baseline="0">
                <a:latin typeface="Arial Black" panose="020B0A04020102020204" pitchFamily="34" charset="0"/>
              </a:defRPr>
            </a:lvl1pPr>
          </a:lstStyle>
          <a:p>
            <a:pPr marL="0" marR="0" lvl="0" indent="0" algn="r"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SUBTITLE</a:t>
            </a:r>
          </a:p>
        </p:txBody>
      </p:sp>
    </p:spTree>
    <p:extLst>
      <p:ext uri="{BB962C8B-B14F-4D97-AF65-F5344CB8AC3E}">
        <p14:creationId xmlns:p14="http://schemas.microsoft.com/office/powerpoint/2010/main" val="433093683"/>
      </p:ext>
    </p:extLst>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wo Contents">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0" y="845554"/>
            <a:ext cx="4486216"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845554"/>
            <a:ext cx="4543907" cy="5577627"/>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p>
            <a:r>
              <a:rPr lang="en-US"/>
              <a:t>CSC3113: Theory of Computation</a:t>
            </a:r>
          </a:p>
        </p:txBody>
      </p:sp>
      <p:grpSp>
        <p:nvGrpSpPr>
          <p:cNvPr id="13" name="Group 12">
            <a:extLst>
              <a:ext uri="{FF2B5EF4-FFF2-40B4-BE49-F238E27FC236}">
                <a16:creationId xmlns:a16="http://schemas.microsoft.com/office/drawing/2014/main" id="{5359A54D-F4EB-4D3A-ADCC-70BE6BCFD28F}"/>
              </a:ext>
            </a:extLst>
          </p:cNvPr>
          <p:cNvGrpSpPr/>
          <p:nvPr/>
        </p:nvGrpSpPr>
        <p:grpSpPr>
          <a:xfrm>
            <a:off x="5733" y="693860"/>
            <a:ext cx="8319118" cy="151690"/>
            <a:chOff x="284163" y="1577847"/>
            <a:chExt cx="8576373" cy="137411"/>
          </a:xfrm>
        </p:grpSpPr>
        <p:sp>
          <p:nvSpPr>
            <p:cNvPr id="14" name="Rectangle 13">
              <a:extLst>
                <a:ext uri="{FF2B5EF4-FFF2-40B4-BE49-F238E27FC236}">
                  <a16:creationId xmlns:a16="http://schemas.microsoft.com/office/drawing/2014/main" id="{BB71FE46-35EE-4525-A735-EC3CDF6904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2763FE95-3F5B-4E61-8591-3A427CB3CA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6" name="Rectangle 15">
              <a:extLst>
                <a:ext uri="{FF2B5EF4-FFF2-40B4-BE49-F238E27FC236}">
                  <a16:creationId xmlns:a16="http://schemas.microsoft.com/office/drawing/2014/main" id="{0408824F-5137-4F32-8805-7F484861BAE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7" name="Picture 2" descr="Image result for AIUB logo">
            <a:extLst>
              <a:ext uri="{FF2B5EF4-FFF2-40B4-BE49-F238E27FC236}">
                <a16:creationId xmlns:a16="http://schemas.microsoft.com/office/drawing/2014/main" id="{C28BA035-C25B-49DA-BF31-F2CBF34929A2}"/>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8">
            <a:extLst>
              <a:ext uri="{FF2B5EF4-FFF2-40B4-BE49-F238E27FC236}">
                <a16:creationId xmlns:a16="http://schemas.microsoft.com/office/drawing/2014/main" id="{952F0B7E-5DB3-422F-9E9E-BF1000E21F0C}"/>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7254604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wo Contents with Subtitle">
    <p:spTree>
      <p:nvGrpSpPr>
        <p:cNvPr id="1" name=""/>
        <p:cNvGrpSpPr/>
        <p:nvPr/>
      </p:nvGrpSpPr>
      <p:grpSpPr>
        <a:xfrm>
          <a:off x="0" y="0"/>
          <a:ext cx="0" cy="0"/>
          <a:chOff x="0" y="0"/>
          <a:chExt cx="0" cy="0"/>
        </a:xfrm>
      </p:grpSpPr>
      <p:sp>
        <p:nvSpPr>
          <p:cNvPr id="3" name="Text Placeholder 2"/>
          <p:cNvSpPr>
            <a:spLocks noGrp="1"/>
          </p:cNvSpPr>
          <p:nvPr>
            <p:ph type="body" idx="1" hasCustomPrompt="1"/>
          </p:nvPr>
        </p:nvSpPr>
        <p:spPr>
          <a:xfrm>
            <a:off x="0" y="862291"/>
            <a:ext cx="4476198" cy="833250"/>
          </a:xfrm>
          <a:prstGeom prst="rect">
            <a:avLst/>
          </a:prstGeom>
        </p:spPr>
        <p:txBody>
          <a:bodyPr anchor="ctr">
            <a:noAutofit/>
          </a:bodyPr>
          <a:lstStyle>
            <a:lvl1pPr marL="0" indent="0" algn="ctr">
              <a:lnSpc>
                <a:spcPct val="100000"/>
              </a:lnSpc>
              <a:spcBef>
                <a:spcPts val="338"/>
              </a:spcBef>
              <a:buNone/>
              <a:defRPr sz="2400" b="0">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1</a:t>
            </a:r>
          </a:p>
        </p:txBody>
      </p:sp>
      <p:sp>
        <p:nvSpPr>
          <p:cNvPr id="4" name="Content Placeholder 3"/>
          <p:cNvSpPr>
            <a:spLocks noGrp="1"/>
          </p:cNvSpPr>
          <p:nvPr>
            <p:ph sz="half" idx="2" hasCustomPrompt="1"/>
          </p:nvPr>
        </p:nvSpPr>
        <p:spPr>
          <a:xfrm>
            <a:off x="0" y="1726562"/>
            <a:ext cx="4476198"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5" name="Text Placeholder 4"/>
          <p:cNvSpPr>
            <a:spLocks noGrp="1"/>
          </p:cNvSpPr>
          <p:nvPr>
            <p:ph type="body" sz="quarter" idx="3" hasCustomPrompt="1"/>
          </p:nvPr>
        </p:nvSpPr>
        <p:spPr>
          <a:xfrm>
            <a:off x="4638628" y="862291"/>
            <a:ext cx="4476199" cy="833250"/>
          </a:xfrm>
          <a:prstGeom prst="rect">
            <a:avLst/>
          </a:prstGeom>
        </p:spPr>
        <p:txBody>
          <a:bodyPr anchor="ctr">
            <a:noAutofit/>
          </a:bodyPr>
          <a:lstStyle>
            <a:lvl1pPr marL="0" indent="0" algn="ctr">
              <a:lnSpc>
                <a:spcPct val="100000"/>
              </a:lnSpc>
              <a:spcBef>
                <a:spcPts val="338"/>
              </a:spcBef>
              <a:buNone/>
              <a:defRPr lang="fi-FI" sz="2400" b="0"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Subtitle 2</a:t>
            </a:r>
          </a:p>
        </p:txBody>
      </p:sp>
      <p:sp>
        <p:nvSpPr>
          <p:cNvPr id="6" name="Content Placeholder 5"/>
          <p:cNvSpPr>
            <a:spLocks noGrp="1"/>
          </p:cNvSpPr>
          <p:nvPr>
            <p:ph sz="quarter" idx="4" hasCustomPrompt="1"/>
          </p:nvPr>
        </p:nvSpPr>
        <p:spPr>
          <a:xfrm>
            <a:off x="4640094" y="1726561"/>
            <a:ext cx="4476196" cy="470312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grpSp>
        <p:nvGrpSpPr>
          <p:cNvPr id="15" name="Group 14">
            <a:extLst>
              <a:ext uri="{FF2B5EF4-FFF2-40B4-BE49-F238E27FC236}">
                <a16:creationId xmlns:a16="http://schemas.microsoft.com/office/drawing/2014/main" id="{0E24A26A-48C7-48C3-A79C-351ABE2ADD3F}"/>
              </a:ext>
            </a:extLst>
          </p:cNvPr>
          <p:cNvGrpSpPr/>
          <p:nvPr/>
        </p:nvGrpSpPr>
        <p:grpSpPr>
          <a:xfrm>
            <a:off x="5733" y="693860"/>
            <a:ext cx="8319118" cy="151690"/>
            <a:chOff x="284163" y="1577847"/>
            <a:chExt cx="8576373" cy="137411"/>
          </a:xfrm>
        </p:grpSpPr>
        <p:sp>
          <p:nvSpPr>
            <p:cNvPr id="16" name="Rectangle 15">
              <a:extLst>
                <a:ext uri="{FF2B5EF4-FFF2-40B4-BE49-F238E27FC236}">
                  <a16:creationId xmlns:a16="http://schemas.microsoft.com/office/drawing/2014/main" id="{3F56B814-B539-41F1-A738-F61039A623A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7D3600D2-D436-40F4-8926-0D5600A1AC9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B9DA912-4B64-4758-BE48-65A67F158C2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0B270661-1070-47DF-98AC-28C37194309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324444" y="14279"/>
            <a:ext cx="811917" cy="816992"/>
          </a:xfrm>
          <a:prstGeom prst="rect">
            <a:avLst/>
          </a:prstGeom>
          <a:noFill/>
          <a:extLst>
            <a:ext uri="{909E8E84-426E-40DD-AFC4-6F175D3DCCD1}">
              <a14:hiddenFill xmlns:a14="http://schemas.microsoft.com/office/drawing/2010/main">
                <a:solidFill>
                  <a:srgbClr val="FFFFFF"/>
                </a:solidFill>
              </a14:hiddenFill>
            </a:ext>
          </a:extLst>
        </p:spPr>
      </p:pic>
      <p:sp>
        <p:nvSpPr>
          <p:cNvPr id="20" name="Text Placeholder 8">
            <a:extLst>
              <a:ext uri="{FF2B5EF4-FFF2-40B4-BE49-F238E27FC236}">
                <a16:creationId xmlns:a16="http://schemas.microsoft.com/office/drawing/2014/main" id="{F5CF1E09-2079-4323-8C3B-EE1BCFCFB41A}"/>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3617462718"/>
      </p:ext>
    </p:extLst>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4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4441114" y="65642"/>
            <a:ext cx="4695247"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1" y="1389672"/>
            <a:ext cx="4331191" cy="3884092"/>
          </a:xfrm>
        </p:spPr>
        <p:txBody>
          <a:bodyPr/>
          <a:lstStyle/>
          <a:p>
            <a:r>
              <a:rPr lang="en-US"/>
              <a:t>Click icon to add picture</a:t>
            </a:r>
          </a:p>
        </p:txBody>
      </p:sp>
    </p:spTree>
    <p:extLst>
      <p:ext uri="{BB962C8B-B14F-4D97-AF65-F5344CB8AC3E}">
        <p14:creationId xmlns:p14="http://schemas.microsoft.com/office/powerpoint/2010/main" val="853974390"/>
      </p:ext>
    </p:extLst>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1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424474" y="65642"/>
            <a:ext cx="5711888" cy="630745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2992" y="1389672"/>
            <a:ext cx="3229110" cy="3884092"/>
          </a:xfrm>
        </p:spPr>
        <p:txBody>
          <a:bodyPr/>
          <a:lstStyle/>
          <a:p>
            <a:r>
              <a:rPr lang="en-US"/>
              <a:t>Click icon to add picture</a:t>
            </a:r>
          </a:p>
        </p:txBody>
      </p:sp>
    </p:spTree>
    <p:extLst>
      <p:ext uri="{BB962C8B-B14F-4D97-AF65-F5344CB8AC3E}">
        <p14:creationId xmlns:p14="http://schemas.microsoft.com/office/powerpoint/2010/main" val="957756879"/>
      </p:ext>
    </p:extLst>
  </p:cSld>
  <p:clrMapOvr>
    <a:masterClrMapping/>
  </p:clrMapOvr>
  <p:hf hd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2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3532518"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27710" y="1403570"/>
            <a:ext cx="4316725" cy="3902716"/>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4316726"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180033" y="3157926"/>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4446919" y="0"/>
            <a:ext cx="4601102" cy="6405066"/>
          </a:xfrm>
        </p:spPr>
        <p:txBody>
          <a:bodyPr/>
          <a:lstStyle/>
          <a:p>
            <a:r>
              <a:rPr lang="en-US"/>
              <a:t>Click icon to add picture</a:t>
            </a:r>
          </a:p>
        </p:txBody>
      </p:sp>
    </p:spTree>
    <p:extLst>
      <p:ext uri="{BB962C8B-B14F-4D97-AF65-F5344CB8AC3E}">
        <p14:creationId xmlns:p14="http://schemas.microsoft.com/office/powerpoint/2010/main" val="1972049341"/>
      </p:ext>
    </p:extLst>
  </p:cSld>
  <p:clrMapOvr>
    <a:masterClrMapping/>
  </p:clrMapOvr>
  <p:hf hd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11919" y="14437"/>
            <a:ext cx="2491745" cy="1357163"/>
          </a:xfrm>
          <a:prstGeom prst="rect">
            <a:avLst/>
          </a:prstGeom>
          <a:solidFill>
            <a:schemeClr val="bg2">
              <a:lumMod val="50000"/>
            </a:schemeClr>
          </a:solidFill>
        </p:spPr>
        <p:txBody>
          <a:bodyPr anchor="ctr">
            <a:noAutofit/>
          </a:bodyPr>
          <a:lstStyle>
            <a:lvl1pPr algn="l">
              <a:defRPr sz="3200" b="1" i="0" cap="small" baseline="0">
                <a:solidFill>
                  <a:schemeClr val="bg1"/>
                </a:solidFill>
              </a:defRPr>
            </a:lvl1pPr>
          </a:lstStyle>
          <a:p>
            <a:r>
              <a:rPr lang="fi-FI" dirty="0"/>
              <a:t>Click to edit title</a:t>
            </a:r>
            <a:endParaRPr dirty="0"/>
          </a:p>
        </p:txBody>
      </p:sp>
      <p:sp>
        <p:nvSpPr>
          <p:cNvPr id="3" name="Content Placeholder 2"/>
          <p:cNvSpPr>
            <a:spLocks noGrp="1"/>
          </p:cNvSpPr>
          <p:nvPr>
            <p:ph idx="1" hasCustomPrompt="1"/>
          </p:nvPr>
        </p:nvSpPr>
        <p:spPr>
          <a:xfrm>
            <a:off x="33438" y="1389673"/>
            <a:ext cx="3242518" cy="3916614"/>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 Placeholder 3"/>
          <p:cNvSpPr>
            <a:spLocks noGrp="1"/>
          </p:cNvSpPr>
          <p:nvPr>
            <p:ph type="body" sz="half" idx="2" hasCustomPrompt="1"/>
          </p:nvPr>
        </p:nvSpPr>
        <p:spPr>
          <a:xfrm>
            <a:off x="27711" y="5306291"/>
            <a:ext cx="3275953" cy="1130740"/>
          </a:xfrm>
          <a:prstGeom prst="rect">
            <a:avLst/>
          </a:prstGeom>
          <a:solidFill>
            <a:schemeClr val="bg2">
              <a:lumMod val="75000"/>
            </a:schemeClr>
          </a:solidFill>
        </p:spPr>
        <p:txBody>
          <a:bodyPr anchor="ctr">
            <a:normAutofit/>
          </a:bodyPr>
          <a:lstStyle>
            <a:lvl1pPr marL="0" indent="0" algn="l">
              <a:spcBef>
                <a:spcPts val="338"/>
              </a:spcBef>
              <a:buNone/>
              <a:defRPr sz="2400" b="1" i="0" cap="small" baseline="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6" name="Footer Placeholder 5"/>
          <p:cNvSpPr>
            <a:spLocks noGrp="1"/>
          </p:cNvSpPr>
          <p:nvPr>
            <p:ph type="ftr" sz="quarter" idx="11"/>
          </p:nvPr>
        </p:nvSpPr>
        <p:spPr>
          <a:xfrm>
            <a:off x="19583" y="6437036"/>
            <a:ext cx="6124902" cy="365125"/>
          </a:xfrm>
          <a:prstGeom prst="rect">
            <a:avLst/>
          </a:prstGeom>
        </p:spPr>
        <p:txBody>
          <a:bodyPr/>
          <a:lstStyle/>
          <a:p>
            <a:r>
              <a:rPr lang="en-US"/>
              <a:t>CSC3113: Theory of Computation</a:t>
            </a:r>
          </a:p>
        </p:txBody>
      </p:sp>
      <p:grpSp>
        <p:nvGrpSpPr>
          <p:cNvPr id="12" name="Group 11">
            <a:extLst>
              <a:ext uri="{FF2B5EF4-FFF2-40B4-BE49-F238E27FC236}">
                <a16:creationId xmlns:a16="http://schemas.microsoft.com/office/drawing/2014/main" id="{57F246ED-BC36-4290-A3C3-DB9C4DB972F8}"/>
              </a:ext>
            </a:extLst>
          </p:cNvPr>
          <p:cNvGrpSpPr/>
          <p:nvPr/>
        </p:nvGrpSpPr>
        <p:grpSpPr>
          <a:xfrm rot="5400000">
            <a:off x="127643" y="3198004"/>
            <a:ext cx="6431289" cy="62991"/>
            <a:chOff x="284163" y="1577847"/>
            <a:chExt cx="8576373" cy="137411"/>
          </a:xfrm>
        </p:grpSpPr>
        <p:sp>
          <p:nvSpPr>
            <p:cNvPr id="13" name="Rectangle 12">
              <a:extLst>
                <a:ext uri="{FF2B5EF4-FFF2-40B4-BE49-F238E27FC236}">
                  <a16:creationId xmlns:a16="http://schemas.microsoft.com/office/drawing/2014/main" id="{50CF6C26-6DC1-4226-BB26-5CD1D62E843D}"/>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a:extLst>
                <a:ext uri="{FF2B5EF4-FFF2-40B4-BE49-F238E27FC236}">
                  <a16:creationId xmlns:a16="http://schemas.microsoft.com/office/drawing/2014/main" id="{84B65D56-BE22-4211-A70B-06CF4F3614C8}"/>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554D0054-25DE-4F62-B0BE-F7B5B2ADCD57}"/>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6" name="Picture 2" descr="Image result for AIUB logo">
            <a:extLst>
              <a:ext uri="{FF2B5EF4-FFF2-40B4-BE49-F238E27FC236}">
                <a16:creationId xmlns:a16="http://schemas.microsoft.com/office/drawing/2014/main" id="{24BE04D5-D58B-4DA5-A294-2D95B9617B61}"/>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oup 17">
            <a:extLst>
              <a:ext uri="{FF2B5EF4-FFF2-40B4-BE49-F238E27FC236}">
                <a16:creationId xmlns:a16="http://schemas.microsoft.com/office/drawing/2014/main" id="{7099D620-339A-49B5-B5A2-E1A8791A052A}"/>
              </a:ext>
            </a:extLst>
          </p:cNvPr>
          <p:cNvGrpSpPr/>
          <p:nvPr/>
        </p:nvGrpSpPr>
        <p:grpSpPr>
          <a:xfrm>
            <a:off x="7639" y="877299"/>
            <a:ext cx="784535" cy="494301"/>
            <a:chOff x="284163" y="1577847"/>
            <a:chExt cx="8576373" cy="137411"/>
          </a:xfrm>
        </p:grpSpPr>
        <p:sp>
          <p:nvSpPr>
            <p:cNvPr id="19" name="Rectangle 18">
              <a:extLst>
                <a:ext uri="{FF2B5EF4-FFF2-40B4-BE49-F238E27FC236}">
                  <a16:creationId xmlns:a16="http://schemas.microsoft.com/office/drawing/2014/main" id="{8A819B27-BF51-4667-A604-A93FC16F38FE}"/>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0" name="Rectangle 19">
              <a:extLst>
                <a:ext uri="{FF2B5EF4-FFF2-40B4-BE49-F238E27FC236}">
                  <a16:creationId xmlns:a16="http://schemas.microsoft.com/office/drawing/2014/main" id="{1642F5EA-73DB-48F9-B899-2537EEF0E290}"/>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1" name="Rectangle 20">
              <a:extLst>
                <a:ext uri="{FF2B5EF4-FFF2-40B4-BE49-F238E27FC236}">
                  <a16:creationId xmlns:a16="http://schemas.microsoft.com/office/drawing/2014/main" id="{EF6A9A37-B709-4F60-974C-6E7D1901458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9" name="Picture Placeholder 8">
            <a:extLst>
              <a:ext uri="{FF2B5EF4-FFF2-40B4-BE49-F238E27FC236}">
                <a16:creationId xmlns:a16="http://schemas.microsoft.com/office/drawing/2014/main" id="{5187836D-4D12-46A5-BB48-9101E7D0C938}"/>
              </a:ext>
            </a:extLst>
          </p:cNvPr>
          <p:cNvSpPr>
            <a:spLocks noGrp="1"/>
          </p:cNvSpPr>
          <p:nvPr>
            <p:ph type="pic" sz="quarter" idx="12"/>
          </p:nvPr>
        </p:nvSpPr>
        <p:spPr>
          <a:xfrm>
            <a:off x="3410618" y="31669"/>
            <a:ext cx="5699943" cy="6405362"/>
          </a:xfrm>
        </p:spPr>
        <p:txBody>
          <a:bodyPr/>
          <a:lstStyle/>
          <a:p>
            <a:r>
              <a:rPr lang="en-US"/>
              <a:t>Click icon to add picture</a:t>
            </a:r>
          </a:p>
        </p:txBody>
      </p:sp>
    </p:spTree>
    <p:extLst>
      <p:ext uri="{BB962C8B-B14F-4D97-AF65-F5344CB8AC3E}">
        <p14:creationId xmlns:p14="http://schemas.microsoft.com/office/powerpoint/2010/main" val="1073535456"/>
      </p:ext>
    </p:extLst>
  </p:cSld>
  <p:clrMapOvr>
    <a:masterClrMapping/>
  </p:clrMapOvr>
  <p:hf hd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5_Picture, 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29744" y="11545"/>
            <a:ext cx="8269938" cy="865337"/>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461165" y="5830031"/>
            <a:ext cx="4638517"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905148"/>
            <a:ext cx="4304781" cy="550362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642103" y="3603573"/>
            <a:ext cx="5517486" cy="120636"/>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0" y="801269"/>
            <a:ext cx="829744" cy="103879"/>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E4EBD9B3-5B6B-46F4-8C50-4874619C4AA7}"/>
              </a:ext>
            </a:extLst>
          </p:cNvPr>
          <p:cNvSpPr>
            <a:spLocks noGrp="1"/>
          </p:cNvSpPr>
          <p:nvPr>
            <p:ph sz="quarter" idx="15"/>
          </p:nvPr>
        </p:nvSpPr>
        <p:spPr>
          <a:xfrm>
            <a:off x="4461165" y="905147"/>
            <a:ext cx="4649500" cy="48971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38501314"/>
      </p:ext>
    </p:extLst>
  </p:cSld>
  <p:clrMapOvr>
    <a:masterClrMapping/>
  </p:clrMapOvr>
  <p:hf hd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6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1978018"/>
            <a:ext cx="3027361" cy="892547"/>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108604"/>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01783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84476556"/>
      </p:ext>
    </p:extLst>
  </p:cSld>
  <p:clrMapOvr>
    <a:masterClrMapping/>
  </p:clrMapOvr>
  <p:hf hd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8_Picture, Content with Caption">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9E87080B-4E75-48FF-AAB2-3E4F281E155E}"/>
              </a:ext>
            </a:extLst>
          </p:cNvPr>
          <p:cNvSpPr>
            <a:spLocks noGrp="1"/>
          </p:cNvSpPr>
          <p:nvPr>
            <p:ph sz="quarter" idx="14"/>
          </p:nvPr>
        </p:nvSpPr>
        <p:spPr>
          <a:xfrm>
            <a:off x="0" y="3100968"/>
            <a:ext cx="9124950" cy="33464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9048" y="2723902"/>
            <a:ext cx="9105902" cy="344865"/>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9048" y="-1"/>
            <a:ext cx="8427736" cy="678873"/>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9048" y="692729"/>
            <a:ext cx="9124950" cy="2017317"/>
          </a:xfrm>
          <a:prstGeom prst="rect">
            <a:avLst/>
          </a:prstGeom>
        </p:spPr>
        <p:txBody>
          <a:bodyPr/>
          <a:lstStyle>
            <a:lvl1pPr>
              <a:buNone/>
              <a:defRPr/>
            </a:lvl1pPr>
          </a:lstStyle>
          <a:p>
            <a:r>
              <a:rPr lang="en-US"/>
              <a:t>Click icon to add picture</a:t>
            </a:r>
            <a:endParaRPr/>
          </a:p>
        </p:txBody>
      </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8446784" y="10325"/>
            <a:ext cx="678165" cy="6824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1333770"/>
      </p:ext>
    </p:extLst>
  </p:cSld>
  <p:clrMapOvr>
    <a:masterClrMapping/>
  </p:clrMapOvr>
  <p:hf hd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7_Picture, Content with Caption">
    <p:spTree>
      <p:nvGrpSpPr>
        <p:cNvPr id="1" name=""/>
        <p:cNvGrpSpPr/>
        <p:nvPr/>
      </p:nvGrpSpPr>
      <p:grpSpPr>
        <a:xfrm>
          <a:off x="0" y="0"/>
          <a:ext cx="0" cy="0"/>
          <a:chOff x="0" y="0"/>
          <a:chExt cx="0" cy="0"/>
        </a:xfrm>
      </p:grpSpPr>
      <p:sp>
        <p:nvSpPr>
          <p:cNvPr id="6" name="Footer Placeholder 5"/>
          <p:cNvSpPr>
            <a:spLocks noGrp="1"/>
          </p:cNvSpPr>
          <p:nvPr>
            <p:ph type="ftr" sz="quarter" idx="11"/>
          </p:nvPr>
        </p:nvSpPr>
        <p:spPr>
          <a:xfrm>
            <a:off x="19586" y="6437040"/>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2" y="2120908"/>
            <a:ext cx="3027361" cy="749656"/>
          </a:xfrm>
          <a:prstGeom prst="rect">
            <a:avLst/>
          </a:prstGeom>
          <a:solidFill>
            <a:schemeClr val="bg2">
              <a:lumMod val="75000"/>
            </a:schemeClr>
          </a:solidFill>
        </p:spPr>
        <p:txBody>
          <a:bodyPr anchor="ctr">
            <a:normAutofit/>
          </a:bodyPr>
          <a:lstStyle>
            <a:lvl1pPr marL="0" indent="0" algn="l">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fi-FI" dirty="0"/>
              <a:t>Click to edit Sub-Title</a:t>
            </a:r>
          </a:p>
        </p:txBody>
      </p:sp>
      <p:sp>
        <p:nvSpPr>
          <p:cNvPr id="2" name="Title 1"/>
          <p:cNvSpPr>
            <a:spLocks noGrp="1"/>
          </p:cNvSpPr>
          <p:nvPr>
            <p:ph type="title" hasCustomPrompt="1"/>
          </p:nvPr>
        </p:nvSpPr>
        <p:spPr>
          <a:xfrm>
            <a:off x="10012" y="825142"/>
            <a:ext cx="3027361" cy="1295402"/>
          </a:xfrm>
          <a:prstGeom prst="rect">
            <a:avLst/>
          </a:prstGeom>
          <a:solidFill>
            <a:schemeClr val="bg2">
              <a:lumMod val="50000"/>
            </a:schemeClr>
          </a:solidFill>
        </p:spPr>
        <p:txBody>
          <a:bodyPr anchor="ctr">
            <a:noAutofit/>
          </a:bodyPr>
          <a:lstStyle>
            <a:lvl1pPr algn="l">
              <a:defRPr sz="24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3032" y="3018120"/>
            <a:ext cx="9111382" cy="3418918"/>
          </a:xfrm>
          <a:prstGeom prst="rect">
            <a:avLst/>
          </a:prstGeom>
        </p:spPr>
        <p:txBody>
          <a:bodyPr/>
          <a:lstStyle>
            <a:lvl1pPr>
              <a:buNone/>
              <a:defRPr/>
            </a:lvl1pPr>
          </a:lstStyle>
          <a:p>
            <a:r>
              <a:rPr lang="en-US"/>
              <a:t>Click icon to add picture</a:t>
            </a:r>
            <a:endParaRPr/>
          </a:p>
        </p:txBody>
      </p:sp>
      <p:grpSp>
        <p:nvGrpSpPr>
          <p:cNvPr id="15" name="Group 14">
            <a:extLst>
              <a:ext uri="{FF2B5EF4-FFF2-40B4-BE49-F238E27FC236}">
                <a16:creationId xmlns:a16="http://schemas.microsoft.com/office/drawing/2014/main" id="{1BF4F5F9-AAC5-4D3D-A476-22D1497864B4}"/>
              </a:ext>
            </a:extLst>
          </p:cNvPr>
          <p:cNvGrpSpPr/>
          <p:nvPr/>
        </p:nvGrpSpPr>
        <p:grpSpPr>
          <a:xfrm rot="5400000">
            <a:off x="1691243" y="1363000"/>
            <a:ext cx="2870563" cy="144570"/>
            <a:chOff x="284163" y="1577847"/>
            <a:chExt cx="8576373" cy="137411"/>
          </a:xfrm>
        </p:grpSpPr>
        <p:sp>
          <p:nvSpPr>
            <p:cNvPr id="19" name="Rectangle 18">
              <a:extLst>
                <a:ext uri="{FF2B5EF4-FFF2-40B4-BE49-F238E27FC236}">
                  <a16:creationId xmlns:a16="http://schemas.microsoft.com/office/drawing/2014/main" id="{34054437-0C2B-4EA4-BCD0-EB20300C9A6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0" name="Rectangle 19">
              <a:extLst>
                <a:ext uri="{FF2B5EF4-FFF2-40B4-BE49-F238E27FC236}">
                  <a16:creationId xmlns:a16="http://schemas.microsoft.com/office/drawing/2014/main" id="{94113A79-A021-44EB-9A8B-853ED87E4EA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1" name="Rectangle 20">
              <a:extLst>
                <a:ext uri="{FF2B5EF4-FFF2-40B4-BE49-F238E27FC236}">
                  <a16:creationId xmlns:a16="http://schemas.microsoft.com/office/drawing/2014/main" id="{58217D9D-EADB-4D28-8D57-D74A61A49A5B}"/>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22" name="Picture 2" descr="Image result for AIUB logo">
            <a:extLst>
              <a:ext uri="{FF2B5EF4-FFF2-40B4-BE49-F238E27FC236}">
                <a16:creationId xmlns:a16="http://schemas.microsoft.com/office/drawing/2014/main" id="{9709F7AD-D698-4E85-B073-C5FD347519BD}"/>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3" name="Group 22">
            <a:extLst>
              <a:ext uri="{FF2B5EF4-FFF2-40B4-BE49-F238E27FC236}">
                <a16:creationId xmlns:a16="http://schemas.microsoft.com/office/drawing/2014/main" id="{A9A5C3CD-D4A0-456C-9C67-9496728594E4}"/>
              </a:ext>
            </a:extLst>
          </p:cNvPr>
          <p:cNvGrpSpPr/>
          <p:nvPr/>
        </p:nvGrpSpPr>
        <p:grpSpPr>
          <a:xfrm>
            <a:off x="845127" y="376524"/>
            <a:ext cx="2045992" cy="94131"/>
            <a:chOff x="284163" y="1577847"/>
            <a:chExt cx="8576373" cy="137411"/>
          </a:xfrm>
        </p:grpSpPr>
        <p:sp>
          <p:nvSpPr>
            <p:cNvPr id="24" name="Rectangle 23">
              <a:extLst>
                <a:ext uri="{FF2B5EF4-FFF2-40B4-BE49-F238E27FC236}">
                  <a16:creationId xmlns:a16="http://schemas.microsoft.com/office/drawing/2014/main" id="{A3AFA87D-9E43-4362-8A06-069DFD68EB18}"/>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5" name="Rectangle 24">
              <a:extLst>
                <a:ext uri="{FF2B5EF4-FFF2-40B4-BE49-F238E27FC236}">
                  <a16:creationId xmlns:a16="http://schemas.microsoft.com/office/drawing/2014/main" id="{7C0A408D-ECDD-4C8B-83F0-FF46792274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6" name="Rectangle 25">
              <a:extLst>
                <a:ext uri="{FF2B5EF4-FFF2-40B4-BE49-F238E27FC236}">
                  <a16:creationId xmlns:a16="http://schemas.microsoft.com/office/drawing/2014/main" id="{3701F926-1A44-44DB-8AC7-ECE892570695}"/>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17" name="Group 16">
            <a:extLst>
              <a:ext uri="{FF2B5EF4-FFF2-40B4-BE49-F238E27FC236}">
                <a16:creationId xmlns:a16="http://schemas.microsoft.com/office/drawing/2014/main" id="{84679EC3-941B-4F91-BFC7-252046D6479D}"/>
              </a:ext>
            </a:extLst>
          </p:cNvPr>
          <p:cNvGrpSpPr/>
          <p:nvPr/>
        </p:nvGrpSpPr>
        <p:grpSpPr>
          <a:xfrm>
            <a:off x="19586" y="2961403"/>
            <a:ext cx="9124412" cy="56355"/>
            <a:chOff x="284163" y="1577847"/>
            <a:chExt cx="8576373" cy="137411"/>
          </a:xfrm>
        </p:grpSpPr>
        <p:sp>
          <p:nvSpPr>
            <p:cNvPr id="18" name="Rectangle 17">
              <a:extLst>
                <a:ext uri="{FF2B5EF4-FFF2-40B4-BE49-F238E27FC236}">
                  <a16:creationId xmlns:a16="http://schemas.microsoft.com/office/drawing/2014/main" id="{1AFAD572-4C30-469E-AA8F-715E1635B67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7" name="Rectangle 26">
              <a:extLst>
                <a:ext uri="{FF2B5EF4-FFF2-40B4-BE49-F238E27FC236}">
                  <a16:creationId xmlns:a16="http://schemas.microsoft.com/office/drawing/2014/main" id="{894BDEAE-83C6-4745-84C9-88EA58E2141E}"/>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8" name="Rectangle 27">
              <a:extLst>
                <a:ext uri="{FF2B5EF4-FFF2-40B4-BE49-F238E27FC236}">
                  <a16:creationId xmlns:a16="http://schemas.microsoft.com/office/drawing/2014/main" id="{1835369D-0B05-4577-9604-26C23F944728}"/>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grpSp>
        <p:nvGrpSpPr>
          <p:cNvPr id="29" name="Group 28">
            <a:extLst>
              <a:ext uri="{FF2B5EF4-FFF2-40B4-BE49-F238E27FC236}">
                <a16:creationId xmlns:a16="http://schemas.microsoft.com/office/drawing/2014/main" id="{A2F1777A-2E32-409A-A1FC-A790B44E0323}"/>
              </a:ext>
            </a:extLst>
          </p:cNvPr>
          <p:cNvGrpSpPr/>
          <p:nvPr/>
        </p:nvGrpSpPr>
        <p:grpSpPr>
          <a:xfrm>
            <a:off x="19586" y="2961403"/>
            <a:ext cx="9124412" cy="56355"/>
            <a:chOff x="284163" y="1577847"/>
            <a:chExt cx="8576373" cy="137411"/>
          </a:xfrm>
        </p:grpSpPr>
        <p:sp>
          <p:nvSpPr>
            <p:cNvPr id="30" name="Rectangle 29">
              <a:extLst>
                <a:ext uri="{FF2B5EF4-FFF2-40B4-BE49-F238E27FC236}">
                  <a16:creationId xmlns:a16="http://schemas.microsoft.com/office/drawing/2014/main" id="{68EAED6F-A157-4ACB-8E60-EDC2A8788B8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1" name="Rectangle 30">
              <a:extLst>
                <a:ext uri="{FF2B5EF4-FFF2-40B4-BE49-F238E27FC236}">
                  <a16:creationId xmlns:a16="http://schemas.microsoft.com/office/drawing/2014/main" id="{2C06A898-136A-48F4-88ED-A7B7380BFC72}"/>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32" name="Rectangle 31">
              <a:extLst>
                <a:ext uri="{FF2B5EF4-FFF2-40B4-BE49-F238E27FC236}">
                  <a16:creationId xmlns:a16="http://schemas.microsoft.com/office/drawing/2014/main" id="{A491EEDB-CB52-45C5-A4C7-E1A74AD976B9}"/>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7" name="Content Placeholder 6">
            <a:extLst>
              <a:ext uri="{FF2B5EF4-FFF2-40B4-BE49-F238E27FC236}">
                <a16:creationId xmlns:a16="http://schemas.microsoft.com/office/drawing/2014/main" id="{EF04E520-C1FA-43ED-B1FB-7EEC95054D0D}"/>
              </a:ext>
            </a:extLst>
          </p:cNvPr>
          <p:cNvSpPr>
            <a:spLocks noGrp="1"/>
          </p:cNvSpPr>
          <p:nvPr>
            <p:ph sz="quarter" idx="14"/>
          </p:nvPr>
        </p:nvSpPr>
        <p:spPr>
          <a:xfrm>
            <a:off x="3198814" y="-3175"/>
            <a:ext cx="5926137" cy="29638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88266909"/>
      </p:ext>
    </p:extLst>
  </p:cSld>
  <p:clrMapOvr>
    <a:masterClrMapping/>
  </p:clrMapOvr>
  <p:hf hd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611732" y="4955894"/>
            <a:ext cx="4487951"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611732" y="5760756"/>
            <a:ext cx="4487951" cy="566738"/>
          </a:xfrm>
          <a:prstGeom prst="rect">
            <a:avLst/>
          </a:prstGeom>
          <a:solidFill>
            <a:schemeClr val="bg2">
              <a:lumMod val="75000"/>
            </a:schemeClr>
          </a:solidFill>
        </p:spPr>
        <p:txBody>
          <a:bodyPr anchor="ctr">
            <a:normAutofit/>
          </a:bodyPr>
          <a:lstStyle>
            <a:lvl1pPr marL="0" indent="0">
              <a:spcBef>
                <a:spcPts val="0"/>
              </a:spcBef>
              <a:buNone/>
              <a:defRPr sz="20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2" y="813356"/>
            <a:ext cx="4283267"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4" y="3650022"/>
            <a:ext cx="4281053"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247281" y="3117286"/>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99455" y="357962"/>
            <a:ext cx="3295091" cy="103544"/>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
        <p:nvSpPr>
          <p:cNvPr id="5" name="Content Placeholder 4">
            <a:extLst>
              <a:ext uri="{FF2B5EF4-FFF2-40B4-BE49-F238E27FC236}">
                <a16:creationId xmlns:a16="http://schemas.microsoft.com/office/drawing/2014/main" id="{C4F520B4-FEA5-40A6-A63E-7A2FBCA9F0CD}"/>
              </a:ext>
            </a:extLst>
          </p:cNvPr>
          <p:cNvSpPr>
            <a:spLocks noGrp="1"/>
          </p:cNvSpPr>
          <p:nvPr>
            <p:ph sz="quarter" idx="15"/>
          </p:nvPr>
        </p:nvSpPr>
        <p:spPr>
          <a:xfrm>
            <a:off x="4616451" y="-22225"/>
            <a:ext cx="4483100" cy="4977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914324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3 Pictures with Caption">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236395" y="4955894"/>
            <a:ext cx="5904853" cy="804862"/>
          </a:xfrm>
          <a:prstGeom prst="rect">
            <a:avLst/>
          </a:prstGeom>
          <a:solidFill>
            <a:schemeClr val="bg2">
              <a:lumMod val="50000"/>
            </a:schemeClr>
          </a:solidFill>
        </p:spPr>
        <p:txBody>
          <a:bodyPr vert="horz" lIns="91440" tIns="45720" rIns="91440" bIns="45720" rtlCol="0" anchor="ctr" anchorCtr="0">
            <a:noAutofit/>
          </a:bodyPr>
          <a:lstStyle>
            <a:lvl1pPr algn="l" defTabSz="289322" rtl="0" eaLnBrk="1" latinLnBrk="0" hangingPunct="1">
              <a:spcBef>
                <a:spcPct val="0"/>
              </a:spcBef>
              <a:buNone/>
              <a:defRPr sz="2400" b="1" i="0" kern="1200" cap="small" baseline="0">
                <a:solidFill>
                  <a:schemeClr val="bg1"/>
                </a:solidFill>
                <a:latin typeface="+mj-lt"/>
                <a:ea typeface="+mj-ea"/>
                <a:cs typeface="+mj-cs"/>
              </a:defRPr>
            </a:lvl1pPr>
          </a:lstStyle>
          <a:p>
            <a:r>
              <a:rPr lang="en-US" dirty="0"/>
              <a:t>Click to edit title</a:t>
            </a:r>
            <a:endParaRPr dirty="0"/>
          </a:p>
        </p:txBody>
      </p:sp>
      <p:sp>
        <p:nvSpPr>
          <p:cNvPr id="3" name="Picture Placeholder 2"/>
          <p:cNvSpPr>
            <a:spLocks noGrp="1"/>
          </p:cNvSpPr>
          <p:nvPr>
            <p:ph type="pic" idx="1"/>
          </p:nvPr>
        </p:nvSpPr>
        <p:spPr>
          <a:xfrm>
            <a:off x="3220183" y="14286"/>
            <a:ext cx="5904853" cy="4932247"/>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4" name="Text Placeholder 3"/>
          <p:cNvSpPr>
            <a:spLocks noGrp="1"/>
          </p:cNvSpPr>
          <p:nvPr>
            <p:ph type="body" sz="half" idx="2" hasCustomPrompt="1"/>
          </p:nvPr>
        </p:nvSpPr>
        <p:spPr>
          <a:xfrm>
            <a:off x="3236395" y="5760756"/>
            <a:ext cx="5904853" cy="566738"/>
          </a:xfrm>
          <a:prstGeom prst="rect">
            <a:avLst/>
          </a:prstGeom>
          <a:solidFill>
            <a:schemeClr val="bg2">
              <a:lumMod val="75000"/>
            </a:schemeClr>
          </a:solidFill>
        </p:spPr>
        <p:txBody>
          <a:bodyPr anchor="ctr">
            <a:noAutofit/>
          </a:bodyPr>
          <a:lstStyle>
            <a:lvl1pPr marL="0" indent="0">
              <a:spcBef>
                <a:spcPts val="0"/>
              </a:spcBef>
              <a:buNone/>
              <a:defRPr sz="1800" b="1" cap="small" baseline="0">
                <a:solidFill>
                  <a:schemeClr val="bg1"/>
                </a:solidFill>
              </a:defRPr>
            </a:lvl1pPr>
            <a:lvl2pPr marL="144661" indent="0">
              <a:buNone/>
              <a:defRPr sz="380"/>
            </a:lvl2pPr>
            <a:lvl3pPr marL="289322" indent="0">
              <a:buNone/>
              <a:defRPr sz="316"/>
            </a:lvl3pPr>
            <a:lvl4pPr marL="433983" indent="0">
              <a:buNone/>
              <a:defRPr sz="285"/>
            </a:lvl4pPr>
            <a:lvl5pPr marL="578644" indent="0">
              <a:buNone/>
              <a:defRPr sz="285"/>
            </a:lvl5pPr>
            <a:lvl6pPr marL="723305" indent="0">
              <a:buNone/>
              <a:defRPr sz="285"/>
            </a:lvl6pPr>
            <a:lvl7pPr marL="867966" indent="0">
              <a:buNone/>
              <a:defRPr sz="285"/>
            </a:lvl7pPr>
            <a:lvl8pPr marL="1012627" indent="0">
              <a:buNone/>
              <a:defRPr sz="285"/>
            </a:lvl8pPr>
            <a:lvl9pPr marL="1157288" indent="0">
              <a:buNone/>
              <a:defRPr sz="285"/>
            </a:lvl9pPr>
          </a:lstStyle>
          <a:p>
            <a:pPr lvl="0"/>
            <a:r>
              <a:rPr lang="en-US" dirty="0"/>
              <a:t>Click to edit sub-title</a:t>
            </a:r>
          </a:p>
        </p:txBody>
      </p:sp>
      <p:sp>
        <p:nvSpPr>
          <p:cNvPr id="6" name="Footer Placeholder 5"/>
          <p:cNvSpPr>
            <a:spLocks noGrp="1"/>
          </p:cNvSpPr>
          <p:nvPr>
            <p:ph type="ftr" sz="quarter" idx="11"/>
          </p:nvPr>
        </p:nvSpPr>
        <p:spPr>
          <a:xfrm>
            <a:off x="61148" y="6437040"/>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2990163" cy="2780144"/>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a:p>
        </p:txBody>
      </p:sp>
      <p:sp>
        <p:nvSpPr>
          <p:cNvPr id="14" name="Picture Placeholder 2"/>
          <p:cNvSpPr>
            <a:spLocks noGrp="1"/>
          </p:cNvSpPr>
          <p:nvPr>
            <p:ph type="pic" idx="14"/>
          </p:nvPr>
        </p:nvSpPr>
        <p:spPr>
          <a:xfrm>
            <a:off x="33222" y="3650022"/>
            <a:ext cx="2987790" cy="2730488"/>
          </a:xfrm>
          <a:prstGeom prst="rect">
            <a:avLst/>
          </a:prstGeom>
        </p:spPr>
        <p:txBody>
          <a:bodyPr>
            <a:normAutofit/>
          </a:bodyPr>
          <a:lstStyle>
            <a:lvl1pPr marL="0" indent="0">
              <a:buNone/>
              <a:defRPr sz="760"/>
            </a:lvl1pPr>
            <a:lvl2pPr marL="144661" indent="0">
              <a:buNone/>
              <a:defRPr sz="886"/>
            </a:lvl2pPr>
            <a:lvl3pPr marL="289322" indent="0">
              <a:buNone/>
              <a:defRPr sz="760"/>
            </a:lvl3pPr>
            <a:lvl4pPr marL="433983" indent="0">
              <a:buNone/>
              <a:defRPr sz="633"/>
            </a:lvl4pPr>
            <a:lvl5pPr marL="578644" indent="0">
              <a:buNone/>
              <a:defRPr sz="633"/>
            </a:lvl5pPr>
            <a:lvl6pPr marL="723305" indent="0">
              <a:buNone/>
              <a:defRPr sz="633"/>
            </a:lvl6pPr>
            <a:lvl7pPr marL="867966" indent="0">
              <a:buNone/>
              <a:defRPr sz="633"/>
            </a:lvl7pPr>
            <a:lvl8pPr marL="1012627" indent="0">
              <a:buNone/>
              <a:defRPr sz="633"/>
            </a:lvl8pPr>
            <a:lvl9pPr marL="1157288" indent="0">
              <a:buNone/>
              <a:defRPr sz="633"/>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85560" y="313980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4"/>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570"/>
            </a:p>
          </p:txBody>
        </p:sp>
      </p:grpSp>
    </p:spTree>
    <p:extLst>
      <p:ext uri="{BB962C8B-B14F-4D97-AF65-F5344CB8AC3E}">
        <p14:creationId xmlns:p14="http://schemas.microsoft.com/office/powerpoint/2010/main" val="1627072164"/>
      </p:ext>
    </p:extLst>
  </p:cSld>
  <p:clrMapOvr>
    <a:overrideClrMapping bg1="lt1" tx1="dk1" bg2="lt2" tx2="dk2" accent1="accent1" accent2="accent2" accent3="accent3" accent4="accent4" accent5="accent5" accent6="accent6" hlink="hlink" folHlink="folHlink"/>
  </p:clrMapOvr>
  <p:hf hdr="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ission &amp; Vision">
    <p:spTree>
      <p:nvGrpSpPr>
        <p:cNvPr id="1" name=""/>
        <p:cNvGrpSpPr/>
        <p:nvPr/>
      </p:nvGrpSpPr>
      <p:grpSpPr>
        <a:xfrm>
          <a:off x="0" y="0"/>
          <a:ext cx="0" cy="0"/>
          <a:chOff x="0" y="0"/>
          <a:chExt cx="0" cy="0"/>
        </a:xfrm>
      </p:grpSpPr>
      <p:grpSp>
        <p:nvGrpSpPr>
          <p:cNvPr id="11" name="Group 10"/>
          <p:cNvGrpSpPr/>
          <p:nvPr/>
        </p:nvGrpSpPr>
        <p:grpSpPr>
          <a:xfrm rot="5400000">
            <a:off x="2738521" y="2916283"/>
            <a:ext cx="3892454" cy="130602"/>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CEDEE83-FAFE-4DBD-8381-923287B5D359}"/>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0" name="TextBox 19">
            <a:extLst>
              <a:ext uri="{FF2B5EF4-FFF2-40B4-BE49-F238E27FC236}">
                <a16:creationId xmlns:a16="http://schemas.microsoft.com/office/drawing/2014/main" id="{43E2F543-4B76-4677-882A-2A87F5D0F0BA}"/>
              </a:ext>
            </a:extLst>
          </p:cNvPr>
          <p:cNvSpPr txBox="1"/>
          <p:nvPr/>
        </p:nvSpPr>
        <p:spPr>
          <a:xfrm>
            <a:off x="0" y="1201317"/>
            <a:ext cx="4572000" cy="369332"/>
          </a:xfrm>
          <a:prstGeom prst="rect">
            <a:avLst/>
          </a:prstGeom>
          <a:noFill/>
        </p:spPr>
        <p:txBody>
          <a:bodyPr wrap="square" rtlCol="0">
            <a:spAutoFit/>
          </a:bodyPr>
          <a:lstStyle/>
          <a:p>
            <a:pPr algn="ctr"/>
            <a:r>
              <a:rPr lang="en-US" b="1" dirty="0">
                <a:solidFill>
                  <a:schemeClr val="tx1"/>
                </a:solidFill>
              </a:rPr>
              <a:t>American International University-Bangladesh</a:t>
            </a:r>
          </a:p>
        </p:txBody>
      </p:sp>
      <p:sp>
        <p:nvSpPr>
          <p:cNvPr id="21" name="TextBox 20">
            <a:extLst>
              <a:ext uri="{FF2B5EF4-FFF2-40B4-BE49-F238E27FC236}">
                <a16:creationId xmlns:a16="http://schemas.microsoft.com/office/drawing/2014/main" id="{411B5F34-93B2-4082-86C1-5DED06698B8C}"/>
              </a:ext>
            </a:extLst>
          </p:cNvPr>
          <p:cNvSpPr txBox="1"/>
          <p:nvPr/>
        </p:nvSpPr>
        <p:spPr>
          <a:xfrm>
            <a:off x="114490" y="5281054"/>
            <a:ext cx="4564358" cy="1107996"/>
          </a:xfrm>
          <a:prstGeom prst="rect">
            <a:avLst/>
          </a:prstGeom>
          <a:noFill/>
        </p:spPr>
        <p:txBody>
          <a:bodyPr wrap="square" rtlCol="0">
            <a:spAutoFit/>
          </a:bodyPr>
          <a:lstStyle/>
          <a:p>
            <a:pPr algn="just"/>
            <a:r>
              <a:rPr lang="en-US" sz="1800" b="1" i="0" kern="1200" dirty="0">
                <a:solidFill>
                  <a:srgbClr val="004EA8"/>
                </a:solidFill>
                <a:effectLst/>
                <a:latin typeface="+mn-lt"/>
                <a:ea typeface="+mn-ea"/>
                <a:cs typeface="+mn-cs"/>
              </a:rPr>
              <a:t>Vision: </a:t>
            </a:r>
            <a:r>
              <a:rPr lang="en-US" sz="1600" kern="1200" dirty="0">
                <a:solidFill>
                  <a:srgbClr val="004EA8"/>
                </a:solidFill>
                <a:latin typeface="+mn-lt"/>
                <a:ea typeface="+mn-ea"/>
                <a:cs typeface="+mn-cs"/>
              </a:rPr>
              <a:t>The Faculty of Science and Technology is committed to equip students with world class scientific research and industry-oriented knowledge and skills.</a:t>
            </a:r>
          </a:p>
        </p:txBody>
      </p:sp>
      <p:sp>
        <p:nvSpPr>
          <p:cNvPr id="7" name="TextBox 6">
            <a:extLst>
              <a:ext uri="{FF2B5EF4-FFF2-40B4-BE49-F238E27FC236}">
                <a16:creationId xmlns:a16="http://schemas.microsoft.com/office/drawing/2014/main" id="{305A9FB5-E3AF-434A-9216-D167818705BD}"/>
              </a:ext>
            </a:extLst>
          </p:cNvPr>
          <p:cNvSpPr txBox="1"/>
          <p:nvPr/>
        </p:nvSpPr>
        <p:spPr>
          <a:xfrm>
            <a:off x="0" y="1651077"/>
            <a:ext cx="4637117" cy="3031599"/>
          </a:xfrm>
          <a:prstGeom prst="rect">
            <a:avLst/>
          </a:prstGeom>
          <a:noFill/>
        </p:spPr>
        <p:txBody>
          <a:bodyPr wrap="square" rtlCol="0">
            <a:spAutoFit/>
          </a:bodyPr>
          <a:lstStyle/>
          <a:p>
            <a:pPr algn="just">
              <a:spcBef>
                <a:spcPts val="0"/>
              </a:spcBef>
            </a:pPr>
            <a:r>
              <a:rPr lang="en-US" sz="1550" b="1" i="0" kern="1200" dirty="0">
                <a:solidFill>
                  <a:schemeClr val="tx1"/>
                </a:solidFill>
                <a:effectLst/>
                <a:latin typeface="+mn-lt"/>
                <a:ea typeface="+mn-ea"/>
                <a:cs typeface="+mn-cs"/>
              </a:rPr>
              <a:t>Vision: </a:t>
            </a:r>
            <a:r>
              <a:rPr lang="en-US" sz="1550" b="0" i="0" dirty="0">
                <a:solidFill>
                  <a:schemeClr val="tx1"/>
                </a:solidFill>
                <a:effectLst/>
                <a:latin typeface="+mn-lt"/>
              </a:rPr>
              <a:t>AMERICAN INTERNATIONAL UNIVERSITY-BANGLADESH (AIUB) envisions promoting professionals and excellent leadership catering to the technological progress and development needs of the country.</a:t>
            </a:r>
          </a:p>
          <a:p>
            <a:pPr algn="just">
              <a:spcBef>
                <a:spcPts val="600"/>
              </a:spcBef>
            </a:pPr>
            <a:r>
              <a:rPr lang="en-US" sz="1550" b="1" i="0" dirty="0">
                <a:solidFill>
                  <a:schemeClr val="tx1"/>
                </a:solidFill>
                <a:effectLst/>
                <a:latin typeface="+mn-lt"/>
              </a:rPr>
              <a:t>Mission: </a:t>
            </a:r>
            <a:r>
              <a:rPr lang="en-US" sz="1550" b="0" i="0" dirty="0">
                <a:solidFill>
                  <a:schemeClr val="tx1"/>
                </a:solidFill>
                <a:effectLst/>
                <a:latin typeface="+mn-lt"/>
              </a:rPr>
              <a:t>AMERICAN INTERNATIONAL UNIVERSITY-BANGLADESH (AIUB) is committed to provide quality and excellent computer-based academic programs responsive to the emerging challenges of the time. It is dedicated to nurture and produce competent world class professional imbued with strong sense of ethical values ready to face the competitive world of arts, business, science, social science and technology.</a:t>
            </a:r>
            <a:endParaRPr lang="en-US" sz="1550" b="0" dirty="0">
              <a:solidFill>
                <a:schemeClr val="tx1"/>
              </a:solidFill>
              <a:latin typeface="+mn-lt"/>
            </a:endParaRPr>
          </a:p>
        </p:txBody>
      </p:sp>
      <p:sp>
        <p:nvSpPr>
          <p:cNvPr id="22" name="TextBox 21">
            <a:extLst>
              <a:ext uri="{FF2B5EF4-FFF2-40B4-BE49-F238E27FC236}">
                <a16:creationId xmlns:a16="http://schemas.microsoft.com/office/drawing/2014/main" id="{36E669BC-32E3-47A9-82A8-9D07E3B007A0}"/>
              </a:ext>
            </a:extLst>
          </p:cNvPr>
          <p:cNvSpPr txBox="1"/>
          <p:nvPr/>
        </p:nvSpPr>
        <p:spPr>
          <a:xfrm>
            <a:off x="4747890" y="5244420"/>
            <a:ext cx="4415444" cy="1323439"/>
          </a:xfrm>
          <a:prstGeom prst="rect">
            <a:avLst/>
          </a:prstGeom>
          <a:noFill/>
        </p:spPr>
        <p:txBody>
          <a:bodyPr wrap="square" rtlCol="0">
            <a:spAutoFit/>
          </a:bodyPr>
          <a:lstStyle/>
          <a:p>
            <a:pPr algn="just"/>
            <a:r>
              <a:rPr lang="en-US" sz="1600" b="1" i="0" dirty="0">
                <a:solidFill>
                  <a:srgbClr val="004EA8"/>
                </a:solidFill>
                <a:effectLst/>
                <a:latin typeface="+mn-lt"/>
              </a:rPr>
              <a:t>Mission: </a:t>
            </a:r>
            <a:r>
              <a:rPr lang="en-US" sz="1600" kern="1200" dirty="0">
                <a:solidFill>
                  <a:srgbClr val="004EA8"/>
                </a:solidFill>
                <a:latin typeface="+mn-lt"/>
                <a:ea typeface="+mn-ea"/>
                <a:cs typeface="+mn-cs"/>
              </a:rPr>
              <a:t>To create highly skilled and globally competitive professionals with advanced theoretical and applied knowledge responsive to the needs of the society in the discipline of science and technology.</a:t>
            </a:r>
          </a:p>
        </p:txBody>
      </p:sp>
      <p:sp>
        <p:nvSpPr>
          <p:cNvPr id="16" name="TextBox 15">
            <a:extLst>
              <a:ext uri="{FF2B5EF4-FFF2-40B4-BE49-F238E27FC236}">
                <a16:creationId xmlns:a16="http://schemas.microsoft.com/office/drawing/2014/main" id="{8074BD07-0EFB-4C90-9394-3C92D2488C0C}"/>
              </a:ext>
            </a:extLst>
          </p:cNvPr>
          <p:cNvSpPr txBox="1"/>
          <p:nvPr/>
        </p:nvSpPr>
        <p:spPr>
          <a:xfrm>
            <a:off x="117486" y="101119"/>
            <a:ext cx="7621950" cy="892552"/>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spcBef>
                <a:spcPts val="0"/>
              </a:spcBef>
              <a:spcAft>
                <a:spcPts val="0"/>
              </a:spcAft>
            </a:pPr>
            <a:r>
              <a:rPr lang="en-US" sz="4000" b="1" i="0" cap="small" baseline="0" dirty="0">
                <a:solidFill>
                  <a:schemeClr val="bg1"/>
                </a:solidFill>
              </a:rPr>
              <a:t>Mission &amp; Vision</a:t>
            </a:r>
          </a:p>
          <a:p>
            <a:pPr algn="ctr"/>
            <a:endParaRPr lang="en-US" sz="600" b="1" i="0" cap="small" baseline="0" dirty="0">
              <a:solidFill>
                <a:schemeClr val="bg1"/>
              </a:solidFill>
            </a:endParaRPr>
          </a:p>
        </p:txBody>
      </p:sp>
      <p:sp>
        <p:nvSpPr>
          <p:cNvPr id="23" name="TextBox 22">
            <a:extLst>
              <a:ext uri="{FF2B5EF4-FFF2-40B4-BE49-F238E27FC236}">
                <a16:creationId xmlns:a16="http://schemas.microsoft.com/office/drawing/2014/main" id="{27271016-6EAB-4AD8-A786-64E4AAD6CCD3}"/>
              </a:ext>
            </a:extLst>
          </p:cNvPr>
          <p:cNvSpPr txBox="1"/>
          <p:nvPr/>
        </p:nvSpPr>
        <p:spPr>
          <a:xfrm>
            <a:off x="2189595" y="4888350"/>
            <a:ext cx="4564358" cy="369332"/>
          </a:xfrm>
          <a:prstGeom prst="rect">
            <a:avLst/>
          </a:prstGeom>
          <a:noFill/>
        </p:spPr>
        <p:txBody>
          <a:bodyPr wrap="square" rtlCol="0">
            <a:spAutoFit/>
          </a:bodyPr>
          <a:lstStyle/>
          <a:p>
            <a:pPr algn="ctr"/>
            <a:r>
              <a:rPr lang="en-US" b="1" dirty="0">
                <a:solidFill>
                  <a:srgbClr val="004EA8"/>
                </a:solidFill>
              </a:rPr>
              <a:t>Faculty of Science &amp; Technology</a:t>
            </a:r>
          </a:p>
        </p:txBody>
      </p:sp>
      <p:sp>
        <p:nvSpPr>
          <p:cNvPr id="26" name="TextBox 25">
            <a:extLst>
              <a:ext uri="{FF2B5EF4-FFF2-40B4-BE49-F238E27FC236}">
                <a16:creationId xmlns:a16="http://schemas.microsoft.com/office/drawing/2014/main" id="{B313C981-553F-4AEF-8558-BB2F43844A97}"/>
              </a:ext>
            </a:extLst>
          </p:cNvPr>
          <p:cNvSpPr txBox="1"/>
          <p:nvPr/>
        </p:nvSpPr>
        <p:spPr>
          <a:xfrm>
            <a:off x="4747890" y="1506507"/>
            <a:ext cx="4415444" cy="3270126"/>
          </a:xfrm>
          <a:prstGeom prst="rect">
            <a:avLst/>
          </a:prstGeom>
          <a:noFill/>
        </p:spPr>
        <p:txBody>
          <a:bodyPr wrap="square" rtlCol="0">
            <a:spAutoFit/>
          </a:bodyPr>
          <a:lstStyle/>
          <a:p>
            <a:pPr algn="just"/>
            <a:r>
              <a:rPr lang="en-US" sz="1550" b="1" i="0" kern="1200" dirty="0">
                <a:solidFill>
                  <a:srgbClr val="7030A0"/>
                </a:solidFill>
                <a:effectLst/>
                <a:latin typeface="+mn-lt"/>
                <a:ea typeface="+mn-ea"/>
                <a:cs typeface="+mn-cs"/>
              </a:rPr>
              <a:t>Vision: </a:t>
            </a:r>
            <a:r>
              <a:rPr lang="en-US" sz="1550" kern="1200" dirty="0">
                <a:solidFill>
                  <a:srgbClr val="7030A0"/>
                </a:solidFill>
                <a:latin typeface="+mn-lt"/>
                <a:ea typeface="+mn-ea"/>
                <a:cs typeface="+mn-cs"/>
              </a:rPr>
              <a:t>Our vision is to be the preeminent Department of Computer Science through creating recognized professionals who will provide innovative solutions by leveraging contemporary research methods and development techniques of computing that is in line with the national and global context.</a:t>
            </a:r>
          </a:p>
          <a:p>
            <a:pPr algn="just">
              <a:spcBef>
                <a:spcPts val="600"/>
              </a:spcBef>
            </a:pPr>
            <a:r>
              <a:rPr lang="en-US" sz="1550" b="1" i="0" dirty="0">
                <a:solidFill>
                  <a:srgbClr val="7030A0"/>
                </a:solidFill>
                <a:effectLst/>
                <a:latin typeface="+mn-lt"/>
              </a:rPr>
              <a:t>Mission: </a:t>
            </a:r>
            <a:r>
              <a:rPr lang="en-US" sz="1550" kern="1200" dirty="0">
                <a:solidFill>
                  <a:srgbClr val="7030A0"/>
                </a:solidFill>
                <a:latin typeface="+mn-lt"/>
                <a:ea typeface="+mn-ea"/>
                <a:cs typeface="+mn-cs"/>
              </a:rPr>
              <a:t>The mission of the Department of Computer Science of AIUB is to educate students in a student-centric dynamic learning environment; to provide advanced facilities for conducting innovative research and development to meet the challenges of the modern era of computing, and to motivate them towards a life-long learning process.</a:t>
            </a:r>
          </a:p>
        </p:txBody>
      </p:sp>
      <p:sp>
        <p:nvSpPr>
          <p:cNvPr id="27" name="TextBox 26">
            <a:extLst>
              <a:ext uri="{FF2B5EF4-FFF2-40B4-BE49-F238E27FC236}">
                <a16:creationId xmlns:a16="http://schemas.microsoft.com/office/drawing/2014/main" id="{CECE72D9-A752-42CB-8761-B8D151CDE5EC}"/>
              </a:ext>
            </a:extLst>
          </p:cNvPr>
          <p:cNvSpPr txBox="1"/>
          <p:nvPr/>
        </p:nvSpPr>
        <p:spPr>
          <a:xfrm>
            <a:off x="4567782" y="1178740"/>
            <a:ext cx="4564358" cy="369332"/>
          </a:xfrm>
          <a:prstGeom prst="rect">
            <a:avLst/>
          </a:prstGeom>
          <a:noFill/>
        </p:spPr>
        <p:txBody>
          <a:bodyPr wrap="square" rtlCol="0">
            <a:spAutoFit/>
          </a:bodyPr>
          <a:lstStyle/>
          <a:p>
            <a:pPr algn="ctr"/>
            <a:r>
              <a:rPr lang="en-US" b="1" dirty="0">
                <a:solidFill>
                  <a:srgbClr val="7030A0"/>
                </a:solidFill>
              </a:rPr>
              <a:t>Department of Computer Science</a:t>
            </a:r>
          </a:p>
        </p:txBody>
      </p:sp>
      <p:grpSp>
        <p:nvGrpSpPr>
          <p:cNvPr id="28" name="Group 27">
            <a:extLst>
              <a:ext uri="{FF2B5EF4-FFF2-40B4-BE49-F238E27FC236}">
                <a16:creationId xmlns:a16="http://schemas.microsoft.com/office/drawing/2014/main" id="{5FF880C0-C2D1-4E4C-9789-CA877BB8B536}"/>
              </a:ext>
            </a:extLst>
          </p:cNvPr>
          <p:cNvGrpSpPr/>
          <p:nvPr/>
        </p:nvGrpSpPr>
        <p:grpSpPr>
          <a:xfrm>
            <a:off x="152400" y="4817017"/>
            <a:ext cx="9005455" cy="121616"/>
            <a:chOff x="284163" y="1577847"/>
            <a:chExt cx="8576373" cy="137411"/>
          </a:xfrm>
        </p:grpSpPr>
        <p:sp>
          <p:nvSpPr>
            <p:cNvPr id="29" name="Rectangle 28">
              <a:extLst>
                <a:ext uri="{FF2B5EF4-FFF2-40B4-BE49-F238E27FC236}">
                  <a16:creationId xmlns:a16="http://schemas.microsoft.com/office/drawing/2014/main" id="{839641B2-8010-449D-94C5-AC23C56EF0C4}"/>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0" name="Rectangle 29">
              <a:extLst>
                <a:ext uri="{FF2B5EF4-FFF2-40B4-BE49-F238E27FC236}">
                  <a16:creationId xmlns:a16="http://schemas.microsoft.com/office/drawing/2014/main" id="{871E5DAE-6AA4-49D6-A0E3-4A4752AB479A}"/>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E48749CA-D36E-499C-B6E3-FECC525A0191}"/>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4069893629"/>
      </p:ext>
    </p:extLst>
  </p:cSld>
  <p:clrMapOvr>
    <a:masterClrMapping/>
  </p:clrMapOvr>
  <p:hf hd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Policies">
    <p:spTree>
      <p:nvGrpSpPr>
        <p:cNvPr id="1" name=""/>
        <p:cNvGrpSpPr/>
        <p:nvPr/>
      </p:nvGrpSpPr>
      <p:grpSpPr>
        <a:xfrm>
          <a:off x="0" y="0"/>
          <a:ext cx="0" cy="0"/>
          <a:chOff x="0" y="0"/>
          <a:chExt cx="0" cy="0"/>
        </a:xfrm>
      </p:grpSpPr>
      <p:grpSp>
        <p:nvGrpSpPr>
          <p:cNvPr id="9" name="Group 8"/>
          <p:cNvGrpSpPr/>
          <p:nvPr/>
        </p:nvGrpSpPr>
        <p:grpSpPr>
          <a:xfrm>
            <a:off x="199700" y="1117965"/>
            <a:ext cx="8576373" cy="137411"/>
            <a:chOff x="284163" y="1577847"/>
            <a:chExt cx="8576373" cy="137411"/>
          </a:xfrm>
        </p:grpSpPr>
        <p:sp>
          <p:nvSpPr>
            <p:cNvPr id="10" name="Rectangle 9"/>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2" name="Rectangle 11"/>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Content Placeholder 2"/>
          <p:cNvSpPr>
            <a:spLocks noGrp="1"/>
          </p:cNvSpPr>
          <p:nvPr>
            <p:ph sz="half" idx="1" hasCustomPrompt="1"/>
          </p:nvPr>
        </p:nvSpPr>
        <p:spPr>
          <a:xfrm>
            <a:off x="0" y="1241517"/>
            <a:ext cx="4486216"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Class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Content Placeholder 3"/>
          <p:cNvSpPr>
            <a:spLocks noGrp="1"/>
          </p:cNvSpPr>
          <p:nvPr>
            <p:ph sz="half" idx="2" hasCustomPrompt="1"/>
          </p:nvPr>
        </p:nvSpPr>
        <p:spPr>
          <a:xfrm>
            <a:off x="4600095" y="1241517"/>
            <a:ext cx="4543907" cy="5181660"/>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fi-FI" dirty="0"/>
              <a:t>Click to edit Course Policies</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6" name="Footer Placeholder 5"/>
          <p:cNvSpPr>
            <a:spLocks noGrp="1"/>
          </p:cNvSpPr>
          <p:nvPr>
            <p:ph type="ftr" sz="quarter" idx="11"/>
          </p:nvPr>
        </p:nvSpPr>
        <p:spPr>
          <a:xfrm>
            <a:off x="5728" y="6450891"/>
            <a:ext cx="6124902" cy="365125"/>
          </a:xfrm>
          <a:prstGeom prst="rect">
            <a:avLst/>
          </a:prstGeom>
        </p:spPr>
        <p:txBody>
          <a:bodyPr/>
          <a:lstStyle>
            <a:lvl1pPr>
              <a:defRPr sz="1200"/>
            </a:lvl1pPr>
          </a:lstStyle>
          <a:p>
            <a:r>
              <a:rPr lang="en-US"/>
              <a:t>CSC3113: Theory of Computation</a:t>
            </a:r>
          </a:p>
        </p:txBody>
      </p:sp>
      <p:sp>
        <p:nvSpPr>
          <p:cNvPr id="13" name="Rectangle 12">
            <a:extLst>
              <a:ext uri="{FF2B5EF4-FFF2-40B4-BE49-F238E27FC236}">
                <a16:creationId xmlns:a16="http://schemas.microsoft.com/office/drawing/2014/main" id="{4EA8B8D1-F9C5-452D-ADEC-F8665E1C2ED4}"/>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6" name="Picture 2" descr="Image result for AIUB logo">
            <a:extLst>
              <a:ext uri="{FF2B5EF4-FFF2-40B4-BE49-F238E27FC236}">
                <a16:creationId xmlns:a16="http://schemas.microsoft.com/office/drawing/2014/main" id="{003CA08F-CB81-462F-838C-6E7B88B87AE4}"/>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D7A32B08-ADDB-46D8-A9C9-DAAE2926D273}"/>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
        <p:nvSpPr>
          <p:cNvPr id="14" name="TextBox 13">
            <a:extLst>
              <a:ext uri="{FF2B5EF4-FFF2-40B4-BE49-F238E27FC236}">
                <a16:creationId xmlns:a16="http://schemas.microsoft.com/office/drawing/2014/main" id="{6656A384-BF04-4F7C-AE8F-220230A3DB7C}"/>
              </a:ext>
            </a:extLst>
          </p:cNvPr>
          <p:cNvSpPr txBox="1"/>
          <p:nvPr/>
        </p:nvSpPr>
        <p:spPr>
          <a:xfrm>
            <a:off x="117486" y="85732"/>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Class &amp; Course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37326557"/>
      </p:ext>
    </p:extLst>
  </p:cSld>
  <p:clrMapOvr>
    <a:masterClrMapping/>
  </p:clrMapOvr>
  <p:hf hd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Evaluation">
    <p:spTree>
      <p:nvGrpSpPr>
        <p:cNvPr id="1" name=""/>
        <p:cNvGrpSpPr/>
        <p:nvPr/>
      </p:nvGrpSpPr>
      <p:grpSpPr>
        <a:xfrm>
          <a:off x="0" y="0"/>
          <a:ext cx="0" cy="0"/>
          <a:chOff x="0" y="0"/>
          <a:chExt cx="0" cy="0"/>
        </a:xfrm>
      </p:grpSpPr>
      <p:grpSp>
        <p:nvGrpSpPr>
          <p:cNvPr id="11" name="Group 10"/>
          <p:cNvGrpSpPr/>
          <p:nvPr/>
        </p:nvGrpSpPr>
        <p:grpSpPr>
          <a:xfrm>
            <a:off x="294416" y="1147036"/>
            <a:ext cx="8576373" cy="137411"/>
            <a:chOff x="284163" y="1577847"/>
            <a:chExt cx="8576373" cy="137411"/>
          </a:xfrm>
        </p:grpSpPr>
        <p:sp>
          <p:nvSpPr>
            <p:cNvPr id="12" name="Rectangle 11"/>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4" name="Rectangle 13"/>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Text Placeholder 2"/>
          <p:cNvSpPr>
            <a:spLocks noGrp="1"/>
          </p:cNvSpPr>
          <p:nvPr>
            <p:ph type="body" idx="1" hasCustomPrompt="1"/>
          </p:nvPr>
        </p:nvSpPr>
        <p:spPr>
          <a:xfrm>
            <a:off x="0" y="1291790"/>
            <a:ext cx="4476198" cy="833250"/>
          </a:xfrm>
          <a:prstGeom prst="rect">
            <a:avLst/>
          </a:prstGeom>
        </p:spPr>
        <p:txBody>
          <a:bodyPr anchor="ctr">
            <a:noAutofit/>
          </a:bodyPr>
          <a:lstStyle>
            <a:lvl1pPr marL="0" indent="0" algn="ctr">
              <a:lnSpc>
                <a:spcPct val="100000"/>
              </a:lnSpc>
              <a:spcBef>
                <a:spcPts val="338"/>
              </a:spcBef>
              <a:buNone/>
              <a:defRPr sz="2800" b="1">
                <a:solidFill>
                  <a:schemeClr val="accent1"/>
                </a:solidFill>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Exam Policies</a:t>
            </a:r>
          </a:p>
        </p:txBody>
      </p:sp>
      <p:sp>
        <p:nvSpPr>
          <p:cNvPr id="4" name="Content Placeholder 3"/>
          <p:cNvSpPr>
            <a:spLocks noGrp="1"/>
          </p:cNvSpPr>
          <p:nvPr>
            <p:ph sz="half" idx="2"/>
          </p:nvPr>
        </p:nvSpPr>
        <p:spPr>
          <a:xfrm>
            <a:off x="0" y="2132388"/>
            <a:ext cx="4476198"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5" name="Text Placeholder 4"/>
          <p:cNvSpPr>
            <a:spLocks noGrp="1"/>
          </p:cNvSpPr>
          <p:nvPr>
            <p:ph type="body" sz="quarter" idx="3" hasCustomPrompt="1"/>
          </p:nvPr>
        </p:nvSpPr>
        <p:spPr>
          <a:xfrm>
            <a:off x="4638628" y="1291790"/>
            <a:ext cx="4476199" cy="833250"/>
          </a:xfrm>
          <a:prstGeom prst="rect">
            <a:avLst/>
          </a:prstGeom>
        </p:spPr>
        <p:txBody>
          <a:bodyPr anchor="ctr">
            <a:noAutofit/>
          </a:bodyPr>
          <a:lstStyle>
            <a:lvl1pPr marL="0" indent="0" algn="ctr">
              <a:lnSpc>
                <a:spcPct val="100000"/>
              </a:lnSpc>
              <a:spcBef>
                <a:spcPts val="338"/>
              </a:spcBef>
              <a:buNone/>
              <a:defRPr lang="fi-FI" sz="2800" b="1" kern="1200" dirty="0">
                <a:solidFill>
                  <a:schemeClr val="accent1"/>
                </a:solidFill>
                <a:latin typeface="+mn-lt"/>
                <a:ea typeface="+mn-ea"/>
                <a:cs typeface="+mn-cs"/>
              </a:defRPr>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dirty="0"/>
              <a:t>Click to edit Evaluation</a:t>
            </a:r>
          </a:p>
        </p:txBody>
      </p:sp>
      <p:sp>
        <p:nvSpPr>
          <p:cNvPr id="6" name="Content Placeholder 5"/>
          <p:cNvSpPr>
            <a:spLocks noGrp="1"/>
          </p:cNvSpPr>
          <p:nvPr>
            <p:ph sz="quarter" idx="4"/>
          </p:nvPr>
        </p:nvSpPr>
        <p:spPr>
          <a:xfrm>
            <a:off x="4640094" y="2132387"/>
            <a:ext cx="4476196" cy="429729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900"/>
            </a:lvl6pPr>
            <a:lvl7pPr>
              <a:defRPr sz="900"/>
            </a:lvl7pPr>
            <a:lvl8pPr>
              <a:defRPr sz="900"/>
            </a:lvl8pPr>
            <a:lvl9pPr>
              <a:defRPr sz="9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endParaRPr>
          </a:p>
        </p:txBody>
      </p:sp>
      <p:sp>
        <p:nvSpPr>
          <p:cNvPr id="8" name="Footer Placeholder 7"/>
          <p:cNvSpPr>
            <a:spLocks noGrp="1"/>
          </p:cNvSpPr>
          <p:nvPr>
            <p:ph type="ftr" sz="quarter" idx="11"/>
          </p:nvPr>
        </p:nvSpPr>
        <p:spPr>
          <a:xfrm>
            <a:off x="19583" y="6464746"/>
            <a:ext cx="6124902" cy="365125"/>
          </a:xfrm>
          <a:prstGeom prst="rect">
            <a:avLst/>
          </a:prstGeom>
        </p:spPr>
        <p:txBody>
          <a:bodyPr/>
          <a:lstStyle/>
          <a:p>
            <a:r>
              <a:rPr lang="en-US"/>
              <a:t>CSC3113: Theory of Computation</a:t>
            </a:r>
          </a:p>
        </p:txBody>
      </p:sp>
      <p:sp>
        <p:nvSpPr>
          <p:cNvPr id="15" name="Rectangle 14">
            <a:extLst>
              <a:ext uri="{FF2B5EF4-FFF2-40B4-BE49-F238E27FC236}">
                <a16:creationId xmlns:a16="http://schemas.microsoft.com/office/drawing/2014/main" id="{5B263954-7581-47FF-92A3-479156E58877}"/>
              </a:ext>
            </a:extLst>
          </p:cNvPr>
          <p:cNvSpPr/>
          <p:nvPr/>
        </p:nvSpPr>
        <p:spPr>
          <a:xfrm>
            <a:off x="-794" y="4"/>
            <a:ext cx="9137152" cy="1108169"/>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pic>
        <p:nvPicPr>
          <p:cNvPr id="17" name="Picture 2" descr="Image result for AIUB logo">
            <a:extLst>
              <a:ext uri="{FF2B5EF4-FFF2-40B4-BE49-F238E27FC236}">
                <a16:creationId xmlns:a16="http://schemas.microsoft.com/office/drawing/2014/main" id="{585DC8C7-36F8-4BBC-83D4-45ABD100076E}"/>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996265" y="4"/>
            <a:ext cx="1142039" cy="1149177"/>
          </a:xfrm>
          <a:prstGeom prst="rect">
            <a:avLst/>
          </a:prstGeom>
          <a:noFill/>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51D86C17-0C2E-4A9E-8501-70C782C29781}"/>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
        <p:nvSpPr>
          <p:cNvPr id="16" name="TextBox 15">
            <a:extLst>
              <a:ext uri="{FF2B5EF4-FFF2-40B4-BE49-F238E27FC236}">
                <a16:creationId xmlns:a16="http://schemas.microsoft.com/office/drawing/2014/main" id="{6FDC5B31-A712-4DEA-87EF-92D23E31834E}"/>
              </a:ext>
            </a:extLst>
          </p:cNvPr>
          <p:cNvSpPr txBox="1"/>
          <p:nvPr/>
        </p:nvSpPr>
        <p:spPr>
          <a:xfrm>
            <a:off x="117486" y="85731"/>
            <a:ext cx="7621950" cy="923330"/>
          </a:xfrm>
          <a:prstGeom prst="rect">
            <a:avLst/>
          </a:prstGeom>
          <a:solidFill>
            <a:schemeClr val="bg2">
              <a:lumMod val="50000"/>
            </a:schemeClr>
          </a:solidFill>
        </p:spPr>
        <p:txBody>
          <a:bodyPr wrap="square" rtlCol="0" anchor="ctr">
            <a:spAutoFit/>
          </a:bodyPr>
          <a:lstStyle/>
          <a:p>
            <a:pPr algn="ctr"/>
            <a:endParaRPr lang="en-US" sz="600" b="1" i="0" cap="small" baseline="0" dirty="0">
              <a:solidFill>
                <a:schemeClr val="bg1"/>
              </a:solidFill>
            </a:endParaRPr>
          </a:p>
          <a:p>
            <a:pPr algn="ctr"/>
            <a:r>
              <a:rPr lang="en-US" sz="4000" b="1" i="0" cap="small" baseline="0" dirty="0">
                <a:solidFill>
                  <a:schemeClr val="bg1"/>
                </a:solidFill>
              </a:rPr>
              <a:t>Exam &amp; Evaluation Policies</a:t>
            </a:r>
          </a:p>
          <a:p>
            <a:pPr algn="ctr"/>
            <a:endParaRPr lang="en-US" sz="600" b="1" i="0" cap="small" baseline="0" dirty="0">
              <a:solidFill>
                <a:schemeClr val="bg1"/>
              </a:solidFill>
            </a:endParaRPr>
          </a:p>
        </p:txBody>
      </p:sp>
    </p:spTree>
    <p:extLst>
      <p:ext uri="{BB962C8B-B14F-4D97-AF65-F5344CB8AC3E}">
        <p14:creationId xmlns:p14="http://schemas.microsoft.com/office/powerpoint/2010/main" val="2329977516"/>
      </p:ext>
    </p:extLst>
  </p:cSld>
  <p:clrMapOvr>
    <a:masterClrMapping/>
  </p:clrMapOvr>
  <p:hf hdr="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Outline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Outline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4" name="TextBox 3">
            <a:extLst>
              <a:ext uri="{FF2B5EF4-FFF2-40B4-BE49-F238E27FC236}">
                <a16:creationId xmlns:a16="http://schemas.microsoft.com/office/drawing/2014/main" id="{F6B82D4F-7F31-400E-B94B-1E51FA392DBC}"/>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
        <p:nvSpPr>
          <p:cNvPr id="14" name="TextBox 13">
            <a:extLst>
              <a:ext uri="{FF2B5EF4-FFF2-40B4-BE49-F238E27FC236}">
                <a16:creationId xmlns:a16="http://schemas.microsoft.com/office/drawing/2014/main" id="{52A48B43-4475-459B-B819-2CD0A3D98CA9}"/>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Outline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72598161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urse Objectiv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Objective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Objective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FE9E0002-BF95-426A-9951-C04B83E13A25}"/>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4D9DBD4C-E7AF-4DD4-9110-15778D18CB8E}"/>
              </a:ext>
            </a:extLst>
          </p:cNvPr>
          <p:cNvSpPr txBox="1"/>
          <p:nvPr/>
        </p:nvSpPr>
        <p:spPr>
          <a:xfrm>
            <a:off x="101602" y="141518"/>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Objective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619573673"/>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urse Outcom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
        <p:nvSpPr>
          <p:cNvPr id="15" name="TextBox 14">
            <a:extLst>
              <a:ext uri="{FF2B5EF4-FFF2-40B4-BE49-F238E27FC236}">
                <a16:creationId xmlns:a16="http://schemas.microsoft.com/office/drawing/2014/main" id="{E60FCC8C-2E83-43B6-8537-1F46ED6C7B47}"/>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Course Outcome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259718014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re-requisite">
    <p:spTree>
      <p:nvGrpSpPr>
        <p:cNvPr id="1" name=""/>
        <p:cNvGrpSpPr/>
        <p:nvPr/>
      </p:nvGrpSpPr>
      <p:grpSpPr>
        <a:xfrm>
          <a:off x="0" y="0"/>
          <a:ext cx="0" cy="0"/>
          <a:chOff x="0" y="0"/>
          <a:chExt cx="0" cy="0"/>
        </a:xfrm>
      </p:grpSpPr>
      <p:sp>
        <p:nvSpPr>
          <p:cNvPr id="5" name="Footer Placeholder 4"/>
          <p:cNvSpPr>
            <a:spLocks noGrp="1"/>
          </p:cNvSpPr>
          <p:nvPr>
            <p:ph type="ftr" sz="quarter" idx="11"/>
          </p:nvPr>
        </p:nvSpPr>
        <p:spPr>
          <a:xfrm>
            <a:off x="61154" y="6437036"/>
            <a:ext cx="6124902" cy="365125"/>
          </a:xfrm>
          <a:prstGeom prst="rect">
            <a:avLst/>
          </a:prstGeom>
        </p:spPr>
        <p:txBody>
          <a:bodyPr/>
          <a:lstStyle/>
          <a:p>
            <a:r>
              <a:rPr lang="en-US"/>
              <a:t>CSC3113: Theory of Computation</a:t>
            </a:r>
          </a:p>
        </p:txBody>
      </p:sp>
      <p:sp>
        <p:nvSpPr>
          <p:cNvPr id="7" name="Rectangle 6"/>
          <p:cNvSpPr/>
          <p:nvPr/>
        </p:nvSpPr>
        <p:spPr>
          <a:xfrm>
            <a:off x="-794" y="4"/>
            <a:ext cx="9144000" cy="1468437"/>
          </a:xfrm>
          <a:prstGeom prst="rect">
            <a:avLst/>
          </a:prstGeom>
          <a:solidFill>
            <a:schemeClr val="bg2">
              <a:alpha val="85000"/>
            </a:schemeClr>
          </a:solidFill>
        </p:spPr>
        <p:txBody>
          <a:bodyPr vert="horz" lIns="51435" tIns="25718" rIns="102870" bIns="205740" rtlCol="0" anchor="b" anchorCtr="0">
            <a:normAutofit/>
          </a:bodyPr>
          <a:lstStyle/>
          <a:p>
            <a:pPr algn="l" defTabSz="514350" rtl="0" eaLnBrk="1" latinLnBrk="0" hangingPunct="1">
              <a:spcBef>
                <a:spcPct val="0"/>
              </a:spcBef>
              <a:buNone/>
            </a:pPr>
            <a:endParaRPr sz="2363" kern="1200" dirty="0">
              <a:solidFill>
                <a:schemeClr val="bg1"/>
              </a:solidFill>
              <a:latin typeface="+mj-lt"/>
              <a:ea typeface="+mj-ea"/>
              <a:cs typeface="+mj-cs"/>
            </a:endParaRPr>
          </a:p>
        </p:txBody>
      </p:sp>
      <p:grpSp>
        <p:nvGrpSpPr>
          <p:cNvPr id="8" name="Group 16"/>
          <p:cNvGrpSpPr/>
          <p:nvPr/>
        </p:nvGrpSpPr>
        <p:grpSpPr>
          <a:xfrm>
            <a:off x="90194" y="1906546"/>
            <a:ext cx="8951676" cy="137411"/>
            <a:chOff x="284163" y="1759424"/>
            <a:chExt cx="8576373" cy="137411"/>
          </a:xfrm>
        </p:grpSpPr>
        <p:sp>
          <p:nvSpPr>
            <p:cNvPr id="9" name="Rectangle 8"/>
            <p:cNvSpPr/>
            <p:nvPr/>
          </p:nvSpPr>
          <p:spPr>
            <a:xfrm>
              <a:off x="284163" y="1759424"/>
              <a:ext cx="2743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0" name="Rectangle 9"/>
            <p:cNvSpPr/>
            <p:nvPr/>
          </p:nvSpPr>
          <p:spPr>
            <a:xfrm>
              <a:off x="3026392" y="1759424"/>
              <a:ext cx="1600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1" name="Rectangle 10"/>
            <p:cNvSpPr/>
            <p:nvPr/>
          </p:nvSpPr>
          <p:spPr>
            <a:xfrm>
              <a:off x="4626864" y="1759424"/>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3" name="Subtitle 2"/>
          <p:cNvSpPr>
            <a:spLocks noGrp="1"/>
          </p:cNvSpPr>
          <p:nvPr>
            <p:ph type="subTitle" idx="1" hasCustomPrompt="1"/>
          </p:nvPr>
        </p:nvSpPr>
        <p:spPr>
          <a:xfrm>
            <a:off x="102130" y="1463152"/>
            <a:ext cx="8951676" cy="484632"/>
          </a:xfrm>
          <a:prstGeom prst="rect">
            <a:avLst/>
          </a:prstGeom>
        </p:spPr>
        <p:txBody>
          <a:bodyPr vert="horz" lIns="91440" tIns="45720" rIns="91440" bIns="45720" rtlCol="0">
            <a:normAutofit/>
          </a:bodyPr>
          <a:lstStyle>
            <a:lvl1pPr marL="0" indent="0" algn="r" defTabSz="514350" rtl="0" eaLnBrk="1" latinLnBrk="0" hangingPunct="1">
              <a:lnSpc>
                <a:spcPct val="100000"/>
              </a:lnSpc>
              <a:spcBef>
                <a:spcPts val="0"/>
              </a:spcBef>
              <a:buClr>
                <a:schemeClr val="bg1">
                  <a:lumMod val="65000"/>
                </a:schemeClr>
              </a:buClr>
              <a:buSzPct val="90000"/>
              <a:buFont typeface="Wingdings" pitchFamily="2" charset="2"/>
              <a:buNone/>
              <a:defRPr sz="2400" b="1" kern="1200" cap="small" baseline="0">
                <a:solidFill>
                  <a:schemeClr val="bg2">
                    <a:lumMod val="50000"/>
                  </a:schemeClr>
                </a:solidFill>
                <a:latin typeface="Arial Black" panose="020B0A04020102020204" pitchFamily="34" charset="0"/>
                <a:ea typeface="+mn-ea"/>
                <a:cs typeface="+mn-cs"/>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en-US" dirty="0"/>
              <a:t>Click to edit Outcome subtitle</a:t>
            </a:r>
            <a:endParaRPr dirty="0"/>
          </a:p>
        </p:txBody>
      </p:sp>
      <p:sp>
        <p:nvSpPr>
          <p:cNvPr id="13" name="Rectangle 12"/>
          <p:cNvSpPr/>
          <p:nvPr/>
        </p:nvSpPr>
        <p:spPr>
          <a:xfrm>
            <a:off x="284165" y="6227064"/>
            <a:ext cx="8574087" cy="173736"/>
          </a:xfrm>
          <a:prstGeom prst="rect">
            <a:avLst/>
          </a:prstGeom>
          <a:solidFill>
            <a:schemeClr val="tx1">
              <a:lumMod val="85000"/>
              <a:lumOff val="1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pic>
        <p:nvPicPr>
          <p:cNvPr id="1026" name="Picture 2" descr="Image result for AIUB logo">
            <a:extLst>
              <a:ext uri="{FF2B5EF4-FFF2-40B4-BE49-F238E27FC236}">
                <a16:creationId xmlns:a16="http://schemas.microsoft.com/office/drawing/2014/main" id="{CF3BFD94-6180-4B73-8361-A4B02BAD1757}"/>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24346" y="39914"/>
            <a:ext cx="1419654" cy="1428527"/>
          </a:xfrm>
          <a:prstGeom prst="rect">
            <a:avLst/>
          </a:prstGeom>
          <a:noFill/>
          <a:extLst>
            <a:ext uri="{909E8E84-426E-40DD-AFC4-6F175D3DCCD1}">
              <a14:hiddenFill xmlns:a14="http://schemas.microsoft.com/office/drawing/2010/main">
                <a:solidFill>
                  <a:srgbClr val="FFFFFF"/>
                </a:solidFill>
              </a14:hiddenFill>
            </a:ext>
          </a:extLst>
        </p:spPr>
      </p:pic>
      <p:sp>
        <p:nvSpPr>
          <p:cNvPr id="18" name="Text Placeholder 17">
            <a:extLst>
              <a:ext uri="{FF2B5EF4-FFF2-40B4-BE49-F238E27FC236}">
                <a16:creationId xmlns:a16="http://schemas.microsoft.com/office/drawing/2014/main" id="{3396FECD-FE63-4645-83B6-B26F0B108532}"/>
              </a:ext>
            </a:extLst>
          </p:cNvPr>
          <p:cNvSpPr>
            <a:spLocks noGrp="1"/>
          </p:cNvSpPr>
          <p:nvPr>
            <p:ph type="body" sz="quarter" idx="12" hasCustomPrompt="1"/>
          </p:nvPr>
        </p:nvSpPr>
        <p:spPr>
          <a:xfrm>
            <a:off x="101602" y="2044700"/>
            <a:ext cx="8940800" cy="4146550"/>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Lecture Outcome</a:t>
            </a:r>
          </a:p>
          <a:p>
            <a:pPr marL="514350" marR="0" lvl="1" indent="-257175"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22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Second level</a:t>
            </a:r>
          </a:p>
          <a:p>
            <a:pPr marL="709017" marR="0" lvl="2" indent="-194667"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20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Third level</a:t>
            </a:r>
          </a:p>
          <a:p>
            <a:pPr marL="900113" marR="0" lvl="3" indent="-191096" algn="l" defTabSz="514350" rtl="0" eaLnBrk="1" fontAlgn="auto" latinLnBrk="0" hangingPunct="1">
              <a:lnSpc>
                <a:spcPct val="100000"/>
              </a:lnSpc>
              <a:spcBef>
                <a:spcPts val="600"/>
              </a:spcBef>
              <a:spcAft>
                <a:spcPts val="0"/>
              </a:spcAft>
              <a:buClr>
                <a:prstClr val="black">
                  <a:lumMod val="75000"/>
                  <a:lumOff val="25000"/>
                </a:prstClr>
              </a:buClr>
              <a:buSzPct val="90000"/>
              <a:buFont typeface="Wingdings" pitchFamily="2" charset="2"/>
              <a:buChar char=""/>
              <a:tabLst/>
              <a:defRPr/>
            </a:pPr>
            <a:r>
              <a:rPr kumimoji="0" lang="en-US" sz="19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Fourth level</a:t>
            </a:r>
          </a:p>
          <a:p>
            <a:pPr marL="1091208" marR="0" lvl="4" indent="-186631" algn="l" defTabSz="514350" rtl="0" eaLnBrk="1" fontAlgn="auto" latinLnBrk="0" hangingPunct="1">
              <a:lnSpc>
                <a:spcPct val="100000"/>
              </a:lnSpc>
              <a:spcBef>
                <a:spcPts val="600"/>
              </a:spcBef>
              <a:spcAft>
                <a:spcPts val="0"/>
              </a:spcAft>
              <a:buClr>
                <a:prstClr val="white">
                  <a:lumMod val="65000"/>
                </a:prstClr>
              </a:buClr>
              <a:buSzPct val="90000"/>
              <a:buFont typeface="Wingdings" pitchFamily="2" charset="2"/>
              <a:buChar char=""/>
              <a:tabLst/>
              <a:defRPr/>
            </a:pPr>
            <a:r>
              <a:rPr kumimoji="0" lang="en-US" sz="1800" b="0" i="0" u="none" strike="noStrike" kern="1200" cap="none" spc="0" normalizeH="0" baseline="0" noProof="0" dirty="0">
                <a:ln>
                  <a:noFill/>
                </a:ln>
                <a:solidFill>
                  <a:prstClr val="black">
                    <a:lumMod val="85000"/>
                    <a:lumOff val="15000"/>
                  </a:prstClr>
                </a:solidFill>
                <a:effectLst/>
                <a:uLnTx/>
                <a:uFillTx/>
                <a:latin typeface="Calibri"/>
                <a:ea typeface="+mn-ea"/>
                <a:cs typeface="+mn-cs"/>
              </a:rPr>
              <a:t>Fifth level</a:t>
            </a:r>
          </a:p>
        </p:txBody>
      </p:sp>
      <p:sp>
        <p:nvSpPr>
          <p:cNvPr id="14" name="TextBox 13">
            <a:extLst>
              <a:ext uri="{FF2B5EF4-FFF2-40B4-BE49-F238E27FC236}">
                <a16:creationId xmlns:a16="http://schemas.microsoft.com/office/drawing/2014/main" id="{D0B1577D-1333-4D08-A3E2-242C75C0B97A}"/>
              </a:ext>
            </a:extLst>
          </p:cNvPr>
          <p:cNvSpPr txBox="1"/>
          <p:nvPr/>
        </p:nvSpPr>
        <p:spPr>
          <a:xfrm>
            <a:off x="101602" y="141517"/>
            <a:ext cx="7621950" cy="1177245"/>
          </a:xfrm>
          <a:prstGeom prst="rect">
            <a:avLst/>
          </a:prstGeom>
          <a:solidFill>
            <a:schemeClr val="bg2">
              <a:lumMod val="50000"/>
            </a:schemeClr>
          </a:solidFill>
        </p:spPr>
        <p:txBody>
          <a:bodyPr wrap="square" rtlCol="0" anchor="ctr">
            <a:spAutoFit/>
          </a:bodyPr>
          <a:lstStyle/>
          <a:p>
            <a:pPr algn="ctr"/>
            <a:endParaRPr lang="en-US" sz="1000" b="1" i="0" cap="small" baseline="0" dirty="0">
              <a:solidFill>
                <a:schemeClr val="bg1"/>
              </a:solidFill>
            </a:endParaRPr>
          </a:p>
          <a:p>
            <a:pPr algn="ctr">
              <a:spcBef>
                <a:spcPts val="600"/>
              </a:spcBef>
              <a:spcAft>
                <a:spcPts val="600"/>
              </a:spcAft>
            </a:pPr>
            <a:r>
              <a:rPr lang="en-US" sz="4000" b="1" i="0" cap="small" baseline="0" dirty="0">
                <a:solidFill>
                  <a:schemeClr val="bg1"/>
                </a:solidFill>
              </a:rPr>
              <a:t>Pre-Requisite</a:t>
            </a:r>
          </a:p>
          <a:p>
            <a:pPr algn="ctr"/>
            <a:endParaRPr lang="en-US" sz="1000" b="1" i="0" cap="small" baseline="0" dirty="0">
              <a:solidFill>
                <a:schemeClr val="bg1"/>
              </a:solidFill>
            </a:endParaRPr>
          </a:p>
        </p:txBody>
      </p:sp>
    </p:spTree>
    <p:extLst>
      <p:ext uri="{BB962C8B-B14F-4D97-AF65-F5344CB8AC3E}">
        <p14:creationId xmlns:p14="http://schemas.microsoft.com/office/powerpoint/2010/main" val="199162659"/>
      </p:ext>
    </p:extLst>
  </p:cSld>
  <p:clrMapOvr>
    <a:masterClrMapping/>
  </p:clrMapOvr>
  <p:hf hdr="0"/>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Lecture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9" name="Text Placeholder 8">
            <a:extLst>
              <a:ext uri="{FF2B5EF4-FFF2-40B4-BE49-F238E27FC236}">
                <a16:creationId xmlns:a16="http://schemas.microsoft.com/office/drawing/2014/main" id="{2BCCA9BA-A048-49BB-8213-AEE11065F309}"/>
              </a:ext>
            </a:extLst>
          </p:cNvPr>
          <p:cNvSpPr>
            <a:spLocks noGrp="1"/>
          </p:cNvSpPr>
          <p:nvPr>
            <p:ph type="body" sz="quarter" idx="12" hasCustomPrompt="1"/>
          </p:nvPr>
        </p:nvSpPr>
        <p:spPr>
          <a:xfrm>
            <a:off x="0" y="0"/>
            <a:ext cx="8324850" cy="693738"/>
          </a:xfrm>
        </p:spPr>
        <p:txBody>
          <a:bodyPr anchor="ctr">
            <a:noAutofit/>
          </a:bodyPr>
          <a:lstStyle>
            <a:lvl1pPr marL="0" indent="0">
              <a:buNone/>
              <a:defRPr sz="3600" b="1" i="0" cap="small" baseline="0">
                <a:latin typeface="+mj-lt"/>
              </a:defRPr>
            </a:lvl1pPr>
          </a:lstStyle>
          <a:p>
            <a:pPr lvl="0"/>
            <a:r>
              <a:rPr lang="en-US" dirty="0"/>
              <a:t>Click to add TITLE</a:t>
            </a:r>
          </a:p>
        </p:txBody>
      </p:sp>
      <p:sp>
        <p:nvSpPr>
          <p:cNvPr id="11" name="Text Placeholder 10">
            <a:extLst>
              <a:ext uri="{FF2B5EF4-FFF2-40B4-BE49-F238E27FC236}">
                <a16:creationId xmlns:a16="http://schemas.microsoft.com/office/drawing/2014/main" id="{BD8E7E68-2955-4F78-A94B-30ADF2A5D4D5}"/>
              </a:ext>
            </a:extLst>
          </p:cNvPr>
          <p:cNvSpPr>
            <a:spLocks noGrp="1"/>
          </p:cNvSpPr>
          <p:nvPr>
            <p:ph type="body" sz="quarter" idx="13" hasCustomPrompt="1"/>
          </p:nvPr>
        </p:nvSpPr>
        <p:spPr>
          <a:xfrm>
            <a:off x="2" y="846142"/>
            <a:ext cx="9136063" cy="5591175"/>
          </a:xfrm>
        </p:spPr>
        <p:txBody>
          <a:bodyPr>
            <a:normAutofit/>
          </a:bodyPr>
          <a:lstStyle>
            <a:lvl1pPr>
              <a:defRPr sz="2400"/>
            </a:lvl1pPr>
            <a:lvl2pPr>
              <a:defRPr sz="2400"/>
            </a:lvl2pPr>
            <a:lvl3pPr>
              <a:defRPr sz="2000"/>
            </a:lvl3pPr>
            <a:lvl4pPr>
              <a:defRPr sz="1600"/>
            </a:lvl4pPr>
            <a:lvl5pPr>
              <a:defRPr sz="1600"/>
            </a:lvl5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576796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0" y="812264"/>
            <a:ext cx="3027361" cy="343293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6437034"/>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11311674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Wide Picture, Content,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8723" y="3062026"/>
            <a:ext cx="9105691" cy="3358482"/>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10010" y="1624470"/>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10010" y="825140"/>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3198808" y="-5742"/>
            <a:ext cx="5945190" cy="2859778"/>
          </a:xfrm>
          <a:prstGeom prst="rect">
            <a:avLst/>
          </a:prstGeom>
        </p:spPr>
        <p:txBody>
          <a:bodyPr/>
          <a:lstStyle>
            <a:lvl1pPr>
              <a:buNone/>
              <a:defRPr/>
            </a:lvl1pPr>
          </a:lstStyle>
          <a:p>
            <a:r>
              <a:rPr lang="en-US"/>
              <a:t>Click icon to add picture</a:t>
            </a:r>
            <a:endParaRPr/>
          </a:p>
        </p:txBody>
      </p:sp>
      <p:grpSp>
        <p:nvGrpSpPr>
          <p:cNvPr id="29" name="Group 28">
            <a:extLst>
              <a:ext uri="{FF2B5EF4-FFF2-40B4-BE49-F238E27FC236}">
                <a16:creationId xmlns:a16="http://schemas.microsoft.com/office/drawing/2014/main" id="{0DD6D0B9-9A41-470F-9EE1-03BA0F0542D8}"/>
              </a:ext>
            </a:extLst>
          </p:cNvPr>
          <p:cNvGrpSpPr/>
          <p:nvPr/>
        </p:nvGrpSpPr>
        <p:grpSpPr>
          <a:xfrm>
            <a:off x="19586" y="2961399"/>
            <a:ext cx="9124412" cy="56355"/>
            <a:chOff x="284163" y="1577847"/>
            <a:chExt cx="8576373" cy="137411"/>
          </a:xfrm>
        </p:grpSpPr>
        <p:sp>
          <p:nvSpPr>
            <p:cNvPr id="30" name="Rectangle 29">
              <a:extLst>
                <a:ext uri="{FF2B5EF4-FFF2-40B4-BE49-F238E27FC236}">
                  <a16:creationId xmlns:a16="http://schemas.microsoft.com/office/drawing/2014/main" id="{5334261B-3D7F-4C94-9273-CBFDAAAFFEE7}"/>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1" name="Rectangle 30">
              <a:extLst>
                <a:ext uri="{FF2B5EF4-FFF2-40B4-BE49-F238E27FC236}">
                  <a16:creationId xmlns:a16="http://schemas.microsoft.com/office/drawing/2014/main" id="{B9144A11-DF47-49A5-AA16-B82657B26C06}"/>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32" name="Rectangle 31">
              <a:extLst>
                <a:ext uri="{FF2B5EF4-FFF2-40B4-BE49-F238E27FC236}">
                  <a16:creationId xmlns:a16="http://schemas.microsoft.com/office/drawing/2014/main" id="{2F46EAE9-8CB1-41D6-A4AE-2B066FDBAB3E}"/>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1" name="Group 10">
            <a:extLst>
              <a:ext uri="{FF2B5EF4-FFF2-40B4-BE49-F238E27FC236}">
                <a16:creationId xmlns:a16="http://schemas.microsoft.com/office/drawing/2014/main" id="{97CA4437-962B-4188-B249-DE6974B189B1}"/>
              </a:ext>
            </a:extLst>
          </p:cNvPr>
          <p:cNvGrpSpPr/>
          <p:nvPr/>
        </p:nvGrpSpPr>
        <p:grpSpPr>
          <a:xfrm>
            <a:off x="19586" y="2961399"/>
            <a:ext cx="9124412" cy="56355"/>
            <a:chOff x="284163" y="1577847"/>
            <a:chExt cx="8576373" cy="137411"/>
          </a:xfrm>
        </p:grpSpPr>
        <p:sp>
          <p:nvSpPr>
            <p:cNvPr id="12" name="Rectangle 11">
              <a:extLst>
                <a:ext uri="{FF2B5EF4-FFF2-40B4-BE49-F238E27FC236}">
                  <a16:creationId xmlns:a16="http://schemas.microsoft.com/office/drawing/2014/main" id="{38D109A9-C05A-41C4-99D7-304EEC7FFF7B}"/>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3" name="Rectangle 12">
              <a:extLst>
                <a:ext uri="{FF2B5EF4-FFF2-40B4-BE49-F238E27FC236}">
                  <a16:creationId xmlns:a16="http://schemas.microsoft.com/office/drawing/2014/main" id="{99BA0469-26BC-4E1C-95DA-12CE88A1918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5" name="Rectangle 14">
              <a:extLst>
                <a:ext uri="{FF2B5EF4-FFF2-40B4-BE49-F238E27FC236}">
                  <a16:creationId xmlns:a16="http://schemas.microsoft.com/office/drawing/2014/main" id="{B64BDEF7-9772-4424-9939-406B9BBA28D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grpSp>
        <p:nvGrpSpPr>
          <p:cNvPr id="16" name="Group 15">
            <a:extLst>
              <a:ext uri="{FF2B5EF4-FFF2-40B4-BE49-F238E27FC236}">
                <a16:creationId xmlns:a16="http://schemas.microsoft.com/office/drawing/2014/main" id="{5AA29BA1-A689-4564-BF5E-3FC82B02645F}"/>
              </a:ext>
            </a:extLst>
          </p:cNvPr>
          <p:cNvGrpSpPr/>
          <p:nvPr userDrawn="1"/>
        </p:nvGrpSpPr>
        <p:grpSpPr>
          <a:xfrm>
            <a:off x="19586" y="2961399"/>
            <a:ext cx="9124412" cy="56355"/>
            <a:chOff x="284163" y="1577847"/>
            <a:chExt cx="8576373" cy="137411"/>
          </a:xfrm>
        </p:grpSpPr>
        <p:sp>
          <p:nvSpPr>
            <p:cNvPr id="17" name="Rectangle 16">
              <a:extLst>
                <a:ext uri="{FF2B5EF4-FFF2-40B4-BE49-F238E27FC236}">
                  <a16:creationId xmlns:a16="http://schemas.microsoft.com/office/drawing/2014/main" id="{BFCE384B-DF71-40A1-959A-B357461C362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6728641D-E72C-4214-9687-F191C0A6D0ED}"/>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9" name="Rectangle 18">
              <a:extLst>
                <a:ext uri="{FF2B5EF4-FFF2-40B4-BE49-F238E27FC236}">
                  <a16:creationId xmlns:a16="http://schemas.microsoft.com/office/drawing/2014/main" id="{9E0738A7-D8CE-4839-A32D-EF799AC654EC}"/>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Tree>
    <p:extLst>
      <p:ext uri="{BB962C8B-B14F-4D97-AF65-F5344CB8AC3E}">
        <p14:creationId xmlns:p14="http://schemas.microsoft.com/office/powerpoint/2010/main" val="182151010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1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1997406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cSld name="1_Blank Slide">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a:xfrm>
            <a:off x="19587" y="6450891"/>
            <a:ext cx="6124902" cy="365125"/>
          </a:xfrm>
          <a:prstGeom prst="rect">
            <a:avLst/>
          </a:prstGeom>
        </p:spPr>
        <p:txBody>
          <a:bodyPr/>
          <a:lstStyle/>
          <a:p>
            <a:r>
              <a:rPr lang="en-US"/>
              <a:t>CSC3113: Theory of Computation</a:t>
            </a:r>
          </a:p>
        </p:txBody>
      </p:sp>
      <p:sp>
        <p:nvSpPr>
          <p:cNvPr id="14" name="Text Placeholder 8">
            <a:extLst>
              <a:ext uri="{FF2B5EF4-FFF2-40B4-BE49-F238E27FC236}">
                <a16:creationId xmlns:a16="http://schemas.microsoft.com/office/drawing/2014/main" id="{B5591777-D5A7-4013-A826-DE1813C7648F}"/>
              </a:ext>
            </a:extLst>
          </p:cNvPr>
          <p:cNvSpPr>
            <a:spLocks noGrp="1"/>
          </p:cNvSpPr>
          <p:nvPr>
            <p:ph type="body" sz="quarter" idx="12" hasCustomPrompt="1"/>
          </p:nvPr>
        </p:nvSpPr>
        <p:spPr>
          <a:xfrm>
            <a:off x="781833" y="41984"/>
            <a:ext cx="3269673" cy="693738"/>
          </a:xfrm>
        </p:spPr>
        <p:txBody>
          <a:bodyPr anchor="ctr">
            <a:noAutofit/>
          </a:bodyPr>
          <a:lstStyle>
            <a:lvl1pPr marL="0" indent="0">
              <a:buNone/>
              <a:defRPr sz="2800" b="1" i="0" cap="small" baseline="0">
                <a:latin typeface="+mj-lt"/>
              </a:defRPr>
            </a:lvl1pPr>
          </a:lstStyle>
          <a:p>
            <a:pPr marL="0" marR="0" lvl="0" indent="0" algn="l" defTabSz="514350" rtl="0" eaLnBrk="1" fontAlgn="auto" latinLnBrk="0" hangingPunct="1">
              <a:lnSpc>
                <a:spcPct val="100000"/>
              </a:lnSpc>
              <a:spcBef>
                <a:spcPts val="169"/>
              </a:spcBef>
              <a:spcAft>
                <a:spcPts val="0"/>
              </a:spcAft>
              <a:buClr>
                <a:schemeClr val="bg1">
                  <a:lumMod val="65000"/>
                </a:schemeClr>
              </a:buClr>
              <a:buSzPct val="90000"/>
              <a:buFont typeface="Wingdings" pitchFamily="2" charset="2"/>
              <a:buNone/>
              <a:tabLst/>
              <a:defRPr/>
            </a:pPr>
            <a:r>
              <a:rPr lang="en-US" dirty="0"/>
              <a:t>Click to add TITLE</a:t>
            </a:r>
          </a:p>
        </p:txBody>
      </p:sp>
    </p:spTree>
    <p:extLst>
      <p:ext uri="{BB962C8B-B14F-4D97-AF65-F5344CB8AC3E}">
        <p14:creationId xmlns:p14="http://schemas.microsoft.com/office/powerpoint/2010/main" val="2486133200"/>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2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412350"/>
      </p:ext>
    </p:extLst>
  </p:cSld>
  <p:clrMapOvr>
    <a:masterClrMapping/>
  </p:clrMapOvr>
  <p:hf hdr="0"/>
</p:sldLayout>
</file>

<file path=ppt/slideLayouts/slideLayout38.xml><?xml version="1.0" encoding="utf-8"?>
<p:sldLayout xmlns:a="http://schemas.openxmlformats.org/drawingml/2006/main" xmlns:r="http://schemas.openxmlformats.org/officeDocument/2006/relationships" xmlns:p="http://schemas.openxmlformats.org/presentationml/2006/main">
  <p:cSld name="Content, Picture, and Caption">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3205928" y="32632"/>
            <a:ext cx="5930435" cy="6398658"/>
          </a:xfrm>
          <a:prstGeom prst="rect">
            <a:avLst/>
          </a:prstGeom>
        </p:spPr>
        <p:txBody>
          <a:bodyPr>
            <a:normAutofit/>
          </a:bodyPr>
          <a:lstStyle>
            <a:lvl1pPr>
              <a:defRPr sz="2400"/>
            </a:lvl1pPr>
            <a:lvl2pPr>
              <a:defRPr sz="2000"/>
            </a:lvl2pPr>
            <a:lvl3pPr>
              <a:defRPr sz="1600"/>
            </a:lvl3pPr>
            <a:lvl4pPr>
              <a:defRPr sz="1600"/>
            </a:lvl4pPr>
            <a:lvl5pPr>
              <a:defRPr sz="1600"/>
            </a:lvl5pPr>
            <a:lvl6pPr>
              <a:defRPr sz="1013"/>
            </a:lvl6pPr>
            <a:lvl7pPr>
              <a:defRPr sz="1013"/>
            </a:lvl7pPr>
            <a:lvl8pPr>
              <a:defRPr sz="1013"/>
            </a:lvl8pPr>
            <a:lvl9pPr>
              <a:defRPr sz="1013"/>
            </a:lvl9pPr>
          </a:lstStyle>
          <a:p>
            <a:pPr lvl="0"/>
            <a:r>
              <a:rPr lang="en-US" dirty="0"/>
              <a:t>Click to edit text</a:t>
            </a:r>
          </a:p>
          <a:p>
            <a:pPr lvl="1"/>
            <a:r>
              <a:rPr lang="en-US" dirty="0"/>
              <a:t>Second level</a:t>
            </a:r>
          </a:p>
          <a:p>
            <a:pPr lvl="2"/>
            <a:r>
              <a:rPr lang="en-US" dirty="0"/>
              <a:t>Third level</a:t>
            </a:r>
          </a:p>
          <a:p>
            <a:pPr lvl="3"/>
            <a:r>
              <a:rPr lang="en-US" dirty="0"/>
              <a:t>Fourth level</a:t>
            </a:r>
          </a:p>
          <a:p>
            <a:pPr lvl="4"/>
            <a:r>
              <a:rPr lang="en-US" dirty="0"/>
              <a:t>Fifth level</a:t>
            </a:r>
            <a:endParaRPr dirty="0"/>
          </a:p>
        </p:txBody>
      </p:sp>
      <p:sp>
        <p:nvSpPr>
          <p:cNvPr id="6" name="Footer Placeholder 5"/>
          <p:cNvSpPr>
            <a:spLocks noGrp="1"/>
          </p:cNvSpPr>
          <p:nvPr>
            <p:ph type="ftr" sz="quarter" idx="11"/>
          </p:nvPr>
        </p:nvSpPr>
        <p:spPr>
          <a:xfrm>
            <a:off x="19586" y="6437036"/>
            <a:ext cx="6124902" cy="365125"/>
          </a:xfrm>
          <a:prstGeom prst="rect">
            <a:avLst/>
          </a:prstGeom>
        </p:spPr>
        <p:txBody>
          <a:bodyPr/>
          <a:lstStyle/>
          <a:p>
            <a:r>
              <a:rPr lang="en-US"/>
              <a:t>CSC3113: Theory of Computation</a:t>
            </a:r>
          </a:p>
        </p:txBody>
      </p:sp>
      <p:sp>
        <p:nvSpPr>
          <p:cNvPr id="4" name="Text Placeholder 3"/>
          <p:cNvSpPr>
            <a:spLocks noGrp="1"/>
          </p:cNvSpPr>
          <p:nvPr>
            <p:ph type="body" sz="half" idx="2" hasCustomPrompt="1"/>
          </p:nvPr>
        </p:nvSpPr>
        <p:spPr>
          <a:xfrm>
            <a:off x="2" y="5119261"/>
            <a:ext cx="3027361" cy="1246094"/>
          </a:xfrm>
          <a:prstGeom prst="rect">
            <a:avLst/>
          </a:prstGeom>
          <a:solidFill>
            <a:schemeClr val="bg2">
              <a:lumMod val="75000"/>
            </a:schemeClr>
          </a:solidFill>
        </p:spPr>
        <p:txBody>
          <a:bodyPr>
            <a:normAutofit/>
          </a:bodyPr>
          <a:lstStyle>
            <a:lvl1pPr marL="0" indent="0" algn="l">
              <a:spcBef>
                <a:spcPts val="0"/>
              </a:spcBef>
              <a:buNone/>
              <a:defRPr sz="20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fi-FI" dirty="0"/>
              <a:t>Click to edit Sub-Title</a:t>
            </a:r>
          </a:p>
        </p:txBody>
      </p:sp>
      <p:sp>
        <p:nvSpPr>
          <p:cNvPr id="2" name="Title 1"/>
          <p:cNvSpPr>
            <a:spLocks noGrp="1"/>
          </p:cNvSpPr>
          <p:nvPr>
            <p:ph type="title" hasCustomPrompt="1"/>
          </p:nvPr>
        </p:nvSpPr>
        <p:spPr>
          <a:xfrm>
            <a:off x="2" y="4319931"/>
            <a:ext cx="3027361" cy="749655"/>
          </a:xfrm>
          <a:prstGeom prst="rect">
            <a:avLst/>
          </a:prstGeom>
          <a:solidFill>
            <a:schemeClr val="bg2">
              <a:lumMod val="50000"/>
            </a:schemeClr>
          </a:solidFill>
        </p:spPr>
        <p:txBody>
          <a:bodyPr anchor="b">
            <a:noAutofit/>
          </a:bodyPr>
          <a:lstStyle>
            <a:lvl1pPr algn="l">
              <a:defRPr sz="2800" b="1">
                <a:solidFill>
                  <a:schemeClr val="bg1"/>
                </a:solidFill>
              </a:defRPr>
            </a:lvl1pPr>
          </a:lstStyle>
          <a:p>
            <a:r>
              <a:rPr lang="fi-FI" dirty="0"/>
              <a:t>Click to edit title</a:t>
            </a:r>
            <a:endParaRPr dirty="0"/>
          </a:p>
        </p:txBody>
      </p:sp>
      <p:sp>
        <p:nvSpPr>
          <p:cNvPr id="14" name="Picture Placeholder 13"/>
          <p:cNvSpPr>
            <a:spLocks noGrp="1"/>
          </p:cNvSpPr>
          <p:nvPr>
            <p:ph type="pic" sz="quarter" idx="13"/>
          </p:nvPr>
        </p:nvSpPr>
        <p:spPr>
          <a:xfrm>
            <a:off x="-1" y="835770"/>
            <a:ext cx="3027363" cy="3434478"/>
          </a:xfrm>
          <a:prstGeom prst="rect">
            <a:avLst/>
          </a:prstGeom>
        </p:spPr>
        <p:txBody>
          <a:bodyPr/>
          <a:lstStyle>
            <a:lvl1pPr>
              <a:buNone/>
              <a:defRPr/>
            </a:lvl1pPr>
          </a:lstStyle>
          <a:p>
            <a:r>
              <a:rPr lang="en-US"/>
              <a:t>Click icon to add picture</a:t>
            </a:r>
            <a:endParaRPr/>
          </a:p>
        </p:txBody>
      </p:sp>
    </p:spTree>
    <p:extLst>
      <p:ext uri="{BB962C8B-B14F-4D97-AF65-F5344CB8AC3E}">
        <p14:creationId xmlns:p14="http://schemas.microsoft.com/office/powerpoint/2010/main" val="2956812794"/>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2 Pictures with Tex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890653" y="4955894"/>
            <a:ext cx="4209028" cy="566738"/>
          </a:xfrm>
          <a:prstGeom prst="rect">
            <a:avLst/>
          </a:prstGeom>
          <a:solidFill>
            <a:schemeClr val="bg2">
              <a:lumMod val="50000"/>
            </a:schemeClr>
          </a:solidFill>
        </p:spPr>
        <p:txBody>
          <a:bodyPr vert="horz" lIns="91440" tIns="45720" rIns="91440" bIns="45720" rtlCol="0" anchor="b" anchorCtr="0">
            <a:noAutofit/>
          </a:bodyPr>
          <a:lstStyle>
            <a:lvl1pPr algn="l" defTabSz="514350" rtl="0" eaLnBrk="1" latinLnBrk="0" hangingPunct="1">
              <a:spcBef>
                <a:spcPct val="0"/>
              </a:spcBef>
              <a:buNone/>
              <a:defRPr sz="3200" b="0" i="0" kern="1200" cap="small" baseline="0">
                <a:solidFill>
                  <a:schemeClr val="bg1"/>
                </a:solidFill>
                <a:latin typeface="+mj-lt"/>
                <a:ea typeface="+mj-ea"/>
                <a:cs typeface="+mj-cs"/>
              </a:defRPr>
            </a:lvl1pPr>
          </a:lstStyle>
          <a:p>
            <a:r>
              <a:rPr lang="en-US" dirty="0"/>
              <a:t>Click to edit title</a:t>
            </a:r>
            <a:endParaRPr dirty="0"/>
          </a:p>
        </p:txBody>
      </p:sp>
      <p:sp>
        <p:nvSpPr>
          <p:cNvPr id="4" name="Text Placeholder 3"/>
          <p:cNvSpPr>
            <a:spLocks noGrp="1"/>
          </p:cNvSpPr>
          <p:nvPr>
            <p:ph type="body" sz="half" idx="2" hasCustomPrompt="1"/>
          </p:nvPr>
        </p:nvSpPr>
        <p:spPr>
          <a:xfrm>
            <a:off x="4890653" y="5522632"/>
            <a:ext cx="4209028" cy="804862"/>
          </a:xfrm>
          <a:prstGeom prst="rect">
            <a:avLst/>
          </a:prstGeom>
          <a:solidFill>
            <a:schemeClr val="bg2">
              <a:lumMod val="75000"/>
            </a:schemeClr>
          </a:solidFill>
        </p:spPr>
        <p:txBody>
          <a:bodyPr>
            <a:normAutofit/>
          </a:bodyPr>
          <a:lstStyle>
            <a:lvl1pPr marL="0" indent="0">
              <a:spcBef>
                <a:spcPts val="0"/>
              </a:spcBef>
              <a:buNone/>
              <a:defRPr sz="2400">
                <a:solidFill>
                  <a:schemeClr val="bg1"/>
                </a:solidFill>
              </a:defRPr>
            </a:lvl1pPr>
            <a:lvl2pPr marL="257175" indent="0">
              <a:buNone/>
              <a:defRPr sz="675"/>
            </a:lvl2pPr>
            <a:lvl3pPr marL="514350" indent="0">
              <a:buNone/>
              <a:defRPr sz="563"/>
            </a:lvl3pPr>
            <a:lvl4pPr marL="771525" indent="0">
              <a:buNone/>
              <a:defRPr sz="506"/>
            </a:lvl4pPr>
            <a:lvl5pPr marL="1028700" indent="0">
              <a:buNone/>
              <a:defRPr sz="506"/>
            </a:lvl5pPr>
            <a:lvl6pPr marL="1285875" indent="0">
              <a:buNone/>
              <a:defRPr sz="506"/>
            </a:lvl6pPr>
            <a:lvl7pPr marL="1543050" indent="0">
              <a:buNone/>
              <a:defRPr sz="506"/>
            </a:lvl7pPr>
            <a:lvl8pPr marL="1800225" indent="0">
              <a:buNone/>
              <a:defRPr sz="506"/>
            </a:lvl8pPr>
            <a:lvl9pPr marL="2057400" indent="0">
              <a:buNone/>
              <a:defRPr sz="506"/>
            </a:lvl9pPr>
          </a:lstStyle>
          <a:p>
            <a:pPr lvl="0"/>
            <a:r>
              <a:rPr lang="en-US" dirty="0"/>
              <a:t>Click to edit sub-title</a:t>
            </a:r>
          </a:p>
        </p:txBody>
      </p:sp>
      <p:sp>
        <p:nvSpPr>
          <p:cNvPr id="6" name="Footer Placeholder 5"/>
          <p:cNvSpPr>
            <a:spLocks noGrp="1"/>
          </p:cNvSpPr>
          <p:nvPr>
            <p:ph type="ftr" sz="quarter" idx="11"/>
          </p:nvPr>
        </p:nvSpPr>
        <p:spPr>
          <a:xfrm>
            <a:off x="61148" y="6437036"/>
            <a:ext cx="6124902" cy="365125"/>
          </a:xfrm>
          <a:prstGeom prst="rect">
            <a:avLst/>
          </a:prstGeom>
        </p:spPr>
        <p:txBody>
          <a:bodyPr/>
          <a:lstStyle/>
          <a:p>
            <a:r>
              <a:rPr lang="en-US"/>
              <a:t>CSC3113: Theory of Computation</a:t>
            </a:r>
          </a:p>
        </p:txBody>
      </p:sp>
      <p:sp>
        <p:nvSpPr>
          <p:cNvPr id="13" name="Picture Placeholder 2"/>
          <p:cNvSpPr>
            <a:spLocks noGrp="1"/>
          </p:cNvSpPr>
          <p:nvPr>
            <p:ph type="pic" idx="13"/>
          </p:nvPr>
        </p:nvSpPr>
        <p:spPr>
          <a:xfrm>
            <a:off x="30851" y="813356"/>
            <a:ext cx="4586253" cy="2780144"/>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a:p>
        </p:txBody>
      </p:sp>
      <p:sp>
        <p:nvSpPr>
          <p:cNvPr id="14" name="Picture Placeholder 2"/>
          <p:cNvSpPr>
            <a:spLocks noGrp="1"/>
          </p:cNvSpPr>
          <p:nvPr>
            <p:ph type="pic" idx="14"/>
          </p:nvPr>
        </p:nvSpPr>
        <p:spPr>
          <a:xfrm>
            <a:off x="33222" y="3650022"/>
            <a:ext cx="4583882" cy="2730488"/>
          </a:xfrm>
          <a:prstGeom prst="rect">
            <a:avLst/>
          </a:prstGeom>
        </p:spPr>
        <p:txBody>
          <a:bodyPr>
            <a:normAutofit/>
          </a:bodyPr>
          <a:lstStyle>
            <a:lvl1pPr marL="0" indent="0">
              <a:buNone/>
              <a:defRPr sz="135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dirty="0"/>
          </a:p>
        </p:txBody>
      </p:sp>
      <p:grpSp>
        <p:nvGrpSpPr>
          <p:cNvPr id="15" name="Group 14">
            <a:extLst>
              <a:ext uri="{FF2B5EF4-FFF2-40B4-BE49-F238E27FC236}">
                <a16:creationId xmlns:a16="http://schemas.microsoft.com/office/drawing/2014/main" id="{3DCEE78B-2A7E-4FF9-8EDE-312762EE212B}"/>
              </a:ext>
            </a:extLst>
          </p:cNvPr>
          <p:cNvGrpSpPr/>
          <p:nvPr/>
        </p:nvGrpSpPr>
        <p:grpSpPr>
          <a:xfrm rot="5400000">
            <a:off x="1538234" y="3117284"/>
            <a:ext cx="6431289" cy="151690"/>
            <a:chOff x="284163" y="1577847"/>
            <a:chExt cx="8576373" cy="137411"/>
          </a:xfrm>
        </p:grpSpPr>
        <p:sp>
          <p:nvSpPr>
            <p:cNvPr id="16" name="Rectangle 15">
              <a:extLst>
                <a:ext uri="{FF2B5EF4-FFF2-40B4-BE49-F238E27FC236}">
                  <a16:creationId xmlns:a16="http://schemas.microsoft.com/office/drawing/2014/main" id="{A0856B90-20EB-4178-8146-6E2ADCDD8F11}"/>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7" name="Rectangle 16">
              <a:extLst>
                <a:ext uri="{FF2B5EF4-FFF2-40B4-BE49-F238E27FC236}">
                  <a16:creationId xmlns:a16="http://schemas.microsoft.com/office/drawing/2014/main" id="{508C35FB-A752-4422-AC9A-AB443225DB8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18" name="Rectangle 17">
              <a:extLst>
                <a:ext uri="{FF2B5EF4-FFF2-40B4-BE49-F238E27FC236}">
                  <a16:creationId xmlns:a16="http://schemas.microsoft.com/office/drawing/2014/main" id="{14B60F04-7D45-47A3-A0A9-AEB57F722A23}"/>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pic>
        <p:nvPicPr>
          <p:cNvPr id="19" name="Picture 2" descr="Image result for AIUB logo">
            <a:extLst>
              <a:ext uri="{FF2B5EF4-FFF2-40B4-BE49-F238E27FC236}">
                <a16:creationId xmlns:a16="http://schemas.microsoft.com/office/drawing/2014/main" id="{288B2075-68BB-4D67-845B-A01DA181EBF0}"/>
              </a:ext>
            </a:extLst>
          </p:cNvPr>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2" y="-3635"/>
            <a:ext cx="811917" cy="816992"/>
          </a:xfrm>
          <a:prstGeom prst="rect">
            <a:avLst/>
          </a:prstGeom>
          <a:noFill/>
          <a:extLst>
            <a:ext uri="{909E8E84-426E-40DD-AFC4-6F175D3DCCD1}">
              <a14:hiddenFill xmlns:a14="http://schemas.microsoft.com/office/drawing/2010/main">
                <a:solidFill>
                  <a:srgbClr val="FFFFFF"/>
                </a:solidFill>
              </a14:hiddenFill>
            </a:ext>
          </a:extLst>
        </p:spPr>
      </p:pic>
      <p:grpSp>
        <p:nvGrpSpPr>
          <p:cNvPr id="20" name="Group 19">
            <a:extLst>
              <a:ext uri="{FF2B5EF4-FFF2-40B4-BE49-F238E27FC236}">
                <a16:creationId xmlns:a16="http://schemas.microsoft.com/office/drawing/2014/main" id="{C0B92236-B07C-43F3-B1FD-50D4469DFD75}"/>
              </a:ext>
            </a:extLst>
          </p:cNvPr>
          <p:cNvGrpSpPr/>
          <p:nvPr/>
        </p:nvGrpSpPr>
        <p:grpSpPr>
          <a:xfrm>
            <a:off x="845127" y="376520"/>
            <a:ext cx="2045992" cy="94131"/>
            <a:chOff x="284163" y="1577847"/>
            <a:chExt cx="8576373" cy="137411"/>
          </a:xfrm>
        </p:grpSpPr>
        <p:sp>
          <p:nvSpPr>
            <p:cNvPr id="21" name="Rectangle 20">
              <a:extLst>
                <a:ext uri="{FF2B5EF4-FFF2-40B4-BE49-F238E27FC236}">
                  <a16:creationId xmlns:a16="http://schemas.microsoft.com/office/drawing/2014/main" id="{7B006617-5652-422A-928A-DFB3F75BA4CF}"/>
                </a:ext>
              </a:extLst>
            </p:cNvPr>
            <p:cNvSpPr/>
            <p:nvPr/>
          </p:nvSpPr>
          <p:spPr>
            <a:xfrm>
              <a:off x="284163" y="1577847"/>
              <a:ext cx="1600200" cy="13741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2" name="Rectangle 21">
              <a:extLst>
                <a:ext uri="{FF2B5EF4-FFF2-40B4-BE49-F238E27FC236}">
                  <a16:creationId xmlns:a16="http://schemas.microsoft.com/office/drawing/2014/main" id="{D9716C94-56F5-40F7-B863-A3EAE462989B}"/>
                </a:ext>
              </a:extLst>
            </p:cNvPr>
            <p:cNvSpPr/>
            <p:nvPr/>
          </p:nvSpPr>
          <p:spPr>
            <a:xfrm>
              <a:off x="1885174" y="1577847"/>
              <a:ext cx="2743200" cy="13741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sp>
          <p:nvSpPr>
            <p:cNvPr id="23" name="Rectangle 22">
              <a:extLst>
                <a:ext uri="{FF2B5EF4-FFF2-40B4-BE49-F238E27FC236}">
                  <a16:creationId xmlns:a16="http://schemas.microsoft.com/office/drawing/2014/main" id="{A443C31B-04AE-4F4F-921E-A7617EA0E112}"/>
                </a:ext>
              </a:extLst>
            </p:cNvPr>
            <p:cNvSpPr/>
            <p:nvPr/>
          </p:nvSpPr>
          <p:spPr>
            <a:xfrm>
              <a:off x="4626864" y="1577847"/>
              <a:ext cx="4233672" cy="13741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013"/>
            </a:p>
          </p:txBody>
        </p:sp>
      </p:grpSp>
      <p:sp>
        <p:nvSpPr>
          <p:cNvPr id="7" name="Text Placeholder 6">
            <a:extLst>
              <a:ext uri="{FF2B5EF4-FFF2-40B4-BE49-F238E27FC236}">
                <a16:creationId xmlns:a16="http://schemas.microsoft.com/office/drawing/2014/main" id="{741869FE-D705-49F7-9915-28CF5ED982C9}"/>
              </a:ext>
            </a:extLst>
          </p:cNvPr>
          <p:cNvSpPr>
            <a:spLocks noGrp="1"/>
          </p:cNvSpPr>
          <p:nvPr>
            <p:ph type="body" sz="quarter" idx="15"/>
          </p:nvPr>
        </p:nvSpPr>
        <p:spPr>
          <a:xfrm>
            <a:off x="4891088" y="0"/>
            <a:ext cx="4252912" cy="4883150"/>
          </a:xfrm>
        </p:spPr>
        <p:txBody>
          <a:bodyPr>
            <a:normAutofit/>
          </a:bodyPr>
          <a:lstStyle>
            <a:lvl1pPr>
              <a:defRPr sz="2400"/>
            </a:lvl1pPr>
            <a:lvl2pPr>
              <a:defRPr sz="2400"/>
            </a:lvl2pPr>
            <a:lvl3pPr>
              <a:defRPr sz="20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4194457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2" y="858982"/>
            <a:ext cx="9143999" cy="55780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5729" y="6464746"/>
            <a:ext cx="6124902" cy="365125"/>
          </a:xfrm>
          <a:prstGeom prst="rect">
            <a:avLst/>
          </a:prstGeom>
        </p:spPr>
        <p:txBody>
          <a:bodyPr vert="horz" lIns="91440" tIns="45720" rIns="91440" bIns="45720" rtlCol="0" anchor="ctr"/>
          <a:lstStyle>
            <a:lvl1pPr algn="l">
              <a:defRPr sz="1200" b="1">
                <a:solidFill>
                  <a:schemeClr val="bg1">
                    <a:lumMod val="65000"/>
                  </a:schemeClr>
                </a:solidFill>
              </a:defRPr>
            </a:lvl1pPr>
          </a:lstStyle>
          <a:p>
            <a:r>
              <a:rPr lang="en-US"/>
              <a:t>CSC3113: Theory of Computation</a:t>
            </a:r>
          </a:p>
        </p:txBody>
      </p:sp>
      <p:sp>
        <p:nvSpPr>
          <p:cNvPr id="2" name="Title Placeholder 1"/>
          <p:cNvSpPr>
            <a:spLocks noGrp="1"/>
          </p:cNvSpPr>
          <p:nvPr>
            <p:ph type="title"/>
          </p:nvPr>
        </p:nvSpPr>
        <p:spPr>
          <a:xfrm>
            <a:off x="20814" y="35835"/>
            <a:ext cx="9123186" cy="658025"/>
          </a:xfrm>
          <a:prstGeom prst="rect">
            <a:avLst/>
          </a:prstGeom>
          <a:solidFill>
            <a:schemeClr val="bg1">
              <a:alpha val="70000"/>
            </a:schemeClr>
          </a:solidFill>
        </p:spPr>
        <p:txBody>
          <a:bodyPr vert="horz" lIns="91440" tIns="45720" rIns="91440" bIns="45720" rtlCol="0" anchor="ctr">
            <a:normAutofit/>
          </a:bodyPr>
          <a:lstStyle/>
          <a:p>
            <a:r>
              <a:rPr lang="en-US"/>
              <a:t>Click to edit Master title style</a:t>
            </a:r>
            <a:endParaRPr dirty="0"/>
          </a:p>
        </p:txBody>
      </p:sp>
      <p:sp>
        <p:nvSpPr>
          <p:cNvPr id="6" name="TextBox 5">
            <a:extLst>
              <a:ext uri="{FF2B5EF4-FFF2-40B4-BE49-F238E27FC236}">
                <a16:creationId xmlns:a16="http://schemas.microsoft.com/office/drawing/2014/main" id="{F810FEC4-6E92-4F0D-B445-E1D71BD2B483}"/>
              </a:ext>
            </a:extLst>
          </p:cNvPr>
          <p:cNvSpPr txBox="1"/>
          <p:nvPr/>
        </p:nvSpPr>
        <p:spPr>
          <a:xfrm>
            <a:off x="7980219" y="6520165"/>
            <a:ext cx="1163782" cy="230832"/>
          </a:xfrm>
          <a:prstGeom prst="rect">
            <a:avLst/>
          </a:prstGeom>
          <a:noFill/>
        </p:spPr>
        <p:txBody>
          <a:bodyPr wrap="square" rtlCol="0">
            <a:spAutoFit/>
          </a:bodyPr>
          <a:lstStyle/>
          <a:p>
            <a:pPr algn="r"/>
            <a:fld id="{877AA9C8-8998-44D2-B8A4-3667A019ADA0}" type="slidenum">
              <a:rPr lang="en-US" sz="900" b="1" smtClean="0">
                <a:solidFill>
                  <a:schemeClr val="bg1">
                    <a:lumMod val="50000"/>
                  </a:schemeClr>
                </a:solidFill>
              </a:rPr>
              <a:pPr algn="r"/>
              <a:t>‹#›</a:t>
            </a:fld>
            <a:endParaRPr lang="en-US" sz="900" b="1" dirty="0">
              <a:solidFill>
                <a:schemeClr val="bg1">
                  <a:lumMod val="50000"/>
                </a:schemeClr>
              </a:solidFill>
            </a:endParaRPr>
          </a:p>
        </p:txBody>
      </p:sp>
    </p:spTree>
    <p:extLst>
      <p:ext uri="{BB962C8B-B14F-4D97-AF65-F5344CB8AC3E}">
        <p14:creationId xmlns:p14="http://schemas.microsoft.com/office/powerpoint/2010/main" val="3961117174"/>
      </p:ext>
    </p:extLst>
  </p:cSld>
  <p:clrMap bg1="lt1" tx1="dk1" bg2="lt2" tx2="dk2" accent1="accent1" accent2="accent2" accent3="accent3" accent4="accent4" accent5="accent5" accent6="accent6" hlink="hlink" folHlink="folHlink"/>
  <p:sldLayoutIdLst>
    <p:sldLayoutId id="2147483737" r:id="rId1"/>
    <p:sldLayoutId id="2147483738" r:id="rId2"/>
    <p:sldLayoutId id="2147483739" r:id="rId3"/>
    <p:sldLayoutId id="2147483740" r:id="rId4"/>
    <p:sldLayoutId id="2147483741" r:id="rId5"/>
    <p:sldLayoutId id="2147483742" r:id="rId6"/>
    <p:sldLayoutId id="2147483743" r:id="rId7"/>
    <p:sldLayoutId id="2147483744" r:id="rId8"/>
    <p:sldLayoutId id="2147483745" r:id="rId9"/>
    <p:sldLayoutId id="2147483746" r:id="rId10"/>
    <p:sldLayoutId id="2147483747" r:id="rId11"/>
    <p:sldLayoutId id="2147483748" r:id="rId12"/>
    <p:sldLayoutId id="2147483749" r:id="rId13"/>
    <p:sldLayoutId id="2147483750" r:id="rId14"/>
    <p:sldLayoutId id="2147483751" r:id="rId15"/>
    <p:sldLayoutId id="2147483752" r:id="rId16"/>
    <p:sldLayoutId id="2147483753" r:id="rId17"/>
    <p:sldLayoutId id="2147483754" r:id="rId18"/>
    <p:sldLayoutId id="2147483755" r:id="rId19"/>
    <p:sldLayoutId id="2147483756" r:id="rId20"/>
    <p:sldLayoutId id="2147483757" r:id="rId21"/>
    <p:sldLayoutId id="2147483758" r:id="rId22"/>
    <p:sldLayoutId id="2147483759" r:id="rId23"/>
    <p:sldLayoutId id="2147483760" r:id="rId24"/>
    <p:sldLayoutId id="2147483761" r:id="rId25"/>
    <p:sldLayoutId id="2147483762" r:id="rId26"/>
    <p:sldLayoutId id="2147483763" r:id="rId27"/>
    <p:sldLayoutId id="2147483764" r:id="rId28"/>
    <p:sldLayoutId id="2147483765" r:id="rId29"/>
    <p:sldLayoutId id="2147483766" r:id="rId30"/>
    <p:sldLayoutId id="2147483767" r:id="rId31"/>
    <p:sldLayoutId id="2147483768" r:id="rId32"/>
    <p:sldLayoutId id="2147483769" r:id="rId33"/>
    <p:sldLayoutId id="2147483770" r:id="rId34"/>
    <p:sldLayoutId id="2147483771" r:id="rId35"/>
    <p:sldLayoutId id="2147483772" r:id="rId36"/>
    <p:sldLayoutId id="2147483773" r:id="rId37"/>
    <p:sldLayoutId id="2147483774" r:id="rId38"/>
    <p:sldLayoutId id="2147483697" r:id="rId39"/>
  </p:sldLayoutIdLst>
  <p:hf hdr="0"/>
  <p:txStyles>
    <p:titleStyle>
      <a:lvl1pPr algn="ctr" defTabSz="514350" rtl="0" eaLnBrk="1" latinLnBrk="0" hangingPunct="1">
        <a:spcBef>
          <a:spcPts val="600"/>
        </a:spcBef>
        <a:buNone/>
        <a:defRPr sz="3200" b="1" i="0" kern="1200" cap="small" baseline="0">
          <a:solidFill>
            <a:schemeClr val="bg1"/>
          </a:solidFill>
          <a:latin typeface="+mj-lt"/>
          <a:ea typeface="+mj-ea"/>
          <a:cs typeface="+mj-cs"/>
        </a:defRPr>
      </a:lvl1pPr>
    </p:titleStyle>
    <p:body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4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2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9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p:bodyStyle>
    <p:otherStyle>
      <a:defPPr>
        <a:defRPr/>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0.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1.xml"/></Relationships>
</file>

<file path=ppt/slides/_rels/slide20.xml.rels><?xml version="1.0" encoding="UTF-8" standalone="yes"?>
<Relationships xmlns="http://schemas.openxmlformats.org/package/2006/relationships"><Relationship Id="rId3" Type="http://schemas.openxmlformats.org/officeDocument/2006/relationships/hyperlink" Target="Papadimitriou-Turing%20Machine.pdf" TargetMode="External"/><Relationship Id="rId2" Type="http://schemas.openxmlformats.org/officeDocument/2006/relationships/hyperlink" Target="Sipser-Computability-1.pdf" TargetMode="External"/><Relationship Id="rId1" Type="http://schemas.openxmlformats.org/officeDocument/2006/relationships/slideLayout" Target="../slideLayouts/slideLayout6.xml"/><Relationship Id="rId4" Type="http://schemas.openxmlformats.org/officeDocument/2006/relationships/hyperlink" Target="Hopcroft-Turing%20Machine.pdf"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4C6C9D-A5DC-4F0A-877F-0CDEBFC1AF4E}"/>
              </a:ext>
            </a:extLst>
          </p:cNvPr>
          <p:cNvSpPr>
            <a:spLocks noGrp="1"/>
          </p:cNvSpPr>
          <p:nvPr>
            <p:ph type="ctrTitle"/>
          </p:nvPr>
        </p:nvSpPr>
        <p:spPr/>
        <p:txBody>
          <a:bodyPr/>
          <a:lstStyle/>
          <a:p>
            <a:r>
              <a:rPr lang="en-US" dirty="0"/>
              <a:t>Computability Theory</a:t>
            </a:r>
          </a:p>
        </p:txBody>
      </p:sp>
      <p:sp>
        <p:nvSpPr>
          <p:cNvPr id="3" name="Content Placeholder 2">
            <a:extLst>
              <a:ext uri="{FF2B5EF4-FFF2-40B4-BE49-F238E27FC236}">
                <a16:creationId xmlns:a16="http://schemas.microsoft.com/office/drawing/2014/main" id="{5B258E3E-6D6E-4093-B9F4-536C162B43D0}"/>
              </a:ext>
            </a:extLst>
          </p:cNvPr>
          <p:cNvSpPr>
            <a:spLocks noGrp="1"/>
          </p:cNvSpPr>
          <p:nvPr>
            <p:ph sz="quarter" idx="10"/>
          </p:nvPr>
        </p:nvSpPr>
        <p:spPr/>
        <p:txBody>
          <a:bodyPr/>
          <a:lstStyle/>
          <a:p>
            <a:r>
              <a:rPr lang="en-US" dirty="0"/>
              <a:t>CSC3113: Theory of Computation</a:t>
            </a:r>
          </a:p>
        </p:txBody>
      </p:sp>
      <p:sp>
        <p:nvSpPr>
          <p:cNvPr id="4" name="Text Placeholder 3">
            <a:extLst>
              <a:ext uri="{FF2B5EF4-FFF2-40B4-BE49-F238E27FC236}">
                <a16:creationId xmlns:a16="http://schemas.microsoft.com/office/drawing/2014/main" id="{91376256-EB7C-4561-BED1-CECA985FD0B2}"/>
              </a:ext>
            </a:extLst>
          </p:cNvPr>
          <p:cNvSpPr>
            <a:spLocks noGrp="1"/>
          </p:cNvSpPr>
          <p:nvPr>
            <p:ph type="body" sz="quarter" idx="11"/>
          </p:nvPr>
        </p:nvSpPr>
        <p:spPr/>
        <p:txBody>
          <a:bodyPr/>
          <a:lstStyle/>
          <a:p>
            <a:r>
              <a:rPr lang="en-US" dirty="0"/>
              <a:t>8</a:t>
            </a:r>
          </a:p>
        </p:txBody>
      </p:sp>
      <p:sp>
        <p:nvSpPr>
          <p:cNvPr id="5" name="Text Placeholder 4">
            <a:extLst>
              <a:ext uri="{FF2B5EF4-FFF2-40B4-BE49-F238E27FC236}">
                <a16:creationId xmlns:a16="http://schemas.microsoft.com/office/drawing/2014/main" id="{870CC902-C485-4520-8AD7-51BA188623CC}"/>
              </a:ext>
            </a:extLst>
          </p:cNvPr>
          <p:cNvSpPr>
            <a:spLocks noGrp="1"/>
          </p:cNvSpPr>
          <p:nvPr>
            <p:ph type="body" sz="quarter" idx="12"/>
          </p:nvPr>
        </p:nvSpPr>
        <p:spPr/>
        <p:txBody>
          <a:bodyPr/>
          <a:lstStyle/>
          <a:p>
            <a:r>
              <a:rPr lang="en-US" dirty="0"/>
              <a:t>8</a:t>
            </a:r>
          </a:p>
        </p:txBody>
      </p:sp>
      <p:sp>
        <p:nvSpPr>
          <p:cNvPr id="6" name="Text Placeholder 5">
            <a:extLst>
              <a:ext uri="{FF2B5EF4-FFF2-40B4-BE49-F238E27FC236}">
                <a16:creationId xmlns:a16="http://schemas.microsoft.com/office/drawing/2014/main" id="{FA8C51C5-868C-4051-A04F-FC945CA34685}"/>
              </a:ext>
            </a:extLst>
          </p:cNvPr>
          <p:cNvSpPr>
            <a:spLocks noGrp="1"/>
          </p:cNvSpPr>
          <p:nvPr>
            <p:ph type="body" sz="quarter" idx="13"/>
          </p:nvPr>
        </p:nvSpPr>
        <p:spPr/>
        <p:txBody>
          <a:bodyPr/>
          <a:lstStyle/>
          <a:p>
            <a:r>
              <a:rPr lang="en-US"/>
              <a:t>Fall 2024-2025</a:t>
            </a:r>
            <a:endParaRPr lang="en-US" dirty="0"/>
          </a:p>
        </p:txBody>
      </p:sp>
      <p:sp>
        <p:nvSpPr>
          <p:cNvPr id="7" name="Text Placeholder 6">
            <a:extLst>
              <a:ext uri="{FF2B5EF4-FFF2-40B4-BE49-F238E27FC236}">
                <a16:creationId xmlns:a16="http://schemas.microsoft.com/office/drawing/2014/main" id="{341AB14A-DC6C-4689-AD70-C6C8EFF28C33}"/>
              </a:ext>
            </a:extLst>
          </p:cNvPr>
          <p:cNvSpPr>
            <a:spLocks noGrp="1"/>
          </p:cNvSpPr>
          <p:nvPr>
            <p:ph type="body" sz="quarter" idx="14"/>
          </p:nvPr>
        </p:nvSpPr>
        <p:spPr/>
        <p:txBody>
          <a:bodyPr/>
          <a:lstStyle/>
          <a:p>
            <a:r>
              <a:rPr lang="en-US" dirty="0"/>
              <a:t>Sharfuddin Mahmood, Assistant Professor, </a:t>
            </a:r>
          </a:p>
          <a:p>
            <a:r>
              <a:rPr lang="en-US" dirty="0"/>
              <a:t>Department of Computer Science, Faculty of Science &amp; Technology.</a:t>
            </a:r>
          </a:p>
          <a:p>
            <a:r>
              <a:rPr lang="en-US"/>
              <a:t>smahmood@</a:t>
            </a:r>
            <a:r>
              <a:rPr lang="en-US" dirty="0"/>
              <a:t>aiub.edu</a:t>
            </a:r>
          </a:p>
          <a:p>
            <a:endParaRPr lang="en-US" dirty="0"/>
          </a:p>
        </p:txBody>
      </p:sp>
    </p:spTree>
    <p:extLst>
      <p:ext uri="{BB962C8B-B14F-4D97-AF65-F5344CB8AC3E}">
        <p14:creationId xmlns:p14="http://schemas.microsoft.com/office/powerpoint/2010/main" val="20042033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E5D449C3-B5F2-47E9-A4C9-274521D1EE87}"/>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3AD22FB-9572-43CA-ADDF-EB73E2AF7629}"/>
              </a:ext>
            </a:extLst>
          </p:cNvPr>
          <p:cNvSpPr>
            <a:spLocks noGrp="1"/>
          </p:cNvSpPr>
          <p:nvPr>
            <p:ph type="subTitle" idx="1"/>
          </p:nvPr>
        </p:nvSpPr>
        <p:spPr/>
        <p:txBody>
          <a:bodyPr/>
          <a:lstStyle/>
          <a:p>
            <a:r>
              <a:rPr lang="en-US" dirty="0"/>
              <a:t>Computability &amp; Turing Machine</a:t>
            </a:r>
          </a:p>
        </p:txBody>
      </p:sp>
      <p:sp>
        <p:nvSpPr>
          <p:cNvPr id="3" name="Text Placeholder 2">
            <a:extLst>
              <a:ext uri="{FF2B5EF4-FFF2-40B4-BE49-F238E27FC236}">
                <a16:creationId xmlns:a16="http://schemas.microsoft.com/office/drawing/2014/main" id="{182D35BC-5B07-4B4B-8181-9F5A677C48A4}"/>
              </a:ext>
            </a:extLst>
          </p:cNvPr>
          <p:cNvSpPr>
            <a:spLocks noGrp="1"/>
          </p:cNvSpPr>
          <p:nvPr>
            <p:ph type="body" sz="quarter" idx="12"/>
          </p:nvPr>
        </p:nvSpPr>
        <p:spPr/>
        <p:txBody>
          <a:bodyPr>
            <a:normAutofit/>
          </a:bodyPr>
          <a:lstStyle/>
          <a:p>
            <a:r>
              <a:rPr lang="en-US" dirty="0">
                <a:solidFill>
                  <a:schemeClr val="tx1">
                    <a:lumMod val="95000"/>
                    <a:lumOff val="5000"/>
                  </a:schemeClr>
                </a:solidFill>
              </a:rPr>
              <a:t>Following FA, PDA, Regular &amp; Context-free language towards Computability &amp; Turing Machine (TM).</a:t>
            </a:r>
          </a:p>
          <a:p>
            <a:r>
              <a:rPr lang="en-US" dirty="0">
                <a:solidFill>
                  <a:schemeClr val="tx1">
                    <a:lumMod val="95000"/>
                    <a:lumOff val="5000"/>
                  </a:schemeClr>
                </a:solidFill>
              </a:rPr>
              <a:t>Computability Theory, History.</a:t>
            </a:r>
          </a:p>
          <a:p>
            <a:r>
              <a:rPr lang="en-US" dirty="0">
                <a:solidFill>
                  <a:schemeClr val="tx1">
                    <a:lumMod val="95000"/>
                    <a:lumOff val="5000"/>
                  </a:schemeClr>
                </a:solidFill>
              </a:rPr>
              <a:t>Turing Machine</a:t>
            </a:r>
          </a:p>
          <a:p>
            <a:pPr lvl="1"/>
            <a:r>
              <a:rPr lang="en-US" dirty="0">
                <a:solidFill>
                  <a:schemeClr val="tx1">
                    <a:lumMod val="95000"/>
                    <a:lumOff val="5000"/>
                  </a:schemeClr>
                </a:solidFill>
              </a:rPr>
              <a:t>Informal Description</a:t>
            </a:r>
          </a:p>
          <a:p>
            <a:pPr lvl="1"/>
            <a:r>
              <a:rPr lang="en-US" dirty="0">
                <a:solidFill>
                  <a:schemeClr val="tx1">
                    <a:lumMod val="95000"/>
                    <a:lumOff val="5000"/>
                  </a:schemeClr>
                </a:solidFill>
              </a:rPr>
              <a:t>Input/output convention</a:t>
            </a:r>
          </a:p>
          <a:p>
            <a:endParaRPr lang="en-US" sz="2400" dirty="0">
              <a:solidFill>
                <a:schemeClr val="tx1">
                  <a:lumMod val="95000"/>
                  <a:lumOff val="5000"/>
                </a:schemeClr>
              </a:solidFill>
            </a:endParaRPr>
          </a:p>
          <a:p>
            <a:endParaRPr lang="en-US" sz="2400" dirty="0">
              <a:solidFill>
                <a:schemeClr val="tx1">
                  <a:lumMod val="95000"/>
                  <a:lumOff val="5000"/>
                </a:schemeClr>
              </a:solidFill>
            </a:endParaRPr>
          </a:p>
          <a:p>
            <a:endParaRPr lang="en-US" dirty="0"/>
          </a:p>
          <a:p>
            <a:endParaRPr lang="en-US" dirty="0"/>
          </a:p>
        </p:txBody>
      </p:sp>
    </p:spTree>
    <p:extLst>
      <p:ext uri="{BB962C8B-B14F-4D97-AF65-F5344CB8AC3E}">
        <p14:creationId xmlns:p14="http://schemas.microsoft.com/office/powerpoint/2010/main" val="4791669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186BC14-4F4A-42DD-8727-F9FA0B1D26EE}"/>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D411696D-9FF9-4C39-9FB1-DD3661434219}"/>
              </a:ext>
            </a:extLst>
          </p:cNvPr>
          <p:cNvSpPr>
            <a:spLocks noGrp="1"/>
          </p:cNvSpPr>
          <p:nvPr>
            <p:ph type="subTitle" idx="1"/>
          </p:nvPr>
        </p:nvSpPr>
        <p:spPr/>
        <p:txBody>
          <a:bodyPr/>
          <a:lstStyle/>
          <a:p>
            <a:endParaRPr lang="en-US"/>
          </a:p>
        </p:txBody>
      </p:sp>
      <p:sp>
        <p:nvSpPr>
          <p:cNvPr id="3" name="Text Placeholder 2">
            <a:extLst>
              <a:ext uri="{FF2B5EF4-FFF2-40B4-BE49-F238E27FC236}">
                <a16:creationId xmlns:a16="http://schemas.microsoft.com/office/drawing/2014/main" id="{DBA83E4F-7F22-4D31-90C1-08F4D9B0B002}"/>
              </a:ext>
            </a:extLst>
          </p:cNvPr>
          <p:cNvSpPr>
            <a:spLocks noGrp="1"/>
          </p:cNvSpPr>
          <p:nvPr>
            <p:ph type="body" sz="quarter" idx="12"/>
          </p:nvPr>
        </p:nvSpPr>
        <p:spPr/>
        <p:txBody>
          <a:bodyPr/>
          <a:lstStyle/>
          <a:p>
            <a:pPr>
              <a:lnSpc>
                <a:spcPct val="80000"/>
              </a:lnSpc>
              <a:defRPr/>
            </a:pPr>
            <a:r>
              <a:rPr lang="en-US" dirty="0"/>
              <a:t>Difference among FA, PDA, and TM</a:t>
            </a:r>
          </a:p>
          <a:p>
            <a:pPr>
              <a:lnSpc>
                <a:spcPct val="80000"/>
              </a:lnSpc>
              <a:defRPr/>
            </a:pPr>
            <a:r>
              <a:rPr lang="en-US" dirty="0"/>
              <a:t>Understand Computability Theory through Turing Machine model.</a:t>
            </a:r>
          </a:p>
          <a:p>
            <a:pPr>
              <a:lnSpc>
                <a:spcPct val="80000"/>
              </a:lnSpc>
              <a:defRPr/>
            </a:pPr>
            <a:r>
              <a:rPr lang="en-US" dirty="0"/>
              <a:t>Description of Turing Machine</a:t>
            </a:r>
          </a:p>
        </p:txBody>
      </p:sp>
    </p:spTree>
    <p:extLst>
      <p:ext uri="{BB962C8B-B14F-4D97-AF65-F5344CB8AC3E}">
        <p14:creationId xmlns:p14="http://schemas.microsoft.com/office/powerpoint/2010/main" val="10089759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8810EDF-8BAD-430C-B55B-A2BC5FD61C2A}"/>
              </a:ext>
            </a:extLst>
          </p:cNvPr>
          <p:cNvSpPr>
            <a:spLocks noGrp="1"/>
          </p:cNvSpPr>
          <p:nvPr>
            <p:ph type="ftr" sz="quarter" idx="11"/>
          </p:nvPr>
        </p:nvSpPr>
        <p:spPr/>
        <p:txBody>
          <a:bodyPr/>
          <a:lstStyle/>
          <a:p>
            <a:r>
              <a:rPr lang="en-US"/>
              <a:t>CSC3113: Theory of Computation</a:t>
            </a:r>
          </a:p>
        </p:txBody>
      </p:sp>
      <p:sp>
        <p:nvSpPr>
          <p:cNvPr id="2" name="Subtitle 1">
            <a:extLst>
              <a:ext uri="{FF2B5EF4-FFF2-40B4-BE49-F238E27FC236}">
                <a16:creationId xmlns:a16="http://schemas.microsoft.com/office/drawing/2014/main" id="{F1C383E6-1994-47BD-8D2A-374225D9B669}"/>
              </a:ext>
            </a:extLst>
          </p:cNvPr>
          <p:cNvSpPr>
            <a:spLocks noGrp="1"/>
          </p:cNvSpPr>
          <p:nvPr>
            <p:ph type="subTitle" idx="1"/>
          </p:nvPr>
        </p:nvSpPr>
        <p:spPr/>
        <p:txBody>
          <a:bodyPr/>
          <a:lstStyle/>
          <a:p>
            <a:r>
              <a:rPr lang="en-US" dirty="0"/>
              <a:t>All outcome are represented with examples</a:t>
            </a:r>
          </a:p>
        </p:txBody>
      </p:sp>
      <p:sp>
        <p:nvSpPr>
          <p:cNvPr id="3" name="Text Placeholder 2">
            <a:extLst>
              <a:ext uri="{FF2B5EF4-FFF2-40B4-BE49-F238E27FC236}">
                <a16:creationId xmlns:a16="http://schemas.microsoft.com/office/drawing/2014/main" id="{87461010-27AE-47B7-AE24-8B1B50A5414D}"/>
              </a:ext>
            </a:extLst>
          </p:cNvPr>
          <p:cNvSpPr>
            <a:spLocks noGrp="1"/>
          </p:cNvSpPr>
          <p:nvPr>
            <p:ph type="body" sz="quarter" idx="12"/>
          </p:nvPr>
        </p:nvSpPr>
        <p:spPr/>
        <p:txBody>
          <a:bodyPr>
            <a:normAutofit/>
          </a:bodyPr>
          <a:lstStyle/>
          <a:p>
            <a:pPr algn="just">
              <a:lnSpc>
                <a:spcPct val="80000"/>
              </a:lnSpc>
              <a:defRPr/>
            </a:pPr>
            <a:r>
              <a:rPr lang="en-US" dirty="0"/>
              <a:t>Understand why we need TM through understanding the difference among FA, PDA, Regular &amp; Context-free languages with Computability and Turing machine.</a:t>
            </a:r>
          </a:p>
          <a:p>
            <a:pPr algn="just">
              <a:lnSpc>
                <a:spcPct val="80000"/>
              </a:lnSpc>
              <a:defRPr/>
            </a:pPr>
            <a:r>
              <a:rPr lang="en-US" dirty="0"/>
              <a:t>Basic concept of Computability Theory and its history.</a:t>
            </a:r>
          </a:p>
          <a:p>
            <a:pPr algn="just">
              <a:lnSpc>
                <a:spcPct val="80000"/>
              </a:lnSpc>
              <a:defRPr/>
            </a:pPr>
            <a:r>
              <a:rPr lang="en-US" dirty="0"/>
              <a:t>Description of Turing Machine – </a:t>
            </a:r>
          </a:p>
          <a:p>
            <a:pPr lvl="1" algn="just">
              <a:lnSpc>
                <a:spcPct val="80000"/>
              </a:lnSpc>
              <a:defRPr/>
            </a:pPr>
            <a:r>
              <a:rPr lang="en-US" dirty="0"/>
              <a:t>Informal</a:t>
            </a:r>
          </a:p>
          <a:p>
            <a:pPr lvl="1" algn="just">
              <a:lnSpc>
                <a:spcPct val="80000"/>
              </a:lnSpc>
              <a:defRPr/>
            </a:pPr>
            <a:r>
              <a:rPr lang="en-US" dirty="0"/>
              <a:t>Implementation level</a:t>
            </a:r>
          </a:p>
          <a:p>
            <a:pPr lvl="1" algn="just">
              <a:lnSpc>
                <a:spcPct val="80000"/>
              </a:lnSpc>
              <a:defRPr/>
            </a:pPr>
            <a:r>
              <a:rPr lang="en-US" dirty="0"/>
              <a:t>Low level</a:t>
            </a:r>
          </a:p>
          <a:p>
            <a:pPr lvl="2" algn="just">
              <a:lnSpc>
                <a:spcPct val="80000"/>
              </a:lnSpc>
              <a:defRPr/>
            </a:pPr>
            <a:r>
              <a:rPr lang="en-US" dirty="0"/>
              <a:t>Formal</a:t>
            </a:r>
          </a:p>
          <a:p>
            <a:pPr lvl="2" algn="just">
              <a:lnSpc>
                <a:spcPct val="80000"/>
              </a:lnSpc>
              <a:defRPr/>
            </a:pPr>
            <a:r>
              <a:rPr lang="en-US" dirty="0"/>
              <a:t>State Diagram</a:t>
            </a:r>
          </a:p>
        </p:txBody>
      </p:sp>
    </p:spTree>
    <p:extLst>
      <p:ext uri="{BB962C8B-B14F-4D97-AF65-F5344CB8AC3E}">
        <p14:creationId xmlns:p14="http://schemas.microsoft.com/office/powerpoint/2010/main" val="15375620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FC7EB6-2756-4DF3-9978-17ED59059636}"/>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2A888CE-AAEF-4DE1-A7C2-928EE0BB4EC6}"/>
              </a:ext>
            </a:extLst>
          </p:cNvPr>
          <p:cNvSpPr>
            <a:spLocks noGrp="1"/>
          </p:cNvSpPr>
          <p:nvPr>
            <p:ph type="body" sz="quarter" idx="12"/>
          </p:nvPr>
        </p:nvSpPr>
        <p:spPr/>
        <p:txBody>
          <a:bodyPr/>
          <a:lstStyle/>
          <a:p>
            <a:r>
              <a:rPr lang="en-US" dirty="0"/>
              <a:t>We have Learned so far…</a:t>
            </a:r>
          </a:p>
        </p:txBody>
      </p:sp>
      <p:sp>
        <p:nvSpPr>
          <p:cNvPr id="7" name="TextBox 6">
            <a:extLst>
              <a:ext uri="{FF2B5EF4-FFF2-40B4-BE49-F238E27FC236}">
                <a16:creationId xmlns:a16="http://schemas.microsoft.com/office/drawing/2014/main" id="{7DFB25AB-D65B-49FC-97BC-A3F1F3FB2FFF}"/>
              </a:ext>
            </a:extLst>
          </p:cNvPr>
          <p:cNvSpPr txBox="1"/>
          <p:nvPr/>
        </p:nvSpPr>
        <p:spPr>
          <a:xfrm>
            <a:off x="4861560" y="1235743"/>
            <a:ext cx="4282440" cy="5262979"/>
          </a:xfrm>
          <a:prstGeom prst="rect">
            <a:avLst/>
          </a:prstGeom>
          <a:noFill/>
        </p:spPr>
        <p:txBody>
          <a:bodyPr wrap="square" rtlCol="0">
            <a:spAutoFit/>
          </a:bodyPr>
          <a:lstStyle/>
          <a:p>
            <a:r>
              <a:rPr lang="en-US" altLang="en-US" sz="2400" b="1" dirty="0"/>
              <a:t>Push Down Automaton (PDA) Computational Model with additional stack memory can be used to compute these languages.</a:t>
            </a:r>
          </a:p>
          <a:p>
            <a:endParaRPr lang="en-US" altLang="en-US" sz="2400" b="1" dirty="0"/>
          </a:p>
          <a:p>
            <a:r>
              <a:rPr lang="en-US" altLang="en-US" sz="2400" b="1" dirty="0"/>
              <a:t>Regular language is member of CFL.</a:t>
            </a:r>
          </a:p>
          <a:p>
            <a:endParaRPr lang="en-US" altLang="en-US" sz="2400" b="1" dirty="0"/>
          </a:p>
          <a:p>
            <a:r>
              <a:rPr lang="en-US" altLang="en-US" sz="2400" b="1" dirty="0"/>
              <a:t>Can be generated by CFG.</a:t>
            </a:r>
          </a:p>
          <a:p>
            <a:endParaRPr lang="en-US" altLang="en-US" sz="2400" b="1" dirty="0"/>
          </a:p>
          <a:p>
            <a:r>
              <a:rPr lang="en-US" altLang="en-US" sz="2400" b="1" dirty="0"/>
              <a:t>Can be recognized by PDA.</a:t>
            </a:r>
          </a:p>
          <a:p>
            <a:endParaRPr lang="en-US" altLang="en-US" sz="2400" b="1" dirty="0"/>
          </a:p>
          <a:p>
            <a:r>
              <a:rPr lang="en-US" altLang="en-US" sz="2400" b="1" dirty="0"/>
              <a:t>CFG can be decided by PDA.</a:t>
            </a:r>
          </a:p>
        </p:txBody>
      </p:sp>
      <p:sp>
        <p:nvSpPr>
          <p:cNvPr id="4" name="Oval 3">
            <a:extLst>
              <a:ext uri="{FF2B5EF4-FFF2-40B4-BE49-F238E27FC236}">
                <a16:creationId xmlns:a16="http://schemas.microsoft.com/office/drawing/2014/main" id="{3A011186-5B59-454C-B074-2C5F4957698F}"/>
              </a:ext>
            </a:extLst>
          </p:cNvPr>
          <p:cNvSpPr/>
          <p:nvPr/>
        </p:nvSpPr>
        <p:spPr>
          <a:xfrm>
            <a:off x="304800" y="960119"/>
            <a:ext cx="4114800" cy="4114800"/>
          </a:xfrm>
          <a:prstGeom prst="ellipse">
            <a:avLst/>
          </a:prstGeom>
          <a:noFill/>
          <a:ln w="63500">
            <a:solidFill>
              <a:schemeClr val="tx1"/>
            </a:solidFill>
          </a:ln>
        </p:spPr>
        <p:style>
          <a:lnRef idx="2">
            <a:schemeClr val="dk1"/>
          </a:lnRef>
          <a:fillRef idx="1">
            <a:schemeClr val="lt1"/>
          </a:fillRef>
          <a:effectRef idx="0">
            <a:schemeClr val="dk1"/>
          </a:effectRef>
          <a:fontRef idx="minor">
            <a:schemeClr val="dk1"/>
          </a:fontRef>
        </p:style>
        <p:txBody>
          <a:bodyPr rtlCol="0" anchor="b" anchorCtr="0"/>
          <a:lstStyle/>
          <a:p>
            <a:pPr algn="ctr"/>
            <a:r>
              <a:rPr lang="en-US" sz="3200" b="1" cap="small" dirty="0"/>
              <a:t>Context Free Languages</a:t>
            </a:r>
          </a:p>
          <a:p>
            <a:pPr algn="ctr"/>
            <a:endParaRPr lang="en-US" cap="small" dirty="0"/>
          </a:p>
        </p:txBody>
      </p:sp>
      <p:sp>
        <p:nvSpPr>
          <p:cNvPr id="8" name="Oval 7">
            <a:extLst>
              <a:ext uri="{FF2B5EF4-FFF2-40B4-BE49-F238E27FC236}">
                <a16:creationId xmlns:a16="http://schemas.microsoft.com/office/drawing/2014/main" id="{5FEE63EC-39B4-4020-914C-44873E160576}"/>
              </a:ext>
            </a:extLst>
          </p:cNvPr>
          <p:cNvSpPr/>
          <p:nvPr/>
        </p:nvSpPr>
        <p:spPr>
          <a:xfrm>
            <a:off x="990599" y="1235743"/>
            <a:ext cx="2727961" cy="1920240"/>
          </a:xfrm>
          <a:prstGeom prst="ellipse">
            <a:avLst/>
          </a:prstGeom>
          <a:noFill/>
          <a:ln w="635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b="1" cap="small" dirty="0"/>
              <a:t>Regular Languages</a:t>
            </a:r>
          </a:p>
        </p:txBody>
      </p:sp>
      <p:sp>
        <p:nvSpPr>
          <p:cNvPr id="9" name="TextBox 8">
            <a:extLst>
              <a:ext uri="{FF2B5EF4-FFF2-40B4-BE49-F238E27FC236}">
                <a16:creationId xmlns:a16="http://schemas.microsoft.com/office/drawing/2014/main" id="{44895DA2-FB88-48A6-AB17-2551258F0A0C}"/>
              </a:ext>
            </a:extLst>
          </p:cNvPr>
          <p:cNvSpPr txBox="1"/>
          <p:nvPr/>
        </p:nvSpPr>
        <p:spPr>
          <a:xfrm>
            <a:off x="5306290" y="1235743"/>
            <a:ext cx="3837710" cy="5262979"/>
          </a:xfrm>
          <a:prstGeom prst="rect">
            <a:avLst/>
          </a:prstGeom>
          <a:noFill/>
        </p:spPr>
        <p:txBody>
          <a:bodyPr wrap="square" rtlCol="0">
            <a:spAutoFit/>
          </a:bodyPr>
          <a:lstStyle/>
          <a:p>
            <a:r>
              <a:rPr lang="en-US" altLang="en-US" sz="2400" b="1" dirty="0"/>
              <a:t>Finite Automaton (FA) Computational Model with limited memory can be used to compute these languages.</a:t>
            </a:r>
          </a:p>
          <a:p>
            <a:endParaRPr lang="en-US" altLang="en-US" sz="2400" b="1" dirty="0"/>
          </a:p>
          <a:p>
            <a:r>
              <a:rPr lang="en-US" altLang="en-US" sz="2400" b="1" dirty="0"/>
              <a:t>Can be decided by a DFA.</a:t>
            </a:r>
          </a:p>
          <a:p>
            <a:endParaRPr lang="en-US" altLang="en-US" sz="2400" b="1" dirty="0"/>
          </a:p>
          <a:p>
            <a:r>
              <a:rPr lang="en-US" altLang="en-US" sz="2400" b="1" dirty="0"/>
              <a:t>Can be decided by an NFA.</a:t>
            </a:r>
          </a:p>
          <a:p>
            <a:endParaRPr lang="en-US" altLang="en-US" sz="2400" b="1" dirty="0"/>
          </a:p>
          <a:p>
            <a:r>
              <a:rPr lang="en-US" altLang="en-US" sz="2400" b="1" dirty="0"/>
              <a:t>Can be expressed by a regular expression.</a:t>
            </a:r>
          </a:p>
          <a:p>
            <a:endParaRPr lang="en-US" altLang="en-US" sz="2400" b="1" dirty="0"/>
          </a:p>
          <a:p>
            <a:r>
              <a:rPr lang="en-US" altLang="en-US" sz="2400" b="1" dirty="0"/>
              <a:t>Regular language is closed under regular operations.</a:t>
            </a:r>
          </a:p>
        </p:txBody>
      </p:sp>
      <p:sp>
        <p:nvSpPr>
          <p:cNvPr id="5" name="TextBox 4">
            <a:extLst>
              <a:ext uri="{FF2B5EF4-FFF2-40B4-BE49-F238E27FC236}">
                <a16:creationId xmlns:a16="http://schemas.microsoft.com/office/drawing/2014/main" id="{BCE4BE7B-FCA7-4E51-87E3-CB8039CBFD22}"/>
              </a:ext>
            </a:extLst>
          </p:cNvPr>
          <p:cNvSpPr txBox="1"/>
          <p:nvPr/>
        </p:nvSpPr>
        <p:spPr>
          <a:xfrm>
            <a:off x="19587" y="5163912"/>
            <a:ext cx="4841973" cy="923330"/>
          </a:xfrm>
          <a:prstGeom prst="rect">
            <a:avLst/>
          </a:prstGeom>
          <a:noFill/>
        </p:spPr>
        <p:txBody>
          <a:bodyPr wrap="square" rtlCol="0">
            <a:spAutoFit/>
          </a:bodyPr>
          <a:lstStyle/>
          <a:p>
            <a:pPr algn="just"/>
            <a:r>
              <a:rPr lang="en-US" b="1" dirty="0">
                <a:solidFill>
                  <a:srgbClr val="222222"/>
                </a:solidFill>
                <a:latin typeface="arial" panose="020B0604020202020204" pitchFamily="34" charset="0"/>
              </a:rPr>
              <a:t>Finite automata is used in text processing, pattern matching, parity checking, compilers, and hardware design, etc.</a:t>
            </a:r>
          </a:p>
        </p:txBody>
      </p:sp>
      <p:sp>
        <p:nvSpPr>
          <p:cNvPr id="10" name="TextBox 9">
            <a:extLst>
              <a:ext uri="{FF2B5EF4-FFF2-40B4-BE49-F238E27FC236}">
                <a16:creationId xmlns:a16="http://schemas.microsoft.com/office/drawing/2014/main" id="{84B82720-426C-4558-9452-A9CDD702D385}"/>
              </a:ext>
            </a:extLst>
          </p:cNvPr>
          <p:cNvSpPr txBox="1"/>
          <p:nvPr/>
        </p:nvSpPr>
        <p:spPr>
          <a:xfrm>
            <a:off x="0" y="5163912"/>
            <a:ext cx="4841973" cy="1200329"/>
          </a:xfrm>
          <a:prstGeom prst="rect">
            <a:avLst/>
          </a:prstGeom>
          <a:noFill/>
        </p:spPr>
        <p:txBody>
          <a:bodyPr wrap="square" rtlCol="0">
            <a:spAutoFit/>
          </a:bodyPr>
          <a:lstStyle/>
          <a:p>
            <a:pPr algn="just"/>
            <a:r>
              <a:rPr lang="en-US" b="1" dirty="0">
                <a:solidFill>
                  <a:srgbClr val="222222"/>
                </a:solidFill>
                <a:latin typeface="arial" panose="020B0604020202020204" pitchFamily="34" charset="0"/>
              </a:rPr>
              <a:t>Pushdown automata is used in programming languages, AI tools, Natural Language processing, parsing (math expressions), etc.</a:t>
            </a:r>
          </a:p>
        </p:txBody>
      </p:sp>
    </p:spTree>
    <p:extLst>
      <p:ext uri="{BB962C8B-B14F-4D97-AF65-F5344CB8AC3E}">
        <p14:creationId xmlns:p14="http://schemas.microsoft.com/office/powerpoint/2010/main" val="2159102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heel(8)">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9">
                                            <p:txEl>
                                              <p:pRg st="0" end="0"/>
                                            </p:txEl>
                                          </p:spTgt>
                                        </p:tgtEl>
                                        <p:attrNameLst>
                                          <p:attrName>style.visibility</p:attrName>
                                        </p:attrNameLst>
                                      </p:cBhvr>
                                      <p:to>
                                        <p:strVal val="visible"/>
                                      </p:to>
                                    </p:set>
                                    <p:animEffect transition="in" filter="wipe(left)">
                                      <p:cBhvr>
                                        <p:cTn id="12" dur="500"/>
                                        <p:tgtEl>
                                          <p:spTgt spid="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animEffect transition="in" filter="wipe(left)">
                                      <p:cBhvr>
                                        <p:cTn id="17" dur="500"/>
                                        <p:tgtEl>
                                          <p:spTgt spid="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9">
                                            <p:txEl>
                                              <p:pRg st="4" end="4"/>
                                            </p:txEl>
                                          </p:spTgt>
                                        </p:tgtEl>
                                        <p:attrNameLst>
                                          <p:attrName>style.visibility</p:attrName>
                                        </p:attrNameLst>
                                      </p:cBhvr>
                                      <p:to>
                                        <p:strVal val="visible"/>
                                      </p:to>
                                    </p:set>
                                    <p:animEffect transition="in" filter="wipe(left)">
                                      <p:cBhvr>
                                        <p:cTn id="22" dur="500"/>
                                        <p:tgtEl>
                                          <p:spTgt spid="9">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nodeType="clickEffect">
                                  <p:stCondLst>
                                    <p:cond delay="0"/>
                                  </p:stCondLst>
                                  <p:childTnLst>
                                    <p:set>
                                      <p:cBhvr>
                                        <p:cTn id="26" dur="1" fill="hold">
                                          <p:stCondLst>
                                            <p:cond delay="0"/>
                                          </p:stCondLst>
                                        </p:cTn>
                                        <p:tgtEl>
                                          <p:spTgt spid="9">
                                            <p:txEl>
                                              <p:pRg st="6" end="6"/>
                                            </p:txEl>
                                          </p:spTgt>
                                        </p:tgtEl>
                                        <p:attrNameLst>
                                          <p:attrName>style.visibility</p:attrName>
                                        </p:attrNameLst>
                                      </p:cBhvr>
                                      <p:to>
                                        <p:strVal val="visible"/>
                                      </p:to>
                                    </p:set>
                                    <p:animEffect transition="in" filter="wipe(left)">
                                      <p:cBhvr>
                                        <p:cTn id="27" dur="500"/>
                                        <p:tgtEl>
                                          <p:spTgt spid="9">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9">
                                            <p:txEl>
                                              <p:pRg st="8" end="8"/>
                                            </p:txEl>
                                          </p:spTgt>
                                        </p:tgtEl>
                                        <p:attrNameLst>
                                          <p:attrName>style.visibility</p:attrName>
                                        </p:attrNameLst>
                                      </p:cBhvr>
                                      <p:to>
                                        <p:strVal val="visible"/>
                                      </p:to>
                                    </p:set>
                                    <p:animEffect transition="in" filter="wipe(left)">
                                      <p:cBhvr>
                                        <p:cTn id="32" dur="500"/>
                                        <p:tgtEl>
                                          <p:spTgt spid="9">
                                            <p:txEl>
                                              <p:pRg st="8" end="8"/>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5"/>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1" presetClass="entr" presetSubtype="8"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wheel(8)">
                                      <p:cBhvr>
                                        <p:cTn id="41" dur="500"/>
                                        <p:tgtEl>
                                          <p:spTgt spid="4"/>
                                        </p:tgtEl>
                                      </p:cBhvr>
                                    </p:animEffect>
                                  </p:childTnLst>
                                </p:cTn>
                              </p:par>
                              <p:par>
                                <p:cTn id="42" presetID="3" presetClass="emph" presetSubtype="1" grpId="1" nodeType="withEffect">
                                  <p:stCondLst>
                                    <p:cond delay="0"/>
                                  </p:stCondLst>
                                  <p:childTnLst>
                                    <p:set>
                                      <p:cBhvr override="childStyle">
                                        <p:cTn id="43" dur="indefinite"/>
                                        <p:tgtEl>
                                          <p:spTgt spid="8"/>
                                        </p:tgtEl>
                                        <p:attrNameLst>
                                          <p:attrName>style.color</p:attrName>
                                        </p:attrNameLst>
                                      </p:cBhvr>
                                      <p:to>
                                        <p:clrVal>
                                          <a:srgbClr val="D8D8D8"/>
                                        </p:clrVal>
                                      </p:to>
                                    </p:set>
                                  </p:childTnLst>
                                </p:cTn>
                              </p:par>
                              <p:par>
                                <p:cTn id="44" presetID="1" presetClass="exit" presetSubtype="0" fill="hold" grpId="0" nodeType="withEffect">
                                  <p:stCondLst>
                                    <p:cond delay="0"/>
                                  </p:stCondLst>
                                  <p:childTnLst>
                                    <p:set>
                                      <p:cBhvr>
                                        <p:cTn id="45" dur="1" fill="hold">
                                          <p:stCondLst>
                                            <p:cond delay="0"/>
                                          </p:stCondLst>
                                        </p:cTn>
                                        <p:tgtEl>
                                          <p:spTgt spid="9">
                                            <p:txEl>
                                              <p:pRg st="0" end="0"/>
                                            </p:txEl>
                                          </p:spTgt>
                                        </p:tgtEl>
                                        <p:attrNameLst>
                                          <p:attrName>style.visibility</p:attrName>
                                        </p:attrNameLst>
                                      </p:cBhvr>
                                      <p:to>
                                        <p:strVal val="hidden"/>
                                      </p:to>
                                    </p:set>
                                  </p:childTnLst>
                                </p:cTn>
                              </p:par>
                              <p:par>
                                <p:cTn id="46" presetID="1" presetClass="exit" presetSubtype="0" fill="hold" grpId="0" nodeType="withEffect">
                                  <p:stCondLst>
                                    <p:cond delay="0"/>
                                  </p:stCondLst>
                                  <p:childTnLst>
                                    <p:set>
                                      <p:cBhvr>
                                        <p:cTn id="47" dur="1" fill="hold">
                                          <p:stCondLst>
                                            <p:cond delay="0"/>
                                          </p:stCondLst>
                                        </p:cTn>
                                        <p:tgtEl>
                                          <p:spTgt spid="9">
                                            <p:txEl>
                                              <p:pRg st="2" end="2"/>
                                            </p:txEl>
                                          </p:spTgt>
                                        </p:tgtEl>
                                        <p:attrNameLst>
                                          <p:attrName>style.visibility</p:attrName>
                                        </p:attrNameLst>
                                      </p:cBhvr>
                                      <p:to>
                                        <p:strVal val="hidden"/>
                                      </p:to>
                                    </p:set>
                                  </p:childTnLst>
                                </p:cTn>
                              </p:par>
                              <p:par>
                                <p:cTn id="48" presetID="1" presetClass="exit" presetSubtype="0" fill="hold" grpId="0" nodeType="withEffect">
                                  <p:stCondLst>
                                    <p:cond delay="0"/>
                                  </p:stCondLst>
                                  <p:childTnLst>
                                    <p:set>
                                      <p:cBhvr>
                                        <p:cTn id="49" dur="1" fill="hold">
                                          <p:stCondLst>
                                            <p:cond delay="0"/>
                                          </p:stCondLst>
                                        </p:cTn>
                                        <p:tgtEl>
                                          <p:spTgt spid="9">
                                            <p:txEl>
                                              <p:pRg st="4" end="4"/>
                                            </p:txEl>
                                          </p:spTgt>
                                        </p:tgtEl>
                                        <p:attrNameLst>
                                          <p:attrName>style.visibility</p:attrName>
                                        </p:attrNameLst>
                                      </p:cBhvr>
                                      <p:to>
                                        <p:strVal val="hidden"/>
                                      </p:to>
                                    </p:set>
                                  </p:childTnLst>
                                </p:cTn>
                              </p:par>
                              <p:par>
                                <p:cTn id="50" presetID="1" presetClass="exit" presetSubtype="0" fill="hold" grpId="0" nodeType="withEffect">
                                  <p:stCondLst>
                                    <p:cond delay="0"/>
                                  </p:stCondLst>
                                  <p:childTnLst>
                                    <p:set>
                                      <p:cBhvr>
                                        <p:cTn id="51" dur="1" fill="hold">
                                          <p:stCondLst>
                                            <p:cond delay="0"/>
                                          </p:stCondLst>
                                        </p:cTn>
                                        <p:tgtEl>
                                          <p:spTgt spid="9">
                                            <p:txEl>
                                              <p:pRg st="6" end="6"/>
                                            </p:txEl>
                                          </p:spTgt>
                                        </p:tgtEl>
                                        <p:attrNameLst>
                                          <p:attrName>style.visibility</p:attrName>
                                        </p:attrNameLst>
                                      </p:cBhvr>
                                      <p:to>
                                        <p:strVal val="hidden"/>
                                      </p:to>
                                    </p:set>
                                  </p:childTnLst>
                                </p:cTn>
                              </p:par>
                              <p:par>
                                <p:cTn id="52" presetID="1" presetClass="exit" presetSubtype="0" fill="hold" grpId="0" nodeType="withEffect">
                                  <p:stCondLst>
                                    <p:cond delay="0"/>
                                  </p:stCondLst>
                                  <p:childTnLst>
                                    <p:set>
                                      <p:cBhvr>
                                        <p:cTn id="53" dur="1" fill="hold">
                                          <p:stCondLst>
                                            <p:cond delay="0"/>
                                          </p:stCondLst>
                                        </p:cTn>
                                        <p:tgtEl>
                                          <p:spTgt spid="9">
                                            <p:txEl>
                                              <p:pRg st="8" end="8"/>
                                            </p:txEl>
                                          </p:spTgt>
                                        </p:tgtEl>
                                        <p:attrNameLst>
                                          <p:attrName>style.visibility</p:attrName>
                                        </p:attrNameLst>
                                      </p:cBhvr>
                                      <p:to>
                                        <p:strVal val="hidden"/>
                                      </p:to>
                                    </p:set>
                                  </p:childTnLst>
                                </p:cTn>
                              </p:par>
                              <p:par>
                                <p:cTn id="54" presetID="1" presetClass="exit" presetSubtype="0" fill="hold" grpId="1" nodeType="withEffect">
                                  <p:stCondLst>
                                    <p:cond delay="0"/>
                                  </p:stCondLst>
                                  <p:childTnLst>
                                    <p:set>
                                      <p:cBhvr>
                                        <p:cTn id="55" dur="1" fill="hold">
                                          <p:stCondLst>
                                            <p:cond delay="0"/>
                                          </p:stCondLst>
                                        </p:cTn>
                                        <p:tgtEl>
                                          <p:spTgt spid="5"/>
                                        </p:tgtEl>
                                        <p:attrNameLst>
                                          <p:attrName>style.visibility</p:attrName>
                                        </p:attrNameLst>
                                      </p:cBhvr>
                                      <p:to>
                                        <p:strVal val="hidden"/>
                                      </p:to>
                                    </p:se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7">
                                            <p:txEl>
                                              <p:pRg st="0" end="0"/>
                                            </p:txEl>
                                          </p:spTgt>
                                        </p:tgtEl>
                                        <p:attrNameLst>
                                          <p:attrName>style.visibility</p:attrName>
                                        </p:attrNameLst>
                                      </p:cBhvr>
                                      <p:to>
                                        <p:strVal val="visible"/>
                                      </p:to>
                                    </p:set>
                                    <p:animEffect transition="in" filter="wipe(left)">
                                      <p:cBhvr>
                                        <p:cTn id="60" dur="500"/>
                                        <p:tgtEl>
                                          <p:spTgt spid="7">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22" presetClass="entr" presetSubtype="8" fill="hold" nodeType="clickEffect">
                                  <p:stCondLst>
                                    <p:cond delay="0"/>
                                  </p:stCondLst>
                                  <p:childTnLst>
                                    <p:set>
                                      <p:cBhvr>
                                        <p:cTn id="64" dur="1" fill="hold">
                                          <p:stCondLst>
                                            <p:cond delay="0"/>
                                          </p:stCondLst>
                                        </p:cTn>
                                        <p:tgtEl>
                                          <p:spTgt spid="7">
                                            <p:txEl>
                                              <p:pRg st="2" end="2"/>
                                            </p:txEl>
                                          </p:spTgt>
                                        </p:tgtEl>
                                        <p:attrNameLst>
                                          <p:attrName>style.visibility</p:attrName>
                                        </p:attrNameLst>
                                      </p:cBhvr>
                                      <p:to>
                                        <p:strVal val="visible"/>
                                      </p:to>
                                    </p:set>
                                    <p:animEffect transition="in" filter="wipe(left)">
                                      <p:cBhvr>
                                        <p:cTn id="65" dur="500"/>
                                        <p:tgtEl>
                                          <p:spTgt spid="7">
                                            <p:txEl>
                                              <p:pRg st="2" end="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7">
                                            <p:txEl>
                                              <p:pRg st="4" end="4"/>
                                            </p:txEl>
                                          </p:spTgt>
                                        </p:tgtEl>
                                        <p:attrNameLst>
                                          <p:attrName>style.visibility</p:attrName>
                                        </p:attrNameLst>
                                      </p:cBhvr>
                                      <p:to>
                                        <p:strVal val="visible"/>
                                      </p:to>
                                    </p:set>
                                    <p:animEffect transition="in" filter="wipe(left)">
                                      <p:cBhvr>
                                        <p:cTn id="70" dur="500"/>
                                        <p:tgtEl>
                                          <p:spTgt spid="7">
                                            <p:txEl>
                                              <p:pRg st="4" end="4"/>
                                            </p:txEl>
                                          </p:spTgt>
                                        </p:tgtEl>
                                      </p:cBhvr>
                                    </p:animEffect>
                                  </p:childTnLst>
                                </p:cTn>
                              </p:par>
                            </p:childTnLst>
                          </p:cTn>
                        </p:par>
                      </p:childTnLst>
                    </p:cTn>
                  </p:par>
                  <p:par>
                    <p:cTn id="71" fill="hold">
                      <p:stCondLst>
                        <p:cond delay="indefinite"/>
                      </p:stCondLst>
                      <p:childTnLst>
                        <p:par>
                          <p:cTn id="72" fill="hold">
                            <p:stCondLst>
                              <p:cond delay="0"/>
                            </p:stCondLst>
                            <p:childTnLst>
                              <p:par>
                                <p:cTn id="73" presetID="22" presetClass="entr" presetSubtype="8" fill="hold" nodeType="clickEffect">
                                  <p:stCondLst>
                                    <p:cond delay="0"/>
                                  </p:stCondLst>
                                  <p:childTnLst>
                                    <p:set>
                                      <p:cBhvr>
                                        <p:cTn id="74" dur="1" fill="hold">
                                          <p:stCondLst>
                                            <p:cond delay="0"/>
                                          </p:stCondLst>
                                        </p:cTn>
                                        <p:tgtEl>
                                          <p:spTgt spid="7">
                                            <p:txEl>
                                              <p:pRg st="6" end="6"/>
                                            </p:txEl>
                                          </p:spTgt>
                                        </p:tgtEl>
                                        <p:attrNameLst>
                                          <p:attrName>style.visibility</p:attrName>
                                        </p:attrNameLst>
                                      </p:cBhvr>
                                      <p:to>
                                        <p:strVal val="visible"/>
                                      </p:to>
                                    </p:set>
                                    <p:animEffect transition="in" filter="wipe(left)">
                                      <p:cBhvr>
                                        <p:cTn id="75" dur="500"/>
                                        <p:tgtEl>
                                          <p:spTgt spid="7">
                                            <p:txEl>
                                              <p:pRg st="6" end="6"/>
                                            </p:txEl>
                                          </p:spTgt>
                                        </p:tgtEl>
                                      </p:cBhvr>
                                    </p:animEffect>
                                  </p:childTnLst>
                                </p:cTn>
                              </p:par>
                            </p:childTnLst>
                          </p:cTn>
                        </p:par>
                      </p:childTnLst>
                    </p:cTn>
                  </p:par>
                  <p:par>
                    <p:cTn id="76" fill="hold">
                      <p:stCondLst>
                        <p:cond delay="indefinite"/>
                      </p:stCondLst>
                      <p:childTnLst>
                        <p:par>
                          <p:cTn id="77" fill="hold">
                            <p:stCondLst>
                              <p:cond delay="0"/>
                            </p:stCondLst>
                            <p:childTnLst>
                              <p:par>
                                <p:cTn id="78" presetID="22" presetClass="entr" presetSubtype="8" fill="hold" nodeType="clickEffect">
                                  <p:stCondLst>
                                    <p:cond delay="0"/>
                                  </p:stCondLst>
                                  <p:childTnLst>
                                    <p:set>
                                      <p:cBhvr>
                                        <p:cTn id="79" dur="1" fill="hold">
                                          <p:stCondLst>
                                            <p:cond delay="0"/>
                                          </p:stCondLst>
                                        </p:cTn>
                                        <p:tgtEl>
                                          <p:spTgt spid="7">
                                            <p:txEl>
                                              <p:pRg st="8" end="8"/>
                                            </p:txEl>
                                          </p:spTgt>
                                        </p:tgtEl>
                                        <p:attrNameLst>
                                          <p:attrName>style.visibility</p:attrName>
                                        </p:attrNameLst>
                                      </p:cBhvr>
                                      <p:to>
                                        <p:strVal val="visible"/>
                                      </p:to>
                                    </p:set>
                                    <p:animEffect transition="in" filter="wipe(left)">
                                      <p:cBhvr>
                                        <p:cTn id="80" dur="500"/>
                                        <p:tgtEl>
                                          <p:spTgt spid="7">
                                            <p:txEl>
                                              <p:pRg st="8" end="8"/>
                                            </p:txEl>
                                          </p:spTgt>
                                        </p:tgtEl>
                                      </p:cBhvr>
                                    </p:animEffect>
                                  </p:childTnLst>
                                </p:cTn>
                              </p:par>
                            </p:childTnLst>
                          </p:cTn>
                        </p:par>
                      </p:childTnLst>
                    </p:cTn>
                  </p:par>
                  <p:par>
                    <p:cTn id="81" fill="hold">
                      <p:stCondLst>
                        <p:cond delay="indefinite"/>
                      </p:stCondLst>
                      <p:childTnLst>
                        <p:par>
                          <p:cTn id="82" fill="hold">
                            <p:stCondLst>
                              <p:cond delay="0"/>
                            </p:stCondLst>
                            <p:childTnLst>
                              <p:par>
                                <p:cTn id="83" presetID="1" presetClass="entr" presetSubtype="0" fill="hold" grpId="0" nodeType="clickEffect">
                                  <p:stCondLst>
                                    <p:cond delay="0"/>
                                  </p:stCondLst>
                                  <p:childTnLst>
                                    <p:set>
                                      <p:cBhvr>
                                        <p:cTn id="8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8" grpId="0" animBg="1"/>
      <p:bldP spid="8" grpId="1" animBg="1"/>
      <p:bldP spid="9" grpId="0" build="allAtOnce"/>
      <p:bldP spid="5" grpId="0"/>
      <p:bldP spid="5" grpId="1"/>
      <p:bldP spid="1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B5FC7EB6-2756-4DF3-9978-17ED59059636}"/>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2A888CE-AAEF-4DE1-A7C2-928EE0BB4EC6}"/>
              </a:ext>
            </a:extLst>
          </p:cNvPr>
          <p:cNvSpPr>
            <a:spLocks noGrp="1"/>
          </p:cNvSpPr>
          <p:nvPr>
            <p:ph type="body" sz="quarter" idx="12"/>
          </p:nvPr>
        </p:nvSpPr>
        <p:spPr/>
        <p:txBody>
          <a:bodyPr/>
          <a:lstStyle/>
          <a:p>
            <a:r>
              <a:rPr lang="en-US" dirty="0"/>
              <a:t>Next: We will Learn</a:t>
            </a:r>
          </a:p>
        </p:txBody>
      </p:sp>
      <p:grpSp>
        <p:nvGrpSpPr>
          <p:cNvPr id="6" name="Group 5">
            <a:extLst>
              <a:ext uri="{FF2B5EF4-FFF2-40B4-BE49-F238E27FC236}">
                <a16:creationId xmlns:a16="http://schemas.microsoft.com/office/drawing/2014/main" id="{F5339F66-386F-4E72-AE3B-58445D6DBD54}"/>
              </a:ext>
            </a:extLst>
          </p:cNvPr>
          <p:cNvGrpSpPr/>
          <p:nvPr/>
        </p:nvGrpSpPr>
        <p:grpSpPr>
          <a:xfrm>
            <a:off x="301752" y="960120"/>
            <a:ext cx="4114800" cy="4114800"/>
            <a:chOff x="152400" y="960120"/>
            <a:chExt cx="4572000" cy="4572000"/>
          </a:xfrm>
        </p:grpSpPr>
        <p:sp>
          <p:nvSpPr>
            <p:cNvPr id="5" name="Oval 4">
              <a:extLst>
                <a:ext uri="{FF2B5EF4-FFF2-40B4-BE49-F238E27FC236}">
                  <a16:creationId xmlns:a16="http://schemas.microsoft.com/office/drawing/2014/main" id="{2B262B66-7298-46A1-B6E1-324DEE63601D}"/>
                </a:ext>
              </a:extLst>
            </p:cNvPr>
            <p:cNvSpPr/>
            <p:nvPr/>
          </p:nvSpPr>
          <p:spPr>
            <a:xfrm>
              <a:off x="914400" y="1254760"/>
              <a:ext cx="3027680" cy="2133600"/>
            </a:xfrm>
            <a:prstGeom prst="ellipse">
              <a:avLst/>
            </a:prstGeom>
            <a:noFill/>
            <a:ln w="63500">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200" b="1" cap="small" dirty="0"/>
                <a:t>Regular Languages</a:t>
              </a:r>
            </a:p>
          </p:txBody>
        </p:sp>
        <p:sp>
          <p:nvSpPr>
            <p:cNvPr id="4" name="Oval 3">
              <a:extLst>
                <a:ext uri="{FF2B5EF4-FFF2-40B4-BE49-F238E27FC236}">
                  <a16:creationId xmlns:a16="http://schemas.microsoft.com/office/drawing/2014/main" id="{3A011186-5B59-454C-B074-2C5F4957698F}"/>
                </a:ext>
              </a:extLst>
            </p:cNvPr>
            <p:cNvSpPr/>
            <p:nvPr/>
          </p:nvSpPr>
          <p:spPr>
            <a:xfrm>
              <a:off x="152400" y="960120"/>
              <a:ext cx="4572000" cy="4572000"/>
            </a:xfrm>
            <a:prstGeom prst="ellipse">
              <a:avLst/>
            </a:prstGeom>
            <a:noFill/>
            <a:ln w="63500">
              <a:solidFill>
                <a:schemeClr val="tx1"/>
              </a:solidFill>
            </a:ln>
          </p:spPr>
          <p:style>
            <a:lnRef idx="2">
              <a:schemeClr val="dk1"/>
            </a:lnRef>
            <a:fillRef idx="1">
              <a:schemeClr val="lt1"/>
            </a:fillRef>
            <a:effectRef idx="0">
              <a:schemeClr val="dk1"/>
            </a:effectRef>
            <a:fontRef idx="minor">
              <a:schemeClr val="dk1"/>
            </a:fontRef>
          </p:style>
          <p:txBody>
            <a:bodyPr rtlCol="0" anchor="b" anchorCtr="0"/>
            <a:lstStyle/>
            <a:p>
              <a:pPr algn="ctr"/>
              <a:r>
                <a:rPr lang="en-US" sz="3200" b="1" cap="small" dirty="0"/>
                <a:t>Context Free Languages</a:t>
              </a:r>
            </a:p>
            <a:p>
              <a:pPr algn="ctr"/>
              <a:endParaRPr lang="en-US" cap="small" dirty="0"/>
            </a:p>
          </p:txBody>
        </p:sp>
      </p:grpSp>
      <p:sp>
        <p:nvSpPr>
          <p:cNvPr id="8" name="Oval 7">
            <a:extLst>
              <a:ext uri="{FF2B5EF4-FFF2-40B4-BE49-F238E27FC236}">
                <a16:creationId xmlns:a16="http://schemas.microsoft.com/office/drawing/2014/main" id="{1DBE9456-4395-4B5A-8A1E-466A3559D73C}"/>
              </a:ext>
            </a:extLst>
          </p:cNvPr>
          <p:cNvSpPr/>
          <p:nvPr/>
        </p:nvSpPr>
        <p:spPr>
          <a:xfrm>
            <a:off x="411480" y="912289"/>
            <a:ext cx="3870960" cy="4315031"/>
          </a:xfrm>
          <a:prstGeom prst="ellipse">
            <a:avLst/>
          </a:prstGeom>
          <a:noFill/>
          <a:ln w="63500">
            <a:solidFill>
              <a:schemeClr val="tx1"/>
            </a:solidFill>
          </a:ln>
        </p:spPr>
        <p:style>
          <a:lnRef idx="2">
            <a:schemeClr val="dk1"/>
          </a:lnRef>
          <a:fillRef idx="1">
            <a:schemeClr val="lt1"/>
          </a:fillRef>
          <a:effectRef idx="0">
            <a:schemeClr val="dk1"/>
          </a:effectRef>
          <a:fontRef idx="minor">
            <a:schemeClr val="dk1"/>
          </a:fontRef>
        </p:style>
        <p:txBody>
          <a:bodyPr rtlCol="0" anchor="b" anchorCtr="0"/>
          <a:lstStyle/>
          <a:p>
            <a:pPr algn="ctr"/>
            <a:r>
              <a:rPr lang="en-US" sz="4000" b="1" cap="small" dirty="0"/>
              <a:t>Computable</a:t>
            </a:r>
          </a:p>
        </p:txBody>
      </p:sp>
      <p:sp>
        <p:nvSpPr>
          <p:cNvPr id="9" name="Text Placeholder 3">
            <a:extLst>
              <a:ext uri="{FF2B5EF4-FFF2-40B4-BE49-F238E27FC236}">
                <a16:creationId xmlns:a16="http://schemas.microsoft.com/office/drawing/2014/main" id="{FC93D975-B8AE-4B30-BCC8-091953170336}"/>
              </a:ext>
            </a:extLst>
          </p:cNvPr>
          <p:cNvSpPr txBox="1">
            <a:spLocks/>
          </p:cNvSpPr>
          <p:nvPr/>
        </p:nvSpPr>
        <p:spPr>
          <a:xfrm>
            <a:off x="4221480" y="846142"/>
            <a:ext cx="4914585" cy="5591175"/>
          </a:xfrm>
          <a:prstGeom prst="rect">
            <a:avLst/>
          </a:prstGeom>
        </p:spPr>
        <p:txBody>
          <a:bodyPr/>
          <a:lstStyle>
            <a:lvl1pPr marL="255389" indent="-255389" algn="l" defTabSz="514350" rtl="0" eaLnBrk="1" latinLnBrk="0" hangingPunct="1">
              <a:spcBef>
                <a:spcPts val="600"/>
              </a:spcBef>
              <a:buClr>
                <a:schemeClr val="bg1">
                  <a:lumMod val="65000"/>
                </a:schemeClr>
              </a:buClr>
              <a:buSzPct val="90000"/>
              <a:buFont typeface="Wingdings" pitchFamily="2" charset="2"/>
              <a:buChar char=""/>
              <a:defRPr sz="2000" kern="1200">
                <a:solidFill>
                  <a:schemeClr val="tx1">
                    <a:lumMod val="85000"/>
                    <a:lumOff val="15000"/>
                  </a:schemeClr>
                </a:solidFill>
                <a:latin typeface="+mn-lt"/>
                <a:ea typeface="+mn-ea"/>
                <a:cs typeface="+mn-cs"/>
              </a:defRPr>
            </a:lvl1pPr>
            <a:lvl2pPr marL="514350" indent="-257175" algn="l" defTabSz="514350" rtl="0" eaLnBrk="1" latinLnBrk="0" hangingPunct="1">
              <a:spcBef>
                <a:spcPts val="600"/>
              </a:spcBef>
              <a:buClr>
                <a:schemeClr val="tx1">
                  <a:lumMod val="75000"/>
                  <a:lumOff val="25000"/>
                </a:schemeClr>
              </a:buClr>
              <a:buSzPct val="90000"/>
              <a:buFont typeface="Wingdings" pitchFamily="2" charset="2"/>
              <a:buChar char=""/>
              <a:defRPr sz="2000" kern="1200">
                <a:solidFill>
                  <a:schemeClr val="tx1">
                    <a:lumMod val="85000"/>
                    <a:lumOff val="15000"/>
                  </a:schemeClr>
                </a:solidFill>
                <a:latin typeface="+mn-lt"/>
                <a:ea typeface="+mn-ea"/>
                <a:cs typeface="+mn-cs"/>
              </a:defRPr>
            </a:lvl2pPr>
            <a:lvl3pPr marL="709017" indent="-194667" algn="l" defTabSz="514350" rtl="0" eaLnBrk="1" latinLnBrk="0" hangingPunct="1">
              <a:spcBef>
                <a:spcPts val="600"/>
              </a:spcBef>
              <a:buClr>
                <a:schemeClr val="bg1">
                  <a:lumMod val="65000"/>
                </a:schemeClr>
              </a:buClr>
              <a:buSzPct val="90000"/>
              <a:buFont typeface="Wingdings" pitchFamily="2" charset="2"/>
              <a:buChar char=""/>
              <a:defRPr sz="1800" kern="1200">
                <a:solidFill>
                  <a:schemeClr val="tx1">
                    <a:lumMod val="85000"/>
                    <a:lumOff val="15000"/>
                  </a:schemeClr>
                </a:solidFill>
                <a:latin typeface="+mn-lt"/>
                <a:ea typeface="+mn-ea"/>
                <a:cs typeface="+mn-cs"/>
              </a:defRPr>
            </a:lvl3pPr>
            <a:lvl4pPr marL="900113" indent="-191096" algn="l" defTabSz="514350" rtl="0" eaLnBrk="1" latinLnBrk="0" hangingPunct="1">
              <a:spcBef>
                <a:spcPts val="600"/>
              </a:spcBef>
              <a:buClr>
                <a:schemeClr val="tx1">
                  <a:lumMod val="75000"/>
                  <a:lumOff val="25000"/>
                </a:schemeClr>
              </a:buClr>
              <a:buSzPct val="90000"/>
              <a:buFont typeface="Wingdings" pitchFamily="2" charset="2"/>
              <a:buChar char=""/>
              <a:defRPr sz="1400" kern="1200">
                <a:solidFill>
                  <a:schemeClr val="tx1">
                    <a:lumMod val="85000"/>
                    <a:lumOff val="15000"/>
                  </a:schemeClr>
                </a:solidFill>
                <a:latin typeface="+mn-lt"/>
                <a:ea typeface="+mn-ea"/>
                <a:cs typeface="+mn-cs"/>
              </a:defRPr>
            </a:lvl4pPr>
            <a:lvl5pPr marL="1091208" indent="-186631" algn="l" defTabSz="514350" rtl="0" eaLnBrk="1" latinLnBrk="0" hangingPunct="1">
              <a:spcBef>
                <a:spcPts val="600"/>
              </a:spcBef>
              <a:buClr>
                <a:schemeClr val="bg1">
                  <a:lumMod val="65000"/>
                </a:schemeClr>
              </a:buClr>
              <a:buSzPct val="90000"/>
              <a:buFont typeface="Wingdings" pitchFamily="2" charset="2"/>
              <a:buChar char=""/>
              <a:defRPr sz="1400" kern="1200">
                <a:solidFill>
                  <a:schemeClr val="tx1">
                    <a:lumMod val="85000"/>
                    <a:lumOff val="15000"/>
                  </a:schemeClr>
                </a:solidFill>
                <a:latin typeface="+mn-lt"/>
                <a:ea typeface="+mn-ea"/>
                <a:cs typeface="+mn-cs"/>
              </a:defRPr>
            </a:lvl5pPr>
            <a:lvl6pPr marL="1288554"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6pPr>
            <a:lvl7pPr marL="1476971"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7pPr>
            <a:lvl8pPr marL="1670745" indent="-193775" algn="l" defTabSz="514350" rtl="0" eaLnBrk="1" latinLnBrk="0" hangingPunct="1">
              <a:spcBef>
                <a:spcPts val="338"/>
              </a:spcBef>
              <a:buClr>
                <a:schemeClr val="tx1">
                  <a:lumMod val="75000"/>
                  <a:lumOff val="25000"/>
                </a:schemeClr>
              </a:buClr>
              <a:buSzPct val="90000"/>
              <a:buFont typeface="Wingdings" pitchFamily="2" charset="2"/>
              <a:buChar char=""/>
              <a:defRPr lang="en-US" sz="1013" kern="1200" dirty="0" smtClean="0">
                <a:solidFill>
                  <a:schemeClr val="tx1">
                    <a:lumMod val="85000"/>
                    <a:lumOff val="15000"/>
                  </a:schemeClr>
                </a:solidFill>
                <a:latin typeface="+mn-lt"/>
                <a:ea typeface="+mn-ea"/>
                <a:cs typeface="+mn-cs"/>
              </a:defRPr>
            </a:lvl8pPr>
            <a:lvl9pPr marL="1863626" indent="-193775" algn="l" defTabSz="514350" rtl="0" eaLnBrk="1" latinLnBrk="0" hangingPunct="1">
              <a:spcBef>
                <a:spcPts val="338"/>
              </a:spcBef>
              <a:buClr>
                <a:schemeClr val="bg1">
                  <a:lumMod val="65000"/>
                </a:schemeClr>
              </a:buClr>
              <a:buSzPct val="90000"/>
              <a:buFont typeface="Wingdings" pitchFamily="2" charset="2"/>
              <a:buChar char=""/>
              <a:defRPr lang="en-US" sz="1013" kern="1200" dirty="0">
                <a:solidFill>
                  <a:schemeClr val="tx1">
                    <a:lumMod val="85000"/>
                    <a:lumOff val="15000"/>
                  </a:schemeClr>
                </a:solidFill>
                <a:latin typeface="+mn-lt"/>
                <a:ea typeface="+mn-ea"/>
                <a:cs typeface="+mn-cs"/>
              </a:defRPr>
            </a:lvl9pPr>
          </a:lstStyle>
          <a:p>
            <a:r>
              <a:rPr lang="en-US" altLang="en-US" sz="2200" b="1" dirty="0"/>
              <a:t>Can be decided by a Turing Machine (TM).</a:t>
            </a:r>
          </a:p>
          <a:p>
            <a:pPr algn="just"/>
            <a:r>
              <a:rPr lang="en-US" altLang="en-US" sz="2200" b="1" dirty="0"/>
              <a:t>A model of computation that is – </a:t>
            </a:r>
          </a:p>
          <a:p>
            <a:pPr lvl="1" algn="just"/>
            <a:r>
              <a:rPr lang="en-US" altLang="en-US" b="1" i="1" dirty="0"/>
              <a:t>General purpose</a:t>
            </a:r>
            <a:r>
              <a:rPr lang="en-US" altLang="en-US" b="1" dirty="0"/>
              <a:t>: Captures all algorithms that can be implemented in any programming language.</a:t>
            </a:r>
          </a:p>
          <a:p>
            <a:pPr lvl="1" algn="just"/>
            <a:r>
              <a:rPr lang="en-US" altLang="en-US" b="1" i="1" dirty="0"/>
              <a:t>Mathematically simple</a:t>
            </a:r>
            <a:r>
              <a:rPr lang="en-US" altLang="en-US" b="1" dirty="0"/>
              <a:t>: We can hope to prove that things are not computable in this model.</a:t>
            </a:r>
          </a:p>
          <a:p>
            <a:r>
              <a:rPr lang="en-US" altLang="en-US" sz="2200" b="1" dirty="0"/>
              <a:t>Turing Machine is deterministic</a:t>
            </a:r>
          </a:p>
          <a:p>
            <a:pPr lvl="1"/>
            <a:r>
              <a:rPr lang="en-US" altLang="en-US" sz="1900" b="1" dirty="0"/>
              <a:t>Must reach Accept/Reject state</a:t>
            </a:r>
          </a:p>
          <a:p>
            <a:pPr lvl="1"/>
            <a:r>
              <a:rPr lang="en-US" altLang="en-US" sz="1900" b="1" dirty="0"/>
              <a:t>Halts once it reaches Accept/Reject state</a:t>
            </a:r>
          </a:p>
          <a:p>
            <a:pPr lvl="1"/>
            <a:r>
              <a:rPr lang="en-US" altLang="en-US" sz="1900" b="1" dirty="0"/>
              <a:t>Might loop forever</a:t>
            </a:r>
          </a:p>
          <a:p>
            <a:endParaRPr lang="en-US" altLang="en-US" sz="2400" b="1" dirty="0"/>
          </a:p>
          <a:p>
            <a:endParaRPr lang="en-US" dirty="0"/>
          </a:p>
        </p:txBody>
      </p:sp>
    </p:spTree>
    <p:extLst>
      <p:ext uri="{BB962C8B-B14F-4D97-AF65-F5344CB8AC3E}">
        <p14:creationId xmlns:p14="http://schemas.microsoft.com/office/powerpoint/2010/main" val="21295415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1000" fill="hold"/>
                                        <p:tgtEl>
                                          <p:spTgt spid="6"/>
                                        </p:tgtEl>
                                      </p:cBhvr>
                                      <p:by x="50000" y="50000"/>
                                    </p:animScale>
                                  </p:childTnLst>
                                </p:cTn>
                              </p:par>
                            </p:childTnLst>
                          </p:cTn>
                        </p:par>
                        <p:par>
                          <p:cTn id="7" fill="hold">
                            <p:stCondLst>
                              <p:cond delay="1000"/>
                            </p:stCondLst>
                            <p:childTnLst>
                              <p:par>
                                <p:cTn id="8" presetID="64" presetClass="path" presetSubtype="0" accel="50000" decel="50000" fill="hold" nodeType="afterEffect">
                                  <p:stCondLst>
                                    <p:cond delay="0"/>
                                  </p:stCondLst>
                                  <p:childTnLst>
                                    <p:animMotion origin="layout" path="M 3.88889E-6 3.7037E-6 L -0.00174 -0.12894 " pathEditMode="relative" rAng="0" ptsTypes="AA">
                                      <p:cBhvr>
                                        <p:cTn id="9" dur="1000" fill="hold"/>
                                        <p:tgtEl>
                                          <p:spTgt spid="6"/>
                                        </p:tgtEl>
                                        <p:attrNameLst>
                                          <p:attrName>ppt_x</p:attrName>
                                          <p:attrName>ppt_y</p:attrName>
                                        </p:attrNameLst>
                                      </p:cBhvr>
                                      <p:rCtr x="-87" y="-6458"/>
                                    </p:animMotion>
                                  </p:childTnLst>
                                </p:cTn>
                              </p:par>
                            </p:childTnLst>
                          </p:cTn>
                        </p:par>
                        <p:par>
                          <p:cTn id="10" fill="hold">
                            <p:stCondLst>
                              <p:cond delay="2000"/>
                            </p:stCondLst>
                            <p:childTnLst>
                              <p:par>
                                <p:cTn id="11" presetID="21" presetClass="entr" presetSubtype="8" fill="hold" grpId="0" nodeType="after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heel(8)">
                                      <p:cBhvr>
                                        <p:cTn id="13" dur="10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nodeType="clickEffect">
                                  <p:stCondLst>
                                    <p:cond delay="0"/>
                                  </p:stCondLst>
                                  <p:childTnLst>
                                    <p:set>
                                      <p:cBhvr>
                                        <p:cTn id="33"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3FECF9ED-239E-4E28-B75D-55A1A60DEB24}"/>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D782D091-D274-41C6-8BCD-93B8CD437DC6}"/>
              </a:ext>
            </a:extLst>
          </p:cNvPr>
          <p:cNvSpPr>
            <a:spLocks noGrp="1"/>
          </p:cNvSpPr>
          <p:nvPr>
            <p:ph type="body" sz="quarter" idx="12"/>
          </p:nvPr>
        </p:nvSpPr>
        <p:spPr/>
        <p:txBody>
          <a:bodyPr/>
          <a:lstStyle/>
          <a:p>
            <a:r>
              <a:rPr lang="en-US" dirty="0"/>
              <a:t>Computability Theory</a:t>
            </a:r>
          </a:p>
        </p:txBody>
      </p:sp>
      <p:sp>
        <p:nvSpPr>
          <p:cNvPr id="4" name="Text Placeholder 3">
            <a:extLst>
              <a:ext uri="{FF2B5EF4-FFF2-40B4-BE49-F238E27FC236}">
                <a16:creationId xmlns:a16="http://schemas.microsoft.com/office/drawing/2014/main" id="{2E451381-9852-4980-BE54-C77DC31D3B74}"/>
              </a:ext>
            </a:extLst>
          </p:cNvPr>
          <p:cNvSpPr>
            <a:spLocks noGrp="1"/>
          </p:cNvSpPr>
          <p:nvPr>
            <p:ph type="body" sz="quarter" idx="13"/>
          </p:nvPr>
        </p:nvSpPr>
        <p:spPr/>
        <p:txBody>
          <a:bodyPr/>
          <a:lstStyle/>
          <a:p>
            <a:pPr algn="just"/>
            <a:r>
              <a:rPr lang="en-US" b="0" i="0" dirty="0">
                <a:solidFill>
                  <a:srgbClr val="1A1A1A"/>
                </a:solidFill>
                <a:effectLst/>
              </a:rPr>
              <a:t>A mathematical problem is </a:t>
            </a:r>
            <a:r>
              <a:rPr lang="en-US" b="1" i="1" dirty="0">
                <a:solidFill>
                  <a:srgbClr val="1A1A1A"/>
                </a:solidFill>
                <a:effectLst/>
              </a:rPr>
              <a:t>computable</a:t>
            </a:r>
            <a:r>
              <a:rPr lang="en-US" b="0" i="0" dirty="0">
                <a:solidFill>
                  <a:srgbClr val="1A1A1A"/>
                </a:solidFill>
                <a:effectLst/>
              </a:rPr>
              <a:t> if it can be solved in principle by a computing device. </a:t>
            </a:r>
          </a:p>
          <a:p>
            <a:pPr algn="just"/>
            <a:r>
              <a:rPr lang="en-US" b="0" i="0" dirty="0">
                <a:solidFill>
                  <a:srgbClr val="1A1A1A"/>
                </a:solidFill>
                <a:effectLst/>
              </a:rPr>
              <a:t>In the 1930’s</a:t>
            </a:r>
            <a:r>
              <a:rPr lang="en-US" dirty="0">
                <a:solidFill>
                  <a:srgbClr val="1A1A1A"/>
                </a:solidFill>
              </a:rPr>
              <a:t>, well before there were computers,  Gödel, Turing, and Church showed that not all mathematical problems </a:t>
            </a:r>
            <a:r>
              <a:rPr lang="en-US" b="0" i="0" dirty="0">
                <a:solidFill>
                  <a:srgbClr val="1A1A1A"/>
                </a:solidFill>
                <a:effectLst/>
              </a:rPr>
              <a:t>are computable in a computing device.</a:t>
            </a:r>
          </a:p>
          <a:p>
            <a:pPr algn="just"/>
            <a:r>
              <a:rPr lang="en-US" b="0" i="0" dirty="0">
                <a:solidFill>
                  <a:srgbClr val="1A1A1A"/>
                </a:solidFill>
                <a:effectLst/>
              </a:rPr>
              <a:t>There is an extensive study and classification of </a:t>
            </a:r>
          </a:p>
          <a:p>
            <a:pPr lvl="1" algn="just"/>
            <a:r>
              <a:rPr lang="en-US" sz="2200" dirty="0">
                <a:solidFill>
                  <a:srgbClr val="1A1A1A"/>
                </a:solidFill>
              </a:rPr>
              <a:t>W</a:t>
            </a:r>
            <a:r>
              <a:rPr lang="en-US" sz="2200" b="0" i="0" dirty="0">
                <a:solidFill>
                  <a:srgbClr val="1A1A1A"/>
                </a:solidFill>
                <a:effectLst/>
              </a:rPr>
              <a:t>hich mathematical problems are </a:t>
            </a:r>
            <a:r>
              <a:rPr lang="en-US" sz="2200" b="1" i="1" dirty="0">
                <a:solidFill>
                  <a:srgbClr val="1A1A1A"/>
                </a:solidFill>
                <a:effectLst/>
              </a:rPr>
              <a:t>computable</a:t>
            </a:r>
            <a:r>
              <a:rPr lang="en-US" sz="2200" b="0" i="0" dirty="0">
                <a:solidFill>
                  <a:srgbClr val="1A1A1A"/>
                </a:solidFill>
                <a:effectLst/>
              </a:rPr>
              <a:t>, and which are not. </a:t>
            </a:r>
          </a:p>
          <a:p>
            <a:pPr lvl="1" algn="just"/>
            <a:r>
              <a:rPr lang="en-US" sz="2200" b="0" i="0" dirty="0">
                <a:solidFill>
                  <a:srgbClr val="1A1A1A"/>
                </a:solidFill>
                <a:effectLst/>
              </a:rPr>
              <a:t>Computable problems into computational </a:t>
            </a:r>
            <a:r>
              <a:rPr lang="en-US" sz="2200" b="1" i="1" dirty="0">
                <a:solidFill>
                  <a:srgbClr val="1A1A1A"/>
                </a:solidFill>
                <a:effectLst/>
              </a:rPr>
              <a:t>complexity</a:t>
            </a:r>
            <a:r>
              <a:rPr lang="en-US" sz="2200" b="0" i="0" dirty="0">
                <a:solidFill>
                  <a:srgbClr val="1A1A1A"/>
                </a:solidFill>
                <a:effectLst/>
              </a:rPr>
              <a:t> classes according to how much computation is needed to answer that instance, as a function of the size of the problem instance.</a:t>
            </a:r>
          </a:p>
          <a:p>
            <a:pPr algn="just"/>
            <a:r>
              <a:rPr lang="en-US" b="0" i="0" dirty="0">
                <a:solidFill>
                  <a:srgbClr val="1A1A1A"/>
                </a:solidFill>
                <a:effectLst/>
              </a:rPr>
              <a:t>Some common synonyms for “computable” are “solvable”, “decidable”, and “recursive”.</a:t>
            </a:r>
            <a:endParaRPr lang="en-US" dirty="0"/>
          </a:p>
        </p:txBody>
      </p:sp>
    </p:spTree>
    <p:extLst>
      <p:ext uri="{BB962C8B-B14F-4D97-AF65-F5344CB8AC3E}">
        <p14:creationId xmlns:p14="http://schemas.microsoft.com/office/powerpoint/2010/main" val="2892144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0C845CD-9A4F-40D4-85E6-A745FCA771AB}"/>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7FC4EAE1-C070-4227-A7BB-83127CD26A12}"/>
              </a:ext>
            </a:extLst>
          </p:cNvPr>
          <p:cNvSpPr>
            <a:spLocks noGrp="1"/>
          </p:cNvSpPr>
          <p:nvPr>
            <p:ph type="body" sz="quarter" idx="12"/>
          </p:nvPr>
        </p:nvSpPr>
        <p:spPr/>
        <p:txBody>
          <a:bodyPr/>
          <a:lstStyle/>
          <a:p>
            <a:r>
              <a:rPr lang="en-US" dirty="0"/>
              <a:t>Computability History</a:t>
            </a:r>
          </a:p>
        </p:txBody>
      </p:sp>
      <p:sp>
        <p:nvSpPr>
          <p:cNvPr id="4" name="Text Placeholder 3">
            <a:extLst>
              <a:ext uri="{FF2B5EF4-FFF2-40B4-BE49-F238E27FC236}">
                <a16:creationId xmlns:a16="http://schemas.microsoft.com/office/drawing/2014/main" id="{61E39F3F-A6E2-4A80-A46A-1AC67C8D5141}"/>
              </a:ext>
            </a:extLst>
          </p:cNvPr>
          <p:cNvSpPr>
            <a:spLocks noGrp="1"/>
          </p:cNvSpPr>
          <p:nvPr>
            <p:ph type="body" sz="quarter" idx="13"/>
          </p:nvPr>
        </p:nvSpPr>
        <p:spPr/>
        <p:txBody>
          <a:bodyPr>
            <a:normAutofit fontScale="92500"/>
          </a:bodyPr>
          <a:lstStyle/>
          <a:p>
            <a:pPr algn="just"/>
            <a:r>
              <a:rPr lang="en-US" dirty="0"/>
              <a:t>David Hilbert’s Tenth Problem in 1900 states that a given Diophantine equation (polynomial equation with integral coefficients) is </a:t>
            </a:r>
            <a:r>
              <a:rPr lang="en-US" b="1" dirty="0"/>
              <a:t>solvable</a:t>
            </a:r>
            <a:r>
              <a:rPr lang="en-US" dirty="0"/>
              <a:t> in rational integers using a finite number of operations.</a:t>
            </a:r>
          </a:p>
          <a:p>
            <a:pPr algn="just"/>
            <a:r>
              <a:rPr lang="en-US" dirty="0"/>
              <a:t>Hilbert came up with the term “</a:t>
            </a:r>
            <a:r>
              <a:rPr lang="en-US" dirty="0" err="1"/>
              <a:t>entscheidungsproblem</a:t>
            </a:r>
            <a:r>
              <a:rPr lang="en-US" dirty="0"/>
              <a:t>” (decision problems) which is the pre-version to the NP-problem that we currently know as SAT (satisfiability problem) in computing science, in 1928.</a:t>
            </a:r>
          </a:p>
          <a:p>
            <a:pPr algn="just"/>
            <a:r>
              <a:rPr lang="en-US" dirty="0"/>
              <a:t>In 1930s, various mathematicians – Alonzo Church, Kurt Gödel, Stephen Kleene, Markov, Emil Post, and Alan Turing, independently defined what it means to be </a:t>
            </a:r>
            <a:r>
              <a:rPr lang="en-US" b="1" dirty="0"/>
              <a:t>computable</a:t>
            </a:r>
            <a:r>
              <a:rPr lang="en-US" dirty="0"/>
              <a:t>. </a:t>
            </a:r>
          </a:p>
          <a:p>
            <a:pPr algn="just"/>
            <a:r>
              <a:rPr lang="en-US" dirty="0"/>
              <a:t>They defined Lambda calculus, Recursive functions, Formal systems, Markov algorithms, Post (abstract) machine, and Turing (abstract) machine models, which are equivalent to each other.</a:t>
            </a:r>
          </a:p>
          <a:p>
            <a:pPr algn="just"/>
            <a:r>
              <a:rPr lang="en-US" dirty="0"/>
              <a:t>In 1930 &amp; 1931, Mr. Gödel gave his Completeness and Incompleteness theorem. A few years later, Church and Turing independently proved that the </a:t>
            </a:r>
            <a:r>
              <a:rPr lang="en-US" dirty="0" err="1"/>
              <a:t>entscheidungsproblem</a:t>
            </a:r>
            <a:r>
              <a:rPr lang="en-US" dirty="0"/>
              <a:t> is </a:t>
            </a:r>
            <a:r>
              <a:rPr lang="en-US" b="1" dirty="0"/>
              <a:t>unsolvable</a:t>
            </a:r>
            <a:r>
              <a:rPr lang="en-US" dirty="0"/>
              <a:t>.</a:t>
            </a:r>
          </a:p>
          <a:p>
            <a:pPr algn="just"/>
            <a:endParaRPr lang="en-US" dirty="0"/>
          </a:p>
        </p:txBody>
      </p:sp>
    </p:spTree>
    <p:extLst>
      <p:ext uri="{BB962C8B-B14F-4D97-AF65-F5344CB8AC3E}">
        <p14:creationId xmlns:p14="http://schemas.microsoft.com/office/powerpoint/2010/main" val="387936865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8F6A8D0-95F7-4DA8-9FCB-A6DDDD9F4E70}"/>
              </a:ext>
            </a:extLst>
          </p:cNvPr>
          <p:cNvSpPr>
            <a:spLocks noGrp="1"/>
          </p:cNvSpPr>
          <p:nvPr>
            <p:ph type="title"/>
          </p:nvPr>
        </p:nvSpPr>
        <p:spPr/>
        <p:txBody>
          <a:bodyPr/>
          <a:lstStyle/>
          <a:p>
            <a:r>
              <a:rPr lang="en-US" dirty="0"/>
              <a:t>Turing Machines</a:t>
            </a:r>
          </a:p>
        </p:txBody>
      </p:sp>
      <p:sp>
        <p:nvSpPr>
          <p:cNvPr id="2" name="Content Placeholder 1">
            <a:extLst>
              <a:ext uri="{FF2B5EF4-FFF2-40B4-BE49-F238E27FC236}">
                <a16:creationId xmlns:a16="http://schemas.microsoft.com/office/drawing/2014/main" id="{69CDD2B2-7E5D-465D-8910-82A60149AF41}"/>
              </a:ext>
            </a:extLst>
          </p:cNvPr>
          <p:cNvSpPr>
            <a:spLocks noGrp="1"/>
          </p:cNvSpPr>
          <p:nvPr>
            <p:ph idx="1"/>
          </p:nvPr>
        </p:nvSpPr>
        <p:spPr/>
        <p:txBody>
          <a:bodyPr>
            <a:normAutofit fontScale="77500" lnSpcReduction="20000"/>
          </a:bodyPr>
          <a:lstStyle/>
          <a:p>
            <a:pPr algn="just" eaLnBrk="1" hangingPunct="1">
              <a:lnSpc>
                <a:spcPct val="120000"/>
              </a:lnSpc>
            </a:pPr>
            <a:r>
              <a:rPr lang="en-US" altLang="en-US" sz="2400" dirty="0"/>
              <a:t>In 1936, Turing introduced his abstract model for computation in his article “</a:t>
            </a:r>
            <a:r>
              <a:rPr lang="en-US" altLang="en-US" sz="2400" i="1" dirty="0"/>
              <a:t>On Computable Numbers, with an application to the </a:t>
            </a:r>
            <a:r>
              <a:rPr lang="en-US" altLang="en-US" sz="2400" i="1" dirty="0" err="1"/>
              <a:t>Entscheidungsproblem</a:t>
            </a:r>
            <a:r>
              <a:rPr lang="en-US" altLang="en-US" sz="2400" dirty="0"/>
              <a:t>”.</a:t>
            </a:r>
          </a:p>
          <a:p>
            <a:pPr algn="just">
              <a:lnSpc>
                <a:spcPct val="120000"/>
              </a:lnSpc>
            </a:pPr>
            <a:r>
              <a:rPr lang="en-US" dirty="0"/>
              <a:t>Turing machine model was used to prove the unsolvable assuming that the intuitive notion of "effectively calculable“ (computability) is captured by the functions computable by a Turing machine.</a:t>
            </a:r>
          </a:p>
          <a:p>
            <a:pPr lvl="1" algn="just">
              <a:lnSpc>
                <a:spcPct val="120000"/>
              </a:lnSpc>
            </a:pPr>
            <a:r>
              <a:rPr lang="en-US" sz="2200" dirty="0"/>
              <a:t>Equivalently, Church also proved the same assumption by those expressible in the lambda calculus. </a:t>
            </a:r>
          </a:p>
          <a:p>
            <a:pPr lvl="1" algn="just">
              <a:lnSpc>
                <a:spcPct val="120000"/>
              </a:lnSpc>
            </a:pPr>
            <a:r>
              <a:rPr lang="en-US" sz="2200" dirty="0"/>
              <a:t>This assumption is now known as the </a:t>
            </a:r>
            <a:br>
              <a:rPr lang="en-US" sz="2200" dirty="0"/>
            </a:br>
            <a:r>
              <a:rPr lang="en-US" sz="2200" dirty="0"/>
              <a:t>Church–Turing thesis.</a:t>
            </a:r>
          </a:p>
          <a:p>
            <a:pPr algn="just">
              <a:lnSpc>
                <a:spcPct val="120000"/>
              </a:lnSpc>
            </a:pPr>
            <a:r>
              <a:rPr lang="en-US" dirty="0"/>
              <a:t>TM is similar to a finite automaton but with an unlimited and unrestricted memory, a Turing machine is a much more accurate model of a general purpose computer. A Turing machine model can model everything that a real computer can do.</a:t>
            </a:r>
          </a:p>
          <a:p>
            <a:pPr algn="just">
              <a:lnSpc>
                <a:spcPct val="120000"/>
              </a:lnSpc>
            </a:pPr>
            <a:r>
              <a:rPr lang="en-US" dirty="0"/>
              <a:t>Turing additionally proved many interesting theorems with his machine model which </a:t>
            </a:r>
            <a:r>
              <a:rPr lang="en-US" altLang="en-US" sz="2400" dirty="0"/>
              <a:t>has become the standard model in theoretical computer science.</a:t>
            </a:r>
          </a:p>
        </p:txBody>
      </p:sp>
      <p:sp>
        <p:nvSpPr>
          <p:cNvPr id="4" name="Text Placeholder 3">
            <a:extLst>
              <a:ext uri="{FF2B5EF4-FFF2-40B4-BE49-F238E27FC236}">
                <a16:creationId xmlns:a16="http://schemas.microsoft.com/office/drawing/2014/main" id="{A9958848-7D29-4E5D-8307-8305ADFD07BB}"/>
              </a:ext>
            </a:extLst>
          </p:cNvPr>
          <p:cNvSpPr>
            <a:spLocks noGrp="1"/>
          </p:cNvSpPr>
          <p:nvPr>
            <p:ph type="body" sz="half" idx="2"/>
          </p:nvPr>
        </p:nvSpPr>
        <p:spPr/>
        <p:txBody>
          <a:bodyPr/>
          <a:lstStyle/>
          <a:p>
            <a:r>
              <a:rPr lang="en-US" altLang="en-US" sz="2000" b="1" dirty="0"/>
              <a:t>Alan M. Turing </a:t>
            </a:r>
            <a:br>
              <a:rPr lang="en-US" altLang="en-US" sz="2000" b="1" dirty="0"/>
            </a:br>
            <a:r>
              <a:rPr lang="en-US" altLang="en-US" sz="2000" b="1" dirty="0"/>
              <a:t>(1912–1954)</a:t>
            </a:r>
          </a:p>
          <a:p>
            <a:endParaRPr lang="en-US" b="1" dirty="0"/>
          </a:p>
        </p:txBody>
      </p:sp>
      <p:sp>
        <p:nvSpPr>
          <p:cNvPr id="3" name="Footer Placeholder 2">
            <a:extLst>
              <a:ext uri="{FF2B5EF4-FFF2-40B4-BE49-F238E27FC236}">
                <a16:creationId xmlns:a16="http://schemas.microsoft.com/office/drawing/2014/main" id="{F512D510-A4D5-4D58-AD9A-1756DC837E26}"/>
              </a:ext>
            </a:extLst>
          </p:cNvPr>
          <p:cNvSpPr>
            <a:spLocks noGrp="1"/>
          </p:cNvSpPr>
          <p:nvPr>
            <p:ph type="ftr" sz="quarter" idx="11"/>
          </p:nvPr>
        </p:nvSpPr>
        <p:spPr/>
        <p:txBody>
          <a:bodyPr/>
          <a:lstStyle/>
          <a:p>
            <a:r>
              <a:rPr lang="en-US"/>
              <a:t>CSC3113: Theory of Computation</a:t>
            </a:r>
          </a:p>
        </p:txBody>
      </p:sp>
      <p:pic>
        <p:nvPicPr>
          <p:cNvPr id="8" name="Picture Placeholder 7" descr="A person looking at the camera&#10;&#10;Description automatically generated">
            <a:extLst>
              <a:ext uri="{FF2B5EF4-FFF2-40B4-BE49-F238E27FC236}">
                <a16:creationId xmlns:a16="http://schemas.microsoft.com/office/drawing/2014/main" id="{0CE3658C-6700-4BCB-B98A-83586E4B72CC}"/>
              </a:ext>
            </a:extLst>
          </p:cNvPr>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rcRect t="752" b="752"/>
          <a:stretch/>
        </p:blipFill>
        <p:spPr/>
      </p:pic>
    </p:spTree>
    <p:extLst>
      <p:ext uri="{BB962C8B-B14F-4D97-AF65-F5344CB8AC3E}">
        <p14:creationId xmlns:p14="http://schemas.microsoft.com/office/powerpoint/2010/main" val="1950598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B555439-D1F4-456B-A0E4-46E4D700362F}"/>
              </a:ext>
            </a:extLst>
          </p:cNvPr>
          <p:cNvSpPr>
            <a:spLocks noGrp="1"/>
          </p:cNvSpPr>
          <p:nvPr>
            <p:ph type="title"/>
          </p:nvPr>
        </p:nvSpPr>
        <p:spPr/>
        <p:txBody>
          <a:bodyPr/>
          <a:lstStyle/>
          <a:p>
            <a:r>
              <a:rPr lang="en-US" sz="2800" dirty="0"/>
              <a:t>Hilbert’s 10</a:t>
            </a:r>
            <a:r>
              <a:rPr lang="en-US" sz="2800" baseline="30000" dirty="0"/>
              <a:t>th</a:t>
            </a:r>
            <a:r>
              <a:rPr lang="en-US" sz="2800" dirty="0"/>
              <a:t> Problem</a:t>
            </a:r>
          </a:p>
        </p:txBody>
      </p:sp>
      <p:sp>
        <p:nvSpPr>
          <p:cNvPr id="6" name="Content Placeholder 5">
            <a:extLst>
              <a:ext uri="{FF2B5EF4-FFF2-40B4-BE49-F238E27FC236}">
                <a16:creationId xmlns:a16="http://schemas.microsoft.com/office/drawing/2014/main" id="{7E7E951B-E6E6-4CA0-AD9A-D881CCEA165E}"/>
              </a:ext>
            </a:extLst>
          </p:cNvPr>
          <p:cNvSpPr>
            <a:spLocks noGrp="1"/>
          </p:cNvSpPr>
          <p:nvPr>
            <p:ph idx="1"/>
          </p:nvPr>
        </p:nvSpPr>
        <p:spPr/>
        <p:txBody>
          <a:bodyPr>
            <a:normAutofit fontScale="92500" lnSpcReduction="20000"/>
          </a:bodyPr>
          <a:lstStyle/>
          <a:p>
            <a:pPr algn="just"/>
            <a:r>
              <a:rPr lang="en-US" dirty="0"/>
              <a:t>In 1900, mathematician David Hilbert identified 23 mathematical problems and posed them as a challenge for the coming century. </a:t>
            </a:r>
          </a:p>
          <a:p>
            <a:pPr algn="just"/>
            <a:r>
              <a:rPr lang="en-US" dirty="0"/>
              <a:t>The tenth problem on his list concerned algorithms. The problem statement:</a:t>
            </a:r>
          </a:p>
          <a:p>
            <a:pPr lvl="1" algn="just"/>
            <a:r>
              <a:rPr lang="en-US" altLang="en-US" b="1" dirty="0"/>
              <a:t>Determination of the solvability of a Diophantine equation. </a:t>
            </a:r>
          </a:p>
          <a:p>
            <a:pPr lvl="1" algn="just"/>
            <a:r>
              <a:rPr lang="en-US" altLang="en-US" sz="2000" dirty="0"/>
              <a:t>Given a Diophantine equation with any number of unknown quantities and with rational integral numerical coefficients: </a:t>
            </a:r>
            <a:r>
              <a:rPr lang="en-US" altLang="en-US" sz="2000" i="1" dirty="0"/>
              <a:t>To devise a process according to which it can be determined by a finite number of operations whether the equation is solvable in rational integers.</a:t>
            </a:r>
          </a:p>
          <a:p>
            <a:pPr algn="just"/>
            <a:r>
              <a:rPr lang="en-US" altLang="en-US" dirty="0"/>
              <a:t>Let </a:t>
            </a:r>
            <a:r>
              <a:rPr lang="en-US" altLang="en-US" dirty="0">
                <a:latin typeface="Cambria Math" panose="02040503050406030204" pitchFamily="18" charset="0"/>
                <a:ea typeface="Cambria Math" panose="02040503050406030204" pitchFamily="18" charset="0"/>
              </a:rPr>
              <a:t>P(x</a:t>
            </a:r>
            <a:r>
              <a:rPr lang="en-US" altLang="en-US" baseline="-25000" dirty="0">
                <a:latin typeface="Cambria Math" panose="02040503050406030204" pitchFamily="18" charset="0"/>
                <a:ea typeface="Cambria Math" panose="02040503050406030204" pitchFamily="18" charset="0"/>
              </a:rPr>
              <a:t>1</a:t>
            </a:r>
            <a:r>
              <a:rPr lang="en-US" altLang="en-US" dirty="0">
                <a:latin typeface="Cambria Math" panose="02040503050406030204" pitchFamily="18" charset="0"/>
                <a:ea typeface="Cambria Math" panose="02040503050406030204" pitchFamily="18" charset="0"/>
              </a:rPr>
              <a:t>, …, </a:t>
            </a:r>
            <a:r>
              <a:rPr lang="en-US" altLang="en-US" dirty="0" err="1">
                <a:latin typeface="Cambria Math" panose="02040503050406030204" pitchFamily="18" charset="0"/>
                <a:ea typeface="Cambria Math" panose="02040503050406030204" pitchFamily="18" charset="0"/>
              </a:rPr>
              <a:t>x</a:t>
            </a:r>
            <a:r>
              <a:rPr lang="en-US" altLang="en-US" baseline="-25000" dirty="0" err="1">
                <a:latin typeface="Cambria Math" panose="02040503050406030204" pitchFamily="18" charset="0"/>
                <a:ea typeface="Cambria Math" panose="02040503050406030204" pitchFamily="18" charset="0"/>
              </a:rPr>
              <a:t>k</a:t>
            </a:r>
            <a:r>
              <a:rPr lang="en-US" altLang="en-US" dirty="0">
                <a:latin typeface="Cambria Math" panose="02040503050406030204" pitchFamily="18" charset="0"/>
                <a:ea typeface="Cambria Math" panose="02040503050406030204" pitchFamily="18" charset="0"/>
              </a:rPr>
              <a:t>)</a:t>
            </a:r>
            <a:r>
              <a:rPr lang="en-US" altLang="en-US" dirty="0"/>
              <a:t> be a polynomial in </a:t>
            </a:r>
            <a:r>
              <a:rPr lang="en-US" altLang="en-US" dirty="0">
                <a:latin typeface="Cambria Math" panose="02040503050406030204" pitchFamily="18" charset="0"/>
                <a:ea typeface="Cambria Math" panose="02040503050406030204" pitchFamily="18" charset="0"/>
              </a:rPr>
              <a:t>k</a:t>
            </a:r>
            <a:r>
              <a:rPr lang="en-US" altLang="en-US" dirty="0"/>
              <a:t> variables</a:t>
            </a:r>
            <a:br>
              <a:rPr lang="en-US" altLang="en-US" dirty="0"/>
            </a:br>
            <a:r>
              <a:rPr lang="en-US" altLang="en-US" dirty="0"/>
              <a:t>with integral coefficients.  Does </a:t>
            </a:r>
            <a:r>
              <a:rPr lang="en-US" altLang="en-US" dirty="0">
                <a:latin typeface="Cambria Math" panose="02040503050406030204" pitchFamily="18" charset="0"/>
                <a:ea typeface="Cambria Math" panose="02040503050406030204" pitchFamily="18" charset="0"/>
              </a:rPr>
              <a:t>P</a:t>
            </a:r>
            <a:r>
              <a:rPr lang="en-US" altLang="en-US" dirty="0"/>
              <a:t> have an </a:t>
            </a:r>
            <a:br>
              <a:rPr lang="en-US" altLang="en-US" dirty="0"/>
            </a:br>
            <a:r>
              <a:rPr lang="en-US" altLang="en-US" dirty="0"/>
              <a:t>integral root </a:t>
            </a:r>
            <a:r>
              <a:rPr lang="en-US" altLang="en-US" dirty="0">
                <a:latin typeface="Cambria Math" panose="02040503050406030204" pitchFamily="18" charset="0"/>
                <a:ea typeface="Cambria Math" panose="02040503050406030204" pitchFamily="18" charset="0"/>
              </a:rPr>
              <a:t>(x</a:t>
            </a:r>
            <a:r>
              <a:rPr lang="en-US" altLang="en-US" baseline="-25000" dirty="0">
                <a:latin typeface="Cambria Math" panose="02040503050406030204" pitchFamily="18" charset="0"/>
                <a:ea typeface="Cambria Math" panose="02040503050406030204" pitchFamily="18" charset="0"/>
              </a:rPr>
              <a:t>1</a:t>
            </a:r>
            <a:r>
              <a:rPr lang="en-US" altLang="en-US" dirty="0">
                <a:latin typeface="Cambria Math" panose="02040503050406030204" pitchFamily="18" charset="0"/>
                <a:ea typeface="Cambria Math" panose="02040503050406030204" pitchFamily="18" charset="0"/>
              </a:rPr>
              <a:t>, …, </a:t>
            </a:r>
            <a:r>
              <a:rPr lang="en-US" altLang="en-US" dirty="0" err="1">
                <a:latin typeface="Cambria Math" panose="02040503050406030204" pitchFamily="18" charset="0"/>
                <a:ea typeface="Cambria Math" panose="02040503050406030204" pitchFamily="18" charset="0"/>
              </a:rPr>
              <a:t>x</a:t>
            </a:r>
            <a:r>
              <a:rPr lang="en-US" altLang="en-US" baseline="-25000" dirty="0" err="1">
                <a:latin typeface="Cambria Math" panose="02040503050406030204" pitchFamily="18" charset="0"/>
                <a:ea typeface="Cambria Math" panose="02040503050406030204" pitchFamily="18" charset="0"/>
              </a:rPr>
              <a:t>k</a:t>
            </a:r>
            <a:r>
              <a:rPr lang="en-US" altLang="en-US" dirty="0">
                <a:latin typeface="Cambria Math" panose="02040503050406030204" pitchFamily="18" charset="0"/>
                <a:ea typeface="Cambria Math" panose="02040503050406030204" pitchFamily="18" charset="0"/>
              </a:rPr>
              <a:t>)</a:t>
            </a:r>
            <a:r>
              <a:rPr lang="en-US" altLang="en-US" dirty="0">
                <a:latin typeface="Cambria Math" panose="02040503050406030204" pitchFamily="18" charset="0"/>
                <a:ea typeface="Cambria Math" panose="02040503050406030204" pitchFamily="18" charset="0"/>
                <a:sym typeface="Symbol" panose="05050102010706020507" pitchFamily="18" charset="2"/>
              </a:rPr>
              <a:t></a:t>
            </a:r>
            <a:r>
              <a:rPr lang="en-US" altLang="en-US" dirty="0" err="1">
                <a:latin typeface="Cambria Math" panose="02040503050406030204" pitchFamily="18" charset="0"/>
                <a:ea typeface="Cambria Math" panose="02040503050406030204" pitchFamily="18" charset="0"/>
                <a:sym typeface="Symbol" panose="05050102010706020507" pitchFamily="18" charset="2"/>
              </a:rPr>
              <a:t>Z</a:t>
            </a:r>
            <a:r>
              <a:rPr lang="en-US" altLang="en-US" baseline="30000" dirty="0" err="1">
                <a:latin typeface="Cambria Math" panose="02040503050406030204" pitchFamily="18" charset="0"/>
                <a:ea typeface="Cambria Math" panose="02040503050406030204" pitchFamily="18" charset="0"/>
                <a:sym typeface="Symbol" panose="05050102010706020507" pitchFamily="18" charset="2"/>
              </a:rPr>
              <a:t>k</a:t>
            </a:r>
            <a:r>
              <a:rPr lang="en-US" altLang="en-US" dirty="0">
                <a:latin typeface="Cambria Math" panose="02040503050406030204" pitchFamily="18" charset="0"/>
                <a:ea typeface="Cambria Math" panose="02040503050406030204" pitchFamily="18" charset="0"/>
                <a:sym typeface="Symbol" panose="05050102010706020507" pitchFamily="18" charset="2"/>
              </a:rPr>
              <a:t> </a:t>
            </a:r>
            <a:r>
              <a:rPr lang="en-US" altLang="en-US" dirty="0">
                <a:sym typeface="Symbol" panose="05050102010706020507" pitchFamily="18" charset="2"/>
              </a:rPr>
              <a:t>?</a:t>
            </a:r>
          </a:p>
          <a:p>
            <a:pPr lvl="1"/>
            <a:r>
              <a:rPr lang="en-US" altLang="en-US" dirty="0"/>
              <a:t>Example: </a:t>
            </a:r>
            <a:r>
              <a:rPr lang="en-US" altLang="en-US" dirty="0">
                <a:latin typeface="Cambria Math" panose="02040503050406030204" pitchFamily="18" charset="0"/>
                <a:ea typeface="Cambria Math" panose="02040503050406030204" pitchFamily="18" charset="0"/>
              </a:rPr>
              <a:t>P(x, y, z) = 6x</a:t>
            </a:r>
            <a:r>
              <a:rPr lang="en-US" altLang="en-US" baseline="30000" dirty="0">
                <a:latin typeface="Cambria Math" panose="02040503050406030204" pitchFamily="18" charset="0"/>
                <a:ea typeface="Cambria Math" panose="02040503050406030204" pitchFamily="18" charset="0"/>
              </a:rPr>
              <a:t>3</a:t>
            </a:r>
            <a:r>
              <a:rPr lang="en-US" altLang="en-US" dirty="0">
                <a:latin typeface="Cambria Math" panose="02040503050406030204" pitchFamily="18" charset="0"/>
                <a:ea typeface="Cambria Math" panose="02040503050406030204" pitchFamily="18" charset="0"/>
              </a:rPr>
              <a:t>yz + 3xy</a:t>
            </a:r>
            <a:r>
              <a:rPr lang="en-US" altLang="en-US" baseline="30000" dirty="0">
                <a:latin typeface="Cambria Math" panose="02040503050406030204" pitchFamily="18" charset="0"/>
                <a:ea typeface="Cambria Math" panose="02040503050406030204" pitchFamily="18" charset="0"/>
              </a:rPr>
              <a:t>2 </a:t>
            </a:r>
            <a:r>
              <a:rPr lang="en-US" altLang="en-US" dirty="0">
                <a:latin typeface="Cambria Math" panose="02040503050406030204" pitchFamily="18" charset="0"/>
                <a:ea typeface="Cambria Math" panose="02040503050406030204" pitchFamily="18" charset="0"/>
              </a:rPr>
              <a:t>– x</a:t>
            </a:r>
            <a:r>
              <a:rPr lang="en-US" altLang="en-US" baseline="30000" dirty="0">
                <a:latin typeface="Cambria Math" panose="02040503050406030204" pitchFamily="18" charset="0"/>
                <a:ea typeface="Cambria Math" panose="02040503050406030204" pitchFamily="18" charset="0"/>
              </a:rPr>
              <a:t>3 </a:t>
            </a:r>
            <a:r>
              <a:rPr lang="en-US" altLang="en-US" dirty="0">
                <a:latin typeface="Cambria Math" panose="02040503050406030204" pitchFamily="18" charset="0"/>
                <a:ea typeface="Cambria Math" panose="02040503050406030204" pitchFamily="18" charset="0"/>
              </a:rPr>
              <a:t>– 10</a:t>
            </a:r>
            <a:r>
              <a:rPr lang="en-US" altLang="en-US" dirty="0"/>
              <a:t> </a:t>
            </a:r>
            <a:br>
              <a:rPr lang="en-US" altLang="en-US" dirty="0"/>
            </a:br>
            <a:r>
              <a:rPr lang="en-US" altLang="en-US" dirty="0"/>
              <a:t>has integral root </a:t>
            </a:r>
            <a:r>
              <a:rPr lang="en-US" altLang="en-US" dirty="0">
                <a:latin typeface="Cambria Math" panose="02040503050406030204" pitchFamily="18" charset="0"/>
                <a:ea typeface="Cambria Math" panose="02040503050406030204" pitchFamily="18" charset="0"/>
              </a:rPr>
              <a:t>(</a:t>
            </a:r>
            <a:r>
              <a:rPr lang="en-US" altLang="en-US" dirty="0" err="1">
                <a:latin typeface="Cambria Math" panose="02040503050406030204" pitchFamily="18" charset="0"/>
                <a:ea typeface="Cambria Math" panose="02040503050406030204" pitchFamily="18" charset="0"/>
              </a:rPr>
              <a:t>x,y,z</a:t>
            </a:r>
            <a:r>
              <a:rPr lang="en-US" altLang="en-US" dirty="0">
                <a:latin typeface="Cambria Math" panose="02040503050406030204" pitchFamily="18" charset="0"/>
                <a:ea typeface="Cambria Math" panose="02040503050406030204" pitchFamily="18" charset="0"/>
              </a:rPr>
              <a:t>) = (5,3,0)</a:t>
            </a:r>
            <a:endParaRPr lang="en-US" altLang="en-US" dirty="0"/>
          </a:p>
          <a:p>
            <a:pPr lvl="1"/>
            <a:r>
              <a:rPr lang="en-US" altLang="en-US" dirty="0"/>
              <a:t>Example: </a:t>
            </a:r>
            <a:r>
              <a:rPr lang="en-US" altLang="en-US" dirty="0">
                <a:latin typeface="Cambria Math" panose="02040503050406030204" pitchFamily="18" charset="0"/>
                <a:ea typeface="Cambria Math" panose="02040503050406030204" pitchFamily="18" charset="0"/>
              </a:rPr>
              <a:t>P(x, y) = 21x</a:t>
            </a:r>
            <a:r>
              <a:rPr lang="en-US" altLang="en-US" baseline="30000" dirty="0">
                <a:latin typeface="Cambria Math" panose="02040503050406030204" pitchFamily="18" charset="0"/>
                <a:ea typeface="Cambria Math" panose="02040503050406030204" pitchFamily="18" charset="0"/>
              </a:rPr>
              <a:t>2 </a:t>
            </a:r>
            <a:r>
              <a:rPr lang="en-US" altLang="en-US" dirty="0">
                <a:latin typeface="Cambria Math" panose="02040503050406030204" pitchFamily="18" charset="0"/>
                <a:ea typeface="Cambria Math" panose="02040503050406030204" pitchFamily="18" charset="0"/>
              </a:rPr>
              <a:t>– 81xy + 1</a:t>
            </a:r>
            <a:br>
              <a:rPr lang="en-US" altLang="en-US" dirty="0">
                <a:latin typeface="Cambria Math" panose="02040503050406030204" pitchFamily="18" charset="0"/>
                <a:ea typeface="Cambria Math" panose="02040503050406030204" pitchFamily="18" charset="0"/>
              </a:rPr>
            </a:br>
            <a:r>
              <a:rPr lang="en-US" altLang="en-US" dirty="0"/>
              <a:t>does not have an integral root.</a:t>
            </a:r>
          </a:p>
          <a:p>
            <a:pPr algn="just"/>
            <a:endParaRPr lang="en-US" dirty="0"/>
          </a:p>
        </p:txBody>
      </p:sp>
      <p:sp>
        <p:nvSpPr>
          <p:cNvPr id="3" name="Text Placeholder 2">
            <a:extLst>
              <a:ext uri="{FF2B5EF4-FFF2-40B4-BE49-F238E27FC236}">
                <a16:creationId xmlns:a16="http://schemas.microsoft.com/office/drawing/2014/main" id="{F39028B3-AC10-4A36-A534-9B9A8FAEE182}"/>
              </a:ext>
            </a:extLst>
          </p:cNvPr>
          <p:cNvSpPr>
            <a:spLocks noGrp="1"/>
          </p:cNvSpPr>
          <p:nvPr>
            <p:ph type="body" sz="half" idx="2"/>
          </p:nvPr>
        </p:nvSpPr>
        <p:spPr/>
        <p:txBody>
          <a:bodyPr/>
          <a:lstStyle/>
          <a:p>
            <a:r>
              <a:rPr lang="en-US" altLang="en-US" b="1" dirty="0"/>
              <a:t>Diophantine Equation</a:t>
            </a:r>
            <a:endParaRPr lang="en-US" dirty="0"/>
          </a:p>
        </p:txBody>
      </p:sp>
      <p:sp>
        <p:nvSpPr>
          <p:cNvPr id="2" name="Footer Placeholder 1">
            <a:extLst>
              <a:ext uri="{FF2B5EF4-FFF2-40B4-BE49-F238E27FC236}">
                <a16:creationId xmlns:a16="http://schemas.microsoft.com/office/drawing/2014/main" id="{CAD66F07-864F-48AF-9BB5-06123972FAA0}"/>
              </a:ext>
            </a:extLst>
          </p:cNvPr>
          <p:cNvSpPr>
            <a:spLocks noGrp="1"/>
          </p:cNvSpPr>
          <p:nvPr>
            <p:ph type="ftr" sz="quarter" idx="11"/>
          </p:nvPr>
        </p:nvSpPr>
        <p:spPr/>
        <p:txBody>
          <a:bodyPr/>
          <a:lstStyle/>
          <a:p>
            <a:r>
              <a:rPr lang="en-US"/>
              <a:t>CSC3113: Theory of Computation</a:t>
            </a:r>
          </a:p>
        </p:txBody>
      </p:sp>
      <p:pic>
        <p:nvPicPr>
          <p:cNvPr id="9" name="Picture Placeholder 8" descr="A person wearing a hat&#10;&#10;Description automatically generated">
            <a:extLst>
              <a:ext uri="{FF2B5EF4-FFF2-40B4-BE49-F238E27FC236}">
                <a16:creationId xmlns:a16="http://schemas.microsoft.com/office/drawing/2014/main" id="{0A72A534-31FE-4164-9DA7-A02AF52FB1FE}"/>
              </a:ext>
            </a:extLst>
          </p:cNvPr>
          <p:cNvPicPr>
            <a:picLocks noGrp="1" noChangeAspect="1"/>
          </p:cNvPicPr>
          <p:nvPr>
            <p:ph type="pic" sz="quarter" idx="12"/>
          </p:nvPr>
        </p:nvPicPr>
        <p:blipFill rotWithShape="1">
          <a:blip r:embed="rId2">
            <a:extLst>
              <a:ext uri="{28A0092B-C50C-407E-A947-70E740481C1C}">
                <a14:useLocalDpi xmlns:a14="http://schemas.microsoft.com/office/drawing/2010/main" val="0"/>
              </a:ext>
            </a:extLst>
          </a:blip>
          <a:stretch/>
        </p:blipFill>
        <p:spPr>
          <a:xfrm>
            <a:off x="544162" y="1371600"/>
            <a:ext cx="2243049" cy="3909314"/>
          </a:xfrm>
        </p:spPr>
      </p:pic>
    </p:spTree>
    <p:extLst>
      <p:ext uri="{BB962C8B-B14F-4D97-AF65-F5344CB8AC3E}">
        <p14:creationId xmlns:p14="http://schemas.microsoft.com/office/powerpoint/2010/main" val="300127564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618B25F7-DE3C-427A-AB9E-1F1B939D8838}"/>
              </a:ext>
            </a:extLst>
          </p:cNvPr>
          <p:cNvSpPr>
            <a:spLocks noGrp="1"/>
          </p:cNvSpPr>
          <p:nvPr>
            <p:ph type="ftr" sz="quarter" idx="11"/>
          </p:nvPr>
        </p:nvSpPr>
        <p:spPr/>
        <p:txBody>
          <a:bodyPr/>
          <a:lstStyle/>
          <a:p>
            <a:r>
              <a:rPr lang="en-US"/>
              <a:t>CSC3113: Theory of Computation</a:t>
            </a:r>
          </a:p>
        </p:txBody>
      </p:sp>
      <p:sp>
        <p:nvSpPr>
          <p:cNvPr id="7" name="Text Placeholder 6">
            <a:extLst>
              <a:ext uri="{FF2B5EF4-FFF2-40B4-BE49-F238E27FC236}">
                <a16:creationId xmlns:a16="http://schemas.microsoft.com/office/drawing/2014/main" id="{0F2DC36E-D1BB-4696-BBAE-95833F3AA3BD}"/>
              </a:ext>
            </a:extLst>
          </p:cNvPr>
          <p:cNvSpPr>
            <a:spLocks noGrp="1"/>
          </p:cNvSpPr>
          <p:nvPr>
            <p:ph type="body" sz="quarter" idx="12"/>
          </p:nvPr>
        </p:nvSpPr>
        <p:spPr/>
        <p:txBody>
          <a:bodyPr/>
          <a:lstStyle/>
          <a:p>
            <a:r>
              <a:rPr lang="en-US" altLang="en-US" b="1" dirty="0"/>
              <a:t>Diophantine Equation</a:t>
            </a:r>
            <a:endParaRPr lang="en-US" dirty="0"/>
          </a:p>
        </p:txBody>
      </p:sp>
      <p:sp>
        <p:nvSpPr>
          <p:cNvPr id="8" name="Text Placeholder 7">
            <a:extLst>
              <a:ext uri="{FF2B5EF4-FFF2-40B4-BE49-F238E27FC236}">
                <a16:creationId xmlns:a16="http://schemas.microsoft.com/office/drawing/2014/main" id="{08A862D5-5399-4F01-9D20-2966D27C6E52}"/>
              </a:ext>
            </a:extLst>
          </p:cNvPr>
          <p:cNvSpPr>
            <a:spLocks noGrp="1"/>
          </p:cNvSpPr>
          <p:nvPr>
            <p:ph type="body" sz="quarter" idx="13"/>
          </p:nvPr>
        </p:nvSpPr>
        <p:spPr/>
        <p:txBody>
          <a:bodyPr>
            <a:normAutofit lnSpcReduction="10000"/>
          </a:bodyPr>
          <a:lstStyle/>
          <a:p>
            <a:pPr algn="just"/>
            <a:r>
              <a:rPr lang="en-US" dirty="0"/>
              <a:t>Let’s briefly discuss polynomials to understand the problem. </a:t>
            </a:r>
          </a:p>
          <a:p>
            <a:pPr lvl="1" algn="just"/>
            <a:r>
              <a:rPr lang="en-US" dirty="0"/>
              <a:t>A polynomial is a sum of terms, where each term is a product of certain variables and a constant, called a coefficient (here, we consider only integer coefficient). For example, </a:t>
            </a:r>
          </a:p>
          <a:p>
            <a:pPr lvl="2"/>
            <a:r>
              <a:rPr lang="en-US" dirty="0">
                <a:latin typeface="Cambria Math" panose="02040503050406030204" pitchFamily="18" charset="0"/>
                <a:ea typeface="Cambria Math" panose="02040503050406030204" pitchFamily="18" charset="0"/>
              </a:rPr>
              <a:t>6 · x · x · x · y · z · z = 6x</a:t>
            </a:r>
            <a:r>
              <a:rPr lang="en-US" baseline="30000" dirty="0">
                <a:latin typeface="Cambria Math" panose="02040503050406030204" pitchFamily="18" charset="0"/>
                <a:ea typeface="Cambria Math" panose="02040503050406030204" pitchFamily="18" charset="0"/>
              </a:rPr>
              <a:t>3</a:t>
            </a:r>
            <a:r>
              <a:rPr lang="en-US" dirty="0">
                <a:latin typeface="Cambria Math" panose="02040503050406030204" pitchFamily="18" charset="0"/>
                <a:ea typeface="Cambria Math" panose="02040503050406030204" pitchFamily="18" charset="0"/>
              </a:rPr>
              <a:t>yz</a:t>
            </a:r>
            <a:r>
              <a:rPr lang="en-US" baseline="30000" dirty="0">
                <a:latin typeface="Cambria Math" panose="02040503050406030204" pitchFamily="18" charset="0"/>
                <a:ea typeface="Cambria Math" panose="02040503050406030204" pitchFamily="18" charset="0"/>
              </a:rPr>
              <a:t>2</a:t>
            </a:r>
            <a:r>
              <a:rPr lang="en-US" dirty="0"/>
              <a:t> is a term with coefficient </a:t>
            </a:r>
            <a:r>
              <a:rPr lang="en-US" dirty="0">
                <a:latin typeface="Cambria Math" panose="02040503050406030204" pitchFamily="18" charset="0"/>
                <a:ea typeface="Cambria Math" panose="02040503050406030204" pitchFamily="18" charset="0"/>
              </a:rPr>
              <a:t>6</a:t>
            </a:r>
            <a:r>
              <a:rPr lang="en-US" dirty="0"/>
              <a:t>, and </a:t>
            </a:r>
          </a:p>
          <a:p>
            <a:pPr lvl="2"/>
            <a:r>
              <a:rPr lang="en-US" dirty="0">
                <a:latin typeface="Cambria Math" panose="02040503050406030204" pitchFamily="18" charset="0"/>
                <a:ea typeface="Cambria Math" panose="02040503050406030204" pitchFamily="18" charset="0"/>
              </a:rPr>
              <a:t>6x</a:t>
            </a:r>
            <a:r>
              <a:rPr lang="en-US" baseline="30000" dirty="0">
                <a:latin typeface="Cambria Math" panose="02040503050406030204" pitchFamily="18" charset="0"/>
                <a:ea typeface="Cambria Math" panose="02040503050406030204" pitchFamily="18" charset="0"/>
              </a:rPr>
              <a:t>3</a:t>
            </a:r>
            <a:r>
              <a:rPr lang="en-US" dirty="0">
                <a:latin typeface="Cambria Math" panose="02040503050406030204" pitchFamily="18" charset="0"/>
                <a:ea typeface="Cambria Math" panose="02040503050406030204" pitchFamily="18" charset="0"/>
              </a:rPr>
              <a:t>yz</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 + 3xy</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 − x</a:t>
            </a:r>
            <a:r>
              <a:rPr lang="en-US" baseline="30000" dirty="0">
                <a:latin typeface="Cambria Math" panose="02040503050406030204" pitchFamily="18" charset="0"/>
                <a:ea typeface="Cambria Math" panose="02040503050406030204" pitchFamily="18" charset="0"/>
              </a:rPr>
              <a:t>3</a:t>
            </a:r>
            <a:r>
              <a:rPr lang="en-US" dirty="0">
                <a:latin typeface="Cambria Math" panose="02040503050406030204" pitchFamily="18" charset="0"/>
                <a:ea typeface="Cambria Math" panose="02040503050406030204" pitchFamily="18" charset="0"/>
              </a:rPr>
              <a:t> − 10 </a:t>
            </a:r>
            <a:r>
              <a:rPr lang="en-US" dirty="0"/>
              <a:t>is a polynomial with four terms, over the variables </a:t>
            </a:r>
            <a:r>
              <a:rPr lang="en-US" dirty="0">
                <a:latin typeface="Cambria Math" panose="02040503050406030204" pitchFamily="18" charset="0"/>
                <a:ea typeface="Cambria Math" panose="02040503050406030204" pitchFamily="18" charset="0"/>
              </a:rPr>
              <a:t>x, y, </a:t>
            </a:r>
            <a:r>
              <a:rPr lang="en-US" dirty="0"/>
              <a:t>and </a:t>
            </a:r>
            <a:r>
              <a:rPr lang="en-US" dirty="0">
                <a:latin typeface="Cambria Math" panose="02040503050406030204" pitchFamily="18" charset="0"/>
                <a:ea typeface="Cambria Math" panose="02040503050406030204" pitchFamily="18" charset="0"/>
              </a:rPr>
              <a:t>z</a:t>
            </a:r>
            <a:r>
              <a:rPr lang="en-US" dirty="0"/>
              <a:t>. </a:t>
            </a:r>
          </a:p>
          <a:p>
            <a:pPr lvl="1" algn="just"/>
            <a:r>
              <a:rPr lang="en-US" dirty="0"/>
              <a:t>A root of a polynomial is an assignment of values to its variables so that the value of the polynomial is </a:t>
            </a:r>
            <a:r>
              <a:rPr lang="en-US" dirty="0">
                <a:latin typeface="Cambria Math" panose="02040503050406030204" pitchFamily="18" charset="0"/>
                <a:ea typeface="Cambria Math" panose="02040503050406030204" pitchFamily="18" charset="0"/>
              </a:rPr>
              <a:t>0</a:t>
            </a:r>
            <a:r>
              <a:rPr lang="en-US" dirty="0"/>
              <a:t>. </a:t>
            </a:r>
          </a:p>
          <a:p>
            <a:pPr lvl="2"/>
            <a:r>
              <a:rPr lang="en-US" dirty="0"/>
              <a:t>The above polynomial has a root at </a:t>
            </a:r>
            <a:r>
              <a:rPr lang="en-US" dirty="0">
                <a:latin typeface="Cambria Math" panose="02040503050406030204" pitchFamily="18" charset="0"/>
                <a:ea typeface="Cambria Math" panose="02040503050406030204" pitchFamily="18" charset="0"/>
              </a:rPr>
              <a:t>x = 5, y = 3, </a:t>
            </a:r>
            <a:r>
              <a:rPr lang="en-US" dirty="0"/>
              <a:t>and </a:t>
            </a:r>
            <a:r>
              <a:rPr lang="en-US" dirty="0">
                <a:latin typeface="Cambria Math" panose="02040503050406030204" pitchFamily="18" charset="0"/>
                <a:ea typeface="Cambria Math" panose="02040503050406030204" pitchFamily="18" charset="0"/>
              </a:rPr>
              <a:t>z = 0</a:t>
            </a:r>
            <a:r>
              <a:rPr lang="en-US" dirty="0"/>
              <a:t>. </a:t>
            </a:r>
          </a:p>
          <a:p>
            <a:pPr algn="just"/>
            <a:r>
              <a:rPr lang="en-US" dirty="0"/>
              <a:t>Hilbert’s tenth problem was to devise an algorithm that tests whether a polynomial has an integral root. He did not use the term algorithm but rather “a process according to which it can be determined by a finite number of operations.”</a:t>
            </a:r>
          </a:p>
        </p:txBody>
      </p:sp>
      <p:sp>
        <p:nvSpPr>
          <p:cNvPr id="9" name="Text Placeholder 8">
            <a:extLst>
              <a:ext uri="{FF2B5EF4-FFF2-40B4-BE49-F238E27FC236}">
                <a16:creationId xmlns:a16="http://schemas.microsoft.com/office/drawing/2014/main" id="{EA8AAAAA-0993-4754-9E4A-C31948949FEF}"/>
              </a:ext>
            </a:extLst>
          </p:cNvPr>
          <p:cNvSpPr>
            <a:spLocks noGrp="1"/>
          </p:cNvSpPr>
          <p:nvPr>
            <p:ph type="body" sz="quarter" idx="14"/>
          </p:nvPr>
        </p:nvSpPr>
        <p:spPr/>
        <p:txBody>
          <a:bodyPr/>
          <a:lstStyle/>
          <a:p>
            <a:r>
              <a:rPr lang="en-US" dirty="0"/>
              <a:t>Algorithm</a:t>
            </a:r>
          </a:p>
        </p:txBody>
      </p:sp>
    </p:spTree>
    <p:extLst>
      <p:ext uri="{BB962C8B-B14F-4D97-AF65-F5344CB8AC3E}">
        <p14:creationId xmlns:p14="http://schemas.microsoft.com/office/powerpoint/2010/main" val="30435049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086D863-C94B-4B5C-B3AA-5512802FEBA1}"/>
              </a:ext>
            </a:extLst>
          </p:cNvPr>
          <p:cNvSpPr>
            <a:spLocks noGrp="1"/>
          </p:cNvSpPr>
          <p:nvPr>
            <p:ph type="ftr" sz="quarter" idx="11"/>
          </p:nvPr>
        </p:nvSpPr>
        <p:spPr/>
        <p:txBody>
          <a:bodyPr/>
          <a:lstStyle/>
          <a:p>
            <a:r>
              <a:rPr lang="en-US"/>
              <a:t>CSC3113: Theory of Computation</a:t>
            </a:r>
          </a:p>
        </p:txBody>
      </p:sp>
      <p:sp>
        <p:nvSpPr>
          <p:cNvPr id="5" name="Text Placeholder 4">
            <a:extLst>
              <a:ext uri="{FF2B5EF4-FFF2-40B4-BE49-F238E27FC236}">
                <a16:creationId xmlns:a16="http://schemas.microsoft.com/office/drawing/2014/main" id="{B6B45E53-EEFC-42CA-82A7-E92C9B397F11}"/>
              </a:ext>
            </a:extLst>
          </p:cNvPr>
          <p:cNvSpPr>
            <a:spLocks noGrp="1"/>
          </p:cNvSpPr>
          <p:nvPr>
            <p:ph type="body" sz="quarter" idx="12"/>
          </p:nvPr>
        </p:nvSpPr>
        <p:spPr/>
        <p:txBody>
          <a:bodyPr/>
          <a:lstStyle/>
          <a:p>
            <a:r>
              <a:rPr lang="en-US" dirty="0"/>
              <a:t>Church-Turing Thesis</a:t>
            </a:r>
          </a:p>
        </p:txBody>
      </p:sp>
      <p:sp>
        <p:nvSpPr>
          <p:cNvPr id="6" name="Text Placeholder 5">
            <a:extLst>
              <a:ext uri="{FF2B5EF4-FFF2-40B4-BE49-F238E27FC236}">
                <a16:creationId xmlns:a16="http://schemas.microsoft.com/office/drawing/2014/main" id="{43BD4270-E55D-49E7-8895-D5CB93592C40}"/>
              </a:ext>
            </a:extLst>
          </p:cNvPr>
          <p:cNvSpPr>
            <a:spLocks noGrp="1"/>
          </p:cNvSpPr>
          <p:nvPr>
            <p:ph type="body" sz="quarter" idx="13"/>
          </p:nvPr>
        </p:nvSpPr>
        <p:spPr/>
        <p:txBody>
          <a:bodyPr>
            <a:normAutofit fontScale="92500" lnSpcReduction="10000"/>
          </a:bodyPr>
          <a:lstStyle/>
          <a:p>
            <a:pPr algn="just"/>
            <a:r>
              <a:rPr lang="en-US" dirty="0"/>
              <a:t>Proving that an algorithm exists or does not exist requires having a clear definition of algorithm.</a:t>
            </a:r>
          </a:p>
          <a:p>
            <a:pPr algn="just"/>
            <a:r>
              <a:rPr lang="en-US" dirty="0"/>
              <a:t>The definition came in the 1936 papers of Alonzo Church and Alan Turing. </a:t>
            </a:r>
          </a:p>
          <a:p>
            <a:pPr lvl="1" algn="just"/>
            <a:r>
              <a:rPr lang="en-US" dirty="0"/>
              <a:t>Church used notational system called the λ-calculus to define algorithms. </a:t>
            </a:r>
          </a:p>
          <a:p>
            <a:pPr lvl="1"/>
            <a:r>
              <a:rPr lang="en-US" dirty="0"/>
              <a:t>Turing did the same with his “machines.” </a:t>
            </a:r>
          </a:p>
          <a:p>
            <a:pPr algn="just"/>
            <a:r>
              <a:rPr lang="en-US" dirty="0"/>
              <a:t>These two definitions were shown to be equivalent. This connection between the informal notion of algorithm and the precise definition has come to be called the Church–Turing thesis.</a:t>
            </a:r>
          </a:p>
          <a:p>
            <a:pPr algn="just"/>
            <a:r>
              <a:rPr lang="en-US" dirty="0"/>
              <a:t>The Church–Turing thesis provides the definition of algorithm necessary to resolve Hilbert’s tenth problem. </a:t>
            </a:r>
          </a:p>
          <a:p>
            <a:pPr lvl="1"/>
            <a:r>
              <a:rPr lang="en-US" i="1" dirty="0"/>
              <a:t>Intuitive notion of algorithms equals to </a:t>
            </a:r>
            <a:r>
              <a:rPr lang="en-US" i="1"/>
              <a:t>the Turing Decidable machine</a:t>
            </a:r>
            <a:r>
              <a:rPr lang="en-US" dirty="0"/>
              <a:t>.</a:t>
            </a:r>
          </a:p>
          <a:p>
            <a:pPr algn="just"/>
            <a:r>
              <a:rPr lang="en-US" dirty="0"/>
              <a:t>In 1970, Yuri </a:t>
            </a:r>
            <a:r>
              <a:rPr lang="en-US" dirty="0" err="1"/>
              <a:t>Matijasevic</a:t>
            </a:r>
            <a:r>
              <a:rPr lang="en-US" dirty="0"/>
              <a:t>, building on the work of Martin Davis, Hilary Putnam, and Julia Robinson, showed that no algorithm exists for testing whether a polynomial has integral roots.</a:t>
            </a:r>
          </a:p>
        </p:txBody>
      </p:sp>
      <p:sp>
        <p:nvSpPr>
          <p:cNvPr id="7" name="Text Placeholder 6">
            <a:extLst>
              <a:ext uri="{FF2B5EF4-FFF2-40B4-BE49-F238E27FC236}">
                <a16:creationId xmlns:a16="http://schemas.microsoft.com/office/drawing/2014/main" id="{A0785406-76F3-4544-B8AD-2EC7B1DDD201}"/>
              </a:ext>
            </a:extLst>
          </p:cNvPr>
          <p:cNvSpPr>
            <a:spLocks noGrp="1"/>
          </p:cNvSpPr>
          <p:nvPr>
            <p:ph type="body" sz="quarter" idx="14"/>
          </p:nvPr>
        </p:nvSpPr>
        <p:spPr/>
        <p:txBody>
          <a:bodyPr/>
          <a:lstStyle/>
          <a:p>
            <a:r>
              <a:rPr lang="en-US" dirty="0"/>
              <a:t>Algorithm</a:t>
            </a:r>
          </a:p>
        </p:txBody>
      </p:sp>
    </p:spTree>
    <p:extLst>
      <p:ext uri="{BB962C8B-B14F-4D97-AF65-F5344CB8AC3E}">
        <p14:creationId xmlns:p14="http://schemas.microsoft.com/office/powerpoint/2010/main" val="2417743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2E9548B-4FBB-49E6-BC6A-4070570A65FF}"/>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FEF6223-C6E8-40AA-A5F8-C838A1466AE7}"/>
              </a:ext>
            </a:extLst>
          </p:cNvPr>
          <p:cNvSpPr>
            <a:spLocks noGrp="1"/>
          </p:cNvSpPr>
          <p:nvPr>
            <p:ph type="body" sz="quarter" idx="12"/>
          </p:nvPr>
        </p:nvSpPr>
        <p:spPr/>
        <p:txBody>
          <a:bodyPr/>
          <a:lstStyle/>
          <a:p>
            <a:r>
              <a:rPr lang="en-US" altLang="en-US" dirty="0"/>
              <a:t>Turing Recognizable vs Decidable</a:t>
            </a:r>
            <a:endParaRPr lang="en-US" dirty="0"/>
          </a:p>
        </p:txBody>
      </p:sp>
      <p:sp>
        <p:nvSpPr>
          <p:cNvPr id="4" name="Text Placeholder 3">
            <a:extLst>
              <a:ext uri="{FF2B5EF4-FFF2-40B4-BE49-F238E27FC236}">
                <a16:creationId xmlns:a16="http://schemas.microsoft.com/office/drawing/2014/main" id="{FBEEAA00-9959-4021-A373-EDEA90C891F3}"/>
              </a:ext>
            </a:extLst>
          </p:cNvPr>
          <p:cNvSpPr>
            <a:spLocks noGrp="1"/>
          </p:cNvSpPr>
          <p:nvPr>
            <p:ph type="body" sz="quarter" idx="13"/>
          </p:nvPr>
        </p:nvSpPr>
        <p:spPr/>
        <p:txBody>
          <a:bodyPr>
            <a:normAutofit/>
          </a:bodyPr>
          <a:lstStyle/>
          <a:p>
            <a:pPr algn="just" eaLnBrk="1" hangingPunct="1"/>
            <a:r>
              <a:rPr lang="en-US" altLang="en-US" sz="2800" b="1" i="1" dirty="0"/>
              <a:t>Turing Recognizable</a:t>
            </a:r>
            <a:r>
              <a:rPr lang="en-US" altLang="en-US" sz="2800" dirty="0"/>
              <a:t>: A language </a:t>
            </a:r>
            <a:r>
              <a:rPr lang="en-US" altLang="en-US" sz="2800" b="1" dirty="0">
                <a:latin typeface="Cambria Math" panose="02040503050406030204" pitchFamily="18" charset="0"/>
                <a:ea typeface="Cambria Math" panose="02040503050406030204" pitchFamily="18" charset="0"/>
              </a:rPr>
              <a:t>A</a:t>
            </a:r>
            <a:r>
              <a:rPr lang="en-US" altLang="en-US" sz="2800" dirty="0"/>
              <a:t> is </a:t>
            </a:r>
            <a:r>
              <a:rPr lang="en-US" altLang="en-US" sz="2800" u="sng" dirty="0"/>
              <a:t>Turing-recognizable</a:t>
            </a:r>
            <a:r>
              <a:rPr lang="en-US" altLang="en-US" sz="2800" dirty="0"/>
              <a:t> if and only if there is a Turing Machine </a:t>
            </a:r>
            <a:r>
              <a:rPr lang="en-US" altLang="en-US" sz="2800" b="1" dirty="0">
                <a:latin typeface="Cambria Math" panose="02040503050406030204" pitchFamily="18" charset="0"/>
                <a:ea typeface="Cambria Math" panose="02040503050406030204" pitchFamily="18" charset="0"/>
              </a:rPr>
              <a:t>M</a:t>
            </a:r>
            <a:r>
              <a:rPr lang="en-US" altLang="en-US" sz="2800" dirty="0"/>
              <a:t> such that </a:t>
            </a:r>
            <a:r>
              <a:rPr lang="en-US" altLang="en-US" sz="2800" b="1" dirty="0">
                <a:latin typeface="Cambria Math" panose="02040503050406030204" pitchFamily="18" charset="0"/>
                <a:ea typeface="Cambria Math" panose="02040503050406030204" pitchFamily="18" charset="0"/>
              </a:rPr>
              <a:t>A = L(M)</a:t>
            </a:r>
            <a:r>
              <a:rPr lang="en-US" altLang="en-US" sz="2800" dirty="0"/>
              <a:t>.</a:t>
            </a:r>
          </a:p>
          <a:p>
            <a:pPr lvl="1" algn="just"/>
            <a:r>
              <a:rPr lang="en-US" altLang="en-US" b="1" dirty="0" err="1">
                <a:latin typeface="Cambria Math" panose="02040503050406030204" pitchFamily="18" charset="0"/>
                <a:ea typeface="Cambria Math" panose="02040503050406030204" pitchFamily="18" charset="0"/>
              </a:rPr>
              <a:t>w</a:t>
            </a:r>
            <a:r>
              <a:rPr lang="en-US" altLang="en-US" b="1" dirty="0" err="1">
                <a:latin typeface="Cambria Math" panose="02040503050406030204" pitchFamily="18" charset="0"/>
                <a:ea typeface="Cambria Math" panose="02040503050406030204" pitchFamily="18" charset="0"/>
                <a:sym typeface="Symbol" panose="05050102010706020507" pitchFamily="18" charset="2"/>
              </a:rPr>
              <a:t>A</a:t>
            </a:r>
            <a:r>
              <a:rPr lang="en-US" altLang="en-US" b="1" dirty="0">
                <a:latin typeface="Cambria Math" panose="02040503050406030204" pitchFamily="18" charset="0"/>
                <a:ea typeface="Cambria Math" panose="02040503050406030204" pitchFamily="18" charset="0"/>
                <a:sym typeface="Symbol" panose="05050102010706020507" pitchFamily="18" charset="2"/>
              </a:rPr>
              <a:t> ⟹ M </a:t>
            </a:r>
            <a:r>
              <a:rPr lang="en-US" altLang="en-US" dirty="0"/>
              <a:t>halts on input </a:t>
            </a:r>
            <a:r>
              <a:rPr lang="en-US" altLang="en-US" b="1" dirty="0">
                <a:latin typeface="Cambria Math" panose="02040503050406030204" pitchFamily="18" charset="0"/>
                <a:ea typeface="Cambria Math" panose="02040503050406030204" pitchFamily="18" charset="0"/>
                <a:sym typeface="Symbol" panose="05050102010706020507" pitchFamily="18" charset="2"/>
              </a:rPr>
              <a:t>w</a:t>
            </a:r>
            <a:r>
              <a:rPr lang="en-US" altLang="en-US" dirty="0"/>
              <a:t> in state </a:t>
            </a:r>
            <a:r>
              <a:rPr lang="en-US" altLang="en-US" b="1" dirty="0" err="1">
                <a:latin typeface="Cambria Math" panose="02040503050406030204" pitchFamily="18" charset="0"/>
                <a:ea typeface="Cambria Math" panose="02040503050406030204" pitchFamily="18" charset="0"/>
                <a:sym typeface="Symbol" panose="05050102010706020507" pitchFamily="18" charset="2"/>
              </a:rPr>
              <a:t>q</a:t>
            </a:r>
            <a:r>
              <a:rPr lang="en-US" altLang="en-US" b="1" baseline="-25000" dirty="0" err="1">
                <a:latin typeface="Cambria Math" panose="02040503050406030204" pitchFamily="18" charset="0"/>
                <a:ea typeface="Cambria Math" panose="02040503050406030204" pitchFamily="18" charset="0"/>
                <a:sym typeface="Symbol" panose="05050102010706020507" pitchFamily="18" charset="2"/>
              </a:rPr>
              <a:t>ACCEPT</a:t>
            </a:r>
            <a:r>
              <a:rPr lang="en-US" altLang="en-US" dirty="0">
                <a:solidFill>
                  <a:schemeClr val="bg1"/>
                </a:solidFill>
              </a:rPr>
              <a:t>,</a:t>
            </a:r>
          </a:p>
          <a:p>
            <a:pPr lvl="1"/>
            <a:r>
              <a:rPr lang="en-US" altLang="en-US" b="1" dirty="0" err="1">
                <a:latin typeface="Cambria Math" panose="02040503050406030204" pitchFamily="18" charset="0"/>
                <a:ea typeface="Cambria Math" panose="02040503050406030204" pitchFamily="18" charset="0"/>
              </a:rPr>
              <a:t>w</a:t>
            </a:r>
            <a:r>
              <a:rPr lang="en-US" altLang="en-US" b="1" dirty="0" err="1">
                <a:latin typeface="Cambria Math" panose="02040503050406030204" pitchFamily="18" charset="0"/>
                <a:ea typeface="Cambria Math" panose="02040503050406030204" pitchFamily="18" charset="0"/>
                <a:sym typeface="Symbol" panose="05050102010706020507" pitchFamily="18" charset="2"/>
              </a:rPr>
              <a:t>A</a:t>
            </a:r>
            <a:r>
              <a:rPr lang="en-US" altLang="en-US" b="1" dirty="0">
                <a:latin typeface="Cambria Math" panose="02040503050406030204" pitchFamily="18" charset="0"/>
                <a:ea typeface="Cambria Math" panose="02040503050406030204" pitchFamily="18" charset="0"/>
                <a:sym typeface="Symbol" panose="05050102010706020507" pitchFamily="18" charset="2"/>
              </a:rPr>
              <a:t> ⟹ M </a:t>
            </a:r>
            <a:r>
              <a:rPr lang="en-US" altLang="en-US" dirty="0"/>
              <a:t>halts on input </a:t>
            </a:r>
            <a:r>
              <a:rPr lang="en-US" altLang="en-US" b="1" dirty="0">
                <a:latin typeface="Cambria Math" panose="02040503050406030204" pitchFamily="18" charset="0"/>
                <a:ea typeface="Cambria Math" panose="02040503050406030204" pitchFamily="18" charset="0"/>
                <a:sym typeface="Symbol" panose="05050102010706020507" pitchFamily="18" charset="2"/>
              </a:rPr>
              <a:t>w</a:t>
            </a:r>
            <a:r>
              <a:rPr lang="en-US" altLang="en-US" dirty="0"/>
              <a:t> in state </a:t>
            </a:r>
            <a:r>
              <a:rPr lang="en-US" altLang="en-US" b="1" dirty="0" err="1">
                <a:latin typeface="Cambria Math" panose="02040503050406030204" pitchFamily="18" charset="0"/>
                <a:ea typeface="Cambria Math" panose="02040503050406030204" pitchFamily="18" charset="0"/>
                <a:sym typeface="Symbol" panose="05050102010706020507" pitchFamily="18" charset="2"/>
              </a:rPr>
              <a:t>q</a:t>
            </a:r>
            <a:r>
              <a:rPr lang="en-US" altLang="en-US" b="1" baseline="-25000" dirty="0" err="1">
                <a:latin typeface="Cambria Math" panose="02040503050406030204" pitchFamily="18" charset="0"/>
                <a:ea typeface="Cambria Math" panose="02040503050406030204" pitchFamily="18" charset="0"/>
                <a:sym typeface="Symbol" panose="05050102010706020507" pitchFamily="18" charset="2"/>
              </a:rPr>
              <a:t>REJECT</a:t>
            </a:r>
            <a:r>
              <a:rPr lang="en-US" altLang="en-US" dirty="0">
                <a:solidFill>
                  <a:schemeClr val="bg1"/>
                </a:solidFill>
              </a:rPr>
              <a:t>,</a:t>
            </a:r>
            <a:br>
              <a:rPr lang="en-US" altLang="en-US" dirty="0">
                <a:solidFill>
                  <a:schemeClr val="bg1"/>
                </a:solidFill>
              </a:rPr>
            </a:br>
            <a:r>
              <a:rPr lang="en-US" altLang="en-US" dirty="0">
                <a:solidFill>
                  <a:schemeClr val="bg1"/>
                </a:solidFill>
              </a:rPr>
              <a:t>                 </a:t>
            </a:r>
            <a:r>
              <a:rPr lang="en-US" altLang="en-US" dirty="0">
                <a:solidFill>
                  <a:schemeClr val="tx1"/>
                </a:solidFill>
              </a:rPr>
              <a:t>or </a:t>
            </a:r>
            <a:r>
              <a:rPr lang="en-US" altLang="en-US" b="1" dirty="0">
                <a:latin typeface="Cambria Math" panose="02040503050406030204" pitchFamily="18" charset="0"/>
                <a:ea typeface="Cambria Math" panose="02040503050406030204" pitchFamily="18" charset="0"/>
                <a:sym typeface="Symbol" panose="05050102010706020507" pitchFamily="18" charset="2"/>
              </a:rPr>
              <a:t>M</a:t>
            </a:r>
            <a:r>
              <a:rPr lang="en-US" altLang="en-US" dirty="0">
                <a:solidFill>
                  <a:schemeClr val="tx1"/>
                </a:solidFill>
              </a:rPr>
              <a:t> runs forever (</a:t>
            </a:r>
            <a:r>
              <a:rPr lang="en-US" altLang="en-US" sz="2000" i="1" dirty="0">
                <a:sym typeface="Symbol" panose="05050102010706020507" pitchFamily="18" charset="2"/>
              </a:rPr>
              <a:t>loop indefinitely</a:t>
            </a:r>
            <a:r>
              <a:rPr lang="en-US" altLang="en-US" dirty="0">
                <a:solidFill>
                  <a:schemeClr val="tx1"/>
                </a:solidFill>
              </a:rPr>
              <a:t>)</a:t>
            </a:r>
          </a:p>
          <a:p>
            <a:pPr algn="just"/>
            <a:endParaRPr lang="en-US" altLang="en-US" sz="2800" b="1" i="1" dirty="0"/>
          </a:p>
          <a:p>
            <a:pPr algn="just"/>
            <a:r>
              <a:rPr lang="en-US" altLang="en-US" sz="2800" b="1" i="1" dirty="0"/>
              <a:t>Turing Decidable</a:t>
            </a:r>
            <a:r>
              <a:rPr lang="en-US" altLang="en-US" sz="2800" dirty="0"/>
              <a:t>: A language </a:t>
            </a:r>
            <a:r>
              <a:rPr lang="en-US" altLang="en-US" sz="2800" b="1" dirty="0">
                <a:latin typeface="Cambria Math" panose="02040503050406030204" pitchFamily="18" charset="0"/>
                <a:ea typeface="Cambria Math" panose="02040503050406030204" pitchFamily="18" charset="0"/>
              </a:rPr>
              <a:t>A = L(M)</a:t>
            </a:r>
            <a:r>
              <a:rPr lang="en-US" altLang="en-US" sz="2800" dirty="0"/>
              <a:t> is </a:t>
            </a:r>
            <a:r>
              <a:rPr lang="en-US" altLang="en-US" sz="2800" u="sng" dirty="0"/>
              <a:t>decided</a:t>
            </a:r>
            <a:r>
              <a:rPr lang="en-US" altLang="en-US" sz="2800" dirty="0"/>
              <a:t> by the Turing Machine </a:t>
            </a:r>
            <a:r>
              <a:rPr lang="en-US" altLang="en-US" sz="2800" b="1" dirty="0">
                <a:latin typeface="Cambria Math" panose="02040503050406030204" pitchFamily="18" charset="0"/>
                <a:ea typeface="Cambria Math" panose="02040503050406030204" pitchFamily="18" charset="0"/>
              </a:rPr>
              <a:t>M, </a:t>
            </a:r>
            <a:r>
              <a:rPr lang="en-US" altLang="en-US" sz="2800" dirty="0"/>
              <a:t>if </a:t>
            </a:r>
            <a:r>
              <a:rPr lang="en-US" altLang="en-US" sz="2800" b="1" dirty="0">
                <a:latin typeface="Cambria Math" panose="02040503050406030204" pitchFamily="18" charset="0"/>
                <a:ea typeface="Cambria Math" panose="02040503050406030204" pitchFamily="18" charset="0"/>
              </a:rPr>
              <a:t>M</a:t>
            </a:r>
            <a:r>
              <a:rPr lang="en-US" altLang="en-US" sz="2800" dirty="0"/>
              <a:t> finishes in a </a:t>
            </a:r>
            <a:r>
              <a:rPr lang="en-US" altLang="en-US" sz="2800" b="1" dirty="0"/>
              <a:t>halting</a:t>
            </a:r>
            <a:r>
              <a:rPr lang="en-US" altLang="en-US" sz="2800" dirty="0"/>
              <a:t> configuration on every input </a:t>
            </a:r>
            <a:r>
              <a:rPr lang="en-US" altLang="en-US" sz="2800" b="1" dirty="0">
                <a:latin typeface="Cambria Math" panose="02040503050406030204" pitchFamily="18" charset="0"/>
                <a:ea typeface="Cambria Math" panose="02040503050406030204" pitchFamily="18" charset="0"/>
              </a:rPr>
              <a:t>w</a:t>
            </a:r>
            <a:r>
              <a:rPr lang="en-US" altLang="en-US" sz="2800" dirty="0"/>
              <a:t>. </a:t>
            </a:r>
          </a:p>
          <a:p>
            <a:pPr lvl="1" algn="just"/>
            <a:r>
              <a:rPr lang="en-US" altLang="en-US" sz="2400" b="1" dirty="0" err="1">
                <a:latin typeface="Cambria Math" panose="02040503050406030204" pitchFamily="18" charset="0"/>
                <a:ea typeface="Cambria Math" panose="02040503050406030204" pitchFamily="18" charset="0"/>
              </a:rPr>
              <a:t>w</a:t>
            </a:r>
            <a:r>
              <a:rPr lang="en-US" altLang="en-US" sz="2400" b="1" dirty="0" err="1">
                <a:latin typeface="Cambria Math" panose="02040503050406030204" pitchFamily="18" charset="0"/>
                <a:ea typeface="Cambria Math" panose="02040503050406030204" pitchFamily="18" charset="0"/>
                <a:sym typeface="Symbol" panose="05050102010706020507" pitchFamily="18" charset="2"/>
              </a:rPr>
              <a:t>A</a:t>
            </a:r>
            <a:r>
              <a:rPr lang="en-US" altLang="en-US" sz="2400" b="1" dirty="0">
                <a:latin typeface="Cambria Math" panose="02040503050406030204" pitchFamily="18" charset="0"/>
                <a:ea typeface="Cambria Math" panose="02040503050406030204" pitchFamily="18" charset="0"/>
                <a:sym typeface="Symbol" panose="05050102010706020507" pitchFamily="18" charset="2"/>
              </a:rPr>
              <a:t> ⟹ M </a:t>
            </a:r>
            <a:r>
              <a:rPr lang="en-US" altLang="en-US" sz="2400" dirty="0"/>
              <a:t>halts on input </a:t>
            </a:r>
            <a:r>
              <a:rPr lang="en-US" altLang="en-US" sz="2400" b="1" dirty="0">
                <a:latin typeface="Cambria Math" panose="02040503050406030204" pitchFamily="18" charset="0"/>
                <a:ea typeface="Cambria Math" panose="02040503050406030204" pitchFamily="18" charset="0"/>
                <a:sym typeface="Symbol" panose="05050102010706020507" pitchFamily="18" charset="2"/>
              </a:rPr>
              <a:t>w</a:t>
            </a:r>
            <a:r>
              <a:rPr lang="en-US" altLang="en-US" sz="2400" dirty="0"/>
              <a:t> in state </a:t>
            </a:r>
            <a:r>
              <a:rPr lang="en-US" altLang="en-US" sz="2400" b="1" dirty="0" err="1">
                <a:latin typeface="Cambria Math" panose="02040503050406030204" pitchFamily="18" charset="0"/>
                <a:ea typeface="Cambria Math" panose="02040503050406030204" pitchFamily="18" charset="0"/>
                <a:sym typeface="Symbol" panose="05050102010706020507" pitchFamily="18" charset="2"/>
              </a:rPr>
              <a:t>q</a:t>
            </a:r>
            <a:r>
              <a:rPr lang="en-US" altLang="en-US" sz="2400" b="1" baseline="-25000" dirty="0" err="1">
                <a:latin typeface="Cambria Math" panose="02040503050406030204" pitchFamily="18" charset="0"/>
                <a:ea typeface="Cambria Math" panose="02040503050406030204" pitchFamily="18" charset="0"/>
                <a:sym typeface="Symbol" panose="05050102010706020507" pitchFamily="18" charset="2"/>
              </a:rPr>
              <a:t>ACCEPT</a:t>
            </a:r>
            <a:r>
              <a:rPr lang="en-US" altLang="en-US" sz="2400" dirty="0">
                <a:solidFill>
                  <a:schemeClr val="bg1"/>
                </a:solidFill>
              </a:rPr>
              <a:t>,</a:t>
            </a:r>
          </a:p>
          <a:p>
            <a:pPr lvl="1"/>
            <a:r>
              <a:rPr lang="en-US" altLang="en-US" sz="2400" b="1" dirty="0" err="1">
                <a:latin typeface="Cambria Math" panose="02040503050406030204" pitchFamily="18" charset="0"/>
                <a:ea typeface="Cambria Math" panose="02040503050406030204" pitchFamily="18" charset="0"/>
              </a:rPr>
              <a:t>w</a:t>
            </a:r>
            <a:r>
              <a:rPr lang="en-US" altLang="en-US" sz="2400" b="1" dirty="0" err="1">
                <a:latin typeface="Cambria Math" panose="02040503050406030204" pitchFamily="18" charset="0"/>
                <a:ea typeface="Cambria Math" panose="02040503050406030204" pitchFamily="18" charset="0"/>
                <a:sym typeface="Symbol" panose="05050102010706020507" pitchFamily="18" charset="2"/>
              </a:rPr>
              <a:t>A</a:t>
            </a:r>
            <a:r>
              <a:rPr lang="en-US" altLang="en-US" sz="2400" b="1" dirty="0">
                <a:latin typeface="Cambria Math" panose="02040503050406030204" pitchFamily="18" charset="0"/>
                <a:ea typeface="Cambria Math" panose="02040503050406030204" pitchFamily="18" charset="0"/>
                <a:sym typeface="Symbol" panose="05050102010706020507" pitchFamily="18" charset="2"/>
              </a:rPr>
              <a:t> ⟹ M </a:t>
            </a:r>
            <a:r>
              <a:rPr lang="en-US" altLang="en-US" sz="2400" dirty="0"/>
              <a:t>halts on input </a:t>
            </a:r>
            <a:r>
              <a:rPr lang="en-US" altLang="en-US" sz="2400" b="1" dirty="0">
                <a:latin typeface="Cambria Math" panose="02040503050406030204" pitchFamily="18" charset="0"/>
                <a:ea typeface="Cambria Math" panose="02040503050406030204" pitchFamily="18" charset="0"/>
                <a:sym typeface="Symbol" panose="05050102010706020507" pitchFamily="18" charset="2"/>
              </a:rPr>
              <a:t>w</a:t>
            </a:r>
            <a:r>
              <a:rPr lang="en-US" altLang="en-US" sz="2400" dirty="0"/>
              <a:t> in state </a:t>
            </a:r>
            <a:r>
              <a:rPr lang="en-US" altLang="en-US" sz="2400" b="1" dirty="0" err="1">
                <a:latin typeface="Cambria Math" panose="02040503050406030204" pitchFamily="18" charset="0"/>
                <a:ea typeface="Cambria Math" panose="02040503050406030204" pitchFamily="18" charset="0"/>
                <a:sym typeface="Symbol" panose="05050102010706020507" pitchFamily="18" charset="2"/>
              </a:rPr>
              <a:t>q</a:t>
            </a:r>
            <a:r>
              <a:rPr lang="en-US" altLang="en-US" sz="2400" b="1" baseline="-25000" dirty="0" err="1">
                <a:latin typeface="Cambria Math" panose="02040503050406030204" pitchFamily="18" charset="0"/>
                <a:ea typeface="Cambria Math" panose="02040503050406030204" pitchFamily="18" charset="0"/>
                <a:sym typeface="Symbol" panose="05050102010706020507" pitchFamily="18" charset="2"/>
              </a:rPr>
              <a:t>REJECT</a:t>
            </a:r>
            <a:r>
              <a:rPr lang="en-US" altLang="en-US" sz="2400" dirty="0">
                <a:solidFill>
                  <a:schemeClr val="bg1"/>
                </a:solidFill>
              </a:rPr>
              <a:t>, </a:t>
            </a:r>
          </a:p>
          <a:p>
            <a:pPr lvl="1"/>
            <a:endParaRPr lang="en-US" altLang="en-US" sz="2800" dirty="0">
              <a:solidFill>
                <a:schemeClr val="tx1"/>
              </a:solidFill>
            </a:endParaRPr>
          </a:p>
        </p:txBody>
      </p:sp>
      <p:sp>
        <p:nvSpPr>
          <p:cNvPr id="5" name="Text Placeholder 4">
            <a:extLst>
              <a:ext uri="{FF2B5EF4-FFF2-40B4-BE49-F238E27FC236}">
                <a16:creationId xmlns:a16="http://schemas.microsoft.com/office/drawing/2014/main" id="{EA293721-9948-4964-9848-54C8BA837B5D}"/>
              </a:ext>
            </a:extLst>
          </p:cNvPr>
          <p:cNvSpPr>
            <a:spLocks noGrp="1"/>
          </p:cNvSpPr>
          <p:nvPr>
            <p:ph type="body" sz="quarter" idx="14"/>
          </p:nvPr>
        </p:nvSpPr>
        <p:spPr/>
        <p:txBody>
          <a:bodyPr/>
          <a:lstStyle/>
          <a:p>
            <a:r>
              <a:rPr lang="en-US" dirty="0"/>
              <a:t>Review</a:t>
            </a:r>
          </a:p>
        </p:txBody>
      </p:sp>
    </p:spTree>
    <p:extLst>
      <p:ext uri="{BB962C8B-B14F-4D97-AF65-F5344CB8AC3E}">
        <p14:creationId xmlns:p14="http://schemas.microsoft.com/office/powerpoint/2010/main" val="29377678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FABC2A8-AC35-47A3-AC23-5089CC5C8B43}"/>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A8170EC-D2FB-416E-BDAF-D628B1B0D980}"/>
              </a:ext>
            </a:extLst>
          </p:cNvPr>
          <p:cNvSpPr>
            <a:spLocks noGrp="1"/>
          </p:cNvSpPr>
          <p:nvPr>
            <p:ph type="body" sz="quarter" idx="12"/>
          </p:nvPr>
        </p:nvSpPr>
        <p:spPr/>
        <p:txBody>
          <a:bodyPr/>
          <a:lstStyle/>
          <a:p>
            <a:r>
              <a:rPr lang="en-US" dirty="0"/>
              <a:t>Hilbert’s tenth problem in TM</a:t>
            </a:r>
          </a:p>
        </p:txBody>
      </p:sp>
      <p:sp>
        <p:nvSpPr>
          <p:cNvPr id="4" name="Text Placeholder 3">
            <a:extLst>
              <a:ext uri="{FF2B5EF4-FFF2-40B4-BE49-F238E27FC236}">
                <a16:creationId xmlns:a16="http://schemas.microsoft.com/office/drawing/2014/main" id="{84DF942A-16A2-4B1E-B1BF-F48BB16A2E49}"/>
              </a:ext>
            </a:extLst>
          </p:cNvPr>
          <p:cNvSpPr>
            <a:spLocks noGrp="1"/>
          </p:cNvSpPr>
          <p:nvPr>
            <p:ph type="body" sz="quarter" idx="13"/>
          </p:nvPr>
        </p:nvSpPr>
        <p:spPr/>
        <p:txBody>
          <a:bodyPr>
            <a:normAutofit fontScale="92500" lnSpcReduction="10000"/>
          </a:bodyPr>
          <a:lstStyle/>
          <a:p>
            <a:r>
              <a:rPr lang="en-US" dirty="0"/>
              <a:t>A simpler and analogous version to Hilbert’s tenth problem for polynomials with single variable, such as </a:t>
            </a:r>
            <a:r>
              <a:rPr lang="en-US" dirty="0">
                <a:latin typeface="Cambria Math" panose="02040503050406030204" pitchFamily="18" charset="0"/>
                <a:ea typeface="Cambria Math" panose="02040503050406030204" pitchFamily="18" charset="0"/>
              </a:rPr>
              <a:t>2x</a:t>
            </a:r>
            <a:r>
              <a:rPr lang="en-US" baseline="30000" dirty="0">
                <a:latin typeface="Cambria Math" panose="02040503050406030204" pitchFamily="18" charset="0"/>
                <a:ea typeface="Cambria Math" panose="02040503050406030204" pitchFamily="18" charset="0"/>
              </a:rPr>
              <a:t>2</a:t>
            </a:r>
            <a:r>
              <a:rPr lang="en-US" dirty="0">
                <a:latin typeface="Cambria Math" panose="02040503050406030204" pitchFamily="18" charset="0"/>
                <a:ea typeface="Cambria Math" panose="02040503050406030204" pitchFamily="18" charset="0"/>
              </a:rPr>
              <a:t>+x−7</a:t>
            </a:r>
            <a:r>
              <a:rPr lang="en-US" dirty="0"/>
              <a:t>. Described in our terminology – </a:t>
            </a:r>
          </a:p>
          <a:p>
            <a:pPr lvl="1"/>
            <a:r>
              <a:rPr lang="en-US" dirty="0">
                <a:latin typeface="Cambria Math" panose="02040503050406030204" pitchFamily="18" charset="0"/>
                <a:ea typeface="Cambria Math" panose="02040503050406030204" pitchFamily="18" charset="0"/>
              </a:rPr>
              <a:t>D1 = {p| p is a polynomial over x with an integral root}</a:t>
            </a:r>
            <a:r>
              <a:rPr lang="en-US" dirty="0"/>
              <a:t>. </a:t>
            </a:r>
          </a:p>
          <a:p>
            <a:r>
              <a:rPr lang="en-US" dirty="0"/>
              <a:t>Here is a TM </a:t>
            </a:r>
            <a:r>
              <a:rPr lang="en-US" dirty="0">
                <a:latin typeface="Cambria Math" panose="02040503050406030204" pitchFamily="18" charset="0"/>
                <a:ea typeface="Cambria Math" panose="02040503050406030204" pitchFamily="18" charset="0"/>
              </a:rPr>
              <a:t>M1</a:t>
            </a:r>
            <a:r>
              <a:rPr lang="en-US" dirty="0"/>
              <a:t> that recognizes </a:t>
            </a:r>
            <a:r>
              <a:rPr lang="en-US" dirty="0">
                <a:latin typeface="Cambria Math" panose="02040503050406030204" pitchFamily="18" charset="0"/>
                <a:ea typeface="Cambria Math" panose="02040503050406030204" pitchFamily="18" charset="0"/>
              </a:rPr>
              <a:t>D1</a:t>
            </a:r>
            <a:r>
              <a:rPr lang="en-US" dirty="0"/>
              <a:t>: </a:t>
            </a:r>
          </a:p>
          <a:p>
            <a:pPr lvl="1"/>
            <a:r>
              <a:rPr lang="en-US" dirty="0">
                <a:latin typeface="Cambria Math" panose="02040503050406030204" pitchFamily="18" charset="0"/>
                <a:ea typeface="Cambria Math" panose="02040503050406030204" pitchFamily="18" charset="0"/>
              </a:rPr>
              <a:t>M1</a:t>
            </a:r>
            <a:r>
              <a:rPr lang="en-US" dirty="0"/>
              <a:t> = “On input </a:t>
            </a:r>
            <a:r>
              <a:rPr lang="en-US" dirty="0">
                <a:latin typeface="Cambria Math" panose="02040503050406030204" pitchFamily="18" charset="0"/>
                <a:ea typeface="Cambria Math" panose="02040503050406030204" pitchFamily="18" charset="0"/>
              </a:rPr>
              <a:t>〈p〉</a:t>
            </a:r>
            <a:r>
              <a:rPr lang="en-US" dirty="0"/>
              <a:t>: where </a:t>
            </a:r>
            <a:r>
              <a:rPr lang="en-US" dirty="0">
                <a:latin typeface="Cambria Math" panose="02040503050406030204" pitchFamily="18" charset="0"/>
                <a:ea typeface="Cambria Math" panose="02040503050406030204" pitchFamily="18" charset="0"/>
              </a:rPr>
              <a:t>p</a:t>
            </a:r>
            <a:r>
              <a:rPr lang="en-US" dirty="0"/>
              <a:t> is a polynomial over the variable </a:t>
            </a:r>
            <a:r>
              <a:rPr lang="en-US" dirty="0">
                <a:latin typeface="Cambria Math" panose="02040503050406030204" pitchFamily="18" charset="0"/>
                <a:ea typeface="Cambria Math" panose="02040503050406030204" pitchFamily="18" charset="0"/>
              </a:rPr>
              <a:t>x</a:t>
            </a:r>
            <a:r>
              <a:rPr lang="en-US" dirty="0"/>
              <a:t>. </a:t>
            </a:r>
          </a:p>
          <a:p>
            <a:pPr marL="1311275" indent="-228600">
              <a:buAutoNum type="arabicPeriod"/>
            </a:pPr>
            <a:r>
              <a:rPr lang="en-US" dirty="0"/>
              <a:t>Evaluate p with x set successively to the </a:t>
            </a:r>
            <a:r>
              <a:rPr lang="en-US" dirty="0">
                <a:latin typeface="Cambria Math" panose="02040503050406030204" pitchFamily="18" charset="0"/>
                <a:ea typeface="Cambria Math" panose="02040503050406030204" pitchFamily="18" charset="0"/>
              </a:rPr>
              <a:t>values 0, 1, −1, 2, −2, 3, −3, . . . . </a:t>
            </a:r>
            <a:r>
              <a:rPr lang="en-US" dirty="0"/>
              <a:t>If at any point the polynomial evaluates to </a:t>
            </a:r>
            <a:r>
              <a:rPr lang="en-US" dirty="0">
                <a:latin typeface="Cambria Math" panose="02040503050406030204" pitchFamily="18" charset="0"/>
                <a:ea typeface="Cambria Math" panose="02040503050406030204" pitchFamily="18" charset="0"/>
              </a:rPr>
              <a:t>0</a:t>
            </a:r>
            <a:r>
              <a:rPr lang="en-US" dirty="0"/>
              <a:t>, accept.” </a:t>
            </a:r>
          </a:p>
          <a:p>
            <a:pPr marL="520700" lvl="1" indent="-288925"/>
            <a:r>
              <a:rPr lang="en-US" dirty="0"/>
              <a:t>If </a:t>
            </a:r>
            <a:r>
              <a:rPr lang="en-US" dirty="0">
                <a:latin typeface="Cambria Math" panose="02040503050406030204" pitchFamily="18" charset="0"/>
                <a:ea typeface="Cambria Math" panose="02040503050406030204" pitchFamily="18" charset="0"/>
              </a:rPr>
              <a:t>p</a:t>
            </a:r>
            <a:r>
              <a:rPr lang="en-US" dirty="0"/>
              <a:t> has an integral root, </a:t>
            </a:r>
            <a:r>
              <a:rPr lang="en-US" dirty="0">
                <a:latin typeface="Cambria Math" panose="02040503050406030204" pitchFamily="18" charset="0"/>
                <a:ea typeface="Cambria Math" panose="02040503050406030204" pitchFamily="18" charset="0"/>
              </a:rPr>
              <a:t>M1</a:t>
            </a:r>
            <a:r>
              <a:rPr lang="en-US" dirty="0"/>
              <a:t> eventually will find it and </a:t>
            </a:r>
            <a:r>
              <a:rPr lang="en-US" b="1" i="1" dirty="0"/>
              <a:t>accept</a:t>
            </a:r>
            <a:r>
              <a:rPr lang="en-US" dirty="0"/>
              <a:t>. </a:t>
            </a:r>
          </a:p>
          <a:p>
            <a:pPr marL="520700" lvl="1" indent="-288925"/>
            <a:r>
              <a:rPr lang="en-US" dirty="0"/>
              <a:t>If </a:t>
            </a:r>
            <a:r>
              <a:rPr lang="en-US" dirty="0">
                <a:latin typeface="Cambria Math" panose="02040503050406030204" pitchFamily="18" charset="0"/>
                <a:ea typeface="Cambria Math" panose="02040503050406030204" pitchFamily="18" charset="0"/>
              </a:rPr>
              <a:t>p</a:t>
            </a:r>
            <a:r>
              <a:rPr lang="en-US" dirty="0"/>
              <a:t> does not have an integral root, </a:t>
            </a:r>
            <a:r>
              <a:rPr lang="en-US" dirty="0">
                <a:latin typeface="Cambria Math" panose="02040503050406030204" pitchFamily="18" charset="0"/>
                <a:ea typeface="Cambria Math" panose="02040503050406030204" pitchFamily="18" charset="0"/>
              </a:rPr>
              <a:t>M1</a:t>
            </a:r>
            <a:r>
              <a:rPr lang="en-US" dirty="0"/>
              <a:t> will </a:t>
            </a:r>
            <a:r>
              <a:rPr lang="en-US" b="1" i="1" dirty="0"/>
              <a:t>run forever</a:t>
            </a:r>
            <a:r>
              <a:rPr lang="en-US" dirty="0"/>
              <a:t>. </a:t>
            </a:r>
          </a:p>
          <a:p>
            <a:pPr marL="288925" indent="-288925" algn="just"/>
            <a:r>
              <a:rPr lang="en-US" dirty="0"/>
              <a:t>For the multivariable case, we can present a similar TM </a:t>
            </a:r>
            <a:r>
              <a:rPr lang="en-US" dirty="0">
                <a:latin typeface="Cambria Math" panose="02040503050406030204" pitchFamily="18" charset="0"/>
                <a:ea typeface="Cambria Math" panose="02040503050406030204" pitchFamily="18" charset="0"/>
              </a:rPr>
              <a:t>M2</a:t>
            </a:r>
            <a:r>
              <a:rPr lang="en-US" dirty="0"/>
              <a:t> that recognizes </a:t>
            </a:r>
            <a:r>
              <a:rPr lang="en-US" dirty="0">
                <a:latin typeface="Cambria Math" panose="02040503050406030204" pitchFamily="18" charset="0"/>
                <a:ea typeface="Cambria Math" panose="02040503050406030204" pitchFamily="18" charset="0"/>
              </a:rPr>
              <a:t>D2 = {p| p is a polynomial with an integral root}</a:t>
            </a:r>
            <a:r>
              <a:rPr lang="en-US" dirty="0"/>
              <a:t>. </a:t>
            </a:r>
          </a:p>
          <a:p>
            <a:pPr marL="520700" lvl="1" indent="-288925" algn="just"/>
            <a:r>
              <a:rPr lang="en-US" dirty="0"/>
              <a:t>Here, </a:t>
            </a:r>
            <a:r>
              <a:rPr lang="en-US" dirty="0">
                <a:latin typeface="Cambria Math" panose="02040503050406030204" pitchFamily="18" charset="0"/>
                <a:ea typeface="Cambria Math" panose="02040503050406030204" pitchFamily="18" charset="0"/>
              </a:rPr>
              <a:t>M2</a:t>
            </a:r>
            <a:r>
              <a:rPr lang="en-US" dirty="0"/>
              <a:t> goes through all possible settings of its variables to integral values.</a:t>
            </a:r>
          </a:p>
          <a:p>
            <a:pPr marL="288925" indent="-288925" algn="just"/>
            <a:r>
              <a:rPr lang="en-US" dirty="0"/>
              <a:t>Both </a:t>
            </a:r>
            <a:r>
              <a:rPr lang="en-US" dirty="0">
                <a:latin typeface="Cambria Math" panose="02040503050406030204" pitchFamily="18" charset="0"/>
                <a:ea typeface="Cambria Math" panose="02040503050406030204" pitchFamily="18" charset="0"/>
              </a:rPr>
              <a:t>M1</a:t>
            </a:r>
            <a:r>
              <a:rPr lang="en-US" dirty="0"/>
              <a:t> and </a:t>
            </a:r>
            <a:r>
              <a:rPr lang="en-US" dirty="0">
                <a:latin typeface="Cambria Math" panose="02040503050406030204" pitchFamily="18" charset="0"/>
                <a:ea typeface="Cambria Math" panose="02040503050406030204" pitchFamily="18" charset="0"/>
              </a:rPr>
              <a:t>M2</a:t>
            </a:r>
            <a:r>
              <a:rPr lang="en-US" dirty="0"/>
              <a:t> are recognizers but not deciders. So, no algorithm exists for Hilbert’s 10</a:t>
            </a:r>
            <a:r>
              <a:rPr lang="en-US" baseline="30000" dirty="0"/>
              <a:t>th</a:t>
            </a:r>
            <a:r>
              <a:rPr lang="en-US" dirty="0"/>
              <a:t> problem; it is algorithmically unsolvable.</a:t>
            </a:r>
          </a:p>
        </p:txBody>
      </p:sp>
    </p:spTree>
    <p:extLst>
      <p:ext uri="{BB962C8B-B14F-4D97-AF65-F5344CB8AC3E}">
        <p14:creationId xmlns:p14="http://schemas.microsoft.com/office/powerpoint/2010/main" val="24321749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D3E9CA43-FABF-4BBD-A43F-24229F6E7E8E}"/>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9D0D99C3-8F5E-40E7-8740-387F5FEFECC3}"/>
              </a:ext>
            </a:extLst>
          </p:cNvPr>
          <p:cNvSpPr>
            <a:spLocks noGrp="1"/>
          </p:cNvSpPr>
          <p:nvPr>
            <p:ph type="body" sz="quarter" idx="12"/>
          </p:nvPr>
        </p:nvSpPr>
        <p:spPr/>
        <p:txBody>
          <a:bodyPr/>
          <a:lstStyle/>
          <a:p>
            <a:r>
              <a:rPr lang="en-US" dirty="0"/>
              <a:t>Algorithm</a:t>
            </a:r>
          </a:p>
        </p:txBody>
      </p:sp>
      <p:sp>
        <p:nvSpPr>
          <p:cNvPr id="4" name="Text Placeholder 3">
            <a:extLst>
              <a:ext uri="{FF2B5EF4-FFF2-40B4-BE49-F238E27FC236}">
                <a16:creationId xmlns:a16="http://schemas.microsoft.com/office/drawing/2014/main" id="{4AC78489-50E9-4548-BB4F-BD75E270B598}"/>
              </a:ext>
            </a:extLst>
          </p:cNvPr>
          <p:cNvSpPr>
            <a:spLocks noGrp="1"/>
          </p:cNvSpPr>
          <p:nvPr>
            <p:ph type="body" sz="quarter" idx="13"/>
          </p:nvPr>
        </p:nvSpPr>
        <p:spPr/>
        <p:txBody>
          <a:bodyPr/>
          <a:lstStyle/>
          <a:p>
            <a:pPr algn="just"/>
            <a:r>
              <a:rPr lang="en-US" dirty="0"/>
              <a:t>Informally, an algorithm (procedures or recipes) is a collection of simple instructions for carrying out some task. </a:t>
            </a:r>
          </a:p>
          <a:p>
            <a:pPr algn="just"/>
            <a:r>
              <a:rPr lang="en-US" dirty="0"/>
              <a:t>Ancient mathematical literature contains descriptions of algorithms for a variety of tasks, such as finding prime numbers and greatest common divisors. In contemporary mathematics, algorithms abound.</a:t>
            </a:r>
          </a:p>
          <a:p>
            <a:pPr algn="just"/>
            <a:r>
              <a:rPr lang="en-US" b="1" dirty="0"/>
              <a:t>Church-Turing Thesis Principle</a:t>
            </a:r>
            <a:r>
              <a:rPr lang="en-US" dirty="0"/>
              <a:t>: Nothing will be considered an </a:t>
            </a:r>
            <a:r>
              <a:rPr lang="en-US" i="1" dirty="0"/>
              <a:t>algorithm</a:t>
            </a:r>
            <a:r>
              <a:rPr lang="en-US" dirty="0"/>
              <a:t> if it cannot be rendered as a </a:t>
            </a:r>
            <a:r>
              <a:rPr lang="en-US" i="1" dirty="0"/>
              <a:t>Turing machine</a:t>
            </a:r>
            <a:r>
              <a:rPr lang="en-US" dirty="0"/>
              <a:t> that is guaranteed to </a:t>
            </a:r>
            <a:r>
              <a:rPr lang="en-US" i="1" dirty="0"/>
              <a:t>halt</a:t>
            </a:r>
            <a:r>
              <a:rPr lang="en-US" dirty="0"/>
              <a:t> on all inputs, and all such machines will be rightfully called </a:t>
            </a:r>
            <a:r>
              <a:rPr lang="en-US" i="1" dirty="0"/>
              <a:t>algorithm</a:t>
            </a:r>
            <a:r>
              <a:rPr lang="en-US" dirty="0"/>
              <a:t>s.</a:t>
            </a:r>
          </a:p>
          <a:p>
            <a:pPr lvl="1" algn="just"/>
            <a:r>
              <a:rPr lang="en-US" sz="2200" dirty="0"/>
              <a:t>This is a principle </a:t>
            </a:r>
            <a:r>
              <a:rPr lang="en-US" sz="2200" i="1" dirty="0"/>
              <a:t>not theorem</a:t>
            </a:r>
            <a:r>
              <a:rPr lang="en-US" sz="2200" dirty="0"/>
              <a:t> which may/may not be proven till today/future (complexity theory).</a:t>
            </a:r>
          </a:p>
          <a:p>
            <a:pPr algn="just"/>
            <a:endParaRPr lang="en-US" dirty="0"/>
          </a:p>
        </p:txBody>
      </p:sp>
    </p:spTree>
    <p:extLst>
      <p:ext uri="{BB962C8B-B14F-4D97-AF65-F5344CB8AC3E}">
        <p14:creationId xmlns:p14="http://schemas.microsoft.com/office/powerpoint/2010/main" val="25460511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D40F6615-D177-4A6D-9904-40C5770C275E}"/>
              </a:ext>
            </a:extLst>
          </p:cNvPr>
          <p:cNvSpPr>
            <a:spLocks noGrp="1"/>
          </p:cNvSpPr>
          <p:nvPr>
            <p:ph type="ftr" sz="quarter" idx="11"/>
          </p:nvPr>
        </p:nvSpPr>
        <p:spPr/>
        <p:txBody>
          <a:bodyPr anchor="ctr">
            <a:normAutofit/>
          </a:bodyPr>
          <a:lstStyle/>
          <a:p>
            <a:pPr>
              <a:spcAft>
                <a:spcPts val="600"/>
              </a:spcAft>
            </a:pPr>
            <a:r>
              <a:rPr lang="en-US"/>
              <a:t>CSC3113: Theory of Computation</a:t>
            </a:r>
          </a:p>
        </p:txBody>
      </p:sp>
      <p:sp>
        <p:nvSpPr>
          <p:cNvPr id="15" name="Text Placeholder 3">
            <a:extLst>
              <a:ext uri="{FF2B5EF4-FFF2-40B4-BE49-F238E27FC236}">
                <a16:creationId xmlns:a16="http://schemas.microsoft.com/office/drawing/2014/main" id="{37EC00DC-FD61-4E37-BE84-E7BA6F2359A0}"/>
              </a:ext>
            </a:extLst>
          </p:cNvPr>
          <p:cNvSpPr>
            <a:spLocks noGrp="1"/>
          </p:cNvSpPr>
          <p:nvPr>
            <p:ph type="body" sz="half" idx="2"/>
          </p:nvPr>
        </p:nvSpPr>
        <p:spPr/>
        <p:txBody>
          <a:bodyPr/>
          <a:lstStyle/>
          <a:p>
            <a:r>
              <a:rPr lang="en-US" dirty="0"/>
              <a:t>Turing Machine (TM)</a:t>
            </a:r>
          </a:p>
        </p:txBody>
      </p:sp>
      <p:sp>
        <p:nvSpPr>
          <p:cNvPr id="17" name="Title 4">
            <a:extLst>
              <a:ext uri="{FF2B5EF4-FFF2-40B4-BE49-F238E27FC236}">
                <a16:creationId xmlns:a16="http://schemas.microsoft.com/office/drawing/2014/main" id="{50233ED0-0B63-47F6-8182-9DEE064D7724}"/>
              </a:ext>
            </a:extLst>
          </p:cNvPr>
          <p:cNvSpPr>
            <a:spLocks noGrp="1"/>
          </p:cNvSpPr>
          <p:nvPr>
            <p:ph type="title"/>
          </p:nvPr>
        </p:nvSpPr>
        <p:spPr/>
        <p:txBody>
          <a:bodyPr/>
          <a:lstStyle/>
          <a:p>
            <a:r>
              <a:rPr lang="en-US" dirty="0"/>
              <a:t>Informal Description</a:t>
            </a:r>
          </a:p>
        </p:txBody>
      </p:sp>
      <p:pic>
        <p:nvPicPr>
          <p:cNvPr id="12" name="Picture Placeholder 11" descr="A close up of a sign&#10;&#10;Description automatically generated">
            <a:extLst>
              <a:ext uri="{FF2B5EF4-FFF2-40B4-BE49-F238E27FC236}">
                <a16:creationId xmlns:a16="http://schemas.microsoft.com/office/drawing/2014/main" id="{BAC3109C-780A-4810-A47B-077C254B094B}"/>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4806" b="4806"/>
          <a:stretch/>
        </p:blipFill>
        <p:spPr>
          <a:xfrm>
            <a:off x="3183568" y="24738"/>
            <a:ext cx="5945190" cy="2859778"/>
          </a:xfrm>
        </p:spPr>
      </p:pic>
      <p:sp>
        <p:nvSpPr>
          <p:cNvPr id="13" name="Content Placeholder 1">
            <a:extLst>
              <a:ext uri="{FF2B5EF4-FFF2-40B4-BE49-F238E27FC236}">
                <a16:creationId xmlns:a16="http://schemas.microsoft.com/office/drawing/2014/main" id="{7A0597D6-4E2E-493E-9430-615DD7CE9E5E}"/>
              </a:ext>
            </a:extLst>
          </p:cNvPr>
          <p:cNvSpPr>
            <a:spLocks noGrp="1"/>
          </p:cNvSpPr>
          <p:nvPr>
            <p:ph sz="quarter" idx="14"/>
          </p:nvPr>
        </p:nvSpPr>
        <p:spPr/>
        <p:txBody>
          <a:bodyPr/>
          <a:lstStyle/>
          <a:p>
            <a:r>
              <a:rPr lang="en-US" altLang="en-US" sz="2400" dirty="0"/>
              <a:t>At every step, the head of the Turing Machine named </a:t>
            </a:r>
            <a:r>
              <a:rPr lang="en-US" altLang="en-US" sz="2400" b="1" dirty="0">
                <a:latin typeface="Times New Roman" panose="02020603050405020304" pitchFamily="18" charset="0"/>
                <a:cs typeface="Times New Roman" panose="02020603050405020304" pitchFamily="18" charset="0"/>
              </a:rPr>
              <a:t>M</a:t>
            </a:r>
            <a:r>
              <a:rPr lang="en-US" altLang="en-US" sz="2400" dirty="0"/>
              <a:t> reads a letter </a:t>
            </a:r>
            <a:r>
              <a:rPr lang="en-US" altLang="en-US" sz="2400" b="1" i="1" dirty="0">
                <a:latin typeface="Times New Roman" panose="02020603050405020304" pitchFamily="18" charset="0"/>
                <a:cs typeface="Times New Roman" panose="02020603050405020304" pitchFamily="18" charset="0"/>
              </a:rPr>
              <a:t>x</a:t>
            </a:r>
            <a:r>
              <a:rPr lang="en-US" altLang="en-US" sz="2400" b="1" i="1" baseline="-25000" dirty="0">
                <a:latin typeface="Times New Roman" panose="02020603050405020304" pitchFamily="18" charset="0"/>
                <a:cs typeface="Times New Roman" panose="02020603050405020304" pitchFamily="18" charset="0"/>
              </a:rPr>
              <a:t>i</a:t>
            </a:r>
            <a:r>
              <a:rPr lang="en-US" altLang="en-US" sz="2400" dirty="0"/>
              <a:t> from the one-way infinite tape. </a:t>
            </a:r>
          </a:p>
          <a:p>
            <a:r>
              <a:rPr lang="en-US" altLang="en-US" sz="2400" dirty="0"/>
              <a:t>Depending on its </a:t>
            </a:r>
            <a:r>
              <a:rPr lang="en-US" altLang="en-US" sz="2400" i="1" dirty="0"/>
              <a:t>current state</a:t>
            </a:r>
            <a:r>
              <a:rPr lang="en-US" altLang="en-US" sz="2400" dirty="0"/>
              <a:t> and the letter </a:t>
            </a:r>
            <a:r>
              <a:rPr lang="en-US" altLang="en-US" sz="2400" b="1" i="1" dirty="0">
                <a:latin typeface="Times New Roman" panose="02020603050405020304" pitchFamily="18" charset="0"/>
                <a:cs typeface="Times New Roman" panose="02020603050405020304" pitchFamily="18" charset="0"/>
              </a:rPr>
              <a:t>x</a:t>
            </a:r>
            <a:r>
              <a:rPr lang="en-US" altLang="en-US" sz="2400" b="1" i="1" baseline="-25000" dirty="0">
                <a:latin typeface="Times New Roman" panose="02020603050405020304" pitchFamily="18" charset="0"/>
                <a:cs typeface="Times New Roman" panose="02020603050405020304" pitchFamily="18" charset="0"/>
              </a:rPr>
              <a:t>i</a:t>
            </a:r>
            <a:r>
              <a:rPr lang="en-US" altLang="en-US" sz="2400" dirty="0"/>
              <a:t> being pointed by the head of the TM – </a:t>
            </a:r>
          </a:p>
          <a:p>
            <a:pPr lvl="1"/>
            <a:r>
              <a:rPr lang="en-US" altLang="en-US" sz="2200" b="1" i="1" dirty="0"/>
              <a:t>reads/writes</a:t>
            </a:r>
            <a:r>
              <a:rPr lang="en-US" altLang="en-US" sz="2200" dirty="0"/>
              <a:t> a letter from/on the tape, </a:t>
            </a:r>
          </a:p>
          <a:p>
            <a:pPr lvl="1"/>
            <a:r>
              <a:rPr lang="en-US" altLang="en-US" sz="2200" b="1" i="1" dirty="0"/>
              <a:t>moves</a:t>
            </a:r>
            <a:r>
              <a:rPr lang="en-US" altLang="en-US" sz="2200" dirty="0"/>
              <a:t> its read/write head left or right, and </a:t>
            </a:r>
          </a:p>
          <a:p>
            <a:pPr lvl="1"/>
            <a:r>
              <a:rPr lang="en-US" altLang="en-US" sz="2200" b="1" i="1" dirty="0"/>
              <a:t>jumps</a:t>
            </a:r>
            <a:r>
              <a:rPr lang="en-US" altLang="en-US" sz="2200" dirty="0"/>
              <a:t> to a new state.</a:t>
            </a:r>
          </a:p>
          <a:p>
            <a:endParaRPr lang="en-US" altLang="en-US" sz="2400" dirty="0"/>
          </a:p>
          <a:p>
            <a:endParaRPr lang="en-US" dirty="0"/>
          </a:p>
        </p:txBody>
      </p:sp>
    </p:spTree>
    <p:extLst>
      <p:ext uri="{BB962C8B-B14F-4D97-AF65-F5344CB8AC3E}">
        <p14:creationId xmlns:p14="http://schemas.microsoft.com/office/powerpoint/2010/main" val="14183864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C33AFB93-2D9F-49FB-A07D-5E8449965272}"/>
              </a:ext>
            </a:extLst>
          </p:cNvPr>
          <p:cNvSpPr>
            <a:spLocks noGrp="1"/>
          </p:cNvSpPr>
          <p:nvPr>
            <p:ph type="ftr" sz="quarter" idx="11"/>
          </p:nvPr>
        </p:nvSpPr>
        <p:spPr/>
        <p:txBody>
          <a:bodyPr/>
          <a:lstStyle/>
          <a:p>
            <a:r>
              <a:rPr lang="en-US"/>
              <a:t>CSC3113: Theory of Computation</a:t>
            </a:r>
          </a:p>
        </p:txBody>
      </p:sp>
      <p:sp>
        <p:nvSpPr>
          <p:cNvPr id="4" name="Text Placeholder 3">
            <a:extLst>
              <a:ext uri="{FF2B5EF4-FFF2-40B4-BE49-F238E27FC236}">
                <a16:creationId xmlns:a16="http://schemas.microsoft.com/office/drawing/2014/main" id="{6F7809EC-843A-40E3-942D-C5FD3E7E7977}"/>
              </a:ext>
            </a:extLst>
          </p:cNvPr>
          <p:cNvSpPr>
            <a:spLocks noGrp="1"/>
          </p:cNvSpPr>
          <p:nvPr>
            <p:ph type="body" sz="half" idx="2"/>
          </p:nvPr>
        </p:nvSpPr>
        <p:spPr/>
        <p:txBody>
          <a:bodyPr/>
          <a:lstStyle/>
          <a:p>
            <a:r>
              <a:rPr lang="en-US" dirty="0"/>
              <a:t>Turing Machine (TM)</a:t>
            </a:r>
          </a:p>
        </p:txBody>
      </p:sp>
      <p:sp>
        <p:nvSpPr>
          <p:cNvPr id="5" name="Title 4">
            <a:extLst>
              <a:ext uri="{FF2B5EF4-FFF2-40B4-BE49-F238E27FC236}">
                <a16:creationId xmlns:a16="http://schemas.microsoft.com/office/drawing/2014/main" id="{66BA3180-51F4-4B02-95F8-C0CA625958BC}"/>
              </a:ext>
            </a:extLst>
          </p:cNvPr>
          <p:cNvSpPr>
            <a:spLocks noGrp="1"/>
          </p:cNvSpPr>
          <p:nvPr>
            <p:ph type="title"/>
          </p:nvPr>
        </p:nvSpPr>
        <p:spPr/>
        <p:txBody>
          <a:bodyPr/>
          <a:lstStyle/>
          <a:p>
            <a:r>
              <a:rPr lang="en-US" dirty="0"/>
              <a:t>Input Convention</a:t>
            </a:r>
          </a:p>
        </p:txBody>
      </p:sp>
      <p:pic>
        <p:nvPicPr>
          <p:cNvPr id="8" name="Picture Placeholder 7" descr="A picture containing clock&#10;&#10;Description automatically generated">
            <a:extLst>
              <a:ext uri="{FF2B5EF4-FFF2-40B4-BE49-F238E27FC236}">
                <a16:creationId xmlns:a16="http://schemas.microsoft.com/office/drawing/2014/main" id="{A353B4F6-9E29-4ED9-8601-50A8468663DA}"/>
              </a:ext>
            </a:extLst>
          </p:cNvPr>
          <p:cNvPicPr>
            <a:picLocks noGrp="1"/>
          </p:cNvPicPr>
          <p:nvPr>
            <p:ph type="pic" sz="quarter" idx="13"/>
          </p:nvPr>
        </p:nvPicPr>
        <p:blipFill rotWithShape="1">
          <a:blip r:embed="rId2">
            <a:extLst>
              <a:ext uri="{28A0092B-C50C-407E-A947-70E740481C1C}">
                <a14:useLocalDpi xmlns:a14="http://schemas.microsoft.com/office/drawing/2010/main" val="0"/>
              </a:ext>
            </a:extLst>
          </a:blip>
          <a:stretch/>
        </p:blipFill>
        <p:spPr>
          <a:xfrm>
            <a:off x="3229826" y="192378"/>
            <a:ext cx="5895124" cy="2581302"/>
          </a:xfrm>
        </p:spPr>
      </p:pic>
      <p:sp>
        <p:nvSpPr>
          <p:cNvPr id="2" name="Content Placeholder 1">
            <a:extLst>
              <a:ext uri="{FF2B5EF4-FFF2-40B4-BE49-F238E27FC236}">
                <a16:creationId xmlns:a16="http://schemas.microsoft.com/office/drawing/2014/main" id="{CAFA0F87-B522-46AF-8AA0-6829D6C3F12C}"/>
              </a:ext>
            </a:extLst>
          </p:cNvPr>
          <p:cNvSpPr>
            <a:spLocks noGrp="1"/>
          </p:cNvSpPr>
          <p:nvPr>
            <p:ph sz="quarter" idx="14"/>
          </p:nvPr>
        </p:nvSpPr>
        <p:spPr/>
        <p:txBody>
          <a:bodyPr/>
          <a:lstStyle/>
          <a:p>
            <a:r>
              <a:rPr lang="en-US" altLang="en-US" sz="2400" dirty="0"/>
              <a:t>Initially, the tape contains the input </a:t>
            </a:r>
            <a:r>
              <a:rPr lang="en-US" altLang="en-US" sz="2400" b="1" dirty="0">
                <a:latin typeface="Times New Roman" panose="02020603050405020304" pitchFamily="18" charset="0"/>
                <a:cs typeface="Times New Roman" panose="02020603050405020304" pitchFamily="18" charset="0"/>
              </a:rPr>
              <a:t>w</a:t>
            </a:r>
            <a:r>
              <a:rPr lang="en-US" altLang="en-US" sz="2400" b="1" dirty="0">
                <a:latin typeface="Times New Roman" panose="02020603050405020304" pitchFamily="18" charset="0"/>
                <a:cs typeface="Times New Roman" panose="02020603050405020304" pitchFamily="18" charset="0"/>
                <a:sym typeface="Symbol" panose="05050102010706020507" pitchFamily="18" charset="2"/>
              </a:rPr>
              <a:t>*</a:t>
            </a:r>
            <a:r>
              <a:rPr lang="en-US" altLang="en-US" sz="2400" dirty="0">
                <a:sym typeface="Symbol" panose="05050102010706020507" pitchFamily="18" charset="2"/>
              </a:rPr>
              <a:t>, padded with blanks “</a:t>
            </a:r>
            <a:r>
              <a:rPr lang="en-US" altLang="en-US" sz="2400" b="1" dirty="0">
                <a:latin typeface="Times New Roman" panose="02020603050405020304" pitchFamily="18" charset="0"/>
                <a:cs typeface="Times New Roman" panose="02020603050405020304" pitchFamily="18" charset="0"/>
                <a:sym typeface="Symbol" panose="05050102010706020507" pitchFamily="18" charset="2"/>
              </a:rPr>
              <a:t>_</a:t>
            </a:r>
            <a:r>
              <a:rPr lang="en-US" altLang="en-US" sz="2400" dirty="0">
                <a:sym typeface="Symbol" panose="05050102010706020507" pitchFamily="18" charset="2"/>
              </a:rPr>
              <a:t>”, and the TM is in start state </a:t>
            </a:r>
            <a:r>
              <a:rPr lang="en-US" altLang="en-US" sz="2400" b="1" i="1" dirty="0">
                <a:latin typeface="Times New Roman" panose="02020603050405020304" pitchFamily="18" charset="0"/>
                <a:cs typeface="Times New Roman" panose="02020603050405020304" pitchFamily="18" charset="0"/>
                <a:sym typeface="Symbol" panose="05050102010706020507" pitchFamily="18" charset="2"/>
              </a:rPr>
              <a:t>q</a:t>
            </a:r>
            <a:r>
              <a:rPr lang="en-US" altLang="en-US" sz="2400" b="1" i="1" baseline="-25000" dirty="0">
                <a:latin typeface="Times New Roman" panose="02020603050405020304" pitchFamily="18" charset="0"/>
                <a:cs typeface="Times New Roman" panose="02020603050405020304" pitchFamily="18" charset="0"/>
                <a:sym typeface="Symbol" panose="05050102010706020507" pitchFamily="18" charset="2"/>
              </a:rPr>
              <a:t>0</a:t>
            </a:r>
            <a:r>
              <a:rPr lang="en-US" altLang="en-US" sz="2400" dirty="0">
                <a:sym typeface="Symbol" panose="05050102010706020507" pitchFamily="18" charset="2"/>
              </a:rPr>
              <a:t>.</a:t>
            </a:r>
          </a:p>
          <a:p>
            <a:r>
              <a:rPr lang="en-US" altLang="en-US" sz="2400" dirty="0"/>
              <a:t>During the computation – </a:t>
            </a:r>
          </a:p>
          <a:p>
            <a:pPr lvl="1"/>
            <a:r>
              <a:rPr lang="en-US" altLang="en-US" sz="2200" dirty="0"/>
              <a:t>the head moves left and right (but not beyond the leftmost point),</a:t>
            </a:r>
          </a:p>
          <a:p>
            <a:pPr lvl="1"/>
            <a:r>
              <a:rPr lang="en-US" altLang="en-US" sz="2200" dirty="0"/>
              <a:t>the internal state of the machine changes, and </a:t>
            </a:r>
          </a:p>
          <a:p>
            <a:pPr lvl="1"/>
            <a:r>
              <a:rPr lang="en-US" altLang="en-US" sz="2200" dirty="0"/>
              <a:t>the content of the tape is rewritten.</a:t>
            </a:r>
          </a:p>
          <a:p>
            <a:endParaRPr lang="en-US" altLang="en-US" sz="2400" dirty="0"/>
          </a:p>
          <a:p>
            <a:endParaRPr lang="en-US" dirty="0"/>
          </a:p>
        </p:txBody>
      </p:sp>
    </p:spTree>
    <p:extLst>
      <p:ext uri="{BB962C8B-B14F-4D97-AF65-F5344CB8AC3E}">
        <p14:creationId xmlns:p14="http://schemas.microsoft.com/office/powerpoint/2010/main" val="40109671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CD23D015-ADF1-4954-99F8-E0993536DFDA}"/>
              </a:ext>
            </a:extLst>
          </p:cNvPr>
          <p:cNvSpPr>
            <a:spLocks noGrp="1"/>
          </p:cNvSpPr>
          <p:nvPr>
            <p:ph type="ftr" sz="quarter" idx="11"/>
          </p:nvPr>
        </p:nvSpPr>
        <p:spPr/>
        <p:txBody>
          <a:bodyPr/>
          <a:lstStyle/>
          <a:p>
            <a:r>
              <a:rPr lang="en-US"/>
              <a:t>CSC3113: Theory of Computation</a:t>
            </a:r>
          </a:p>
        </p:txBody>
      </p:sp>
      <p:sp>
        <p:nvSpPr>
          <p:cNvPr id="3" name="Text Placeholder 2">
            <a:extLst>
              <a:ext uri="{FF2B5EF4-FFF2-40B4-BE49-F238E27FC236}">
                <a16:creationId xmlns:a16="http://schemas.microsoft.com/office/drawing/2014/main" id="{A4D15F57-C548-416E-A299-7957FD481C6B}"/>
              </a:ext>
            </a:extLst>
          </p:cNvPr>
          <p:cNvSpPr>
            <a:spLocks noGrp="1"/>
          </p:cNvSpPr>
          <p:nvPr>
            <p:ph type="body" sz="quarter" idx="12"/>
          </p:nvPr>
        </p:nvSpPr>
        <p:spPr/>
        <p:txBody>
          <a:bodyPr/>
          <a:lstStyle/>
          <a:p>
            <a:r>
              <a:rPr lang="en-US" dirty="0"/>
              <a:t>Input Convention: Simulation</a:t>
            </a:r>
          </a:p>
        </p:txBody>
      </p:sp>
      <p:sp>
        <p:nvSpPr>
          <p:cNvPr id="4" name="Rectangle 3">
            <a:extLst>
              <a:ext uri="{FF2B5EF4-FFF2-40B4-BE49-F238E27FC236}">
                <a16:creationId xmlns:a16="http://schemas.microsoft.com/office/drawing/2014/main" id="{9DDCC8E2-79FB-4333-A67F-51DD9C236CD0}"/>
              </a:ext>
            </a:extLst>
          </p:cNvPr>
          <p:cNvSpPr/>
          <p:nvPr/>
        </p:nvSpPr>
        <p:spPr>
          <a:xfrm>
            <a:off x="448893" y="2398834"/>
            <a:ext cx="2270760" cy="11734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b="1" cap="small" dirty="0"/>
              <a:t>Finite State Control</a:t>
            </a:r>
          </a:p>
        </p:txBody>
      </p:sp>
      <p:graphicFrame>
        <p:nvGraphicFramePr>
          <p:cNvPr id="11" name="Table 11">
            <a:extLst>
              <a:ext uri="{FF2B5EF4-FFF2-40B4-BE49-F238E27FC236}">
                <a16:creationId xmlns:a16="http://schemas.microsoft.com/office/drawing/2014/main" id="{409CCEAA-6074-44CB-B643-9345B8052AA5}"/>
              </a:ext>
            </a:extLst>
          </p:cNvPr>
          <p:cNvGraphicFramePr>
            <a:graphicFrameLocks noGrp="1"/>
          </p:cNvGraphicFramePr>
          <p:nvPr>
            <p:extLst>
              <p:ext uri="{D42A27DB-BD31-4B8C-83A1-F6EECF244321}">
                <p14:modId xmlns:p14="http://schemas.microsoft.com/office/powerpoint/2010/main" val="2013719232"/>
              </p:ext>
            </p:extLst>
          </p:nvPr>
        </p:nvGraphicFramePr>
        <p:xfrm>
          <a:off x="1371600" y="4846320"/>
          <a:ext cx="7532364" cy="693738"/>
        </p:xfrm>
        <a:graphic>
          <a:graphicData uri="http://schemas.openxmlformats.org/drawingml/2006/table">
            <a:tbl>
              <a:tblPr firstRow="1" bandRow="1">
                <a:tableStyleId>{5C22544A-7EE6-4342-B048-85BDC9FD1C3A}</a:tableStyleId>
              </a:tblPr>
              <a:tblGrid>
                <a:gridCol w="538026">
                  <a:extLst>
                    <a:ext uri="{9D8B030D-6E8A-4147-A177-3AD203B41FA5}">
                      <a16:colId xmlns:a16="http://schemas.microsoft.com/office/drawing/2014/main" val="656167980"/>
                    </a:ext>
                  </a:extLst>
                </a:gridCol>
                <a:gridCol w="538026">
                  <a:extLst>
                    <a:ext uri="{9D8B030D-6E8A-4147-A177-3AD203B41FA5}">
                      <a16:colId xmlns:a16="http://schemas.microsoft.com/office/drawing/2014/main" val="1166896341"/>
                    </a:ext>
                  </a:extLst>
                </a:gridCol>
                <a:gridCol w="538026">
                  <a:extLst>
                    <a:ext uri="{9D8B030D-6E8A-4147-A177-3AD203B41FA5}">
                      <a16:colId xmlns:a16="http://schemas.microsoft.com/office/drawing/2014/main" val="2191808045"/>
                    </a:ext>
                  </a:extLst>
                </a:gridCol>
                <a:gridCol w="538026">
                  <a:extLst>
                    <a:ext uri="{9D8B030D-6E8A-4147-A177-3AD203B41FA5}">
                      <a16:colId xmlns:a16="http://schemas.microsoft.com/office/drawing/2014/main" val="3064060756"/>
                    </a:ext>
                  </a:extLst>
                </a:gridCol>
                <a:gridCol w="538026">
                  <a:extLst>
                    <a:ext uri="{9D8B030D-6E8A-4147-A177-3AD203B41FA5}">
                      <a16:colId xmlns:a16="http://schemas.microsoft.com/office/drawing/2014/main" val="931426106"/>
                    </a:ext>
                  </a:extLst>
                </a:gridCol>
                <a:gridCol w="538026">
                  <a:extLst>
                    <a:ext uri="{9D8B030D-6E8A-4147-A177-3AD203B41FA5}">
                      <a16:colId xmlns:a16="http://schemas.microsoft.com/office/drawing/2014/main" val="1171837975"/>
                    </a:ext>
                  </a:extLst>
                </a:gridCol>
                <a:gridCol w="538026">
                  <a:extLst>
                    <a:ext uri="{9D8B030D-6E8A-4147-A177-3AD203B41FA5}">
                      <a16:colId xmlns:a16="http://schemas.microsoft.com/office/drawing/2014/main" val="3157633692"/>
                    </a:ext>
                  </a:extLst>
                </a:gridCol>
                <a:gridCol w="538026">
                  <a:extLst>
                    <a:ext uri="{9D8B030D-6E8A-4147-A177-3AD203B41FA5}">
                      <a16:colId xmlns:a16="http://schemas.microsoft.com/office/drawing/2014/main" val="3053072893"/>
                    </a:ext>
                  </a:extLst>
                </a:gridCol>
                <a:gridCol w="538026">
                  <a:extLst>
                    <a:ext uri="{9D8B030D-6E8A-4147-A177-3AD203B41FA5}">
                      <a16:colId xmlns:a16="http://schemas.microsoft.com/office/drawing/2014/main" val="198331635"/>
                    </a:ext>
                  </a:extLst>
                </a:gridCol>
                <a:gridCol w="538026">
                  <a:extLst>
                    <a:ext uri="{9D8B030D-6E8A-4147-A177-3AD203B41FA5}">
                      <a16:colId xmlns:a16="http://schemas.microsoft.com/office/drawing/2014/main" val="3703481428"/>
                    </a:ext>
                  </a:extLst>
                </a:gridCol>
                <a:gridCol w="538026">
                  <a:extLst>
                    <a:ext uri="{9D8B030D-6E8A-4147-A177-3AD203B41FA5}">
                      <a16:colId xmlns:a16="http://schemas.microsoft.com/office/drawing/2014/main" val="2854917948"/>
                    </a:ext>
                  </a:extLst>
                </a:gridCol>
                <a:gridCol w="538026">
                  <a:extLst>
                    <a:ext uri="{9D8B030D-6E8A-4147-A177-3AD203B41FA5}">
                      <a16:colId xmlns:a16="http://schemas.microsoft.com/office/drawing/2014/main" val="1579851274"/>
                    </a:ext>
                  </a:extLst>
                </a:gridCol>
                <a:gridCol w="538026">
                  <a:extLst>
                    <a:ext uri="{9D8B030D-6E8A-4147-A177-3AD203B41FA5}">
                      <a16:colId xmlns:a16="http://schemas.microsoft.com/office/drawing/2014/main" val="137418996"/>
                    </a:ext>
                  </a:extLst>
                </a:gridCol>
                <a:gridCol w="538026">
                  <a:extLst>
                    <a:ext uri="{9D8B030D-6E8A-4147-A177-3AD203B41FA5}">
                      <a16:colId xmlns:a16="http://schemas.microsoft.com/office/drawing/2014/main" val="3083068161"/>
                    </a:ext>
                  </a:extLst>
                </a:gridCol>
              </a:tblGrid>
              <a:tr h="693738">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7154071"/>
                  </a:ext>
                </a:extLst>
              </a:tr>
            </a:tbl>
          </a:graphicData>
        </a:graphic>
      </p:graphicFrame>
      <p:cxnSp>
        <p:nvCxnSpPr>
          <p:cNvPr id="15" name="Straight Arrow Connector 14">
            <a:extLst>
              <a:ext uri="{FF2B5EF4-FFF2-40B4-BE49-F238E27FC236}">
                <a16:creationId xmlns:a16="http://schemas.microsoft.com/office/drawing/2014/main" id="{273F25CC-E0B6-4AE8-A138-D33857C80E1F}"/>
              </a:ext>
            </a:extLst>
          </p:cNvPr>
          <p:cNvCxnSpPr>
            <a:stCxn id="4" idx="2"/>
          </p:cNvCxnSpPr>
          <p:nvPr/>
        </p:nvCxnSpPr>
        <p:spPr>
          <a:xfrm>
            <a:off x="1584273" y="3572314"/>
            <a:ext cx="0" cy="129654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sp>
        <p:nvSpPr>
          <p:cNvPr id="22" name="TextBox 21">
            <a:extLst>
              <a:ext uri="{FF2B5EF4-FFF2-40B4-BE49-F238E27FC236}">
                <a16:creationId xmlns:a16="http://schemas.microsoft.com/office/drawing/2014/main" id="{58FC1E00-AD74-461F-96D8-471EF2E89479}"/>
              </a:ext>
            </a:extLst>
          </p:cNvPr>
          <p:cNvSpPr txBox="1"/>
          <p:nvPr/>
        </p:nvSpPr>
        <p:spPr>
          <a:xfrm>
            <a:off x="6979921" y="5715000"/>
            <a:ext cx="1893562" cy="461665"/>
          </a:xfrm>
          <a:prstGeom prst="rect">
            <a:avLst/>
          </a:prstGeom>
          <a:noFill/>
        </p:spPr>
        <p:txBody>
          <a:bodyPr wrap="square" rtlCol="0">
            <a:spAutoFit/>
          </a:bodyPr>
          <a:lstStyle/>
          <a:p>
            <a:pPr algn="r"/>
            <a:r>
              <a:rPr lang="en-US" sz="2400" b="1" dirty="0"/>
              <a:t>Infinite Tape</a:t>
            </a:r>
          </a:p>
        </p:txBody>
      </p:sp>
      <p:sp>
        <p:nvSpPr>
          <p:cNvPr id="24" name="TextBox 23">
            <a:extLst>
              <a:ext uri="{FF2B5EF4-FFF2-40B4-BE49-F238E27FC236}">
                <a16:creationId xmlns:a16="http://schemas.microsoft.com/office/drawing/2014/main" id="{4D3C46A0-40B1-44FE-842C-6C81195DFE41}"/>
              </a:ext>
            </a:extLst>
          </p:cNvPr>
          <p:cNvSpPr txBox="1"/>
          <p:nvPr/>
        </p:nvSpPr>
        <p:spPr>
          <a:xfrm>
            <a:off x="394338" y="4051290"/>
            <a:ext cx="1189927" cy="461665"/>
          </a:xfrm>
          <a:prstGeom prst="rect">
            <a:avLst/>
          </a:prstGeom>
          <a:noFill/>
        </p:spPr>
        <p:txBody>
          <a:bodyPr wrap="square" rtlCol="0">
            <a:spAutoFit/>
          </a:bodyPr>
          <a:lstStyle/>
          <a:p>
            <a:pPr algn="r"/>
            <a:r>
              <a:rPr lang="en-US" sz="2400" b="1" dirty="0"/>
              <a:t>Head</a:t>
            </a:r>
          </a:p>
        </p:txBody>
      </p:sp>
      <p:graphicFrame>
        <p:nvGraphicFramePr>
          <p:cNvPr id="25" name="Table 11">
            <a:extLst>
              <a:ext uri="{FF2B5EF4-FFF2-40B4-BE49-F238E27FC236}">
                <a16:creationId xmlns:a16="http://schemas.microsoft.com/office/drawing/2014/main" id="{A5EF1F48-85EA-4559-823F-2F926C674A1F}"/>
              </a:ext>
            </a:extLst>
          </p:cNvPr>
          <p:cNvGraphicFramePr>
            <a:graphicFrameLocks noGrp="1"/>
          </p:cNvGraphicFramePr>
          <p:nvPr>
            <p:extLst>
              <p:ext uri="{D42A27DB-BD31-4B8C-83A1-F6EECF244321}">
                <p14:modId xmlns:p14="http://schemas.microsoft.com/office/powerpoint/2010/main" val="3704494836"/>
              </p:ext>
            </p:extLst>
          </p:nvPr>
        </p:nvGraphicFramePr>
        <p:xfrm>
          <a:off x="1371600" y="4846320"/>
          <a:ext cx="7532364" cy="693738"/>
        </p:xfrm>
        <a:graphic>
          <a:graphicData uri="http://schemas.openxmlformats.org/drawingml/2006/table">
            <a:tbl>
              <a:tblPr firstRow="1" bandRow="1">
                <a:tableStyleId>{5C22544A-7EE6-4342-B048-85BDC9FD1C3A}</a:tableStyleId>
              </a:tblPr>
              <a:tblGrid>
                <a:gridCol w="538026">
                  <a:extLst>
                    <a:ext uri="{9D8B030D-6E8A-4147-A177-3AD203B41FA5}">
                      <a16:colId xmlns:a16="http://schemas.microsoft.com/office/drawing/2014/main" val="656167980"/>
                    </a:ext>
                  </a:extLst>
                </a:gridCol>
                <a:gridCol w="538026">
                  <a:extLst>
                    <a:ext uri="{9D8B030D-6E8A-4147-A177-3AD203B41FA5}">
                      <a16:colId xmlns:a16="http://schemas.microsoft.com/office/drawing/2014/main" val="1166896341"/>
                    </a:ext>
                  </a:extLst>
                </a:gridCol>
                <a:gridCol w="538026">
                  <a:extLst>
                    <a:ext uri="{9D8B030D-6E8A-4147-A177-3AD203B41FA5}">
                      <a16:colId xmlns:a16="http://schemas.microsoft.com/office/drawing/2014/main" val="2191808045"/>
                    </a:ext>
                  </a:extLst>
                </a:gridCol>
                <a:gridCol w="538026">
                  <a:extLst>
                    <a:ext uri="{9D8B030D-6E8A-4147-A177-3AD203B41FA5}">
                      <a16:colId xmlns:a16="http://schemas.microsoft.com/office/drawing/2014/main" val="3064060756"/>
                    </a:ext>
                  </a:extLst>
                </a:gridCol>
                <a:gridCol w="538026">
                  <a:extLst>
                    <a:ext uri="{9D8B030D-6E8A-4147-A177-3AD203B41FA5}">
                      <a16:colId xmlns:a16="http://schemas.microsoft.com/office/drawing/2014/main" val="931426106"/>
                    </a:ext>
                  </a:extLst>
                </a:gridCol>
                <a:gridCol w="538026">
                  <a:extLst>
                    <a:ext uri="{9D8B030D-6E8A-4147-A177-3AD203B41FA5}">
                      <a16:colId xmlns:a16="http://schemas.microsoft.com/office/drawing/2014/main" val="1171837975"/>
                    </a:ext>
                  </a:extLst>
                </a:gridCol>
                <a:gridCol w="538026">
                  <a:extLst>
                    <a:ext uri="{9D8B030D-6E8A-4147-A177-3AD203B41FA5}">
                      <a16:colId xmlns:a16="http://schemas.microsoft.com/office/drawing/2014/main" val="3157633692"/>
                    </a:ext>
                  </a:extLst>
                </a:gridCol>
                <a:gridCol w="538026">
                  <a:extLst>
                    <a:ext uri="{9D8B030D-6E8A-4147-A177-3AD203B41FA5}">
                      <a16:colId xmlns:a16="http://schemas.microsoft.com/office/drawing/2014/main" val="3053072893"/>
                    </a:ext>
                  </a:extLst>
                </a:gridCol>
                <a:gridCol w="538026">
                  <a:extLst>
                    <a:ext uri="{9D8B030D-6E8A-4147-A177-3AD203B41FA5}">
                      <a16:colId xmlns:a16="http://schemas.microsoft.com/office/drawing/2014/main" val="198331635"/>
                    </a:ext>
                  </a:extLst>
                </a:gridCol>
                <a:gridCol w="538026">
                  <a:extLst>
                    <a:ext uri="{9D8B030D-6E8A-4147-A177-3AD203B41FA5}">
                      <a16:colId xmlns:a16="http://schemas.microsoft.com/office/drawing/2014/main" val="3703481428"/>
                    </a:ext>
                  </a:extLst>
                </a:gridCol>
                <a:gridCol w="538026">
                  <a:extLst>
                    <a:ext uri="{9D8B030D-6E8A-4147-A177-3AD203B41FA5}">
                      <a16:colId xmlns:a16="http://schemas.microsoft.com/office/drawing/2014/main" val="2854917948"/>
                    </a:ext>
                  </a:extLst>
                </a:gridCol>
                <a:gridCol w="538026">
                  <a:extLst>
                    <a:ext uri="{9D8B030D-6E8A-4147-A177-3AD203B41FA5}">
                      <a16:colId xmlns:a16="http://schemas.microsoft.com/office/drawing/2014/main" val="1579851274"/>
                    </a:ext>
                  </a:extLst>
                </a:gridCol>
                <a:gridCol w="538026">
                  <a:extLst>
                    <a:ext uri="{9D8B030D-6E8A-4147-A177-3AD203B41FA5}">
                      <a16:colId xmlns:a16="http://schemas.microsoft.com/office/drawing/2014/main" val="137418996"/>
                    </a:ext>
                  </a:extLst>
                </a:gridCol>
                <a:gridCol w="538026">
                  <a:extLst>
                    <a:ext uri="{9D8B030D-6E8A-4147-A177-3AD203B41FA5}">
                      <a16:colId xmlns:a16="http://schemas.microsoft.com/office/drawing/2014/main" val="3083068161"/>
                    </a:ext>
                  </a:extLst>
                </a:gridCol>
              </a:tblGrid>
              <a:tr h="693738">
                <a:tc>
                  <a:txBody>
                    <a:bodyPr/>
                    <a:lstStyle/>
                    <a:p>
                      <a:pPr algn="ctr"/>
                      <a:r>
                        <a:rPr lang="en-US" sz="3200" dirty="0">
                          <a:solidFill>
                            <a:schemeClr val="tx1"/>
                          </a:solidFill>
                        </a:rPr>
                        <a:t>I</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7154071"/>
                  </a:ext>
                </a:extLst>
              </a:tr>
            </a:tbl>
          </a:graphicData>
        </a:graphic>
      </p:graphicFrame>
      <p:grpSp>
        <p:nvGrpSpPr>
          <p:cNvPr id="32" name="Group 31">
            <a:extLst>
              <a:ext uri="{FF2B5EF4-FFF2-40B4-BE49-F238E27FC236}">
                <a16:creationId xmlns:a16="http://schemas.microsoft.com/office/drawing/2014/main" id="{95A15631-E9AA-48AA-9CB9-8797F941F074}"/>
              </a:ext>
            </a:extLst>
          </p:cNvPr>
          <p:cNvGrpSpPr/>
          <p:nvPr/>
        </p:nvGrpSpPr>
        <p:grpSpPr>
          <a:xfrm>
            <a:off x="448889" y="2398834"/>
            <a:ext cx="2270760" cy="2470028"/>
            <a:chOff x="1942413" y="1102286"/>
            <a:chExt cx="2270760" cy="2470028"/>
          </a:xfrm>
        </p:grpSpPr>
        <p:sp>
          <p:nvSpPr>
            <p:cNvPr id="26" name="Rectangle 25">
              <a:extLst>
                <a:ext uri="{FF2B5EF4-FFF2-40B4-BE49-F238E27FC236}">
                  <a16:creationId xmlns:a16="http://schemas.microsoft.com/office/drawing/2014/main" id="{85410727-4080-453A-B89B-5980A5DF4FA7}"/>
                </a:ext>
              </a:extLst>
            </p:cNvPr>
            <p:cNvSpPr/>
            <p:nvPr/>
          </p:nvSpPr>
          <p:spPr>
            <a:xfrm>
              <a:off x="1942413" y="1102286"/>
              <a:ext cx="2270760" cy="11734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q</a:t>
              </a:r>
              <a:r>
                <a:rPr lang="en-US" sz="3600" b="1" baseline="-25000" dirty="0"/>
                <a:t>0</a:t>
              </a:r>
            </a:p>
          </p:txBody>
        </p:sp>
        <p:cxnSp>
          <p:nvCxnSpPr>
            <p:cNvPr id="27" name="Straight Arrow Connector 26">
              <a:extLst>
                <a:ext uri="{FF2B5EF4-FFF2-40B4-BE49-F238E27FC236}">
                  <a16:creationId xmlns:a16="http://schemas.microsoft.com/office/drawing/2014/main" id="{F244384C-F0F2-48FF-958B-AA67E436010E}"/>
                </a:ext>
              </a:extLst>
            </p:cNvPr>
            <p:cNvCxnSpPr>
              <a:stCxn id="26" idx="2"/>
            </p:cNvCxnSpPr>
            <p:nvPr/>
          </p:nvCxnSpPr>
          <p:spPr>
            <a:xfrm>
              <a:off x="3077793" y="2275766"/>
              <a:ext cx="0" cy="129654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
        <p:nvSpPr>
          <p:cNvPr id="28" name="TextBox 27">
            <a:extLst>
              <a:ext uri="{FF2B5EF4-FFF2-40B4-BE49-F238E27FC236}">
                <a16:creationId xmlns:a16="http://schemas.microsoft.com/office/drawing/2014/main" id="{A63E2F35-76DA-494E-B391-C1B17D4C2E57}"/>
              </a:ext>
            </a:extLst>
          </p:cNvPr>
          <p:cNvSpPr txBox="1"/>
          <p:nvPr/>
        </p:nvSpPr>
        <p:spPr>
          <a:xfrm>
            <a:off x="5486400" y="918322"/>
            <a:ext cx="3093716" cy="461665"/>
          </a:xfrm>
          <a:prstGeom prst="rect">
            <a:avLst/>
          </a:prstGeom>
          <a:noFill/>
        </p:spPr>
        <p:txBody>
          <a:bodyPr wrap="square" rtlCol="0">
            <a:spAutoFit/>
          </a:bodyPr>
          <a:lstStyle/>
          <a:p>
            <a:r>
              <a:rPr lang="en-US" sz="2400" b="1" dirty="0"/>
              <a:t>Instruction:</a:t>
            </a:r>
          </a:p>
        </p:txBody>
      </p:sp>
      <p:sp>
        <p:nvSpPr>
          <p:cNvPr id="30" name="TextBox 29">
            <a:extLst>
              <a:ext uri="{FF2B5EF4-FFF2-40B4-BE49-F238E27FC236}">
                <a16:creationId xmlns:a16="http://schemas.microsoft.com/office/drawing/2014/main" id="{76CBEB31-E7D9-4F9F-B522-7D6E147A56E3}"/>
              </a:ext>
            </a:extLst>
          </p:cNvPr>
          <p:cNvSpPr txBox="1"/>
          <p:nvPr/>
        </p:nvSpPr>
        <p:spPr>
          <a:xfrm>
            <a:off x="5486400" y="1371600"/>
            <a:ext cx="3093716" cy="461665"/>
          </a:xfrm>
          <a:prstGeom prst="rect">
            <a:avLst/>
          </a:prstGeom>
          <a:noFill/>
        </p:spPr>
        <p:txBody>
          <a:bodyPr wrap="square" rtlCol="0">
            <a:spAutoFit/>
          </a:bodyPr>
          <a:lstStyle/>
          <a:p>
            <a:r>
              <a:rPr lang="en-US" sz="2400" b="1" dirty="0"/>
              <a:t>Write A, Move right</a:t>
            </a:r>
          </a:p>
        </p:txBody>
      </p:sp>
      <p:graphicFrame>
        <p:nvGraphicFramePr>
          <p:cNvPr id="31" name="Table 11">
            <a:extLst>
              <a:ext uri="{FF2B5EF4-FFF2-40B4-BE49-F238E27FC236}">
                <a16:creationId xmlns:a16="http://schemas.microsoft.com/office/drawing/2014/main" id="{10DDF259-4F50-49E0-8E61-47C5752CE187}"/>
              </a:ext>
            </a:extLst>
          </p:cNvPr>
          <p:cNvGraphicFramePr>
            <a:graphicFrameLocks noGrp="1"/>
          </p:cNvGraphicFramePr>
          <p:nvPr>
            <p:extLst>
              <p:ext uri="{D42A27DB-BD31-4B8C-83A1-F6EECF244321}">
                <p14:modId xmlns:p14="http://schemas.microsoft.com/office/powerpoint/2010/main" val="332890836"/>
              </p:ext>
            </p:extLst>
          </p:nvPr>
        </p:nvGraphicFramePr>
        <p:xfrm>
          <a:off x="1371600" y="4846320"/>
          <a:ext cx="7532364" cy="693738"/>
        </p:xfrm>
        <a:graphic>
          <a:graphicData uri="http://schemas.openxmlformats.org/drawingml/2006/table">
            <a:tbl>
              <a:tblPr firstRow="1" bandRow="1">
                <a:tableStyleId>{5C22544A-7EE6-4342-B048-85BDC9FD1C3A}</a:tableStyleId>
              </a:tblPr>
              <a:tblGrid>
                <a:gridCol w="538026">
                  <a:extLst>
                    <a:ext uri="{9D8B030D-6E8A-4147-A177-3AD203B41FA5}">
                      <a16:colId xmlns:a16="http://schemas.microsoft.com/office/drawing/2014/main" val="656167980"/>
                    </a:ext>
                  </a:extLst>
                </a:gridCol>
                <a:gridCol w="538026">
                  <a:extLst>
                    <a:ext uri="{9D8B030D-6E8A-4147-A177-3AD203B41FA5}">
                      <a16:colId xmlns:a16="http://schemas.microsoft.com/office/drawing/2014/main" val="1166896341"/>
                    </a:ext>
                  </a:extLst>
                </a:gridCol>
                <a:gridCol w="538026">
                  <a:extLst>
                    <a:ext uri="{9D8B030D-6E8A-4147-A177-3AD203B41FA5}">
                      <a16:colId xmlns:a16="http://schemas.microsoft.com/office/drawing/2014/main" val="2191808045"/>
                    </a:ext>
                  </a:extLst>
                </a:gridCol>
                <a:gridCol w="538026">
                  <a:extLst>
                    <a:ext uri="{9D8B030D-6E8A-4147-A177-3AD203B41FA5}">
                      <a16:colId xmlns:a16="http://schemas.microsoft.com/office/drawing/2014/main" val="3064060756"/>
                    </a:ext>
                  </a:extLst>
                </a:gridCol>
                <a:gridCol w="538026">
                  <a:extLst>
                    <a:ext uri="{9D8B030D-6E8A-4147-A177-3AD203B41FA5}">
                      <a16:colId xmlns:a16="http://schemas.microsoft.com/office/drawing/2014/main" val="931426106"/>
                    </a:ext>
                  </a:extLst>
                </a:gridCol>
                <a:gridCol w="538026">
                  <a:extLst>
                    <a:ext uri="{9D8B030D-6E8A-4147-A177-3AD203B41FA5}">
                      <a16:colId xmlns:a16="http://schemas.microsoft.com/office/drawing/2014/main" val="1171837975"/>
                    </a:ext>
                  </a:extLst>
                </a:gridCol>
                <a:gridCol w="538026">
                  <a:extLst>
                    <a:ext uri="{9D8B030D-6E8A-4147-A177-3AD203B41FA5}">
                      <a16:colId xmlns:a16="http://schemas.microsoft.com/office/drawing/2014/main" val="3157633692"/>
                    </a:ext>
                  </a:extLst>
                </a:gridCol>
                <a:gridCol w="538026">
                  <a:extLst>
                    <a:ext uri="{9D8B030D-6E8A-4147-A177-3AD203B41FA5}">
                      <a16:colId xmlns:a16="http://schemas.microsoft.com/office/drawing/2014/main" val="3053072893"/>
                    </a:ext>
                  </a:extLst>
                </a:gridCol>
                <a:gridCol w="538026">
                  <a:extLst>
                    <a:ext uri="{9D8B030D-6E8A-4147-A177-3AD203B41FA5}">
                      <a16:colId xmlns:a16="http://schemas.microsoft.com/office/drawing/2014/main" val="198331635"/>
                    </a:ext>
                  </a:extLst>
                </a:gridCol>
                <a:gridCol w="538026">
                  <a:extLst>
                    <a:ext uri="{9D8B030D-6E8A-4147-A177-3AD203B41FA5}">
                      <a16:colId xmlns:a16="http://schemas.microsoft.com/office/drawing/2014/main" val="3703481428"/>
                    </a:ext>
                  </a:extLst>
                </a:gridCol>
                <a:gridCol w="538026">
                  <a:extLst>
                    <a:ext uri="{9D8B030D-6E8A-4147-A177-3AD203B41FA5}">
                      <a16:colId xmlns:a16="http://schemas.microsoft.com/office/drawing/2014/main" val="2854917948"/>
                    </a:ext>
                  </a:extLst>
                </a:gridCol>
                <a:gridCol w="538026">
                  <a:extLst>
                    <a:ext uri="{9D8B030D-6E8A-4147-A177-3AD203B41FA5}">
                      <a16:colId xmlns:a16="http://schemas.microsoft.com/office/drawing/2014/main" val="1579851274"/>
                    </a:ext>
                  </a:extLst>
                </a:gridCol>
                <a:gridCol w="538026">
                  <a:extLst>
                    <a:ext uri="{9D8B030D-6E8A-4147-A177-3AD203B41FA5}">
                      <a16:colId xmlns:a16="http://schemas.microsoft.com/office/drawing/2014/main" val="137418996"/>
                    </a:ext>
                  </a:extLst>
                </a:gridCol>
                <a:gridCol w="538026">
                  <a:extLst>
                    <a:ext uri="{9D8B030D-6E8A-4147-A177-3AD203B41FA5}">
                      <a16:colId xmlns:a16="http://schemas.microsoft.com/office/drawing/2014/main" val="3083068161"/>
                    </a:ext>
                  </a:extLst>
                </a:gridCol>
              </a:tblGrid>
              <a:tr h="693738">
                <a:tc>
                  <a:txBody>
                    <a:bodyPr/>
                    <a:lstStyle/>
                    <a:p>
                      <a:pPr algn="ctr"/>
                      <a:r>
                        <a:rPr lang="en-US" sz="3200" dirty="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P</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7154071"/>
                  </a:ext>
                </a:extLst>
              </a:tr>
            </a:tbl>
          </a:graphicData>
        </a:graphic>
      </p:graphicFrame>
      <p:sp>
        <p:nvSpPr>
          <p:cNvPr id="33" name="TextBox 32">
            <a:extLst>
              <a:ext uri="{FF2B5EF4-FFF2-40B4-BE49-F238E27FC236}">
                <a16:creationId xmlns:a16="http://schemas.microsoft.com/office/drawing/2014/main" id="{50D9C584-B8D6-439D-B669-50D44BB639DA}"/>
              </a:ext>
            </a:extLst>
          </p:cNvPr>
          <p:cNvSpPr txBox="1"/>
          <p:nvPr/>
        </p:nvSpPr>
        <p:spPr>
          <a:xfrm>
            <a:off x="5486400" y="1371600"/>
            <a:ext cx="3093716" cy="461665"/>
          </a:xfrm>
          <a:prstGeom prst="rect">
            <a:avLst/>
          </a:prstGeom>
          <a:noFill/>
        </p:spPr>
        <p:txBody>
          <a:bodyPr wrap="square" rtlCol="0">
            <a:spAutoFit/>
          </a:bodyPr>
          <a:lstStyle/>
          <a:p>
            <a:r>
              <a:rPr lang="en-US" sz="2400" b="1" dirty="0"/>
              <a:t>Read N, Move right</a:t>
            </a:r>
          </a:p>
        </p:txBody>
      </p:sp>
      <p:grpSp>
        <p:nvGrpSpPr>
          <p:cNvPr id="34" name="Group 33">
            <a:extLst>
              <a:ext uri="{FF2B5EF4-FFF2-40B4-BE49-F238E27FC236}">
                <a16:creationId xmlns:a16="http://schemas.microsoft.com/office/drawing/2014/main" id="{9F352C15-EC14-49E2-9D73-03EEA898D6E2}"/>
              </a:ext>
            </a:extLst>
          </p:cNvPr>
          <p:cNvGrpSpPr/>
          <p:nvPr/>
        </p:nvGrpSpPr>
        <p:grpSpPr>
          <a:xfrm>
            <a:off x="1089320" y="2391532"/>
            <a:ext cx="2270760" cy="2470028"/>
            <a:chOff x="1942413" y="1102286"/>
            <a:chExt cx="2270760" cy="2470028"/>
          </a:xfrm>
        </p:grpSpPr>
        <p:sp>
          <p:nvSpPr>
            <p:cNvPr id="35" name="Rectangle 34">
              <a:extLst>
                <a:ext uri="{FF2B5EF4-FFF2-40B4-BE49-F238E27FC236}">
                  <a16:creationId xmlns:a16="http://schemas.microsoft.com/office/drawing/2014/main" id="{EF8700E4-27E4-4833-B41F-F86AB497213A}"/>
                </a:ext>
              </a:extLst>
            </p:cNvPr>
            <p:cNvSpPr/>
            <p:nvPr/>
          </p:nvSpPr>
          <p:spPr>
            <a:xfrm>
              <a:off x="1942413" y="1102286"/>
              <a:ext cx="2270760" cy="11734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q</a:t>
              </a:r>
              <a:r>
                <a:rPr lang="en-US" sz="3600" b="1" baseline="-25000" dirty="0"/>
                <a:t>1</a:t>
              </a:r>
            </a:p>
          </p:txBody>
        </p:sp>
        <p:cxnSp>
          <p:nvCxnSpPr>
            <p:cNvPr id="36" name="Straight Arrow Connector 35">
              <a:extLst>
                <a:ext uri="{FF2B5EF4-FFF2-40B4-BE49-F238E27FC236}">
                  <a16:creationId xmlns:a16="http://schemas.microsoft.com/office/drawing/2014/main" id="{C396ED95-3513-4B08-AF69-C449A21A9534}"/>
                </a:ext>
              </a:extLst>
            </p:cNvPr>
            <p:cNvCxnSpPr>
              <a:stCxn id="35" idx="2"/>
            </p:cNvCxnSpPr>
            <p:nvPr/>
          </p:nvCxnSpPr>
          <p:spPr>
            <a:xfrm>
              <a:off x="3077793" y="2275766"/>
              <a:ext cx="0" cy="129654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grpSp>
        <p:nvGrpSpPr>
          <p:cNvPr id="37" name="Group 36">
            <a:extLst>
              <a:ext uri="{FF2B5EF4-FFF2-40B4-BE49-F238E27FC236}">
                <a16:creationId xmlns:a16="http://schemas.microsoft.com/office/drawing/2014/main" id="{0B4835A1-2D9F-4F35-BD06-34E397D40FAF}"/>
              </a:ext>
            </a:extLst>
          </p:cNvPr>
          <p:cNvGrpSpPr/>
          <p:nvPr/>
        </p:nvGrpSpPr>
        <p:grpSpPr>
          <a:xfrm>
            <a:off x="1735287" y="2391532"/>
            <a:ext cx="2270760" cy="2470028"/>
            <a:chOff x="1942413" y="1102286"/>
            <a:chExt cx="2270760" cy="2470028"/>
          </a:xfrm>
        </p:grpSpPr>
        <p:sp>
          <p:nvSpPr>
            <p:cNvPr id="38" name="Rectangle 37">
              <a:extLst>
                <a:ext uri="{FF2B5EF4-FFF2-40B4-BE49-F238E27FC236}">
                  <a16:creationId xmlns:a16="http://schemas.microsoft.com/office/drawing/2014/main" id="{6CC586B4-C44A-45B1-AF68-B7514CDE8858}"/>
                </a:ext>
              </a:extLst>
            </p:cNvPr>
            <p:cNvSpPr/>
            <p:nvPr/>
          </p:nvSpPr>
          <p:spPr>
            <a:xfrm>
              <a:off x="1942413" y="1102286"/>
              <a:ext cx="2270760" cy="11734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q</a:t>
              </a:r>
              <a:r>
                <a:rPr lang="en-US" sz="3600" b="1" baseline="-25000" dirty="0"/>
                <a:t>2</a:t>
              </a:r>
            </a:p>
          </p:txBody>
        </p:sp>
        <p:cxnSp>
          <p:nvCxnSpPr>
            <p:cNvPr id="39" name="Straight Arrow Connector 38">
              <a:extLst>
                <a:ext uri="{FF2B5EF4-FFF2-40B4-BE49-F238E27FC236}">
                  <a16:creationId xmlns:a16="http://schemas.microsoft.com/office/drawing/2014/main" id="{F6C107D2-D47E-48CB-AA32-A9544717F48C}"/>
                </a:ext>
              </a:extLst>
            </p:cNvPr>
            <p:cNvCxnSpPr>
              <a:stCxn id="38" idx="2"/>
            </p:cNvCxnSpPr>
            <p:nvPr/>
          </p:nvCxnSpPr>
          <p:spPr>
            <a:xfrm>
              <a:off x="3077793" y="2275766"/>
              <a:ext cx="0" cy="129654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
        <p:nvSpPr>
          <p:cNvPr id="40" name="TextBox 39">
            <a:extLst>
              <a:ext uri="{FF2B5EF4-FFF2-40B4-BE49-F238E27FC236}">
                <a16:creationId xmlns:a16="http://schemas.microsoft.com/office/drawing/2014/main" id="{D71261A0-935D-4BCB-87B8-2D42337100AD}"/>
              </a:ext>
            </a:extLst>
          </p:cNvPr>
          <p:cNvSpPr txBox="1"/>
          <p:nvPr/>
        </p:nvSpPr>
        <p:spPr>
          <a:xfrm>
            <a:off x="5486400" y="1371600"/>
            <a:ext cx="3093716" cy="461665"/>
          </a:xfrm>
          <a:prstGeom prst="rect">
            <a:avLst/>
          </a:prstGeom>
          <a:noFill/>
        </p:spPr>
        <p:txBody>
          <a:bodyPr wrap="square" rtlCol="0">
            <a:spAutoFit/>
          </a:bodyPr>
          <a:lstStyle/>
          <a:p>
            <a:r>
              <a:rPr lang="en-US" sz="2400" b="1" dirty="0"/>
              <a:t>Write N, Move left</a:t>
            </a:r>
          </a:p>
        </p:txBody>
      </p:sp>
      <p:graphicFrame>
        <p:nvGraphicFramePr>
          <p:cNvPr id="41" name="Table 11">
            <a:extLst>
              <a:ext uri="{FF2B5EF4-FFF2-40B4-BE49-F238E27FC236}">
                <a16:creationId xmlns:a16="http://schemas.microsoft.com/office/drawing/2014/main" id="{3A8CA563-A16A-4BE9-962E-B2BD76DCB745}"/>
              </a:ext>
            </a:extLst>
          </p:cNvPr>
          <p:cNvGraphicFramePr>
            <a:graphicFrameLocks noGrp="1"/>
          </p:cNvGraphicFramePr>
          <p:nvPr>
            <p:extLst>
              <p:ext uri="{D42A27DB-BD31-4B8C-83A1-F6EECF244321}">
                <p14:modId xmlns:p14="http://schemas.microsoft.com/office/powerpoint/2010/main" val="3240747236"/>
              </p:ext>
            </p:extLst>
          </p:nvPr>
        </p:nvGraphicFramePr>
        <p:xfrm>
          <a:off x="1371600" y="4846320"/>
          <a:ext cx="7532364" cy="693738"/>
        </p:xfrm>
        <a:graphic>
          <a:graphicData uri="http://schemas.openxmlformats.org/drawingml/2006/table">
            <a:tbl>
              <a:tblPr firstRow="1" bandRow="1">
                <a:tableStyleId>{5C22544A-7EE6-4342-B048-85BDC9FD1C3A}</a:tableStyleId>
              </a:tblPr>
              <a:tblGrid>
                <a:gridCol w="538026">
                  <a:extLst>
                    <a:ext uri="{9D8B030D-6E8A-4147-A177-3AD203B41FA5}">
                      <a16:colId xmlns:a16="http://schemas.microsoft.com/office/drawing/2014/main" val="656167980"/>
                    </a:ext>
                  </a:extLst>
                </a:gridCol>
                <a:gridCol w="538026">
                  <a:extLst>
                    <a:ext uri="{9D8B030D-6E8A-4147-A177-3AD203B41FA5}">
                      <a16:colId xmlns:a16="http://schemas.microsoft.com/office/drawing/2014/main" val="1166896341"/>
                    </a:ext>
                  </a:extLst>
                </a:gridCol>
                <a:gridCol w="538026">
                  <a:extLst>
                    <a:ext uri="{9D8B030D-6E8A-4147-A177-3AD203B41FA5}">
                      <a16:colId xmlns:a16="http://schemas.microsoft.com/office/drawing/2014/main" val="2191808045"/>
                    </a:ext>
                  </a:extLst>
                </a:gridCol>
                <a:gridCol w="538026">
                  <a:extLst>
                    <a:ext uri="{9D8B030D-6E8A-4147-A177-3AD203B41FA5}">
                      <a16:colId xmlns:a16="http://schemas.microsoft.com/office/drawing/2014/main" val="3064060756"/>
                    </a:ext>
                  </a:extLst>
                </a:gridCol>
                <a:gridCol w="538026">
                  <a:extLst>
                    <a:ext uri="{9D8B030D-6E8A-4147-A177-3AD203B41FA5}">
                      <a16:colId xmlns:a16="http://schemas.microsoft.com/office/drawing/2014/main" val="931426106"/>
                    </a:ext>
                  </a:extLst>
                </a:gridCol>
                <a:gridCol w="538026">
                  <a:extLst>
                    <a:ext uri="{9D8B030D-6E8A-4147-A177-3AD203B41FA5}">
                      <a16:colId xmlns:a16="http://schemas.microsoft.com/office/drawing/2014/main" val="1171837975"/>
                    </a:ext>
                  </a:extLst>
                </a:gridCol>
                <a:gridCol w="538026">
                  <a:extLst>
                    <a:ext uri="{9D8B030D-6E8A-4147-A177-3AD203B41FA5}">
                      <a16:colId xmlns:a16="http://schemas.microsoft.com/office/drawing/2014/main" val="3157633692"/>
                    </a:ext>
                  </a:extLst>
                </a:gridCol>
                <a:gridCol w="538026">
                  <a:extLst>
                    <a:ext uri="{9D8B030D-6E8A-4147-A177-3AD203B41FA5}">
                      <a16:colId xmlns:a16="http://schemas.microsoft.com/office/drawing/2014/main" val="3053072893"/>
                    </a:ext>
                  </a:extLst>
                </a:gridCol>
                <a:gridCol w="538026">
                  <a:extLst>
                    <a:ext uri="{9D8B030D-6E8A-4147-A177-3AD203B41FA5}">
                      <a16:colId xmlns:a16="http://schemas.microsoft.com/office/drawing/2014/main" val="198331635"/>
                    </a:ext>
                  </a:extLst>
                </a:gridCol>
                <a:gridCol w="538026">
                  <a:extLst>
                    <a:ext uri="{9D8B030D-6E8A-4147-A177-3AD203B41FA5}">
                      <a16:colId xmlns:a16="http://schemas.microsoft.com/office/drawing/2014/main" val="3703481428"/>
                    </a:ext>
                  </a:extLst>
                </a:gridCol>
                <a:gridCol w="538026">
                  <a:extLst>
                    <a:ext uri="{9D8B030D-6E8A-4147-A177-3AD203B41FA5}">
                      <a16:colId xmlns:a16="http://schemas.microsoft.com/office/drawing/2014/main" val="2854917948"/>
                    </a:ext>
                  </a:extLst>
                </a:gridCol>
                <a:gridCol w="538026">
                  <a:extLst>
                    <a:ext uri="{9D8B030D-6E8A-4147-A177-3AD203B41FA5}">
                      <a16:colId xmlns:a16="http://schemas.microsoft.com/office/drawing/2014/main" val="1579851274"/>
                    </a:ext>
                  </a:extLst>
                </a:gridCol>
                <a:gridCol w="538026">
                  <a:extLst>
                    <a:ext uri="{9D8B030D-6E8A-4147-A177-3AD203B41FA5}">
                      <a16:colId xmlns:a16="http://schemas.microsoft.com/office/drawing/2014/main" val="137418996"/>
                    </a:ext>
                  </a:extLst>
                </a:gridCol>
                <a:gridCol w="538026">
                  <a:extLst>
                    <a:ext uri="{9D8B030D-6E8A-4147-A177-3AD203B41FA5}">
                      <a16:colId xmlns:a16="http://schemas.microsoft.com/office/drawing/2014/main" val="3083068161"/>
                    </a:ext>
                  </a:extLst>
                </a:gridCol>
              </a:tblGrid>
              <a:tr h="693738">
                <a:tc>
                  <a:txBody>
                    <a:bodyPr/>
                    <a:lstStyle/>
                    <a:p>
                      <a:pPr algn="ctr"/>
                      <a:r>
                        <a:rPr lang="en-US" sz="3200" dirty="0">
                          <a:solidFill>
                            <a:schemeClr val="tx1"/>
                          </a:solidFill>
                        </a:rPr>
                        <a:t>A</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U</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endParaRPr lang="en-US" sz="3200" dirty="0">
                        <a:solidFill>
                          <a:schemeClr val="tx1"/>
                        </a:solidFill>
                      </a:endParaRP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sz="3200" dirty="0">
                          <a:solidFill>
                            <a:schemeClr val="tx1"/>
                          </a:solidFill>
                        </a:rPr>
                        <a:t>…</a:t>
                      </a:r>
                    </a:p>
                  </a:txBody>
                  <a:tcPr anchor="ct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577154071"/>
                  </a:ext>
                </a:extLst>
              </a:tr>
            </a:tbl>
          </a:graphicData>
        </a:graphic>
      </p:graphicFrame>
      <p:grpSp>
        <p:nvGrpSpPr>
          <p:cNvPr id="42" name="Group 41">
            <a:extLst>
              <a:ext uri="{FF2B5EF4-FFF2-40B4-BE49-F238E27FC236}">
                <a16:creationId xmlns:a16="http://schemas.microsoft.com/office/drawing/2014/main" id="{24690596-20E4-4A00-8368-FABB6A26978E}"/>
              </a:ext>
            </a:extLst>
          </p:cNvPr>
          <p:cNvGrpSpPr/>
          <p:nvPr/>
        </p:nvGrpSpPr>
        <p:grpSpPr>
          <a:xfrm>
            <a:off x="1161709" y="2403121"/>
            <a:ext cx="2270760" cy="2470028"/>
            <a:chOff x="1942413" y="1102286"/>
            <a:chExt cx="2270760" cy="2470028"/>
          </a:xfrm>
        </p:grpSpPr>
        <p:sp>
          <p:nvSpPr>
            <p:cNvPr id="43" name="Rectangle 42">
              <a:extLst>
                <a:ext uri="{FF2B5EF4-FFF2-40B4-BE49-F238E27FC236}">
                  <a16:creationId xmlns:a16="http://schemas.microsoft.com/office/drawing/2014/main" id="{D3DF8B35-3DBB-4948-A911-A8E1C82BD07B}"/>
                </a:ext>
              </a:extLst>
            </p:cNvPr>
            <p:cNvSpPr/>
            <p:nvPr/>
          </p:nvSpPr>
          <p:spPr>
            <a:xfrm>
              <a:off x="1942413" y="1102286"/>
              <a:ext cx="2270760" cy="1173480"/>
            </a:xfrm>
            <a:prstGeom prst="rect">
              <a:avLst/>
            </a:prstGeom>
            <a:noFill/>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3600" b="1" dirty="0"/>
                <a:t>q</a:t>
              </a:r>
              <a:r>
                <a:rPr lang="en-US" sz="3600" b="1" baseline="-25000" dirty="0"/>
                <a:t>3</a:t>
              </a:r>
            </a:p>
          </p:txBody>
        </p:sp>
        <p:cxnSp>
          <p:nvCxnSpPr>
            <p:cNvPr id="44" name="Straight Arrow Connector 43">
              <a:extLst>
                <a:ext uri="{FF2B5EF4-FFF2-40B4-BE49-F238E27FC236}">
                  <a16:creationId xmlns:a16="http://schemas.microsoft.com/office/drawing/2014/main" id="{5F62544B-B634-4CEF-84F7-A6A8EEC85B3B}"/>
                </a:ext>
              </a:extLst>
            </p:cNvPr>
            <p:cNvCxnSpPr>
              <a:stCxn id="43" idx="2"/>
            </p:cNvCxnSpPr>
            <p:nvPr/>
          </p:nvCxnSpPr>
          <p:spPr>
            <a:xfrm>
              <a:off x="3077793" y="2275766"/>
              <a:ext cx="0" cy="1296548"/>
            </a:xfrm>
            <a:prstGeom prst="straightConnector1">
              <a:avLst/>
            </a:prstGeom>
            <a:ln>
              <a:solidFill>
                <a:schemeClr val="tx1"/>
              </a:solidFill>
              <a:tailEnd type="triangle" w="lg" len="lg"/>
            </a:ln>
          </p:spPr>
          <p:style>
            <a:lnRef idx="2">
              <a:schemeClr val="accent1"/>
            </a:lnRef>
            <a:fillRef idx="0">
              <a:schemeClr val="accent1"/>
            </a:fillRef>
            <a:effectRef idx="1">
              <a:schemeClr val="accent1"/>
            </a:effectRef>
            <a:fontRef idx="minor">
              <a:schemeClr val="tx1"/>
            </a:fontRef>
          </p:style>
        </p:cxnSp>
      </p:grpSp>
    </p:spTree>
    <p:extLst>
      <p:ext uri="{BB962C8B-B14F-4D97-AF65-F5344CB8AC3E}">
        <p14:creationId xmlns:p14="http://schemas.microsoft.com/office/powerpoint/2010/main" val="19398953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5"/>
                                        </p:tgtEl>
                                        <p:attrNameLst>
                                          <p:attrName>style.visibility</p:attrName>
                                        </p:attrNameLst>
                                      </p:cBhvr>
                                      <p:to>
                                        <p:strVal val="visible"/>
                                      </p:to>
                                    </p:set>
                                  </p:childTnLst>
                                </p:cTn>
                              </p:par>
                              <p:par>
                                <p:cTn id="17" presetID="1" presetClass="exit" presetSubtype="0" fill="hold" nodeType="withEffect">
                                  <p:stCondLst>
                                    <p:cond delay="0"/>
                                  </p:stCondLst>
                                  <p:childTnLst>
                                    <p:set>
                                      <p:cBhvr>
                                        <p:cTn id="18" dur="1" fill="hold">
                                          <p:stCondLst>
                                            <p:cond delay="0"/>
                                          </p:stCondLst>
                                        </p:cTn>
                                        <p:tgtEl>
                                          <p:spTgt spid="11"/>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1"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wipe(up)">
                                      <p:cBhvr>
                                        <p:cTn id="23" dur="500"/>
                                        <p:tgtEl>
                                          <p:spTgt spid="15"/>
                                        </p:tgtEl>
                                      </p:cBhvr>
                                    </p:animEffect>
                                  </p:childTnLst>
                                </p:cTn>
                              </p:par>
                              <p:par>
                                <p:cTn id="24" presetID="1" presetClass="entr" presetSubtype="0" fill="hold" grpId="0" nodeType="with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xit" presetSubtype="0" fill="hold" grpId="1" nodeType="clickEffect">
                                  <p:stCondLst>
                                    <p:cond delay="0"/>
                                  </p:stCondLst>
                                  <p:childTnLst>
                                    <p:set>
                                      <p:cBhvr>
                                        <p:cTn id="29" dur="1" fill="hold">
                                          <p:stCondLst>
                                            <p:cond delay="0"/>
                                          </p:stCondLst>
                                        </p:cTn>
                                        <p:tgtEl>
                                          <p:spTgt spid="4"/>
                                        </p:tgtEl>
                                        <p:attrNameLst>
                                          <p:attrName>style.visibility</p:attrName>
                                        </p:attrNameLst>
                                      </p:cBhvr>
                                      <p:to>
                                        <p:strVal val="hidden"/>
                                      </p:to>
                                    </p:set>
                                  </p:childTnLst>
                                </p:cTn>
                              </p:par>
                              <p:par>
                                <p:cTn id="30" presetID="1" presetClass="exit" presetSubtype="0" fill="hold" nodeType="withEffect">
                                  <p:stCondLst>
                                    <p:cond delay="0"/>
                                  </p:stCondLst>
                                  <p:childTnLst>
                                    <p:set>
                                      <p:cBhvr>
                                        <p:cTn id="31" dur="1" fill="hold">
                                          <p:stCondLst>
                                            <p:cond delay="0"/>
                                          </p:stCondLst>
                                        </p:cTn>
                                        <p:tgtEl>
                                          <p:spTgt spid="15"/>
                                        </p:tgtEl>
                                        <p:attrNameLst>
                                          <p:attrName>style.visibility</p:attrName>
                                        </p:attrNameLst>
                                      </p:cBhvr>
                                      <p:to>
                                        <p:strVal val="hidden"/>
                                      </p:to>
                                    </p:set>
                                  </p:childTnLst>
                                </p:cTn>
                              </p:par>
                              <p:par>
                                <p:cTn id="32" presetID="1" presetClass="entr" presetSubtype="0"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28"/>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grpId="0" nodeType="clickEffect">
                                  <p:stCondLst>
                                    <p:cond delay="0"/>
                                  </p:stCondLst>
                                  <p:childTnLst>
                                    <p:set>
                                      <p:cBhvr>
                                        <p:cTn id="41" dur="1" fill="hold">
                                          <p:stCondLst>
                                            <p:cond delay="0"/>
                                          </p:stCondLst>
                                        </p:cTn>
                                        <p:tgtEl>
                                          <p:spTgt spid="30"/>
                                        </p:tgtEl>
                                        <p:attrNameLst>
                                          <p:attrName>style.visibility</p:attrName>
                                        </p:attrNameLst>
                                      </p:cBhvr>
                                      <p:to>
                                        <p:strVal val="visible"/>
                                      </p:to>
                                    </p:se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31"/>
                                        </p:tgtEl>
                                        <p:attrNameLst>
                                          <p:attrName>style.visibility</p:attrName>
                                        </p:attrNameLst>
                                      </p:cBhvr>
                                      <p:to>
                                        <p:strVal val="visible"/>
                                      </p:to>
                                    </p:set>
                                  </p:childTnLst>
                                </p:cTn>
                              </p:par>
                              <p:par>
                                <p:cTn id="46" presetID="1" presetClass="exit" presetSubtype="0" fill="hold" nodeType="withEffect">
                                  <p:stCondLst>
                                    <p:cond delay="0"/>
                                  </p:stCondLst>
                                  <p:childTnLst>
                                    <p:set>
                                      <p:cBhvr>
                                        <p:cTn id="47" dur="1" fill="hold">
                                          <p:stCondLst>
                                            <p:cond delay="0"/>
                                          </p:stCondLst>
                                        </p:cTn>
                                        <p:tgtEl>
                                          <p:spTgt spid="25"/>
                                        </p:tgtEl>
                                        <p:attrNameLst>
                                          <p:attrName>style.visibility</p:attrName>
                                        </p:attrNameLst>
                                      </p:cBhvr>
                                      <p:to>
                                        <p:strVal val="hidden"/>
                                      </p:to>
                                    </p:set>
                                  </p:childTnLst>
                                </p:cTn>
                              </p:par>
                            </p:childTnLst>
                          </p:cTn>
                        </p:par>
                      </p:childTnLst>
                    </p:cTn>
                  </p:par>
                  <p:par>
                    <p:cTn id="48" fill="hold">
                      <p:stCondLst>
                        <p:cond delay="indefinite"/>
                      </p:stCondLst>
                      <p:childTnLst>
                        <p:par>
                          <p:cTn id="49" fill="hold">
                            <p:stCondLst>
                              <p:cond delay="0"/>
                            </p:stCondLst>
                            <p:childTnLst>
                              <p:par>
                                <p:cTn id="50" presetID="63" presetClass="path" presetSubtype="0" accel="50000" decel="50000" fill="hold" nodeType="clickEffect">
                                  <p:stCondLst>
                                    <p:cond delay="0"/>
                                  </p:stCondLst>
                                  <p:childTnLst>
                                    <p:animMotion origin="layout" path="M -3.88889E-6 -1.11111E-6 L 0.06927 0.00139 " pathEditMode="relative" rAng="0" ptsTypes="AA">
                                      <p:cBhvr>
                                        <p:cTn id="51" dur="2000" fill="hold"/>
                                        <p:tgtEl>
                                          <p:spTgt spid="32"/>
                                        </p:tgtEl>
                                        <p:attrNameLst>
                                          <p:attrName>ppt_x</p:attrName>
                                          <p:attrName>ppt_y</p:attrName>
                                        </p:attrNameLst>
                                      </p:cBhvr>
                                      <p:rCtr x="3455" y="69"/>
                                    </p:animMotion>
                                  </p:childTnLst>
                                </p:cTn>
                              </p:par>
                            </p:childTnLst>
                          </p:cTn>
                        </p:par>
                        <p:par>
                          <p:cTn id="52" fill="hold">
                            <p:stCondLst>
                              <p:cond delay="2000"/>
                            </p:stCondLst>
                            <p:childTnLst>
                              <p:par>
                                <p:cTn id="53" presetID="1" presetClass="exit" presetSubtype="0" fill="hold" nodeType="afterEffect">
                                  <p:stCondLst>
                                    <p:cond delay="0"/>
                                  </p:stCondLst>
                                  <p:childTnLst>
                                    <p:set>
                                      <p:cBhvr>
                                        <p:cTn id="54" dur="1" fill="hold">
                                          <p:stCondLst>
                                            <p:cond delay="0"/>
                                          </p:stCondLst>
                                        </p:cTn>
                                        <p:tgtEl>
                                          <p:spTgt spid="32"/>
                                        </p:tgtEl>
                                        <p:attrNameLst>
                                          <p:attrName>style.visibility</p:attrName>
                                        </p:attrNameLst>
                                      </p:cBhvr>
                                      <p:to>
                                        <p:strVal val="hidden"/>
                                      </p:to>
                                    </p:set>
                                  </p:childTnLst>
                                </p:cTn>
                              </p:par>
                              <p:par>
                                <p:cTn id="55" presetID="1" presetClass="entr" presetSubtype="0" fill="hold" nodeType="withEffect">
                                  <p:stCondLst>
                                    <p:cond delay="0"/>
                                  </p:stCondLst>
                                  <p:childTnLst>
                                    <p:set>
                                      <p:cBhvr>
                                        <p:cTn id="56" dur="1" fill="hold">
                                          <p:stCondLst>
                                            <p:cond delay="0"/>
                                          </p:stCondLst>
                                        </p:cTn>
                                        <p:tgtEl>
                                          <p:spTgt spid="34"/>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33"/>
                                        </p:tgtEl>
                                        <p:attrNameLst>
                                          <p:attrName>style.visibility</p:attrName>
                                        </p:attrNameLst>
                                      </p:cBhvr>
                                      <p:to>
                                        <p:strVal val="visible"/>
                                      </p:to>
                                    </p:set>
                                  </p:childTnLst>
                                </p:cTn>
                              </p:par>
                              <p:par>
                                <p:cTn id="61" presetID="1" presetClass="exit" presetSubtype="0" fill="hold" grpId="1" nodeType="withEffect">
                                  <p:stCondLst>
                                    <p:cond delay="0"/>
                                  </p:stCondLst>
                                  <p:childTnLst>
                                    <p:set>
                                      <p:cBhvr>
                                        <p:cTn id="62" dur="1" fill="hold">
                                          <p:stCondLst>
                                            <p:cond delay="0"/>
                                          </p:stCondLst>
                                        </p:cTn>
                                        <p:tgtEl>
                                          <p:spTgt spid="30"/>
                                        </p:tgtEl>
                                        <p:attrNameLst>
                                          <p:attrName>style.visibility</p:attrName>
                                        </p:attrNameLst>
                                      </p:cBhvr>
                                      <p:to>
                                        <p:strVal val="hidden"/>
                                      </p:to>
                                    </p:set>
                                  </p:childTnLst>
                                </p:cTn>
                              </p:par>
                            </p:childTnLst>
                          </p:cTn>
                        </p:par>
                      </p:childTnLst>
                    </p:cTn>
                  </p:par>
                  <p:par>
                    <p:cTn id="63" fill="hold">
                      <p:stCondLst>
                        <p:cond delay="indefinite"/>
                      </p:stCondLst>
                      <p:childTnLst>
                        <p:par>
                          <p:cTn id="64" fill="hold">
                            <p:stCondLst>
                              <p:cond delay="0"/>
                            </p:stCondLst>
                            <p:childTnLst>
                              <p:par>
                                <p:cTn id="65" presetID="63" presetClass="path" presetSubtype="0" accel="50000" decel="50000" fill="hold" nodeType="clickEffect">
                                  <p:stCondLst>
                                    <p:cond delay="0"/>
                                  </p:stCondLst>
                                  <p:childTnLst>
                                    <p:animMotion origin="layout" path="M 8.33333E-7 -3.7037E-6 L 0.06927 0.00139 " pathEditMode="relative" rAng="0" ptsTypes="AA">
                                      <p:cBhvr>
                                        <p:cTn id="66" dur="2000" fill="hold"/>
                                        <p:tgtEl>
                                          <p:spTgt spid="34"/>
                                        </p:tgtEl>
                                        <p:attrNameLst>
                                          <p:attrName>ppt_x</p:attrName>
                                          <p:attrName>ppt_y</p:attrName>
                                        </p:attrNameLst>
                                      </p:cBhvr>
                                      <p:rCtr x="3455" y="69"/>
                                    </p:animMotion>
                                  </p:childTnLst>
                                </p:cTn>
                              </p:par>
                            </p:childTnLst>
                          </p:cTn>
                        </p:par>
                        <p:par>
                          <p:cTn id="67" fill="hold">
                            <p:stCondLst>
                              <p:cond delay="2000"/>
                            </p:stCondLst>
                            <p:childTnLst>
                              <p:par>
                                <p:cTn id="68" presetID="1" presetClass="exit" presetSubtype="0" fill="hold" nodeType="afterEffect">
                                  <p:stCondLst>
                                    <p:cond delay="0"/>
                                  </p:stCondLst>
                                  <p:childTnLst>
                                    <p:set>
                                      <p:cBhvr>
                                        <p:cTn id="69" dur="1" fill="hold">
                                          <p:stCondLst>
                                            <p:cond delay="0"/>
                                          </p:stCondLst>
                                        </p:cTn>
                                        <p:tgtEl>
                                          <p:spTgt spid="34"/>
                                        </p:tgtEl>
                                        <p:attrNameLst>
                                          <p:attrName>style.visibility</p:attrName>
                                        </p:attrNameLst>
                                      </p:cBhvr>
                                      <p:to>
                                        <p:strVal val="hidden"/>
                                      </p:to>
                                    </p:set>
                                  </p:childTnLst>
                                </p:cTn>
                              </p:par>
                              <p:par>
                                <p:cTn id="70" presetID="1" presetClass="entr" presetSubtype="0" fill="hold" nodeType="withEffect">
                                  <p:stCondLst>
                                    <p:cond delay="0"/>
                                  </p:stCondLst>
                                  <p:childTnLst>
                                    <p:set>
                                      <p:cBhvr>
                                        <p:cTn id="71" dur="1" fill="hold">
                                          <p:stCondLst>
                                            <p:cond delay="0"/>
                                          </p:stCondLst>
                                        </p:cTn>
                                        <p:tgtEl>
                                          <p:spTgt spid="37"/>
                                        </p:tgtEl>
                                        <p:attrNameLst>
                                          <p:attrName>style.visibility</p:attrName>
                                        </p:attrNameLst>
                                      </p:cBhvr>
                                      <p:to>
                                        <p:strVal val="visible"/>
                                      </p:to>
                                    </p:set>
                                  </p:childTnLst>
                                </p:cTn>
                              </p:par>
                            </p:childTnLst>
                          </p:cTn>
                        </p:par>
                      </p:childTnLst>
                    </p:cTn>
                  </p:par>
                  <p:par>
                    <p:cTn id="72" fill="hold">
                      <p:stCondLst>
                        <p:cond delay="indefinite"/>
                      </p:stCondLst>
                      <p:childTnLst>
                        <p:par>
                          <p:cTn id="73" fill="hold">
                            <p:stCondLst>
                              <p:cond delay="0"/>
                            </p:stCondLst>
                            <p:childTnLst>
                              <p:par>
                                <p:cTn id="74" presetID="1" presetClass="entr" presetSubtype="0" fill="hold" grpId="0" nodeType="clickEffect">
                                  <p:stCondLst>
                                    <p:cond delay="0"/>
                                  </p:stCondLst>
                                  <p:childTnLst>
                                    <p:set>
                                      <p:cBhvr>
                                        <p:cTn id="75" dur="1" fill="hold">
                                          <p:stCondLst>
                                            <p:cond delay="0"/>
                                          </p:stCondLst>
                                        </p:cTn>
                                        <p:tgtEl>
                                          <p:spTgt spid="40"/>
                                        </p:tgtEl>
                                        <p:attrNameLst>
                                          <p:attrName>style.visibility</p:attrName>
                                        </p:attrNameLst>
                                      </p:cBhvr>
                                      <p:to>
                                        <p:strVal val="visible"/>
                                      </p:to>
                                    </p:set>
                                  </p:childTnLst>
                                </p:cTn>
                              </p:par>
                              <p:par>
                                <p:cTn id="76" presetID="1" presetClass="exit" presetSubtype="0" fill="hold" grpId="1" nodeType="withEffect">
                                  <p:stCondLst>
                                    <p:cond delay="0"/>
                                  </p:stCondLst>
                                  <p:childTnLst>
                                    <p:set>
                                      <p:cBhvr>
                                        <p:cTn id="77" dur="1" fill="hold">
                                          <p:stCondLst>
                                            <p:cond delay="0"/>
                                          </p:stCondLst>
                                        </p:cTn>
                                        <p:tgtEl>
                                          <p:spTgt spid="33"/>
                                        </p:tgtEl>
                                        <p:attrNameLst>
                                          <p:attrName>style.visibility</p:attrName>
                                        </p:attrNameLst>
                                      </p:cBhvr>
                                      <p:to>
                                        <p:strVal val="hidden"/>
                                      </p:to>
                                    </p:set>
                                  </p:childTnLst>
                                </p:cTn>
                              </p:par>
                            </p:childTnLst>
                          </p:cTn>
                        </p:par>
                      </p:childTnLst>
                    </p:cTn>
                  </p:par>
                  <p:par>
                    <p:cTn id="78" fill="hold">
                      <p:stCondLst>
                        <p:cond delay="indefinite"/>
                      </p:stCondLst>
                      <p:childTnLst>
                        <p:par>
                          <p:cTn id="79" fill="hold">
                            <p:stCondLst>
                              <p:cond delay="0"/>
                            </p:stCondLst>
                            <p:childTnLst>
                              <p:par>
                                <p:cTn id="80" presetID="1" presetClass="entr" presetSubtype="0" fill="hold" nodeType="clickEffect">
                                  <p:stCondLst>
                                    <p:cond delay="0"/>
                                  </p:stCondLst>
                                  <p:childTnLst>
                                    <p:set>
                                      <p:cBhvr>
                                        <p:cTn id="81" dur="1" fill="hold">
                                          <p:stCondLst>
                                            <p:cond delay="0"/>
                                          </p:stCondLst>
                                        </p:cTn>
                                        <p:tgtEl>
                                          <p:spTgt spid="41"/>
                                        </p:tgtEl>
                                        <p:attrNameLst>
                                          <p:attrName>style.visibility</p:attrName>
                                        </p:attrNameLst>
                                      </p:cBhvr>
                                      <p:to>
                                        <p:strVal val="visible"/>
                                      </p:to>
                                    </p:set>
                                  </p:childTnLst>
                                </p:cTn>
                              </p:par>
                              <p:par>
                                <p:cTn id="82" presetID="1" presetClass="exit" presetSubtype="0" fill="hold" nodeType="withEffect">
                                  <p:stCondLst>
                                    <p:cond delay="0"/>
                                  </p:stCondLst>
                                  <p:childTnLst>
                                    <p:set>
                                      <p:cBhvr>
                                        <p:cTn id="83" dur="1" fill="hold">
                                          <p:stCondLst>
                                            <p:cond delay="0"/>
                                          </p:stCondLst>
                                        </p:cTn>
                                        <p:tgtEl>
                                          <p:spTgt spid="31"/>
                                        </p:tgtEl>
                                        <p:attrNameLst>
                                          <p:attrName>style.visibility</p:attrName>
                                        </p:attrNameLst>
                                      </p:cBhvr>
                                      <p:to>
                                        <p:strVal val="hidden"/>
                                      </p:to>
                                    </p:set>
                                  </p:childTnLst>
                                </p:cTn>
                              </p:par>
                            </p:childTnLst>
                          </p:cTn>
                        </p:par>
                      </p:childTnLst>
                    </p:cTn>
                  </p:par>
                  <p:par>
                    <p:cTn id="84" fill="hold">
                      <p:stCondLst>
                        <p:cond delay="indefinite"/>
                      </p:stCondLst>
                      <p:childTnLst>
                        <p:par>
                          <p:cTn id="85" fill="hold">
                            <p:stCondLst>
                              <p:cond delay="0"/>
                            </p:stCondLst>
                            <p:childTnLst>
                              <p:par>
                                <p:cTn id="86" presetID="35" presetClass="path" presetSubtype="0" accel="50000" decel="50000" fill="hold" nodeType="clickEffect">
                                  <p:stCondLst>
                                    <p:cond delay="0"/>
                                  </p:stCondLst>
                                  <p:childTnLst>
                                    <p:animMotion origin="layout" path="M 1.11111E-6 -3.7037E-6 L -0.06146 0.00186 " pathEditMode="relative" rAng="0" ptsTypes="AA">
                                      <p:cBhvr>
                                        <p:cTn id="87" dur="2000" fill="hold"/>
                                        <p:tgtEl>
                                          <p:spTgt spid="37"/>
                                        </p:tgtEl>
                                        <p:attrNameLst>
                                          <p:attrName>ppt_x</p:attrName>
                                          <p:attrName>ppt_y</p:attrName>
                                        </p:attrNameLst>
                                      </p:cBhvr>
                                      <p:rCtr x="-3073" y="93"/>
                                    </p:animMotion>
                                  </p:childTnLst>
                                </p:cTn>
                              </p:par>
                            </p:childTnLst>
                          </p:cTn>
                        </p:par>
                        <p:par>
                          <p:cTn id="88" fill="hold">
                            <p:stCondLst>
                              <p:cond delay="2000"/>
                            </p:stCondLst>
                            <p:childTnLst>
                              <p:par>
                                <p:cTn id="89" presetID="1" presetClass="exit" presetSubtype="0" fill="hold" nodeType="afterEffect">
                                  <p:stCondLst>
                                    <p:cond delay="0"/>
                                  </p:stCondLst>
                                  <p:childTnLst>
                                    <p:set>
                                      <p:cBhvr>
                                        <p:cTn id="90" dur="1" fill="hold">
                                          <p:stCondLst>
                                            <p:cond delay="0"/>
                                          </p:stCondLst>
                                        </p:cTn>
                                        <p:tgtEl>
                                          <p:spTgt spid="37"/>
                                        </p:tgtEl>
                                        <p:attrNameLst>
                                          <p:attrName>style.visibility</p:attrName>
                                        </p:attrNameLst>
                                      </p:cBhvr>
                                      <p:to>
                                        <p:strVal val="hidden"/>
                                      </p:to>
                                    </p:set>
                                  </p:childTnLst>
                                </p:cTn>
                              </p:par>
                              <p:par>
                                <p:cTn id="91" presetID="1" presetClass="entr" presetSubtype="0" fill="hold" nodeType="withEffect">
                                  <p:stCondLst>
                                    <p:cond delay="0"/>
                                  </p:stCondLst>
                                  <p:childTnLst>
                                    <p:set>
                                      <p:cBhvr>
                                        <p:cTn id="92" dur="1" fill="hold">
                                          <p:stCondLst>
                                            <p:cond delay="0"/>
                                          </p:stCondLst>
                                        </p:cTn>
                                        <p:tgtEl>
                                          <p:spTgt spid="4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22" grpId="0"/>
      <p:bldP spid="24" grpId="0"/>
      <p:bldP spid="28" grpId="0"/>
      <p:bldP spid="30" grpId="0"/>
      <p:bldP spid="30" grpId="1"/>
      <p:bldP spid="33" grpId="0"/>
      <p:bldP spid="33" grpId="1"/>
      <p:bldP spid="40"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Content Placeholder 1">
            <a:extLst>
              <a:ext uri="{FF2B5EF4-FFF2-40B4-BE49-F238E27FC236}">
                <a16:creationId xmlns:a16="http://schemas.microsoft.com/office/drawing/2014/main" id="{D1FD0951-728E-433C-AD95-DE983A782F2A}"/>
              </a:ext>
            </a:extLst>
          </p:cNvPr>
          <p:cNvSpPr>
            <a:spLocks noGrp="1"/>
          </p:cNvSpPr>
          <p:nvPr>
            <p:ph sz="quarter" idx="14"/>
          </p:nvPr>
        </p:nvSpPr>
        <p:spPr/>
        <p:txBody>
          <a:bodyPr/>
          <a:lstStyle/>
          <a:p>
            <a:pPr algn="just"/>
            <a:r>
              <a:rPr lang="en-US" altLang="en-US" sz="2400" dirty="0"/>
              <a:t>The computation completes/ends when the machines reaches one of the two </a:t>
            </a:r>
            <a:r>
              <a:rPr lang="en-US" altLang="en-US" sz="2400" i="1" dirty="0"/>
              <a:t>halting</a:t>
            </a:r>
            <a:r>
              <a:rPr lang="en-US" altLang="en-US" sz="2400" dirty="0"/>
              <a:t> states – </a:t>
            </a:r>
          </a:p>
          <a:p>
            <a:pPr lvl="1"/>
            <a:r>
              <a:rPr lang="en-US" altLang="en-US" sz="2200" dirty="0"/>
              <a:t>Accept State</a:t>
            </a:r>
          </a:p>
          <a:p>
            <a:pPr lvl="1"/>
            <a:r>
              <a:rPr lang="en-US" altLang="en-US" sz="2200" dirty="0"/>
              <a:t>Reject State</a:t>
            </a:r>
          </a:p>
          <a:p>
            <a:pPr algn="just"/>
            <a:r>
              <a:rPr lang="en-US" altLang="en-US" sz="2400" dirty="0"/>
              <a:t>There is also a possibility for the machine not to complete/end the computation. </a:t>
            </a:r>
          </a:p>
          <a:p>
            <a:pPr lvl="1"/>
            <a:r>
              <a:rPr lang="en-US" altLang="en-US" sz="2200" dirty="0"/>
              <a:t>The computation can proceed indefinitely</a:t>
            </a:r>
            <a:endParaRPr lang="en-US" sz="2200" dirty="0"/>
          </a:p>
        </p:txBody>
      </p:sp>
      <p:sp>
        <p:nvSpPr>
          <p:cNvPr id="3" name="Footer Placeholder 2">
            <a:extLst>
              <a:ext uri="{FF2B5EF4-FFF2-40B4-BE49-F238E27FC236}">
                <a16:creationId xmlns:a16="http://schemas.microsoft.com/office/drawing/2014/main" id="{F25BF467-A485-4822-BFC1-87FE522FF505}"/>
              </a:ext>
            </a:extLst>
          </p:cNvPr>
          <p:cNvSpPr>
            <a:spLocks noGrp="1"/>
          </p:cNvSpPr>
          <p:nvPr>
            <p:ph type="ftr" sz="quarter" idx="11"/>
          </p:nvPr>
        </p:nvSpPr>
        <p:spPr/>
        <p:txBody>
          <a:bodyPr anchor="ctr">
            <a:normAutofit/>
          </a:bodyPr>
          <a:lstStyle/>
          <a:p>
            <a:pPr>
              <a:spcAft>
                <a:spcPts val="600"/>
              </a:spcAft>
            </a:pPr>
            <a:r>
              <a:rPr lang="en-US"/>
              <a:t>CSC3113: Theory of Computation</a:t>
            </a:r>
          </a:p>
        </p:txBody>
      </p:sp>
      <p:sp>
        <p:nvSpPr>
          <p:cNvPr id="15" name="Text Placeholder 3">
            <a:extLst>
              <a:ext uri="{FF2B5EF4-FFF2-40B4-BE49-F238E27FC236}">
                <a16:creationId xmlns:a16="http://schemas.microsoft.com/office/drawing/2014/main" id="{B47DF0DE-D6BF-4945-9EC1-8FF1C3BDF7F9}"/>
              </a:ext>
            </a:extLst>
          </p:cNvPr>
          <p:cNvSpPr>
            <a:spLocks noGrp="1"/>
          </p:cNvSpPr>
          <p:nvPr>
            <p:ph type="body" sz="half" idx="2"/>
          </p:nvPr>
        </p:nvSpPr>
        <p:spPr/>
        <p:txBody>
          <a:bodyPr>
            <a:normAutofit fontScale="92500" lnSpcReduction="20000"/>
          </a:bodyPr>
          <a:lstStyle/>
          <a:p>
            <a:r>
              <a:rPr lang="en-US" dirty="0"/>
              <a:t>Turing Machine (TM)</a:t>
            </a:r>
          </a:p>
        </p:txBody>
      </p:sp>
      <p:sp>
        <p:nvSpPr>
          <p:cNvPr id="17" name="Title 4">
            <a:extLst>
              <a:ext uri="{FF2B5EF4-FFF2-40B4-BE49-F238E27FC236}">
                <a16:creationId xmlns:a16="http://schemas.microsoft.com/office/drawing/2014/main" id="{9CA8BDAE-11D4-4EC0-BCA5-4308F65FFF59}"/>
              </a:ext>
            </a:extLst>
          </p:cNvPr>
          <p:cNvSpPr>
            <a:spLocks noGrp="1"/>
          </p:cNvSpPr>
          <p:nvPr>
            <p:ph type="title"/>
          </p:nvPr>
        </p:nvSpPr>
        <p:spPr/>
        <p:txBody>
          <a:bodyPr/>
          <a:lstStyle/>
          <a:p>
            <a:r>
              <a:rPr lang="en-US" dirty="0"/>
              <a:t>Output convention</a:t>
            </a:r>
          </a:p>
        </p:txBody>
      </p:sp>
      <p:pic>
        <p:nvPicPr>
          <p:cNvPr id="8" name="Picture Placeholder 7" descr="A close up of a clock&#10;&#10;Description automatically generated">
            <a:extLst>
              <a:ext uri="{FF2B5EF4-FFF2-40B4-BE49-F238E27FC236}">
                <a16:creationId xmlns:a16="http://schemas.microsoft.com/office/drawing/2014/main" id="{95696926-A2A8-4E74-A2FD-AD949DE864C5}"/>
              </a:ext>
            </a:extLst>
          </p:cNvPr>
          <p:cNvPicPr>
            <a:picLocks noGrp="1" noChangeAspect="1"/>
          </p:cNvPicPr>
          <p:nvPr>
            <p:ph type="pic" sz="quarter" idx="13"/>
          </p:nvPr>
        </p:nvPicPr>
        <p:blipFill rotWithShape="1">
          <a:blip r:embed="rId2">
            <a:extLst>
              <a:ext uri="{28A0092B-C50C-407E-A947-70E740481C1C}">
                <a14:useLocalDpi xmlns:a14="http://schemas.microsoft.com/office/drawing/2010/main" val="0"/>
              </a:ext>
            </a:extLst>
          </a:blip>
          <a:srcRect t="8256" b="8256"/>
          <a:stretch/>
        </p:blipFill>
        <p:spPr>
          <a:xfrm>
            <a:off x="19048" y="692729"/>
            <a:ext cx="9105902" cy="2017317"/>
          </a:xfrm>
          <a:noFill/>
        </p:spPr>
      </p:pic>
    </p:spTree>
    <p:extLst>
      <p:ext uri="{BB962C8B-B14F-4D97-AF65-F5344CB8AC3E}">
        <p14:creationId xmlns:p14="http://schemas.microsoft.com/office/powerpoint/2010/main" val="24331799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704D592B-82C0-4F14-A853-CDD8DDBB93EB}"/>
              </a:ext>
            </a:extLst>
          </p:cNvPr>
          <p:cNvSpPr>
            <a:spLocks noGrp="1"/>
          </p:cNvSpPr>
          <p:nvPr>
            <p:ph type="ftr" sz="quarter" idx="11"/>
          </p:nvPr>
        </p:nvSpPr>
        <p:spPr/>
        <p:txBody>
          <a:bodyPr/>
          <a:lstStyle/>
          <a:p>
            <a:r>
              <a:rPr lang="en-US"/>
              <a:t>CSC3113: Theory of Computation</a:t>
            </a:r>
          </a:p>
        </p:txBody>
      </p:sp>
      <p:sp>
        <p:nvSpPr>
          <p:cNvPr id="3" name="Subtitle 2">
            <a:extLst>
              <a:ext uri="{FF2B5EF4-FFF2-40B4-BE49-F238E27FC236}">
                <a16:creationId xmlns:a16="http://schemas.microsoft.com/office/drawing/2014/main" id="{EB5F88F6-DDFD-4F4B-A46A-AAA1900C92B3}"/>
              </a:ext>
            </a:extLst>
          </p:cNvPr>
          <p:cNvSpPr>
            <a:spLocks noGrp="1"/>
          </p:cNvSpPr>
          <p:nvPr>
            <p:ph type="subTitle" idx="1"/>
          </p:nvPr>
        </p:nvSpPr>
        <p:spPr/>
        <p:txBody>
          <a:bodyPr/>
          <a:lstStyle/>
          <a:p>
            <a:endParaRPr lang="en-US" dirty="0"/>
          </a:p>
        </p:txBody>
      </p:sp>
      <p:sp>
        <p:nvSpPr>
          <p:cNvPr id="4" name="Text Placeholder 3">
            <a:extLst>
              <a:ext uri="{FF2B5EF4-FFF2-40B4-BE49-F238E27FC236}">
                <a16:creationId xmlns:a16="http://schemas.microsoft.com/office/drawing/2014/main" id="{A23CB42B-CF30-4382-AE8D-B75B811C5B93}"/>
              </a:ext>
            </a:extLst>
          </p:cNvPr>
          <p:cNvSpPr>
            <a:spLocks noGrp="1"/>
          </p:cNvSpPr>
          <p:nvPr>
            <p:ph type="body" sz="quarter" idx="12"/>
          </p:nvPr>
        </p:nvSpPr>
        <p:spPr/>
        <p:txBody>
          <a:bodyPr/>
          <a:lstStyle/>
          <a:p>
            <a:r>
              <a:rPr lang="en-US" dirty="0">
                <a:hlinkClick r:id="rId2" action="ppaction://hlinkfile"/>
              </a:rPr>
              <a:t>Sipser-Introduction to the Theory of Computation 3E, Computability</a:t>
            </a:r>
            <a:r>
              <a:rPr lang="en-US" dirty="0"/>
              <a:t>.</a:t>
            </a:r>
          </a:p>
          <a:p>
            <a:r>
              <a:rPr lang="en-US" dirty="0">
                <a:hlinkClick r:id="rId3" action="ppaction://hlinkfile"/>
              </a:rPr>
              <a:t>Lewis, Papadimitriou-Elements of Theory of Computation, 2ed, Turing Machine</a:t>
            </a:r>
            <a:r>
              <a:rPr lang="en-US" dirty="0"/>
              <a:t>.</a:t>
            </a:r>
          </a:p>
          <a:p>
            <a:r>
              <a:rPr lang="en-US" dirty="0">
                <a:hlinkClick r:id="rId4" action="ppaction://hlinkfile"/>
              </a:rPr>
              <a:t>Hopcroft, Motwani, Ullman-Introduction to Automata Theory, Languages, and Computations, Turing Machine</a:t>
            </a:r>
            <a:r>
              <a:rPr lang="en-US" dirty="0"/>
              <a:t>.</a:t>
            </a:r>
          </a:p>
        </p:txBody>
      </p:sp>
    </p:spTree>
    <p:extLst>
      <p:ext uri="{BB962C8B-B14F-4D97-AF65-F5344CB8AC3E}">
        <p14:creationId xmlns:p14="http://schemas.microsoft.com/office/powerpoint/2010/main" val="1894328866"/>
      </p:ext>
    </p:extLst>
  </p:cSld>
  <p:clrMapOvr>
    <a:masterClrMapping/>
  </p:clrMapOvr>
</p:sld>
</file>

<file path=ppt/theme/theme1.xml><?xml version="1.0" encoding="utf-8"?>
<a:theme xmlns:a="http://schemas.openxmlformats.org/drawingml/2006/main" name="AIUB 2020">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Spectrum">
      <a:majorFont>
        <a:latin typeface="Corbel"/>
        <a:ea typeface=""/>
        <a:cs typeface=""/>
        <a:font script="Jpan" typeface="ＭＳ ゴシック"/>
        <a:font script="Hans" typeface="宋体"/>
        <a:font script="Hant" typeface="新細明體"/>
      </a:majorFont>
      <a:minorFont>
        <a:latin typeface="Calibri"/>
        <a:ea typeface=""/>
        <a:cs typeface=""/>
        <a:font script="Jpan" typeface="ＭＳ ゴシック"/>
        <a:font script="Hans" typeface="宋体"/>
        <a:font script="Hant" typeface="新細明體"/>
      </a:minorFont>
    </a:fontScheme>
    <a:fmtScheme name="Spectrum">
      <a:fillStyleLst>
        <a:solidFill>
          <a:schemeClr val="phClr"/>
        </a:solidFill>
        <a:gradFill rotWithShape="1">
          <a:gsLst>
            <a:gs pos="0">
              <a:schemeClr val="phClr">
                <a:tint val="100000"/>
                <a:shade val="70000"/>
                <a:satMod val="150000"/>
              </a:schemeClr>
            </a:gs>
            <a:gs pos="100000">
              <a:schemeClr val="phClr">
                <a:tint val="95000"/>
                <a:satMod val="150000"/>
              </a:schemeClr>
            </a:gs>
          </a:gsLst>
          <a:lin ang="16200000" scaled="1"/>
        </a:gradFill>
        <a:gradFill rotWithShape="1">
          <a:gsLst>
            <a:gs pos="0">
              <a:schemeClr val="phClr">
                <a:tint val="95000"/>
                <a:shade val="70000"/>
                <a:satMod val="150000"/>
              </a:schemeClr>
            </a:gs>
            <a:gs pos="100000">
              <a:schemeClr val="phClr">
                <a:tint val="100000"/>
                <a:shade val="100000"/>
                <a:satMod val="150000"/>
              </a:schemeClr>
            </a:gs>
          </a:gsLst>
          <a:lin ang="16200000" scaled="0"/>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6600000" sx="101000" sy="101000" rotWithShape="0">
              <a:srgbClr val="000000">
                <a:alpha val="75000"/>
              </a:srgbClr>
            </a:outerShdw>
          </a:effectLst>
        </a:effectStyle>
        <a:effectStyle>
          <a:effectLst>
            <a:outerShdw blurRad="50800" dir="5400000" sx="105000" sy="105000" algn="ctr" rotWithShape="0">
              <a:srgbClr val="000000">
                <a:alpha val="40000"/>
              </a:srgbClr>
            </a:outerShdw>
          </a:effectLst>
          <a:scene3d>
            <a:camera prst="orthographicFront">
              <a:rot lat="0" lon="0" rev="0"/>
            </a:camera>
            <a:lightRig rig="balanced" dir="t">
              <a:rot lat="0" lon="0" rev="4800000"/>
            </a:lightRig>
          </a:scene3d>
          <a:sp3d prstMaterial="matte">
            <a:bevelT w="63500" h="50800" prst="angle"/>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tailEnd type="triangle" w="lg" len="lg"/>
        </a:ln>
      </a:spPr>
      <a:bodyPr/>
      <a:lstStyle/>
      <a:style>
        <a:lnRef idx="2">
          <a:schemeClr val="dk1"/>
        </a:lnRef>
        <a:fillRef idx="0">
          <a:schemeClr val="dk1"/>
        </a:fillRef>
        <a:effectRef idx="1">
          <a:schemeClr val="dk1"/>
        </a:effectRef>
        <a:fontRef idx="minor">
          <a:schemeClr val="tx1"/>
        </a:fontRef>
      </a:style>
    </a:lnDef>
  </a:objectDefaults>
  <a:extraClrSchemeLst/>
  <a:extLst>
    <a:ext uri="{05A4C25C-085E-4340-85A3-A5531E510DB2}">
      <thm15:themeFamily xmlns:thm15="http://schemas.microsoft.com/office/thememl/2012/main" name="AIUB 2020" id="{6B78C454-D1CF-492E-B5BA-3A1A569F1B4B}" vid="{2226A40E-D5BE-4EBF-B1D5-CA96A690A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BE34F36449696C4D9A39A602A84CD659" ma:contentTypeVersion="2" ma:contentTypeDescription="Create a new document." ma:contentTypeScope="" ma:versionID="e13de4224e8596c5bbe69247c07125c1">
  <xsd:schema xmlns:xsd="http://www.w3.org/2001/XMLSchema" xmlns:xs="http://www.w3.org/2001/XMLSchema" xmlns:p="http://schemas.microsoft.com/office/2006/metadata/properties" xmlns:ns2="d2759a66-45ac-4dcc-97a7-1d1447a6f8ca" targetNamespace="http://schemas.microsoft.com/office/2006/metadata/properties" ma:root="true" ma:fieldsID="33182f9908a056a3534a0f208b979359" ns2:_="">
    <xsd:import namespace="d2759a66-45ac-4dcc-97a7-1d1447a6f8ca"/>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2759a66-45ac-4dcc-97a7-1d1447a6f8c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95C4A7F-F565-4A75-A15C-A0AD86FAD7E2}">
  <ds:schemaRefs>
    <ds:schemaRef ds:uri="http://schemas.microsoft.com/sharepoint/v3/contenttype/forms"/>
  </ds:schemaRefs>
</ds:datastoreItem>
</file>

<file path=customXml/itemProps2.xml><?xml version="1.0" encoding="utf-8"?>
<ds:datastoreItem xmlns:ds="http://schemas.openxmlformats.org/officeDocument/2006/customXml" ds:itemID="{BA71BA36-A435-4662-9CDA-6D5E69F346E1}">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70820C20-8805-4076-9AD5-A95F6357AD0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2759a66-45ac-4dcc-97a7-1d1447a6f8c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AIUB 2020</Template>
  <TotalTime>765</TotalTime>
  <Words>2149</Words>
  <Application>Microsoft Office PowerPoint</Application>
  <PresentationFormat>On-screen Show (4:3)</PresentationFormat>
  <Paragraphs>211</Paragraphs>
  <Slides>20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20</vt:i4>
      </vt:variant>
    </vt:vector>
  </HeadingPairs>
  <TitlesOfParts>
    <vt:vector size="29" baseType="lpstr">
      <vt:lpstr>arial</vt:lpstr>
      <vt:lpstr>Arial Black</vt:lpstr>
      <vt:lpstr>Calibri</vt:lpstr>
      <vt:lpstr>Cambria Math</vt:lpstr>
      <vt:lpstr>Corbel</vt:lpstr>
      <vt:lpstr>Symbol</vt:lpstr>
      <vt:lpstr>Times New Roman</vt:lpstr>
      <vt:lpstr>Wingdings</vt:lpstr>
      <vt:lpstr>AIUB 2020</vt:lpstr>
      <vt:lpstr>Computability Theory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Turing Machines</vt:lpstr>
      <vt:lpstr>Hilbert’s 10th Problem</vt:lpstr>
      <vt:lpstr>PowerPoint Presentation</vt:lpstr>
      <vt:lpstr>PowerPoint Presentation</vt:lpstr>
      <vt:lpstr>PowerPoint Presentation</vt:lpstr>
      <vt:lpstr>PowerPoint Presentation</vt:lpstr>
      <vt:lpstr>PowerPoint Presentation</vt:lpstr>
      <vt:lpstr>Informal Description</vt:lpstr>
      <vt:lpstr>Input Convention</vt:lpstr>
      <vt:lpstr>PowerPoint Presentation</vt:lpstr>
      <vt:lpstr>Output convention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Computability Theory</dc:title>
  <dc:creator>Mashiour Rahman</dc:creator>
  <cp:lastModifiedBy>Sharfuddin Mahmood</cp:lastModifiedBy>
  <cp:revision>225</cp:revision>
  <dcterms:created xsi:type="dcterms:W3CDTF">2020-08-16T13:40:51Z</dcterms:created>
  <dcterms:modified xsi:type="dcterms:W3CDTF">2024-12-09T12:05:27Z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0x010100BE34F36449696C4D9A39A602A84CD659</vt:lpwstr>
  </property>
</Properties>
</file>
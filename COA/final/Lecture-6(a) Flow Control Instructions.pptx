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90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80" r:id="rId18"/>
    <p:sldId id="281" r:id="rId19"/>
    <p:sldId id="282" r:id="rId20"/>
    <p:sldId id="283" r:id="rId21"/>
    <p:sldId id="291" r:id="rId22"/>
    <p:sldId id="284" r:id="rId23"/>
    <p:sldId id="285" r:id="rId24"/>
    <p:sldId id="292" r:id="rId25"/>
    <p:sldId id="286" r:id="rId26"/>
    <p:sldId id="287" r:id="rId27"/>
    <p:sldId id="293" r:id="rId28"/>
    <p:sldId id="288" r:id="rId29"/>
    <p:sldId id="294" r:id="rId30"/>
    <p:sldId id="289" r:id="rId31"/>
    <p:sldId id="265" r:id="rId32"/>
    <p:sldId id="264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645193-C6C6-9B42-AD83-E203D6DADB05}" v="1" dt="2026-01-06T14:28:30.2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02"/>
    <p:restoredTop sz="94315" autoAdjust="0"/>
  </p:normalViewPr>
  <p:slideViewPr>
    <p:cSldViewPr snapToGrid="0" snapToObjects="1">
      <p:cViewPr varScale="1">
        <p:scale>
          <a:sx n="112" d="100"/>
          <a:sy n="112" d="100"/>
        </p:scale>
        <p:origin x="1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NAN BIN ISLAM NAHIN" userId="288682b4-77b6-4f3e-a0c4-4af26aad528b" providerId="ADAL" clId="{79988929-352C-57E9-A43B-A5F2C3021FFB}"/>
    <pc:docChg chg="modSld">
      <pc:chgData name="AFNAN BIN ISLAM NAHIN" userId="288682b4-77b6-4f3e-a0c4-4af26aad528b" providerId="ADAL" clId="{79988929-352C-57E9-A43B-A5F2C3021FFB}" dt="2026-01-06T14:29:06.995" v="2"/>
      <pc:docMkLst>
        <pc:docMk/>
      </pc:docMkLst>
      <pc:sldChg chg="addSp delSp modSp mod">
        <pc:chgData name="AFNAN BIN ISLAM NAHIN" userId="288682b4-77b6-4f3e-a0c4-4af26aad528b" providerId="ADAL" clId="{79988929-352C-57E9-A43B-A5F2C3021FFB}" dt="2026-01-06T14:29:06.995" v="2"/>
        <pc:sldMkLst>
          <pc:docMk/>
          <pc:sldMk cId="1691010337" sldId="268"/>
        </pc:sldMkLst>
        <pc:spChg chg="add del mod">
          <ac:chgData name="AFNAN BIN ISLAM NAHIN" userId="288682b4-77b6-4f3e-a0c4-4af26aad528b" providerId="ADAL" clId="{79988929-352C-57E9-A43B-A5F2C3021FFB}" dt="2026-01-06T14:29:06.995" v="2"/>
          <ac:spMkLst>
            <pc:docMk/>
            <pc:sldMk cId="1691010337" sldId="268"/>
            <ac:spMk id="4" creationId="{12B208EB-0EB9-42D3-DC00-DEC65477826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share.net/prodipghoshjoy/flow-control-instructions-60602372" TargetMode="Externa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Helvetica Neue"/>
                <a:cs typeface="Helvetica Neue"/>
                <a:sym typeface="Helvetica Neue"/>
              </a:rPr>
              <a:t>Flow Control Instructions</a:t>
            </a:r>
            <a:r>
              <a:rPr lang="en-US" sz="4400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	</a:t>
            </a:r>
            <a:endParaRPr lang="en-US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2106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521678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40488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3643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50021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Summer 23-24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38254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and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551963"/>
          </a:xfrm>
        </p:spPr>
        <p:txBody>
          <a:bodyPr>
            <a:noAutofit/>
          </a:bodyPr>
          <a:lstStyle/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Decision making and repeating statement</a:t>
            </a:r>
          </a:p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Jump and loop instructions</a:t>
            </a:r>
          </a:p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Algorithm conversion to assembly language</a:t>
            </a:r>
          </a:p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High-Level Language Structures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Jump and Loop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1" y="2159745"/>
            <a:ext cx="7545023" cy="3924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8388" lvl="0" indent="-938388">
              <a:buClr>
                <a:srgbClr val="FFFFFF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Jump and Loop instructions transfers control to another program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The transfers can be unconditional  or 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Depends on a particular combination of status flags settings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Conversion of algorithm is easier in assembly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+mn-lt"/>
                <a:ea typeface="Helvetica Neue"/>
                <a:cs typeface="Helvetica Neue"/>
                <a:sym typeface="Helvetica Neue"/>
              </a:rPr>
              <a:t>Example of Jump</a:t>
            </a:r>
            <a:endParaRPr lang="en-US" sz="4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8543" y="2770910"/>
            <a:ext cx="29868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.MODEL SMALL                                                       </a:t>
            </a:r>
          </a:p>
          <a:p>
            <a:r>
              <a:rPr lang="en-US" sz="2000" dirty="0"/>
              <a:t>.STACK 100</a:t>
            </a:r>
          </a:p>
          <a:p>
            <a:r>
              <a:rPr lang="en-US" sz="2000" dirty="0"/>
              <a:t>.DATA</a:t>
            </a:r>
          </a:p>
          <a:p>
            <a:r>
              <a:rPr lang="en-US" sz="2000" dirty="0"/>
              <a:t>.CODE</a:t>
            </a:r>
          </a:p>
          <a:p>
            <a:r>
              <a:rPr lang="en-US" sz="2000" dirty="0"/>
              <a:t>MAIN PROC</a:t>
            </a:r>
          </a:p>
          <a:p>
            <a:r>
              <a:rPr lang="en-US" sz="2000" dirty="0"/>
              <a:t>MOV AH,2</a:t>
            </a:r>
          </a:p>
          <a:p>
            <a:r>
              <a:rPr lang="en-US" sz="2000" dirty="0"/>
              <a:t>MOV CX,256</a:t>
            </a:r>
          </a:p>
          <a:p>
            <a:r>
              <a:rPr lang="en-US" sz="2000" dirty="0"/>
              <a:t>MOV DL,0 ;ASCII of null</a:t>
            </a:r>
          </a:p>
          <a:p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4710546" y="2646218"/>
            <a:ext cx="3200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PRINT_LOOP:</a:t>
            </a:r>
          </a:p>
          <a:p>
            <a:r>
              <a:rPr lang="en-US" sz="2000" dirty="0"/>
              <a:t>INT 21H</a:t>
            </a:r>
          </a:p>
          <a:p>
            <a:r>
              <a:rPr lang="en-US" sz="2000" dirty="0"/>
              <a:t>INC DL</a:t>
            </a:r>
          </a:p>
          <a:p>
            <a:r>
              <a:rPr lang="en-US" sz="2000" dirty="0"/>
              <a:t>DEC CX</a:t>
            </a:r>
          </a:p>
          <a:p>
            <a:r>
              <a:rPr lang="en-US" sz="2000" dirty="0"/>
              <a:t>JNZ PRINT_LOOP</a:t>
            </a:r>
          </a:p>
          <a:p>
            <a:r>
              <a:rPr lang="en-US" sz="2000" dirty="0"/>
              <a:t>MOV AH,4CH</a:t>
            </a:r>
          </a:p>
          <a:p>
            <a:r>
              <a:rPr lang="en-US" sz="2000" dirty="0"/>
              <a:t>INT 21H</a:t>
            </a:r>
          </a:p>
          <a:p>
            <a:r>
              <a:rPr lang="en-US" sz="2000" dirty="0"/>
              <a:t>MAIN ENDP</a:t>
            </a:r>
          </a:p>
          <a:p>
            <a:r>
              <a:rPr lang="en-US" sz="2000" dirty="0"/>
              <a:t>END MAIN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C6017-C912-BB70-EA70-95ABAD41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159868-680A-EF0B-2BCE-D0FE3171D3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795393"/>
              </p:ext>
            </p:extLst>
          </p:nvPr>
        </p:nvGraphicFramePr>
        <p:xfrm>
          <a:off x="500742" y="1730827"/>
          <a:ext cx="7935684" cy="4691742"/>
        </p:xfrm>
        <a:graphic>
          <a:graphicData uri="http://schemas.openxmlformats.org/drawingml/2006/table">
            <a:tbl>
              <a:tblPr/>
              <a:tblGrid>
                <a:gridCol w="2645228">
                  <a:extLst>
                    <a:ext uri="{9D8B030D-6E8A-4147-A177-3AD203B41FA5}">
                      <a16:colId xmlns:a16="http://schemas.microsoft.com/office/drawing/2014/main" val="3143388058"/>
                    </a:ext>
                  </a:extLst>
                </a:gridCol>
                <a:gridCol w="2645228">
                  <a:extLst>
                    <a:ext uri="{9D8B030D-6E8A-4147-A177-3AD203B41FA5}">
                      <a16:colId xmlns:a16="http://schemas.microsoft.com/office/drawing/2014/main" val="361859749"/>
                    </a:ext>
                  </a:extLst>
                </a:gridCol>
                <a:gridCol w="2645228">
                  <a:extLst>
                    <a:ext uri="{9D8B030D-6E8A-4147-A177-3AD203B41FA5}">
                      <a16:colId xmlns:a16="http://schemas.microsoft.com/office/drawing/2014/main" val="300110194"/>
                    </a:ext>
                  </a:extLst>
                </a:gridCol>
              </a:tblGrid>
              <a:tr h="203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Instruction</a:t>
                      </a:r>
                      <a:endParaRPr lang="en-US" sz="1050" dirty="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Meaning / Purpose</a:t>
                      </a:r>
                      <a:endParaRPr lang="en-US" sz="105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Explanation</a:t>
                      </a:r>
                      <a:endParaRPr lang="en-US" sz="105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173464"/>
                  </a:ext>
                </a:extLst>
              </a:tr>
              <a:tr h="374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latin typeface="Courier New" panose="02070309020205020404" pitchFamily="49" charset="0"/>
                        </a:rPr>
                        <a:t>.MODEL SMALL</a:t>
                      </a:r>
                      <a:endParaRPr lang="en-US" sz="1050" dirty="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Memory model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Program uses </a:t>
                      </a:r>
                      <a:r>
                        <a:rPr lang="en-US" sz="1050" b="1"/>
                        <a:t>small</a:t>
                      </a:r>
                      <a:r>
                        <a:rPr lang="en-US" sz="1050"/>
                        <a:t> model (separate code &amp; data &lt; 64 KB each).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962584"/>
                  </a:ext>
                </a:extLst>
              </a:tr>
              <a:tr h="226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.STACK 100</a:t>
                      </a:r>
                      <a:endParaRPr lang="en-US" sz="105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Stack segment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Allocates </a:t>
                      </a:r>
                      <a:r>
                        <a:rPr lang="en-US" sz="1050" b="1"/>
                        <a:t>256 bytes</a:t>
                      </a:r>
                      <a:r>
                        <a:rPr lang="en-US" sz="1050"/>
                        <a:t> of stack.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556665"/>
                  </a:ext>
                </a:extLst>
              </a:tr>
              <a:tr h="226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.DATA</a:t>
                      </a:r>
                      <a:endParaRPr lang="en-US" sz="105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Data segment start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No data is defined here.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964353"/>
                  </a:ext>
                </a:extLst>
              </a:tr>
              <a:tr h="226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.CODE</a:t>
                      </a:r>
                      <a:endParaRPr lang="en-US" sz="105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Code segment start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Begins program instructions.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687689"/>
                  </a:ext>
                </a:extLst>
              </a:tr>
              <a:tr h="203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MAIN PROC</a:t>
                      </a:r>
                      <a:endParaRPr lang="en-US" sz="105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Start of procedure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Entry point of program.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108834"/>
                  </a:ext>
                </a:extLst>
              </a:tr>
              <a:tr h="374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MOV AH, 2</a:t>
                      </a:r>
                      <a:endParaRPr lang="en-US" sz="105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Setup display function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INT 21h/02h prints </a:t>
                      </a:r>
                      <a:r>
                        <a:rPr lang="en-US" sz="1050" b="1"/>
                        <a:t>one character</a:t>
                      </a:r>
                      <a:r>
                        <a:rPr lang="en-US" sz="1050"/>
                        <a:t> stored in DL.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577719"/>
                  </a:ext>
                </a:extLst>
              </a:tr>
              <a:tr h="374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MOV CX, 256</a:t>
                      </a:r>
                      <a:endParaRPr lang="en-US" sz="105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Loop counter = 256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Will run loop </a:t>
                      </a:r>
                      <a:r>
                        <a:rPr lang="en-US" sz="1050" b="1"/>
                        <a:t>256 times</a:t>
                      </a:r>
                      <a:r>
                        <a:rPr lang="en-US" sz="1050"/>
                        <a:t> (for all ASCII values 0–255).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193911"/>
                  </a:ext>
                </a:extLst>
              </a:tr>
              <a:tr h="374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MOV DL, 0</a:t>
                      </a:r>
                      <a:endParaRPr lang="en-US" sz="105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Start ASCII at 0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DL = 0 (NULL), the first ASCII character to print.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214116"/>
                  </a:ext>
                </a:extLst>
              </a:tr>
              <a:tr h="226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PRINT_LOOP:</a:t>
                      </a:r>
                      <a:endParaRPr lang="en-US" sz="105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Loop label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Marks the start of the printing loop.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944656"/>
                  </a:ext>
                </a:extLst>
              </a:tr>
              <a:tr h="322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INT 21H</a:t>
                      </a:r>
                      <a:endParaRPr lang="en-US" sz="105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Print character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Prints the ASCII character currently in DL.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337014"/>
                  </a:ext>
                </a:extLst>
              </a:tr>
              <a:tr h="322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INC DL</a:t>
                      </a:r>
                      <a:endParaRPr lang="en-US" sz="105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Increment ASCII value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DL = DL + 1 → prints next character next time.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546987"/>
                  </a:ext>
                </a:extLst>
              </a:tr>
              <a:tr h="203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DEC CX</a:t>
                      </a:r>
                      <a:endParaRPr lang="en-US" sz="105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Decrease loop count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Stops after 256 prints.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566831"/>
                  </a:ext>
                </a:extLst>
              </a:tr>
              <a:tr h="226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JNZ PRINT_LOOP</a:t>
                      </a:r>
                      <a:endParaRPr lang="en-US" sz="105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Jump if CX ≠ 0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Repeats loop until CX reaches 0.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0074537"/>
                  </a:ext>
                </a:extLst>
              </a:tr>
              <a:tr h="226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MOV AH, 4CH</a:t>
                      </a:r>
                      <a:endParaRPr lang="en-US" sz="105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Program terminate call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50"/>
                        <a:t>Prepares DOS interrupt to exit program.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849155"/>
                  </a:ext>
                </a:extLst>
              </a:tr>
              <a:tr h="226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INT 21H</a:t>
                      </a:r>
                      <a:endParaRPr lang="en-US" sz="105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Exit program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Returns control to DOS.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448406"/>
                  </a:ext>
                </a:extLst>
              </a:tr>
              <a:tr h="130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latin typeface="Courier New" panose="02070309020205020404" pitchFamily="49" charset="0"/>
                        </a:rPr>
                        <a:t>MAIN ENDP</a:t>
                      </a:r>
                      <a:endParaRPr lang="en-US" sz="60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End of procedure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Procedure ends.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50299"/>
                  </a:ext>
                </a:extLst>
              </a:tr>
              <a:tr h="226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latin typeface="Courier New" panose="02070309020205020404" pitchFamily="49" charset="0"/>
                        </a:rPr>
                        <a:t>END MAIN</a:t>
                      </a:r>
                      <a:endParaRPr lang="en-US" sz="600"/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End of program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/>
                        <a:t>Tells assembler program entry is MAIN.</a:t>
                      </a:r>
                    </a:p>
                  </a:txBody>
                  <a:tcPr marL="30950" marR="30950" marT="15475" marB="15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082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6171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712242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JNZ (Jump if Not Zero)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0789" y="2242170"/>
            <a:ext cx="8241632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JNZ is the instruction that controls loop.</a:t>
            </a:r>
          </a:p>
          <a:p>
            <a:pPr marL="635386" lvl="0" indent="-635386" algn="just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If result of preceding instruction is not Zero Then the JNZ transfers the control to the instruction at label PRINT_LOOP.</a:t>
            </a:r>
          </a:p>
          <a:p>
            <a:pPr marL="635386" lvl="0" indent="-635386" algn="just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If the preceding instruction contains zero (i.e. CX=0) then the program goes to execute DOS return instructions.</a:t>
            </a:r>
          </a:p>
          <a:p>
            <a:pPr marL="635386" lvl="0" indent="-635386" algn="just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PRINT_LOOP is the first statement label</a:t>
            </a:r>
          </a:p>
          <a:p>
            <a:pPr marL="635386" lvl="0" indent="-635386" algn="just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Labels are needed to refer another instruction</a:t>
            </a:r>
          </a:p>
          <a:p>
            <a:pPr marL="635386" lvl="0" indent="-635386" algn="just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Labels end with colon (:)</a:t>
            </a:r>
          </a:p>
          <a:p>
            <a:pPr marL="635386" lvl="0" indent="-635386" algn="just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Labels are placed on a line by themselves to make it stand out.</a:t>
            </a:r>
          </a:p>
        </p:txBody>
      </p:sp>
    </p:spTree>
    <p:extLst>
      <p:ext uri="{BB962C8B-B14F-4D97-AF65-F5344CB8AC3E}">
        <p14:creationId xmlns:p14="http://schemas.microsoft.com/office/powerpoint/2010/main" val="1691010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712242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Conditional Jumps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2662" y="2088241"/>
            <a:ext cx="8710863" cy="394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4557" lvl="0" indent="-904557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400" dirty="0">
              <a:ea typeface="Helvetica Neue"/>
              <a:cs typeface="Helvetica Neue"/>
              <a:sym typeface="Helvetica Neue"/>
            </a:endParaRPr>
          </a:p>
          <a:p>
            <a:pPr marL="904557" lvl="0" indent="-904557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JNZ is an example of Conditional Jump Instruction:</a:t>
            </a:r>
          </a:p>
          <a:p>
            <a:pPr marL="904557" lvl="0" indent="-904557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b="1" dirty="0">
              <a:ea typeface="Helvetica Neue"/>
              <a:cs typeface="Helvetica Neue"/>
              <a:sym typeface="Helvetica Neue"/>
            </a:endParaRPr>
          </a:p>
          <a:p>
            <a:pPr marL="904557" lvl="0" indent="-904557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            JXXX   </a:t>
            </a:r>
            <a:r>
              <a:rPr lang="en-US" sz="2000" b="1" dirty="0" err="1">
                <a:ea typeface="Helvetica Neue"/>
                <a:cs typeface="Helvetica Neue"/>
                <a:sym typeface="Helvetica Neue"/>
              </a:rPr>
              <a:t>destination_label</a:t>
            </a:r>
            <a:r>
              <a:rPr lang="en-US" sz="2000" b="1" dirty="0"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904557" lvl="0" indent="-904557">
              <a:lnSpc>
                <a:spcPct val="90000"/>
              </a:lnSpc>
              <a:spcBef>
                <a:spcPts val="41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if the condition for the jump is true, the next instruction to be executed is at </a:t>
            </a:r>
            <a:r>
              <a:rPr lang="en-US" sz="2000" b="1" dirty="0" err="1">
                <a:ea typeface="Helvetica Neue"/>
                <a:cs typeface="Helvetica Neue"/>
                <a:sym typeface="Helvetica Neue"/>
              </a:rPr>
              <a:t>destination_label</a:t>
            </a:r>
            <a:endParaRPr lang="en-US" sz="2000" b="1" dirty="0">
              <a:ea typeface="Helvetica Neue"/>
              <a:cs typeface="Helvetica Neue"/>
              <a:sym typeface="Helvetica Neue"/>
            </a:endParaRPr>
          </a:p>
          <a:p>
            <a:pPr marL="904557" lvl="0" indent="-904557">
              <a:lnSpc>
                <a:spcPct val="90000"/>
              </a:lnSpc>
              <a:spcBef>
                <a:spcPts val="41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If condition is false, the instruction following the jump is done next. </a:t>
            </a:r>
          </a:p>
          <a:p>
            <a:pPr marL="904557" lvl="0" indent="-904557">
              <a:lnSpc>
                <a:spcPct val="90000"/>
              </a:lnSpc>
              <a:spcBef>
                <a:spcPts val="41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i.e. for JNZ if the preceding instruction is non-zero</a:t>
            </a:r>
          </a:p>
        </p:txBody>
      </p:sp>
    </p:spTree>
    <p:extLst>
      <p:ext uri="{BB962C8B-B14F-4D97-AF65-F5344CB8AC3E}">
        <p14:creationId xmlns:p14="http://schemas.microsoft.com/office/powerpoint/2010/main" val="1706013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1256310"/>
            <a:ext cx="7808976" cy="108813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Implementation of Conditional JUMP by </a:t>
            </a:r>
            <a:br>
              <a:rPr lang="en-US" sz="32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</a:br>
            <a:r>
              <a:rPr lang="en-US" sz="32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CPU</a:t>
            </a:r>
            <a:br>
              <a:rPr lang="en-US" sz="3200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</a:br>
            <a:endParaRPr lang="en-US" sz="3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1340" y="2153301"/>
            <a:ext cx="8145143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8388" lvl="0" indent="-938388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The CPU looks at the FLAGS register (it reflects the result of last thing that processor did)</a:t>
            </a:r>
          </a:p>
          <a:p>
            <a:pPr marL="938388" lvl="0" indent="-938388">
              <a:lnSpc>
                <a:spcPct val="90000"/>
              </a:lnSpc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If the conditions for the jump (combination of status flag settings) are true, the CPU adjusts the IP to point to the destination label.</a:t>
            </a:r>
          </a:p>
          <a:p>
            <a:pPr marL="938388" lvl="0" indent="-938388">
              <a:lnSpc>
                <a:spcPct val="90000"/>
              </a:lnSpc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The instruction at this label will be done next.</a:t>
            </a:r>
          </a:p>
          <a:p>
            <a:pPr marL="938388" lvl="0" indent="-938388">
              <a:lnSpc>
                <a:spcPct val="90000"/>
              </a:lnSpc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If the jump condition is false, then IP is not altered and naturally the next instruction is performed.</a:t>
            </a:r>
          </a:p>
        </p:txBody>
      </p:sp>
    </p:spTree>
    <p:extLst>
      <p:ext uri="{BB962C8B-B14F-4D97-AF65-F5344CB8AC3E}">
        <p14:creationId xmlns:p14="http://schemas.microsoft.com/office/powerpoint/2010/main" val="3940324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0" y="411453"/>
            <a:ext cx="7808976" cy="108813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Example(cont’d…)</a:t>
            </a:r>
            <a:endParaRPr lang="en-US" sz="3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6114" y="2375172"/>
            <a:ext cx="7291137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FFFFFF"/>
              </a:buClr>
              <a:buSzPct val="75000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In the previous example: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The JNZ PRINT_LOOP is executed by inspecting ZF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If ZF=0 then control is transferred to PRINT_LOOP and continues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If the ZF=1 then the program goes on to execute next (i.e. MOV AH,4CH)</a:t>
            </a:r>
          </a:p>
        </p:txBody>
      </p:sp>
    </p:spTree>
    <p:extLst>
      <p:ext uri="{BB962C8B-B14F-4D97-AF65-F5344CB8AC3E}">
        <p14:creationId xmlns:p14="http://schemas.microsoft.com/office/powerpoint/2010/main" val="1232732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0" y="411453"/>
            <a:ext cx="7808976" cy="1088136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CMP Instruction</a:t>
            </a:r>
            <a:endParaRPr lang="en-US" sz="4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2898" y="2038287"/>
            <a:ext cx="849406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CMP destination , source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b="1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Compares the destination with source by computing contents 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It computes by…  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b="1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            destination contents - source contents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b="1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The result is not stored but the FLAGS are affected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The OPERANDS of CMP may not both be Memory Locations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Destination may not be </a:t>
            </a:r>
            <a:r>
              <a:rPr lang="en-US" sz="2000" b="1" dirty="0">
                <a:ea typeface="Helvetica Neue"/>
                <a:cs typeface="Helvetica Neue"/>
                <a:sym typeface="Helvetica Neue"/>
              </a:rPr>
              <a:t>CONSTANT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b="1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CMP is just like SUB</a:t>
            </a:r>
            <a:r>
              <a:rPr lang="en-US" sz="2000" dirty="0">
                <a:ea typeface="Helvetica Neue"/>
                <a:cs typeface="Helvetica Neue"/>
                <a:sym typeface="Helvetica Neue"/>
              </a:rPr>
              <a:t>. However result is not stored in destination.</a:t>
            </a:r>
          </a:p>
        </p:txBody>
      </p:sp>
    </p:spTree>
    <p:extLst>
      <p:ext uri="{BB962C8B-B14F-4D97-AF65-F5344CB8AC3E}">
        <p14:creationId xmlns:p14="http://schemas.microsoft.com/office/powerpoint/2010/main" val="3721954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9342" y="411453"/>
            <a:ext cx="6210749" cy="1088136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Signed Conditional Jumps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4" name="Shape 91"/>
          <p:cNvGraphicFramePr/>
          <p:nvPr>
            <p:extLst>
              <p:ext uri="{D42A27DB-BD31-4B8C-83A1-F6EECF244321}">
                <p14:modId xmlns:p14="http://schemas.microsoft.com/office/powerpoint/2010/main" val="3990164781"/>
              </p:ext>
            </p:extLst>
          </p:nvPr>
        </p:nvGraphicFramePr>
        <p:xfrm>
          <a:off x="336885" y="2189748"/>
          <a:ext cx="8422103" cy="376588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43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4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62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JG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JNLE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Greater than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Less than or Equal to 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ZF = 0 and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SF = OF</a:t>
                      </a:r>
                      <a:endParaRPr lang="en-US" sz="180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69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JGE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JNL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Greater than or Equal to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less than or Equal to 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SF = OF</a:t>
                      </a:r>
                      <a:endParaRPr lang="en-US" sz="180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75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JL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JNGE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less than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greater than or equal</a:t>
                      </a:r>
                      <a:endParaRPr lang="en-US" sz="180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SF&lt;&gt;OF</a:t>
                      </a:r>
                      <a:endParaRPr lang="en-US" sz="180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51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JLE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JNG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less than or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greater than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ZF = 1 or SF&lt;&gt; OF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557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0899" y="866274"/>
            <a:ext cx="6210749" cy="1138642"/>
          </a:xfrm>
        </p:spPr>
        <p:txBody>
          <a:bodyPr>
            <a:noAutofit/>
          </a:bodyPr>
          <a:lstStyle/>
          <a:p>
            <a:b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</a:br>
            <a:b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</a:br>
            <a:b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</a:br>
            <a:b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</a:br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Unsigned Conditional Jumps</a:t>
            </a:r>
            <a:br>
              <a:rPr lang="en-US" sz="1800" b="1" dirty="0">
                <a:solidFill>
                  <a:srgbClr val="FFFFFF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</a:b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5" name="Shape 97"/>
          <p:cNvGraphicFramePr/>
          <p:nvPr>
            <p:extLst>
              <p:ext uri="{D42A27DB-BD31-4B8C-83A1-F6EECF244321}">
                <p14:modId xmlns:p14="http://schemas.microsoft.com/office/powerpoint/2010/main" val="3898482543"/>
              </p:ext>
            </p:extLst>
          </p:nvPr>
        </p:nvGraphicFramePr>
        <p:xfrm>
          <a:off x="300789" y="2237874"/>
          <a:ext cx="8205538" cy="371498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04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750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JA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JNBE</a:t>
                      </a:r>
                      <a:endParaRPr lang="en-US" sz="20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Above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Below or Equal to 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ZF = 0 and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CF = 0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941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JAE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JNB</a:t>
                      </a:r>
                      <a:endParaRPr lang="en-US" sz="20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Above or Equal to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Below 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CF = 0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0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JB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JNAE</a:t>
                      </a:r>
                      <a:endParaRPr lang="en-US" sz="20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Below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Above or Equal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CF = 1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97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JBE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JNA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Below or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Above</a:t>
                      </a:r>
                      <a:endParaRPr lang="en-US" sz="20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CF=1 or ZF = 1</a:t>
                      </a:r>
                      <a:endParaRPr lang="en-US" sz="20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013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hape 103"/>
          <p:cNvGraphicFramePr/>
          <p:nvPr>
            <p:extLst>
              <p:ext uri="{D42A27DB-BD31-4B8C-83A1-F6EECF244321}">
                <p14:modId xmlns:p14="http://schemas.microsoft.com/office/powerpoint/2010/main" val="3036816085"/>
              </p:ext>
            </p:extLst>
          </p:nvPr>
        </p:nvGraphicFramePr>
        <p:xfrm>
          <a:off x="240633" y="1515977"/>
          <a:ext cx="8903367" cy="503929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32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495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JE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JZ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equal to Zero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ZF = 1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52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JNZ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Not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Not Zero 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ZF = 0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96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JC 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Carry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 = 1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 = 0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93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JNC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 Carry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CF=0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25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JO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Overflow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CF=1 or ZF = 1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25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JNO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 Overflow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OF=1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25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JS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Sign Negative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SF = 1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425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JNS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Non-Negative Sign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SF =0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425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JP/JPE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Parity Even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PF=1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425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JNP/JPO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parity Odd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PF=0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54E002-EF18-F941-EAE1-AB4A2D26CDFC}"/>
              </a:ext>
            </a:extLst>
          </p:cNvPr>
          <p:cNvSpPr txBox="1"/>
          <p:nvPr/>
        </p:nvSpPr>
        <p:spPr>
          <a:xfrm>
            <a:off x="240633" y="694565"/>
            <a:ext cx="45790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+mn-lt"/>
                <a:ea typeface="Helvetica Neue"/>
                <a:cs typeface="Helvetica Neue"/>
                <a:sym typeface="Helvetica Neue"/>
              </a:rPr>
              <a:t>Single-Flag Jumps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78489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109577"/>
            <a:ext cx="7210716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Conditional Jumps Interpretation</a:t>
            </a:r>
            <a:r>
              <a:rPr lang="en-US" sz="4000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	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0316" y="2021304"/>
            <a:ext cx="879508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dirty="0">
                <a:ea typeface="Helvetica Neue"/>
                <a:cs typeface="Helvetica Neue"/>
                <a:sym typeface="Helvetica Neue"/>
              </a:rPr>
              <a:t>Signed JUMPs correspond to an analogous unsigned JUMPs (i.e. JG is equivalent to JA)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dirty="0">
                <a:ea typeface="Helvetica Neue"/>
                <a:cs typeface="Helvetica Neue"/>
                <a:sym typeface="Helvetica Neue"/>
              </a:rPr>
              <a:t>Signed jump’s operates on ZF, SF and OF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dirty="0">
                <a:ea typeface="Helvetica Neue"/>
                <a:cs typeface="Helvetica Neue"/>
                <a:sym typeface="Helvetica Neue"/>
              </a:rPr>
              <a:t>Unsigned JUMP’s operates on ZF and CF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dirty="0">
                <a:ea typeface="Helvetica Neue"/>
                <a:cs typeface="Helvetica Neue"/>
                <a:sym typeface="Helvetica Neue"/>
              </a:rPr>
              <a:t>Using wrong kind of JUMP can lead to wrong results. For example: for AX= 7FFFh and BX= 8000h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b="1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b="1" dirty="0">
                <a:ea typeface="Helvetica Neue"/>
                <a:cs typeface="Helvetica Neue"/>
                <a:sym typeface="Helvetica Neue"/>
              </a:rPr>
              <a:t>                          CMP AX,BX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b="1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b="1" dirty="0">
                <a:ea typeface="Helvetica Neue"/>
                <a:cs typeface="Helvetica Neue"/>
                <a:sym typeface="Helvetica Neue"/>
              </a:rPr>
              <a:t>                        JA BELOW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b="1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dirty="0">
                <a:ea typeface="Helvetica Neue"/>
                <a:cs typeface="Helvetica Neue"/>
                <a:sym typeface="Helvetica Neue"/>
              </a:rPr>
              <a:t>Even though 7FFFh&gt;8000h in a signed sense, the program does not jump to label BELOW. Because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dirty="0">
                <a:ea typeface="Helvetica Neue"/>
                <a:cs typeface="Helvetica Neue"/>
                <a:sym typeface="Helvetica Neue"/>
              </a:rPr>
              <a:t>In unsigned sense (JA)  7FFFh &lt; 8000h</a:t>
            </a:r>
          </a:p>
        </p:txBody>
      </p:sp>
    </p:spTree>
    <p:extLst>
      <p:ext uri="{BB962C8B-B14F-4D97-AF65-F5344CB8AC3E}">
        <p14:creationId xmlns:p14="http://schemas.microsoft.com/office/powerpoint/2010/main" val="2303272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584" y="878305"/>
            <a:ext cx="6460079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Working with Characters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5326" y="2562456"/>
            <a:ext cx="7411453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8388" lvl="0" indent="-938388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To deal with ASCII character set, either Signed or Unsigned jumps may be used.</a:t>
            </a:r>
          </a:p>
          <a:p>
            <a:pPr marL="0" lvl="1">
              <a:spcBef>
                <a:spcPts val="4200"/>
              </a:spcBef>
              <a:buClr>
                <a:srgbClr val="FFFFFF"/>
              </a:buClr>
              <a:buSzPct val="25000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  </a:t>
            </a:r>
            <a:r>
              <a:rPr lang="en-US" sz="2000" b="1" dirty="0">
                <a:ea typeface="Helvetica Neue"/>
                <a:cs typeface="Helvetica Neue"/>
                <a:sym typeface="Helvetica Neue"/>
              </a:rPr>
              <a:t>	i.e. sign bit of a byte in a character is always    zero. 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However, while comparing extended ASCII characters (80h to </a:t>
            </a:r>
            <a:r>
              <a:rPr lang="en-US" sz="2000" dirty="0" err="1">
                <a:ea typeface="Helvetica Neue"/>
                <a:cs typeface="Helvetica Neue"/>
                <a:sym typeface="Helvetica Neue"/>
              </a:rPr>
              <a:t>FFh</a:t>
            </a:r>
            <a:r>
              <a:rPr lang="en-US" sz="2000" dirty="0">
                <a:ea typeface="Helvetica Neue"/>
                <a:cs typeface="Helvetica Neue"/>
                <a:sym typeface="Helvetica Neue"/>
              </a:rPr>
              <a:t> ), UNSIGNED jumps should be used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65499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584" y="878305"/>
            <a:ext cx="6460079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JMP Instruction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9389" y="2272768"/>
            <a:ext cx="7603957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8388" lvl="0" indent="-938388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JMP instruction causes an unconditional transfer of control.</a:t>
            </a:r>
          </a:p>
          <a:p>
            <a:pPr lvl="0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                   JMP destination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Destination is usually a label in the same segment as the JMP itself. [ref: appendix - F]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To get around the range of restriction of a conditional jump, JMP can be used. </a:t>
            </a:r>
          </a:p>
        </p:txBody>
      </p:sp>
    </p:spTree>
    <p:extLst>
      <p:ext uri="{BB962C8B-B14F-4D97-AF65-F5344CB8AC3E}">
        <p14:creationId xmlns:p14="http://schemas.microsoft.com/office/powerpoint/2010/main" val="2390420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3857" y="636413"/>
            <a:ext cx="7299616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High-Level Language Structures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3857" y="2632173"/>
            <a:ext cx="7903869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8388" lvl="0" indent="-938388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Jump can be used to implement branches and loops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As the Jump is so primitive, it is difficult to code an algorithm with jumps without some guidelines.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The High-level languages (conditional IF-ELSE and While loops) can be simulated in assembly.</a:t>
            </a:r>
          </a:p>
        </p:txBody>
      </p:sp>
    </p:spTree>
    <p:extLst>
      <p:ext uri="{BB962C8B-B14F-4D97-AF65-F5344CB8AC3E}">
        <p14:creationId xmlns:p14="http://schemas.microsoft.com/office/powerpoint/2010/main" val="2028164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584" y="1010652"/>
            <a:ext cx="6460079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Branching Structures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0584" y="2081463"/>
            <a:ext cx="719488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Branching structures enable a program to take different paths, depending on conditions. </a:t>
            </a:r>
          </a:p>
          <a:p>
            <a:pPr marL="571500" lvl="0" indent="-571500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Here, We will look at three structures. </a:t>
            </a:r>
          </a:p>
          <a:p>
            <a:pPr marL="1631950" lvl="2" indent="-742950">
              <a:spcBef>
                <a:spcPts val="4200"/>
              </a:spcBef>
              <a:buClr>
                <a:srgbClr val="FFFFFF"/>
              </a:buClr>
              <a:buSzPct val="75000"/>
              <a:buFont typeface="Helvetica Neue"/>
              <a:buAutoNum type="arabicPeriod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1. IF-THEN</a:t>
            </a:r>
          </a:p>
          <a:p>
            <a:pPr marL="1631950" lvl="2" indent="-742950">
              <a:spcBef>
                <a:spcPts val="4200"/>
              </a:spcBef>
              <a:buClr>
                <a:srgbClr val="FFFFFF"/>
              </a:buClr>
              <a:buSzPct val="75000"/>
              <a:buFont typeface="Helvetica Neue"/>
              <a:buAutoNum type="arabicPeriod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2. IF-THEN-ELSE </a:t>
            </a:r>
          </a:p>
          <a:p>
            <a:pPr marL="1631950" lvl="2" indent="-742950">
              <a:spcBef>
                <a:spcPts val="4200"/>
              </a:spcBef>
              <a:buClr>
                <a:srgbClr val="FFFFFF"/>
              </a:buClr>
              <a:buSzPct val="75000"/>
              <a:buFont typeface="Helvetica Neue"/>
              <a:buAutoNum type="arabicPeriod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3. CASE</a:t>
            </a:r>
          </a:p>
        </p:txBody>
      </p:sp>
    </p:spTree>
    <p:extLst>
      <p:ext uri="{BB962C8B-B14F-4D97-AF65-F5344CB8AC3E}">
        <p14:creationId xmlns:p14="http://schemas.microsoft.com/office/powerpoint/2010/main" val="2137130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584" y="1010652"/>
            <a:ext cx="6460079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IF-THEN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148"/>
          <p:cNvSpPr txBox="1">
            <a:spLocks/>
          </p:cNvSpPr>
          <p:nvPr/>
        </p:nvSpPr>
        <p:spPr>
          <a:xfrm>
            <a:off x="650584" y="2041357"/>
            <a:ext cx="4003502" cy="46241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condition is true.</a:t>
            </a:r>
          </a:p>
          <a:p>
            <a:pPr marL="444500" indent="-444500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THEN </a:t>
            </a:r>
          </a:p>
          <a:p>
            <a:pPr marL="444500" indent="-444500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execute true-branch statements </a:t>
            </a:r>
          </a:p>
          <a:p>
            <a:pPr marL="444500" indent="-444500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END_IF</a:t>
            </a:r>
          </a:p>
        </p:txBody>
      </p:sp>
      <p:pic>
        <p:nvPicPr>
          <p:cNvPr id="6" name="Shape 1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41232" y="2418346"/>
            <a:ext cx="3429000" cy="3537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6245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7972" y="2060512"/>
            <a:ext cx="7255041" cy="18651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The condition is an expression that is either true or false.</a:t>
            </a: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lf It is true, the true-branch statements are executed.</a:t>
            </a: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lf It is false, nothing is done, and the program goes on to whatever follows. </a:t>
            </a: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Example: to Replace a number in AX by its absolute value…</a:t>
            </a:r>
          </a:p>
        </p:txBody>
      </p:sp>
      <p:sp>
        <p:nvSpPr>
          <p:cNvPr id="5" name="Shape 156"/>
          <p:cNvSpPr/>
          <p:nvPr/>
        </p:nvSpPr>
        <p:spPr>
          <a:xfrm>
            <a:off x="577972" y="3925638"/>
            <a:ext cx="3644233" cy="2056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IF AX &lt; 0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THEN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replace AX by -AX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END_IF </a:t>
            </a:r>
          </a:p>
        </p:txBody>
      </p:sp>
      <p:cxnSp>
        <p:nvCxnSpPr>
          <p:cNvPr id="7" name="Shape 158"/>
          <p:cNvCxnSpPr/>
          <p:nvPr/>
        </p:nvCxnSpPr>
        <p:spPr>
          <a:xfrm>
            <a:off x="4730206" y="3925638"/>
            <a:ext cx="9357" cy="2080606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0" name="Shape 157"/>
          <p:cNvSpPr/>
          <p:nvPr/>
        </p:nvSpPr>
        <p:spPr>
          <a:xfrm>
            <a:off x="4978400" y="3822941"/>
            <a:ext cx="3684337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CMP AX, 0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JNL END_IF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NEG AX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END_IF: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0019" y="530764"/>
            <a:ext cx="57029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A Pseudo Code , Algorithm and Code for IF-THEN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152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5DB1-FAD3-8F1A-8740-38EC2341E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3E5ADD-302B-863E-D0AF-E59F818DA2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57" y="1796144"/>
            <a:ext cx="7100985" cy="4319134"/>
          </a:xfrm>
        </p:spPr>
      </p:pic>
    </p:spTree>
    <p:extLst>
      <p:ext uri="{BB962C8B-B14F-4D97-AF65-F5344CB8AC3E}">
        <p14:creationId xmlns:p14="http://schemas.microsoft.com/office/powerpoint/2010/main" val="1789683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85798" y="853929"/>
            <a:ext cx="57029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IF-THEN-ELSE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8" name="Shape 164"/>
          <p:cNvSpPr txBox="1">
            <a:spLocks/>
          </p:cNvSpPr>
          <p:nvPr/>
        </p:nvSpPr>
        <p:spPr>
          <a:xfrm>
            <a:off x="384676" y="1600200"/>
            <a:ext cx="3296987" cy="45479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condition is true </a:t>
            </a: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THEN </a:t>
            </a: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execute true-branch statements </a:t>
            </a: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ELSE</a:t>
            </a: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	</a:t>
            </a: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execute false-branch statements</a:t>
            </a:r>
          </a:p>
          <a:p>
            <a:pPr marL="444500" indent="-444500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END_IF </a:t>
            </a:r>
          </a:p>
        </p:txBody>
      </p:sp>
      <p:pic>
        <p:nvPicPr>
          <p:cNvPr id="9" name="Shape 1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63715" y="2029650"/>
            <a:ext cx="3621505" cy="41184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3820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85797" y="853929"/>
            <a:ext cx="662852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A Pseudo Code and algorithm and Code for </a:t>
            </a:r>
            <a:br>
              <a:rPr lang="en-US" sz="2800" b="1" dirty="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</a:br>
            <a:r>
              <a:rPr lang="en-US" sz="2800" b="1" dirty="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IF-THEN-ELSE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8758" y="2090051"/>
            <a:ext cx="8422105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The condition is an expression that is either true or false. </a:t>
            </a: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If It is true, the true-branch statements are executed. </a:t>
            </a: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If It is false then False-branch statements are executed. </a:t>
            </a: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Example: Suppose AL and BL contain extended ASCII characters. Display the one that comes first in the character sequence…</a:t>
            </a:r>
          </a:p>
        </p:txBody>
      </p:sp>
      <p:sp>
        <p:nvSpPr>
          <p:cNvPr id="7" name="Shape 172"/>
          <p:cNvSpPr/>
          <p:nvPr/>
        </p:nvSpPr>
        <p:spPr>
          <a:xfrm>
            <a:off x="433136" y="4104845"/>
            <a:ext cx="4066674" cy="2079387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IF AL &lt;= BL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THEN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Display the character in AL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ELSE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Display the character in BL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END IF</a:t>
            </a:r>
          </a:p>
        </p:txBody>
      </p:sp>
      <p:cxnSp>
        <p:nvCxnSpPr>
          <p:cNvPr id="10" name="Shape 174"/>
          <p:cNvCxnSpPr/>
          <p:nvPr/>
        </p:nvCxnSpPr>
        <p:spPr>
          <a:xfrm>
            <a:off x="4462695" y="4237192"/>
            <a:ext cx="45294" cy="1564106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2" name="Shape 173"/>
          <p:cNvSpPr/>
          <p:nvPr/>
        </p:nvSpPr>
        <p:spPr>
          <a:xfrm>
            <a:off x="4675394" y="3549316"/>
            <a:ext cx="4288131" cy="2953111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AH,2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CMP AL,BL     ;AL&lt;=BL ?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JNBE ELSE_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DL,AL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JMP DISPLAY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ELSE_: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DL,BL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DISPLAY: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INT 2lh </a:t>
            </a:r>
          </a:p>
        </p:txBody>
      </p:sp>
    </p:spTree>
    <p:extLst>
      <p:ext uri="{BB962C8B-B14F-4D97-AF65-F5344CB8AC3E}">
        <p14:creationId xmlns:p14="http://schemas.microsoft.com/office/powerpoint/2010/main" val="2242437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E7B55-C0CB-E151-70C5-E2F54405F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white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836B8653-B648-E0FF-E205-62375F780C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077" y="1730829"/>
            <a:ext cx="6959515" cy="4593771"/>
          </a:xfrm>
        </p:spPr>
      </p:pic>
    </p:spTree>
    <p:extLst>
      <p:ext uri="{BB962C8B-B14F-4D97-AF65-F5344CB8AC3E}">
        <p14:creationId xmlns:p14="http://schemas.microsoft.com/office/powerpoint/2010/main" val="125560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85797" y="853929"/>
            <a:ext cx="66285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ea typeface="Helvetica Neue"/>
                <a:cs typeface="Helvetica Neue"/>
                <a:sym typeface="Helvetica Neue"/>
              </a:rPr>
              <a:t>CASE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3951" y="2064583"/>
            <a:ext cx="84948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A CASE is a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multi-way branch structure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that tests a register, variable, or expression for particular values or a range of values.</a:t>
            </a:r>
          </a:p>
        </p:txBody>
      </p:sp>
      <p:pic>
        <p:nvPicPr>
          <p:cNvPr id="14" name="Shape 1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69042" y="2595273"/>
            <a:ext cx="3729790" cy="338572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183BC8-5CC4-58C4-91E3-24A363FC4DB6}"/>
              </a:ext>
            </a:extLst>
          </p:cNvPr>
          <p:cNvSpPr txBox="1"/>
          <p:nvPr/>
        </p:nvSpPr>
        <p:spPr>
          <a:xfrm>
            <a:off x="583809" y="3106448"/>
            <a:ext cx="3988191" cy="247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0055" lvl="3" indent="868045" algn="l">
              <a:lnSpc>
                <a:spcPct val="80000"/>
              </a:lnSpc>
              <a:spcBef>
                <a:spcPts val="41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CASE Expression		Values_1: Statement_1	Values_2: Statement_2</a:t>
            </a:r>
          </a:p>
          <a:p>
            <a:pPr marL="440055" lvl="3" indent="868045" algn="l">
              <a:lnSpc>
                <a:spcPct val="80000"/>
              </a:lnSpc>
              <a:spcBef>
                <a:spcPts val="41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      …		</a:t>
            </a:r>
            <a:r>
              <a:rPr lang="en-US" sz="1800" b="1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Values_n</a:t>
            </a: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800" b="1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Statement_n</a:t>
            </a:r>
            <a:endParaRPr lang="en-US" sz="18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40055" lvl="3" indent="868045" algn="l">
              <a:lnSpc>
                <a:spcPct val="80000"/>
              </a:lnSpc>
              <a:spcBef>
                <a:spcPts val="41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END_CASE</a:t>
            </a:r>
          </a:p>
        </p:txBody>
      </p:sp>
    </p:spTree>
    <p:extLst>
      <p:ext uri="{BB962C8B-B14F-4D97-AF65-F5344CB8AC3E}">
        <p14:creationId xmlns:p14="http://schemas.microsoft.com/office/powerpoint/2010/main" val="4147253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85797" y="853929"/>
            <a:ext cx="66285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ea typeface="Helvetica Neue"/>
                <a:cs typeface="Helvetica Neue"/>
                <a:sym typeface="Helvetica Neue"/>
              </a:rPr>
              <a:t>CASE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2135673"/>
            <a:ext cx="7435516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4500" lvl="0" indent="-444500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Example: If AX contains a negative number, put -1 in BX; if AX contains 0, put 0 in BX; and if AX contains a positive number, put 1 in BX.</a:t>
            </a:r>
          </a:p>
        </p:txBody>
      </p:sp>
      <p:sp>
        <p:nvSpPr>
          <p:cNvPr id="8" name="Shape 189"/>
          <p:cNvSpPr/>
          <p:nvPr/>
        </p:nvSpPr>
        <p:spPr>
          <a:xfrm>
            <a:off x="854242" y="2872943"/>
            <a:ext cx="3043990" cy="2769868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CASE AX </a:t>
            </a:r>
          </a:p>
          <a:p>
            <a:pPr marL="0" marR="0" lvl="2" indent="45720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&lt;0 : put -1 in BX </a:t>
            </a:r>
          </a:p>
          <a:p>
            <a:pPr marL="0" marR="0" lvl="2" indent="45720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=0 : put  0 in BX </a:t>
            </a:r>
          </a:p>
          <a:p>
            <a:pPr marL="0" marR="0" lvl="2" indent="45720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&gt;0</a:t>
            </a:r>
            <a:r>
              <a:rPr lang="en-US" sz="2000" b="1" i="0" u="none" strike="noStrike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: put +l in BX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END_CASE </a:t>
            </a:r>
          </a:p>
        </p:txBody>
      </p:sp>
      <p:cxnSp>
        <p:nvCxnSpPr>
          <p:cNvPr id="9" name="Shape 191"/>
          <p:cNvCxnSpPr/>
          <p:nvPr/>
        </p:nvCxnSpPr>
        <p:spPr>
          <a:xfrm>
            <a:off x="4084281" y="2872943"/>
            <a:ext cx="0" cy="3216441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2" name="Shape 190"/>
          <p:cNvSpPr/>
          <p:nvPr/>
        </p:nvSpPr>
        <p:spPr>
          <a:xfrm>
            <a:off x="4713706" y="2415465"/>
            <a:ext cx="3973094" cy="4131396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CMP AX,O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JL NEGATIVE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JE ZERO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JG POSITIVE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NEGATIVE: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BX,-1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JMP END_CASE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ZERO: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BX,0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JMP END_CASE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POSITIVE: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BX, l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END_CASE:</a:t>
            </a:r>
          </a:p>
        </p:txBody>
      </p:sp>
    </p:spTree>
    <p:extLst>
      <p:ext uri="{BB962C8B-B14F-4D97-AF65-F5344CB8AC3E}">
        <p14:creationId xmlns:p14="http://schemas.microsoft.com/office/powerpoint/2010/main" val="8334186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56D297C-3072-4D3E-0022-FEFEA66D8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6A2AF9-C177-9C09-A9CA-A8A982A14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145992"/>
              </p:ext>
            </p:extLst>
          </p:nvPr>
        </p:nvGraphicFramePr>
        <p:xfrm>
          <a:off x="845332" y="1874087"/>
          <a:ext cx="7076749" cy="4636239"/>
        </p:xfrm>
        <a:graphic>
          <a:graphicData uri="http://schemas.openxmlformats.org/drawingml/2006/table">
            <a:tbl>
              <a:tblPr/>
              <a:tblGrid>
                <a:gridCol w="1472673">
                  <a:extLst>
                    <a:ext uri="{9D8B030D-6E8A-4147-A177-3AD203B41FA5}">
                      <a16:colId xmlns:a16="http://schemas.microsoft.com/office/drawing/2014/main" val="2502402138"/>
                    </a:ext>
                  </a:extLst>
                </a:gridCol>
                <a:gridCol w="1245294">
                  <a:extLst>
                    <a:ext uri="{9D8B030D-6E8A-4147-A177-3AD203B41FA5}">
                      <a16:colId xmlns:a16="http://schemas.microsoft.com/office/drawing/2014/main" val="503343737"/>
                    </a:ext>
                  </a:extLst>
                </a:gridCol>
                <a:gridCol w="3626627">
                  <a:extLst>
                    <a:ext uri="{9D8B030D-6E8A-4147-A177-3AD203B41FA5}">
                      <a16:colId xmlns:a16="http://schemas.microsoft.com/office/drawing/2014/main" val="342624651"/>
                    </a:ext>
                  </a:extLst>
                </a:gridCol>
                <a:gridCol w="732155">
                  <a:extLst>
                    <a:ext uri="{9D8B030D-6E8A-4147-A177-3AD203B41FA5}">
                      <a16:colId xmlns:a16="http://schemas.microsoft.com/office/drawing/2014/main" val="5850062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High-Level Logic (CASE AX)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Assembly Instructions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Description of Action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Result in BX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414248"/>
                  </a:ext>
                </a:extLst>
              </a:tr>
              <a:tr h="3502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Initial Check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CMP AX, 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Compares the value in the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AX register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with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This sets the CPU status flags.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254542"/>
                  </a:ext>
                </a:extLst>
              </a:tr>
              <a:tr h="3502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Case 1: AX &lt; 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JL NEGATIVE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Jump Less: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If the flags indicate $AX &lt; 0$, execution jumps to the </a:t>
                      </a: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NEGATIVE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label.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187683"/>
                  </a:ext>
                </a:extLst>
              </a:tr>
              <a:tr h="202713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NEGATIVE: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Label for the negative case.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540712"/>
                  </a:ext>
                </a:extLst>
              </a:tr>
              <a:tr h="202713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MOV BX, -1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Move: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Puts the value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-1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into the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BX register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-1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651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JMP END_CASE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Jump: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Unconditionally jumps past the other cases to </a:t>
                      </a: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END_CASE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318003"/>
                  </a:ext>
                </a:extLst>
              </a:tr>
              <a:tr h="3502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Case 2: AX = 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JE ZERO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Jump Equal: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If $AX \ge 0$ (first jump failed) and the flags indicate $AX = 0$, execution jumps to the </a:t>
                      </a: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ZERO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label.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297396"/>
                  </a:ext>
                </a:extLst>
              </a:tr>
              <a:tr h="202713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ZERO: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Label for the zero case.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397465"/>
                  </a:ext>
                </a:extLst>
              </a:tr>
              <a:tr h="202713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MOV BX, 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Move: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Puts the value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into the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BX register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152644"/>
                  </a:ext>
                </a:extLst>
              </a:tr>
              <a:tr h="202713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JMP END_CASE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Jump: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Unconditionally jumps past the remaining cases to </a:t>
                      </a: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END_CASE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692164"/>
                  </a:ext>
                </a:extLst>
              </a:tr>
              <a:tr h="3502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Case 3: AX &gt; 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JG POSITIVE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Jump Greater: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If $AX$ is neither less than $0$ nor equal to $0$, it must be greater than $0$. Execution falls through or jumps to </a:t>
                      </a: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POSITIVE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6159925"/>
                  </a:ext>
                </a:extLst>
              </a:tr>
              <a:tr h="350202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POSITIVE: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Label for the positive case. (The jump is technically redundant here, as execution will fall through if the first two jumps fail.)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437644"/>
                  </a:ext>
                </a:extLst>
              </a:tr>
              <a:tr h="202713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MOV BX, 1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Move: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Puts the value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into the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BX register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710324"/>
                  </a:ext>
                </a:extLst>
              </a:tr>
              <a:tr h="2027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Exit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END_CASE: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All execution paths converge here to continue the rest of the program.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</a:t>
                      </a:r>
                    </a:p>
                  </a:txBody>
                  <a:tcPr marL="14869" marR="14869" marT="9913" marB="99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672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0950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85797" y="853929"/>
            <a:ext cx="66285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ea typeface="Helvetica Neue"/>
                <a:cs typeface="Helvetica Neue"/>
                <a:sym typeface="Helvetica Neue"/>
              </a:rPr>
              <a:t>Solve the Following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93473" y="2121548"/>
            <a:ext cx="5781616" cy="3924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4500" lvl="0" indent="-444500"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sz="2400" b="1" dirty="0">
                <a:ea typeface="Helvetica Neue"/>
                <a:cs typeface="Helvetica Neue"/>
                <a:sym typeface="Helvetica Neue"/>
              </a:rPr>
              <a:t>If AL contains 1 or 3, display "o"; if AL contains 2 or 4, display "e". </a:t>
            </a:r>
          </a:p>
          <a:p>
            <a:pPr marL="1016000" lvl="1" indent="-571500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CASE AL </a:t>
            </a:r>
          </a:p>
          <a:p>
            <a:pPr marL="444500" lvl="3" indent="889000">
              <a:spcBef>
                <a:spcPts val="4200"/>
              </a:spcBef>
              <a:buClr>
                <a:srgbClr val="FFFFFF"/>
              </a:buClr>
              <a:buSzPct val="25000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1,3: display ‘o’</a:t>
            </a:r>
          </a:p>
          <a:p>
            <a:pPr marL="444500" lvl="3" indent="889000">
              <a:spcBef>
                <a:spcPts val="4200"/>
              </a:spcBef>
              <a:buClr>
                <a:srgbClr val="FFFFFF"/>
              </a:buClr>
              <a:buSzPct val="25000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2,4: display ‘e’</a:t>
            </a:r>
          </a:p>
          <a:p>
            <a:pPr marL="444500" lvl="1">
              <a:spcBef>
                <a:spcPts val="4200"/>
              </a:spcBef>
              <a:buClr>
                <a:srgbClr val="FFFFFF"/>
              </a:buClr>
              <a:buSzPct val="25000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END_CASE </a:t>
            </a:r>
          </a:p>
        </p:txBody>
      </p:sp>
    </p:spTree>
    <p:extLst>
      <p:ext uri="{BB962C8B-B14F-4D97-AF65-F5344CB8AC3E}">
        <p14:creationId xmlns:p14="http://schemas.microsoft.com/office/powerpoint/2010/main" val="25173261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F466B7-4240-AD50-DFF8-DCE519B117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7ECBE3-EB70-C8DD-FEB3-01AE24C03F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1CD2E7A-C406-8503-972D-A80F42CE0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71" y="1349829"/>
            <a:ext cx="8686800" cy="532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869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304AD-E9AE-041A-86B7-1054C6471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8E29B-5905-8136-1420-0D7E2E30B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/>
          <a:lstStyle/>
          <a:p>
            <a:r>
              <a:rPr lang="en-US" dirty="0"/>
              <a:t>Write a program to check whether a given input character is a vowel or not.</a:t>
            </a:r>
          </a:p>
          <a:p>
            <a:endParaRPr lang="en-US" dirty="0"/>
          </a:p>
          <a:p>
            <a:r>
              <a:rPr lang="en-US" dirty="0"/>
              <a:t>Write a program to print all the capital letters.</a:t>
            </a:r>
          </a:p>
        </p:txBody>
      </p:sp>
    </p:spTree>
    <p:extLst>
      <p:ext uri="{BB962C8B-B14F-4D97-AF65-F5344CB8AC3E}">
        <p14:creationId xmlns:p14="http://schemas.microsoft.com/office/powerpoint/2010/main" val="28079241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890" y="2182777"/>
            <a:ext cx="75368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endParaRPr lang="en-US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https://www.slideshare.net/prodipghoshjoy/flow-control-instructions-60602372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878305" y="2009054"/>
            <a:ext cx="718285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dirty="0">
                <a:ea typeface="Times New Roman" panose="02020603050405020304" pitchFamily="18" charset="0"/>
              </a:rPr>
              <a:t>and 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3614</TotalTime>
  <Words>2264</Words>
  <Application>Microsoft Macintosh PowerPoint</Application>
  <PresentationFormat>On-screen Show (4:3)</PresentationFormat>
  <Paragraphs>408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Century Gothic</vt:lpstr>
      <vt:lpstr>Corbel</vt:lpstr>
      <vt:lpstr>Courier New</vt:lpstr>
      <vt:lpstr>Google Sans Text</vt:lpstr>
      <vt:lpstr>Helvetica Neue</vt:lpstr>
      <vt:lpstr>Times New Roman</vt:lpstr>
      <vt:lpstr>Wingdings</vt:lpstr>
      <vt:lpstr>Spectrum</vt:lpstr>
      <vt:lpstr> Flow Control Instructions </vt:lpstr>
      <vt:lpstr>Lecture Outline</vt:lpstr>
      <vt:lpstr>Jump and Loop</vt:lpstr>
      <vt:lpstr>Example of Jump</vt:lpstr>
      <vt:lpstr>PowerPoint Presentation</vt:lpstr>
      <vt:lpstr>JNZ (Jump if Not Zero)</vt:lpstr>
      <vt:lpstr>Conditional Jumps</vt:lpstr>
      <vt:lpstr>Implementation of Conditional JUMP by  CPU </vt:lpstr>
      <vt:lpstr>Example(cont’d…)</vt:lpstr>
      <vt:lpstr>CMP Instruction</vt:lpstr>
      <vt:lpstr>Signed Conditional Jumps</vt:lpstr>
      <vt:lpstr>    Unsigned Conditional Jumps </vt:lpstr>
      <vt:lpstr>PowerPoint Presentation</vt:lpstr>
      <vt:lpstr>Conditional Jumps Interpretation </vt:lpstr>
      <vt:lpstr>Working with Characters</vt:lpstr>
      <vt:lpstr>JMP Instruction</vt:lpstr>
      <vt:lpstr>High-Level Language Structures</vt:lpstr>
      <vt:lpstr>Branching Structures</vt:lpstr>
      <vt:lpstr>IF-THEN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work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AFNAN BIN ISLAM NAHIN</cp:lastModifiedBy>
  <cp:revision>139</cp:revision>
  <dcterms:created xsi:type="dcterms:W3CDTF">2018-12-10T17:20:29Z</dcterms:created>
  <dcterms:modified xsi:type="dcterms:W3CDTF">2026-01-06T14:29:15Z</dcterms:modified>
</cp:coreProperties>
</file>